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handoutMasterIdLst>
    <p:handoutMasterId r:id="rId39"/>
  </p:handoutMasterIdLst>
  <p:sldIdLst>
    <p:sldId id="1371" r:id="rId2"/>
    <p:sldId id="1374" r:id="rId3"/>
    <p:sldId id="1376" r:id="rId4"/>
    <p:sldId id="1377" r:id="rId5"/>
    <p:sldId id="1378" r:id="rId6"/>
    <p:sldId id="1379" r:id="rId7"/>
    <p:sldId id="1380" r:id="rId8"/>
    <p:sldId id="1419" r:id="rId9"/>
    <p:sldId id="1382" r:id="rId10"/>
    <p:sldId id="1415" r:id="rId11"/>
    <p:sldId id="1394" r:id="rId12"/>
    <p:sldId id="1421" r:id="rId13"/>
    <p:sldId id="1422" r:id="rId14"/>
    <p:sldId id="1423" r:id="rId15"/>
    <p:sldId id="1427" r:id="rId16"/>
    <p:sldId id="1428" r:id="rId17"/>
    <p:sldId id="1425" r:id="rId18"/>
    <p:sldId id="1426" r:id="rId19"/>
    <p:sldId id="1429" r:id="rId20"/>
    <p:sldId id="1431" r:id="rId21"/>
    <p:sldId id="1430" r:id="rId22"/>
    <p:sldId id="1432" r:id="rId23"/>
    <p:sldId id="1433" r:id="rId24"/>
    <p:sldId id="1434" r:id="rId25"/>
    <p:sldId id="1420" r:id="rId26"/>
    <p:sldId id="1395" r:id="rId27"/>
    <p:sldId id="1435" r:id="rId28"/>
    <p:sldId id="1405" r:id="rId29"/>
    <p:sldId id="1396" r:id="rId30"/>
    <p:sldId id="1414" r:id="rId31"/>
    <p:sldId id="1418" r:id="rId32"/>
    <p:sldId id="1411" r:id="rId33"/>
    <p:sldId id="1399" r:id="rId34"/>
    <p:sldId id="1416" r:id="rId35"/>
    <p:sldId id="1417" r:id="rId36"/>
    <p:sldId id="260" r:id="rId37"/>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100000"/>
      </a:lnSpc>
      <a:spcBef>
        <a:spcPts val="0"/>
      </a:spcBef>
      <a:spcAft>
        <a:spcPts val="0"/>
      </a:spcAft>
      <a:buClrTx/>
      <a:buSzTx/>
      <a:buFontTx/>
      <a:buNone/>
      <a:tabLst/>
      <a:defRPr kumimoji="0" sz="32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821531" rtl="0" fontAlgn="auto" latinLnBrk="0" hangingPunct="0">
      <a:lnSpc>
        <a:spcPct val="100000"/>
      </a:lnSpc>
      <a:spcBef>
        <a:spcPts val="0"/>
      </a:spcBef>
      <a:spcAft>
        <a:spcPts val="0"/>
      </a:spcAft>
      <a:buClrTx/>
      <a:buSzTx/>
      <a:buFontTx/>
      <a:buNone/>
      <a:tabLst/>
      <a:defRPr kumimoji="0" sz="32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821531" rtl="0" fontAlgn="auto" latinLnBrk="0" hangingPunct="0">
      <a:lnSpc>
        <a:spcPct val="100000"/>
      </a:lnSpc>
      <a:spcBef>
        <a:spcPts val="0"/>
      </a:spcBef>
      <a:spcAft>
        <a:spcPts val="0"/>
      </a:spcAft>
      <a:buClrTx/>
      <a:buSzTx/>
      <a:buFontTx/>
      <a:buNone/>
      <a:tabLst/>
      <a:defRPr kumimoji="0" sz="32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821531" rtl="0" fontAlgn="auto" latinLnBrk="0" hangingPunct="0">
      <a:lnSpc>
        <a:spcPct val="100000"/>
      </a:lnSpc>
      <a:spcBef>
        <a:spcPts val="0"/>
      </a:spcBef>
      <a:spcAft>
        <a:spcPts val="0"/>
      </a:spcAft>
      <a:buClrTx/>
      <a:buSzTx/>
      <a:buFontTx/>
      <a:buNone/>
      <a:tabLst/>
      <a:defRPr kumimoji="0" sz="32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821531" rtl="0" fontAlgn="auto" latinLnBrk="0" hangingPunct="0">
      <a:lnSpc>
        <a:spcPct val="100000"/>
      </a:lnSpc>
      <a:spcBef>
        <a:spcPts val="0"/>
      </a:spcBef>
      <a:spcAft>
        <a:spcPts val="0"/>
      </a:spcAft>
      <a:buClrTx/>
      <a:buSzTx/>
      <a:buFontTx/>
      <a:buNone/>
      <a:tabLst/>
      <a:defRPr kumimoji="0" sz="32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821531" rtl="0" fontAlgn="auto" latinLnBrk="0" hangingPunct="0">
      <a:lnSpc>
        <a:spcPct val="100000"/>
      </a:lnSpc>
      <a:spcBef>
        <a:spcPts val="0"/>
      </a:spcBef>
      <a:spcAft>
        <a:spcPts val="0"/>
      </a:spcAft>
      <a:buClrTx/>
      <a:buSzTx/>
      <a:buFontTx/>
      <a:buNone/>
      <a:tabLst/>
      <a:defRPr kumimoji="0" sz="32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821531" rtl="0" fontAlgn="auto" latinLnBrk="0" hangingPunct="0">
      <a:lnSpc>
        <a:spcPct val="100000"/>
      </a:lnSpc>
      <a:spcBef>
        <a:spcPts val="0"/>
      </a:spcBef>
      <a:spcAft>
        <a:spcPts val="0"/>
      </a:spcAft>
      <a:buClrTx/>
      <a:buSzTx/>
      <a:buFontTx/>
      <a:buNone/>
      <a:tabLst/>
      <a:defRPr kumimoji="0" sz="32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821531" rtl="0" fontAlgn="auto" latinLnBrk="0" hangingPunct="0">
      <a:lnSpc>
        <a:spcPct val="100000"/>
      </a:lnSpc>
      <a:spcBef>
        <a:spcPts val="0"/>
      </a:spcBef>
      <a:spcAft>
        <a:spcPts val="0"/>
      </a:spcAft>
      <a:buClrTx/>
      <a:buSzTx/>
      <a:buFontTx/>
      <a:buNone/>
      <a:tabLst/>
      <a:defRPr kumimoji="0" sz="32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821531" rtl="0" fontAlgn="auto" latinLnBrk="0" hangingPunct="0">
      <a:lnSpc>
        <a:spcPct val="100000"/>
      </a:lnSpc>
      <a:spcBef>
        <a:spcPts val="0"/>
      </a:spcBef>
      <a:spcAft>
        <a:spcPts val="0"/>
      </a:spcAft>
      <a:buClrTx/>
      <a:buSzTx/>
      <a:buFontTx/>
      <a:buNone/>
      <a:tabLst/>
      <a:defRPr kumimoji="0" sz="32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5CA9"/>
    <a:srgbClr val="FFFFFF"/>
    <a:srgbClr val="DFEFF5"/>
    <a:srgbClr val="E7E7E9"/>
    <a:srgbClr val="FAFAFF"/>
    <a:srgbClr val="F3FAFF"/>
    <a:srgbClr val="E5F5FF"/>
    <a:srgbClr val="CCE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3289" autoAdjust="0"/>
  </p:normalViewPr>
  <p:slideViewPr>
    <p:cSldViewPr snapToGrid="0">
      <p:cViewPr varScale="1">
        <p:scale>
          <a:sx n="54" d="100"/>
          <a:sy n="54" d="100"/>
        </p:scale>
        <p:origin x="1336" y="216"/>
      </p:cViewPr>
      <p:guideLst/>
    </p:cSldViewPr>
  </p:slideViewPr>
  <p:notesTextViewPr>
    <p:cViewPr>
      <p:scale>
        <a:sx n="1" d="1"/>
        <a:sy n="1" d="1"/>
      </p:scale>
      <p:origin x="0" y="0"/>
    </p:cViewPr>
  </p:notesTextViewPr>
  <p:notesViewPr>
    <p:cSldViewPr snapToGrid="0">
      <p:cViewPr varScale="1">
        <p:scale>
          <a:sx n="99" d="100"/>
          <a:sy n="99" d="100"/>
        </p:scale>
        <p:origin x="3064" y="1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1593CEE-6F2D-EC4D-98E8-9A8A456C1E10}" type="datetimeFigureOut">
              <a:rPr kumimoji="1" lang="zh-CN" altLang="en-US" smtClean="0"/>
              <a:t>2020/7/9</a:t>
            </a:fld>
            <a:endParaRPr kumimoji="1"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B92040F-8B73-6848-B60C-2AE47D277AAC}" type="slidenum">
              <a:rPr kumimoji="1" lang="zh-CN" altLang="en-US" smtClean="0"/>
              <a:t>‹#›</a:t>
            </a:fld>
            <a:endParaRPr kumimoji="1" lang="zh-CN" altLang="en-US"/>
          </a:p>
        </p:txBody>
      </p:sp>
    </p:spTree>
    <p:extLst>
      <p:ext uri="{BB962C8B-B14F-4D97-AF65-F5344CB8AC3E}">
        <p14:creationId xmlns:p14="http://schemas.microsoft.com/office/powerpoint/2010/main" val="15490478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8" name="Shape 68"/>
          <p:cNvSpPr>
            <a:spLocks noGrp="1" noRot="1" noChangeAspect="1"/>
          </p:cNvSpPr>
          <p:nvPr>
            <p:ph type="sldImg"/>
          </p:nvPr>
        </p:nvSpPr>
        <p:spPr>
          <a:xfrm>
            <a:off x="1143000" y="685800"/>
            <a:ext cx="4572000" cy="3429000"/>
          </a:xfrm>
          <a:prstGeom prst="rect">
            <a:avLst/>
          </a:prstGeom>
        </p:spPr>
        <p:txBody>
          <a:bodyPr/>
          <a:lstStyle/>
          <a:p>
            <a:endParaRPr/>
          </a:p>
        </p:txBody>
      </p:sp>
      <p:sp>
        <p:nvSpPr>
          <p:cNvPr id="69" name="Shape 6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10"/>
          </p:nvPr>
        </p:nvSpPr>
        <p:spPr/>
        <p:txBody>
          <a:bodyPr/>
          <a:lstStyle/>
          <a:p>
            <a:fld id="{05221CF7-2E63-1248-8616-FE4543A0E91D}" type="slidenum">
              <a:rPr kumimoji="1" lang="zh-CN" altLang="en-US" smtClean="0"/>
              <a:t>2</a:t>
            </a:fld>
            <a:endParaRPr kumimoji="1" lang="zh-CN" altLang="en-US"/>
          </a:p>
        </p:txBody>
      </p:sp>
    </p:spTree>
    <p:extLst>
      <p:ext uri="{BB962C8B-B14F-4D97-AF65-F5344CB8AC3E}">
        <p14:creationId xmlns:p14="http://schemas.microsoft.com/office/powerpoint/2010/main" val="4239754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10"/>
          </p:nvPr>
        </p:nvSpPr>
        <p:spPr/>
        <p:txBody>
          <a:bodyPr/>
          <a:lstStyle/>
          <a:p>
            <a:fld id="{05221CF7-2E63-1248-8616-FE4543A0E91D}" type="slidenum">
              <a:rPr kumimoji="1" lang="zh-CN" altLang="en-US" smtClean="0"/>
              <a:t>3</a:t>
            </a:fld>
            <a:endParaRPr kumimoji="1" lang="zh-CN" altLang="en-US"/>
          </a:p>
        </p:txBody>
      </p:sp>
    </p:spTree>
    <p:extLst>
      <p:ext uri="{BB962C8B-B14F-4D97-AF65-F5344CB8AC3E}">
        <p14:creationId xmlns:p14="http://schemas.microsoft.com/office/powerpoint/2010/main" val="12914792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10"/>
          </p:nvPr>
        </p:nvSpPr>
        <p:spPr/>
        <p:txBody>
          <a:bodyPr/>
          <a:lstStyle/>
          <a:p>
            <a:fld id="{05221CF7-2E63-1248-8616-FE4543A0E91D}" type="slidenum">
              <a:rPr kumimoji="1" lang="zh-CN" altLang="en-US" smtClean="0"/>
              <a:t>4</a:t>
            </a:fld>
            <a:endParaRPr kumimoji="1" lang="zh-CN" altLang="en-US"/>
          </a:p>
        </p:txBody>
      </p:sp>
    </p:spTree>
    <p:extLst>
      <p:ext uri="{BB962C8B-B14F-4D97-AF65-F5344CB8AC3E}">
        <p14:creationId xmlns:p14="http://schemas.microsoft.com/office/powerpoint/2010/main" val="1886202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10"/>
          </p:nvPr>
        </p:nvSpPr>
        <p:spPr/>
        <p:txBody>
          <a:bodyPr/>
          <a:lstStyle/>
          <a:p>
            <a:fld id="{05221CF7-2E63-1248-8616-FE4543A0E91D}" type="slidenum">
              <a:rPr kumimoji="1" lang="zh-CN" altLang="en-US" smtClean="0"/>
              <a:t>5</a:t>
            </a:fld>
            <a:endParaRPr kumimoji="1" lang="zh-CN" altLang="en-US"/>
          </a:p>
        </p:txBody>
      </p:sp>
    </p:spTree>
    <p:extLst>
      <p:ext uri="{BB962C8B-B14F-4D97-AF65-F5344CB8AC3E}">
        <p14:creationId xmlns:p14="http://schemas.microsoft.com/office/powerpoint/2010/main" val="33839676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Shape 117"/>
          <p:cNvSpPr>
            <a:spLocks noGrp="1" noRot="1" noChangeAspect="1"/>
          </p:cNvSpPr>
          <p:nvPr>
            <p:ph type="sldImg"/>
          </p:nvPr>
        </p:nvSpPr>
        <p:spPr>
          <a:xfrm>
            <a:off x="381000" y="685800"/>
            <a:ext cx="6096000" cy="3429000"/>
          </a:xfrm>
          <a:prstGeom prst="rect">
            <a:avLst/>
          </a:prstGeom>
        </p:spPr>
        <p:txBody>
          <a:bodyPr/>
          <a:lstStyle/>
          <a:p>
            <a:endParaRPr/>
          </a:p>
        </p:txBody>
      </p:sp>
      <p:sp>
        <p:nvSpPr>
          <p:cNvPr id="118" name="Shape 118"/>
          <p:cNvSpPr>
            <a:spLocks noGrp="1"/>
          </p:cNvSpPr>
          <p:nvPr>
            <p:ph type="body" sz="quarter" idx="1"/>
          </p:nvPr>
        </p:nvSpPr>
        <p:spPr>
          <a:prstGeom prst="rect">
            <a:avLst/>
          </a:prstGeom>
        </p:spPr>
        <p:txBody>
          <a:bodyPr/>
          <a:lstStyle/>
          <a:p>
            <a:endParaRPr/>
          </a:p>
        </p:txBody>
      </p:sp>
    </p:spTree>
    <p:extLst>
      <p:ext uri="{BB962C8B-B14F-4D97-AF65-F5344CB8AC3E}">
        <p14:creationId xmlns:p14="http://schemas.microsoft.com/office/powerpoint/2010/main" val="14506711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Shape 117"/>
          <p:cNvSpPr>
            <a:spLocks noGrp="1" noRot="1" noChangeAspect="1"/>
          </p:cNvSpPr>
          <p:nvPr>
            <p:ph type="sldImg"/>
          </p:nvPr>
        </p:nvSpPr>
        <p:spPr>
          <a:xfrm>
            <a:off x="381000" y="685800"/>
            <a:ext cx="6096000" cy="3429000"/>
          </a:xfrm>
          <a:prstGeom prst="rect">
            <a:avLst/>
          </a:prstGeom>
        </p:spPr>
        <p:txBody>
          <a:bodyPr/>
          <a:lstStyle/>
          <a:p>
            <a:endParaRPr/>
          </a:p>
        </p:txBody>
      </p:sp>
      <p:sp>
        <p:nvSpPr>
          <p:cNvPr id="118" name="Shape 118"/>
          <p:cNvSpPr>
            <a:spLocks noGrp="1"/>
          </p:cNvSpPr>
          <p:nvPr>
            <p:ph type="body" sz="quarter" idx="1"/>
          </p:nvPr>
        </p:nvSpPr>
        <p:spPr>
          <a:prstGeom prst="rect">
            <a:avLst/>
          </a:prstGeom>
        </p:spPr>
        <p:txBody>
          <a:bodyPr/>
          <a:lstStyle/>
          <a:p>
            <a:endParaRPr/>
          </a:p>
        </p:txBody>
      </p:sp>
    </p:spTree>
    <p:extLst>
      <p:ext uri="{BB962C8B-B14F-4D97-AF65-F5344CB8AC3E}">
        <p14:creationId xmlns:p14="http://schemas.microsoft.com/office/powerpoint/2010/main" val="8381083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Shape 117"/>
          <p:cNvSpPr>
            <a:spLocks noGrp="1" noRot="1" noChangeAspect="1"/>
          </p:cNvSpPr>
          <p:nvPr>
            <p:ph type="sldImg"/>
          </p:nvPr>
        </p:nvSpPr>
        <p:spPr>
          <a:xfrm>
            <a:off x="381000" y="685800"/>
            <a:ext cx="6096000" cy="3429000"/>
          </a:xfrm>
          <a:prstGeom prst="rect">
            <a:avLst/>
          </a:prstGeom>
        </p:spPr>
        <p:txBody>
          <a:bodyPr/>
          <a:lstStyle/>
          <a:p>
            <a:endParaRPr/>
          </a:p>
        </p:txBody>
      </p:sp>
      <p:sp>
        <p:nvSpPr>
          <p:cNvPr id="118" name="Shape 118"/>
          <p:cNvSpPr>
            <a:spLocks noGrp="1"/>
          </p:cNvSpPr>
          <p:nvPr>
            <p:ph type="body" sz="quarter" idx="1"/>
          </p:nvPr>
        </p:nvSpPr>
        <p:spPr>
          <a:prstGeom prst="rect">
            <a:avLst/>
          </a:prstGeom>
        </p:spPr>
        <p:txBody>
          <a:bodyPr/>
          <a:lstStyle/>
          <a:p>
            <a:endParaRPr/>
          </a:p>
        </p:txBody>
      </p:sp>
    </p:spTree>
    <p:extLst>
      <p:ext uri="{BB962C8B-B14F-4D97-AF65-F5344CB8AC3E}">
        <p14:creationId xmlns:p14="http://schemas.microsoft.com/office/powerpoint/2010/main" val="7309585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Shape 117"/>
          <p:cNvSpPr>
            <a:spLocks noGrp="1" noRot="1" noChangeAspect="1"/>
          </p:cNvSpPr>
          <p:nvPr>
            <p:ph type="sldImg"/>
          </p:nvPr>
        </p:nvSpPr>
        <p:spPr>
          <a:xfrm>
            <a:off x="381000" y="685800"/>
            <a:ext cx="6096000" cy="3429000"/>
          </a:xfrm>
          <a:prstGeom prst="rect">
            <a:avLst/>
          </a:prstGeom>
        </p:spPr>
        <p:txBody>
          <a:bodyPr/>
          <a:lstStyle/>
          <a:p>
            <a:endParaRPr/>
          </a:p>
        </p:txBody>
      </p:sp>
      <p:sp>
        <p:nvSpPr>
          <p:cNvPr id="118" name="Shape 118"/>
          <p:cNvSpPr>
            <a:spLocks noGrp="1"/>
          </p:cNvSpPr>
          <p:nvPr>
            <p:ph type="body" sz="quarter" idx="1"/>
          </p:nvPr>
        </p:nvSpPr>
        <p:spPr>
          <a:prstGeom prst="rect">
            <a:avLst/>
          </a:prstGeom>
        </p:spPr>
        <p:txBody>
          <a:bodyPr/>
          <a:lstStyle/>
          <a:p>
            <a:endParaRPr/>
          </a:p>
        </p:txBody>
      </p:sp>
    </p:spTree>
    <p:extLst>
      <p:ext uri="{BB962C8B-B14F-4D97-AF65-F5344CB8AC3E}">
        <p14:creationId xmlns:p14="http://schemas.microsoft.com/office/powerpoint/2010/main" val="3316115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10"/>
          </p:nvPr>
        </p:nvSpPr>
        <p:spPr/>
        <p:txBody>
          <a:bodyPr/>
          <a:lstStyle/>
          <a:p>
            <a:fld id="{05221CF7-2E63-1248-8616-FE4543A0E91D}" type="slidenum">
              <a:rPr kumimoji="1" lang="zh-CN" altLang="en-US" smtClean="0"/>
              <a:t>10</a:t>
            </a:fld>
            <a:endParaRPr kumimoji="1" lang="zh-CN" altLang="en-US"/>
          </a:p>
        </p:txBody>
      </p:sp>
    </p:spTree>
    <p:extLst>
      <p:ext uri="{BB962C8B-B14F-4D97-AF65-F5344CB8AC3E}">
        <p14:creationId xmlns:p14="http://schemas.microsoft.com/office/powerpoint/2010/main" val="28419929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10"/>
          </p:nvPr>
        </p:nvSpPr>
        <p:spPr/>
        <p:txBody>
          <a:bodyPr/>
          <a:lstStyle/>
          <a:p>
            <a:fld id="{05221CF7-2E63-1248-8616-FE4543A0E91D}" type="slidenum">
              <a:rPr kumimoji="1" lang="zh-CN" altLang="en-US" smtClean="0"/>
              <a:t>11</a:t>
            </a:fld>
            <a:endParaRPr kumimoji="1" lang="zh-CN" altLang="en-US"/>
          </a:p>
        </p:txBody>
      </p:sp>
    </p:spTree>
    <p:extLst>
      <p:ext uri="{BB962C8B-B14F-4D97-AF65-F5344CB8AC3E}">
        <p14:creationId xmlns:p14="http://schemas.microsoft.com/office/powerpoint/2010/main" val="5885078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10"/>
          </p:nvPr>
        </p:nvSpPr>
        <p:spPr/>
        <p:txBody>
          <a:bodyPr/>
          <a:lstStyle/>
          <a:p>
            <a:fld id="{05221CF7-2E63-1248-8616-FE4543A0E91D}" type="slidenum">
              <a:rPr kumimoji="1" lang="zh-CN" altLang="en-US" smtClean="0"/>
              <a:t>12</a:t>
            </a:fld>
            <a:endParaRPr kumimoji="1" lang="zh-CN" altLang="en-US"/>
          </a:p>
        </p:txBody>
      </p:sp>
    </p:spTree>
    <p:extLst>
      <p:ext uri="{BB962C8B-B14F-4D97-AF65-F5344CB8AC3E}">
        <p14:creationId xmlns:p14="http://schemas.microsoft.com/office/powerpoint/2010/main" val="2965900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10"/>
          </p:nvPr>
        </p:nvSpPr>
        <p:spPr/>
        <p:txBody>
          <a:bodyPr/>
          <a:lstStyle/>
          <a:p>
            <a:fld id="{05221CF7-2E63-1248-8616-FE4543A0E91D}" type="slidenum">
              <a:rPr kumimoji="1" lang="zh-CN" altLang="en-US" smtClean="0"/>
              <a:t>13</a:t>
            </a:fld>
            <a:endParaRPr kumimoji="1" lang="zh-CN" altLang="en-US"/>
          </a:p>
        </p:txBody>
      </p:sp>
    </p:spTree>
    <p:extLst>
      <p:ext uri="{BB962C8B-B14F-4D97-AF65-F5344CB8AC3E}">
        <p14:creationId xmlns:p14="http://schemas.microsoft.com/office/powerpoint/2010/main" val="41630070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10"/>
          </p:nvPr>
        </p:nvSpPr>
        <p:spPr/>
        <p:txBody>
          <a:bodyPr/>
          <a:lstStyle/>
          <a:p>
            <a:fld id="{05221CF7-2E63-1248-8616-FE4543A0E91D}" type="slidenum">
              <a:rPr kumimoji="1" lang="zh-CN" altLang="en-US" smtClean="0"/>
              <a:t>14</a:t>
            </a:fld>
            <a:endParaRPr kumimoji="1" lang="zh-CN" altLang="en-US"/>
          </a:p>
        </p:txBody>
      </p:sp>
    </p:spTree>
    <p:extLst>
      <p:ext uri="{BB962C8B-B14F-4D97-AF65-F5344CB8AC3E}">
        <p14:creationId xmlns:p14="http://schemas.microsoft.com/office/powerpoint/2010/main" val="11005988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10"/>
          </p:nvPr>
        </p:nvSpPr>
        <p:spPr/>
        <p:txBody>
          <a:bodyPr/>
          <a:lstStyle/>
          <a:p>
            <a:fld id="{05221CF7-2E63-1248-8616-FE4543A0E91D}" type="slidenum">
              <a:rPr kumimoji="1" lang="zh-CN" altLang="en-US" smtClean="0"/>
              <a:t>15</a:t>
            </a:fld>
            <a:endParaRPr kumimoji="1" lang="zh-CN" altLang="en-US"/>
          </a:p>
        </p:txBody>
      </p:sp>
    </p:spTree>
    <p:extLst>
      <p:ext uri="{BB962C8B-B14F-4D97-AF65-F5344CB8AC3E}">
        <p14:creationId xmlns:p14="http://schemas.microsoft.com/office/powerpoint/2010/main" val="32494986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10"/>
          </p:nvPr>
        </p:nvSpPr>
        <p:spPr/>
        <p:txBody>
          <a:bodyPr/>
          <a:lstStyle/>
          <a:p>
            <a:fld id="{05221CF7-2E63-1248-8616-FE4543A0E91D}" type="slidenum">
              <a:rPr kumimoji="1" lang="zh-CN" altLang="en-US" smtClean="0"/>
              <a:t>16</a:t>
            </a:fld>
            <a:endParaRPr kumimoji="1" lang="zh-CN" altLang="en-US"/>
          </a:p>
        </p:txBody>
      </p:sp>
    </p:spTree>
    <p:extLst>
      <p:ext uri="{BB962C8B-B14F-4D97-AF65-F5344CB8AC3E}">
        <p14:creationId xmlns:p14="http://schemas.microsoft.com/office/powerpoint/2010/main" val="25753434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10"/>
          </p:nvPr>
        </p:nvSpPr>
        <p:spPr/>
        <p:txBody>
          <a:bodyPr/>
          <a:lstStyle/>
          <a:p>
            <a:fld id="{05221CF7-2E63-1248-8616-FE4543A0E91D}" type="slidenum">
              <a:rPr kumimoji="1" lang="zh-CN" altLang="en-US" smtClean="0"/>
              <a:t>17</a:t>
            </a:fld>
            <a:endParaRPr kumimoji="1" lang="zh-CN" altLang="en-US"/>
          </a:p>
        </p:txBody>
      </p:sp>
    </p:spTree>
    <p:extLst>
      <p:ext uri="{BB962C8B-B14F-4D97-AF65-F5344CB8AC3E}">
        <p14:creationId xmlns:p14="http://schemas.microsoft.com/office/powerpoint/2010/main" val="25109968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10"/>
          </p:nvPr>
        </p:nvSpPr>
        <p:spPr/>
        <p:txBody>
          <a:bodyPr/>
          <a:lstStyle/>
          <a:p>
            <a:fld id="{05221CF7-2E63-1248-8616-FE4543A0E91D}" type="slidenum">
              <a:rPr kumimoji="1" lang="zh-CN" altLang="en-US" smtClean="0"/>
              <a:t>18</a:t>
            </a:fld>
            <a:endParaRPr kumimoji="1" lang="zh-CN" altLang="en-US"/>
          </a:p>
        </p:txBody>
      </p:sp>
    </p:spTree>
    <p:extLst>
      <p:ext uri="{BB962C8B-B14F-4D97-AF65-F5344CB8AC3E}">
        <p14:creationId xmlns:p14="http://schemas.microsoft.com/office/powerpoint/2010/main" val="31495712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10"/>
          </p:nvPr>
        </p:nvSpPr>
        <p:spPr/>
        <p:txBody>
          <a:bodyPr/>
          <a:lstStyle/>
          <a:p>
            <a:fld id="{05221CF7-2E63-1248-8616-FE4543A0E91D}" type="slidenum">
              <a:rPr kumimoji="1" lang="zh-CN" altLang="en-US" smtClean="0"/>
              <a:t>19</a:t>
            </a:fld>
            <a:endParaRPr kumimoji="1" lang="zh-CN" altLang="en-US"/>
          </a:p>
        </p:txBody>
      </p:sp>
    </p:spTree>
    <p:extLst>
      <p:ext uri="{BB962C8B-B14F-4D97-AF65-F5344CB8AC3E}">
        <p14:creationId xmlns:p14="http://schemas.microsoft.com/office/powerpoint/2010/main" val="36441767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10"/>
          </p:nvPr>
        </p:nvSpPr>
        <p:spPr/>
        <p:txBody>
          <a:bodyPr/>
          <a:lstStyle/>
          <a:p>
            <a:fld id="{05221CF7-2E63-1248-8616-FE4543A0E91D}" type="slidenum">
              <a:rPr kumimoji="1" lang="zh-CN" altLang="en-US" smtClean="0"/>
              <a:t>20</a:t>
            </a:fld>
            <a:endParaRPr kumimoji="1" lang="zh-CN" altLang="en-US"/>
          </a:p>
        </p:txBody>
      </p:sp>
    </p:spTree>
    <p:extLst>
      <p:ext uri="{BB962C8B-B14F-4D97-AF65-F5344CB8AC3E}">
        <p14:creationId xmlns:p14="http://schemas.microsoft.com/office/powerpoint/2010/main" val="36237522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10"/>
          </p:nvPr>
        </p:nvSpPr>
        <p:spPr/>
        <p:txBody>
          <a:bodyPr/>
          <a:lstStyle/>
          <a:p>
            <a:fld id="{05221CF7-2E63-1248-8616-FE4543A0E91D}" type="slidenum">
              <a:rPr kumimoji="1" lang="zh-CN" altLang="en-US" smtClean="0"/>
              <a:t>21</a:t>
            </a:fld>
            <a:endParaRPr kumimoji="1" lang="zh-CN" altLang="en-US"/>
          </a:p>
        </p:txBody>
      </p:sp>
    </p:spTree>
    <p:extLst>
      <p:ext uri="{BB962C8B-B14F-4D97-AF65-F5344CB8AC3E}">
        <p14:creationId xmlns:p14="http://schemas.microsoft.com/office/powerpoint/2010/main" val="2663387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10"/>
          </p:nvPr>
        </p:nvSpPr>
        <p:spPr/>
        <p:txBody>
          <a:bodyPr/>
          <a:lstStyle/>
          <a:p>
            <a:fld id="{05221CF7-2E63-1248-8616-FE4543A0E91D}" type="slidenum">
              <a:rPr kumimoji="1" lang="zh-CN" altLang="en-US" smtClean="0"/>
              <a:t>22</a:t>
            </a:fld>
            <a:endParaRPr kumimoji="1" lang="zh-CN" altLang="en-US"/>
          </a:p>
        </p:txBody>
      </p:sp>
    </p:spTree>
    <p:extLst>
      <p:ext uri="{BB962C8B-B14F-4D97-AF65-F5344CB8AC3E}">
        <p14:creationId xmlns:p14="http://schemas.microsoft.com/office/powerpoint/2010/main" val="8556273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10"/>
          </p:nvPr>
        </p:nvSpPr>
        <p:spPr/>
        <p:txBody>
          <a:bodyPr/>
          <a:lstStyle/>
          <a:p>
            <a:fld id="{05221CF7-2E63-1248-8616-FE4543A0E91D}" type="slidenum">
              <a:rPr kumimoji="1" lang="zh-CN" altLang="en-US" smtClean="0"/>
              <a:t>23</a:t>
            </a:fld>
            <a:endParaRPr kumimoji="1" lang="zh-CN" altLang="en-US"/>
          </a:p>
        </p:txBody>
      </p:sp>
    </p:spTree>
    <p:extLst>
      <p:ext uri="{BB962C8B-B14F-4D97-AF65-F5344CB8AC3E}">
        <p14:creationId xmlns:p14="http://schemas.microsoft.com/office/powerpoint/2010/main" val="24072445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10"/>
          </p:nvPr>
        </p:nvSpPr>
        <p:spPr/>
        <p:txBody>
          <a:bodyPr/>
          <a:lstStyle/>
          <a:p>
            <a:fld id="{05221CF7-2E63-1248-8616-FE4543A0E91D}" type="slidenum">
              <a:rPr kumimoji="1" lang="zh-CN" altLang="en-US" smtClean="0"/>
              <a:t>24</a:t>
            </a:fld>
            <a:endParaRPr kumimoji="1" lang="zh-CN" altLang="en-US"/>
          </a:p>
        </p:txBody>
      </p:sp>
    </p:spTree>
    <p:extLst>
      <p:ext uri="{BB962C8B-B14F-4D97-AF65-F5344CB8AC3E}">
        <p14:creationId xmlns:p14="http://schemas.microsoft.com/office/powerpoint/2010/main" val="6564064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10"/>
          </p:nvPr>
        </p:nvSpPr>
        <p:spPr/>
        <p:txBody>
          <a:bodyPr/>
          <a:lstStyle/>
          <a:p>
            <a:fld id="{05221CF7-2E63-1248-8616-FE4543A0E91D}" type="slidenum">
              <a:rPr kumimoji="1" lang="zh-CN" altLang="en-US" smtClean="0"/>
              <a:t>25</a:t>
            </a:fld>
            <a:endParaRPr kumimoji="1" lang="zh-CN" altLang="en-US"/>
          </a:p>
        </p:txBody>
      </p:sp>
    </p:spTree>
    <p:extLst>
      <p:ext uri="{BB962C8B-B14F-4D97-AF65-F5344CB8AC3E}">
        <p14:creationId xmlns:p14="http://schemas.microsoft.com/office/powerpoint/2010/main" val="502069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22F8438A-1D8C-CE49-B189-5716334A99C0}" type="slidenum">
              <a:rPr kumimoji="1" lang="zh-CN" altLang="en-US" smtClean="0"/>
              <a:t>26</a:t>
            </a:fld>
            <a:endParaRPr kumimoji="1" lang="zh-CN" altLang="en-US"/>
          </a:p>
        </p:txBody>
      </p:sp>
    </p:spTree>
    <p:extLst>
      <p:ext uri="{BB962C8B-B14F-4D97-AF65-F5344CB8AC3E}">
        <p14:creationId xmlns:p14="http://schemas.microsoft.com/office/powerpoint/2010/main" val="27384567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10"/>
          </p:nvPr>
        </p:nvSpPr>
        <p:spPr/>
        <p:txBody>
          <a:bodyPr/>
          <a:lstStyle/>
          <a:p>
            <a:fld id="{05221CF7-2E63-1248-8616-FE4543A0E91D}" type="slidenum">
              <a:rPr kumimoji="1" lang="zh-CN" altLang="en-US" smtClean="0"/>
              <a:t>27</a:t>
            </a:fld>
            <a:endParaRPr kumimoji="1" lang="zh-CN" altLang="en-US"/>
          </a:p>
        </p:txBody>
      </p:sp>
    </p:spTree>
    <p:extLst>
      <p:ext uri="{BB962C8B-B14F-4D97-AF65-F5344CB8AC3E}">
        <p14:creationId xmlns:p14="http://schemas.microsoft.com/office/powerpoint/2010/main" val="16121753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Shape 123"/>
          <p:cNvSpPr>
            <a:spLocks noGrp="1" noRot="1" noChangeAspect="1"/>
          </p:cNvSpPr>
          <p:nvPr>
            <p:ph type="sldImg"/>
          </p:nvPr>
        </p:nvSpPr>
        <p:spPr>
          <a:xfrm>
            <a:off x="381000" y="685800"/>
            <a:ext cx="6096000" cy="3429000"/>
          </a:xfrm>
          <a:prstGeom prst="rect">
            <a:avLst/>
          </a:prstGeom>
        </p:spPr>
        <p:txBody>
          <a:bodyPr/>
          <a:lstStyle/>
          <a:p>
            <a:endParaRPr/>
          </a:p>
        </p:txBody>
      </p:sp>
      <p:sp>
        <p:nvSpPr>
          <p:cNvPr id="124" name="Shape 124"/>
          <p:cNvSpPr>
            <a:spLocks noGrp="1"/>
          </p:cNvSpPr>
          <p:nvPr>
            <p:ph type="body" sz="quarter" idx="1"/>
          </p:nvPr>
        </p:nvSpPr>
        <p:spPr>
          <a:prstGeom prst="rect">
            <a:avLst/>
          </a:prstGeom>
        </p:spPr>
        <p:txBody>
          <a:bodyPr/>
          <a:lstStyle/>
          <a:p>
            <a:endParaRPr dirty="0"/>
          </a:p>
        </p:txBody>
      </p:sp>
    </p:spTree>
    <p:extLst>
      <p:ext uri="{BB962C8B-B14F-4D97-AF65-F5344CB8AC3E}">
        <p14:creationId xmlns:p14="http://schemas.microsoft.com/office/powerpoint/2010/main" val="24260104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381000" y="685800"/>
            <a:ext cx="6096000" cy="3429000"/>
          </a:xfrm>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28134383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22F8438A-1D8C-CE49-B189-5716334A99C0}" type="slidenum">
              <a:rPr kumimoji="1" lang="zh-CN" altLang="en-US" smtClean="0"/>
              <a:t>30</a:t>
            </a:fld>
            <a:endParaRPr kumimoji="1" lang="zh-CN" altLang="en-US"/>
          </a:p>
        </p:txBody>
      </p:sp>
    </p:spTree>
    <p:extLst>
      <p:ext uri="{BB962C8B-B14F-4D97-AF65-F5344CB8AC3E}">
        <p14:creationId xmlns:p14="http://schemas.microsoft.com/office/powerpoint/2010/main" val="29308296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22F8438A-1D8C-CE49-B189-5716334A99C0}" type="slidenum">
              <a:rPr kumimoji="1" lang="zh-CN" altLang="en-US" smtClean="0"/>
              <a:t>31</a:t>
            </a:fld>
            <a:endParaRPr kumimoji="1" lang="zh-CN" altLang="en-US"/>
          </a:p>
        </p:txBody>
      </p:sp>
    </p:spTree>
    <p:extLst>
      <p:ext uri="{BB962C8B-B14F-4D97-AF65-F5344CB8AC3E}">
        <p14:creationId xmlns:p14="http://schemas.microsoft.com/office/powerpoint/2010/main" val="340498746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22F8438A-1D8C-CE49-B189-5716334A99C0}" type="slidenum">
              <a:rPr kumimoji="1" lang="zh-CN" altLang="en-US" smtClean="0"/>
              <a:t>32</a:t>
            </a:fld>
            <a:endParaRPr kumimoji="1" lang="zh-CN" altLang="en-US"/>
          </a:p>
        </p:txBody>
      </p:sp>
    </p:spTree>
    <p:extLst>
      <p:ext uri="{BB962C8B-B14F-4D97-AF65-F5344CB8AC3E}">
        <p14:creationId xmlns:p14="http://schemas.microsoft.com/office/powerpoint/2010/main" val="416174992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22F8438A-1D8C-CE49-B189-5716334A99C0}" type="slidenum">
              <a:rPr kumimoji="1" lang="zh-CN" altLang="en-US" smtClean="0"/>
              <a:t>33</a:t>
            </a:fld>
            <a:endParaRPr kumimoji="1" lang="zh-CN" altLang="en-US"/>
          </a:p>
        </p:txBody>
      </p:sp>
    </p:spTree>
    <p:extLst>
      <p:ext uri="{BB962C8B-B14F-4D97-AF65-F5344CB8AC3E}">
        <p14:creationId xmlns:p14="http://schemas.microsoft.com/office/powerpoint/2010/main" val="423659650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10"/>
          </p:nvPr>
        </p:nvSpPr>
        <p:spPr/>
        <p:txBody>
          <a:bodyPr/>
          <a:lstStyle/>
          <a:p>
            <a:fld id="{05221CF7-2E63-1248-8616-FE4543A0E91D}" type="slidenum">
              <a:rPr kumimoji="1" lang="zh-CN" altLang="en-US" smtClean="0"/>
              <a:t>34</a:t>
            </a:fld>
            <a:endParaRPr kumimoji="1" lang="zh-CN" altLang="en-US"/>
          </a:p>
        </p:txBody>
      </p:sp>
    </p:spTree>
    <p:extLst>
      <p:ext uri="{BB962C8B-B14F-4D97-AF65-F5344CB8AC3E}">
        <p14:creationId xmlns:p14="http://schemas.microsoft.com/office/powerpoint/2010/main" val="8723591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10"/>
          </p:nvPr>
        </p:nvSpPr>
        <p:spPr/>
        <p:txBody>
          <a:bodyPr/>
          <a:lstStyle/>
          <a:p>
            <a:fld id="{05221CF7-2E63-1248-8616-FE4543A0E91D}" type="slidenum">
              <a:rPr kumimoji="1" lang="zh-CN" altLang="en-US" smtClean="0"/>
              <a:t>35</a:t>
            </a:fld>
            <a:endParaRPr kumimoji="1" lang="zh-CN" altLang="en-US"/>
          </a:p>
        </p:txBody>
      </p:sp>
    </p:spTree>
    <p:extLst>
      <p:ext uri="{BB962C8B-B14F-4D97-AF65-F5344CB8AC3E}">
        <p14:creationId xmlns:p14="http://schemas.microsoft.com/office/powerpoint/2010/main" val="412776780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xml"/><Relationship Id="rId1" Type="http://schemas.openxmlformats.org/officeDocument/2006/relationships/vmlDrawing" Target="../drawings/vmlDrawing1.vml"/><Relationship Id="rId5" Type="http://schemas.openxmlformats.org/officeDocument/2006/relationships/image" Target="../media/image4.emf"/><Relationship Id="rId4" Type="http://schemas.openxmlformats.org/officeDocument/2006/relationships/oleObject" Target="../embeddings/oleObject1.bin"/></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封面">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21602700" y="7734300"/>
            <a:ext cx="2781300" cy="5676900"/>
          </a:xfrm>
          <a:prstGeom prst="rect">
            <a:avLst/>
          </a:prstGeom>
        </p:spPr>
      </p:pic>
      <p:pic>
        <p:nvPicPr>
          <p:cNvPr id="2" name="图片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6256000" y="-3678989"/>
            <a:ext cx="11210089" cy="11210089"/>
          </a:xfrm>
          <a:prstGeom prst="rect">
            <a:avLst/>
          </a:prstGeom>
        </p:spPr>
      </p:pic>
      <p:grpSp>
        <p:nvGrpSpPr>
          <p:cNvPr id="18" name="成组"/>
          <p:cNvGrpSpPr/>
          <p:nvPr/>
        </p:nvGrpSpPr>
        <p:grpSpPr>
          <a:xfrm>
            <a:off x="762000" y="12732591"/>
            <a:ext cx="4386966" cy="513349"/>
            <a:chOff x="0" y="0"/>
            <a:chExt cx="4386965" cy="513348"/>
          </a:xfrm>
        </p:grpSpPr>
        <p:pic>
          <p:nvPicPr>
            <p:cNvPr id="16" name="成组" descr="成组"/>
            <p:cNvPicPr>
              <a:picLocks noChangeAspect="1"/>
            </p:cNvPicPr>
            <p:nvPr/>
          </p:nvPicPr>
          <p:blipFill>
            <a:blip r:embed="rId4"/>
            <a:stretch>
              <a:fillRect/>
            </a:stretch>
          </p:blipFill>
          <p:spPr>
            <a:xfrm>
              <a:off x="0" y="0"/>
              <a:ext cx="734169" cy="458856"/>
            </a:xfrm>
            <a:prstGeom prst="rect">
              <a:avLst/>
            </a:prstGeom>
            <a:ln w="12700" cap="flat">
              <a:noFill/>
              <a:miter lim="400000"/>
            </a:ln>
            <a:effectLst/>
          </p:spPr>
        </p:pic>
        <p:sp>
          <p:nvSpPr>
            <p:cNvPr id="17" name="Effective Cloud User Group"/>
            <p:cNvSpPr txBox="1"/>
            <p:nvPr/>
          </p:nvSpPr>
          <p:spPr>
            <a:xfrm>
              <a:off x="835616" y="47105"/>
              <a:ext cx="3551350" cy="46624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71437" tIns="71437" rIns="71437" bIns="71437" numCol="1" anchor="ctr">
              <a:spAutoFit/>
            </a:bodyPr>
            <a:lstStyle>
              <a:lvl1pPr algn="l" defTabSz="12700">
                <a:lnSpc>
                  <a:spcPts val="26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200" b="0">
                  <a:solidFill>
                    <a:srgbClr val="5E5E5E"/>
                  </a:solidFill>
                  <a:latin typeface="Arial"/>
                  <a:ea typeface="Arial"/>
                  <a:cs typeface="Arial"/>
                  <a:sym typeface="Arial"/>
                </a:defRPr>
              </a:lvl1pPr>
            </a:lstStyle>
            <a:p>
              <a:r>
                <a:t>Effective Cloud User Group</a:t>
              </a:r>
            </a:p>
          </p:txBody>
        </p:sp>
      </p:grpSp>
      <p:sp>
        <p:nvSpPr>
          <p:cNvPr id="20" name="幻灯片编号"/>
          <p:cNvSpPr txBox="1">
            <a:spLocks noGrp="1"/>
          </p:cNvSpPr>
          <p:nvPr>
            <p:ph type="sldNum" sz="quarter" idx="2"/>
          </p:nvPr>
        </p:nvSpPr>
        <p:spPr>
          <a:prstGeom prst="rect">
            <a:avLst/>
          </a:prstGeom>
        </p:spPr>
        <p:txBody>
          <a:bodyPr/>
          <a:lstStyle>
            <a:lvl1pPr>
              <a:defRPr>
                <a:latin typeface="Helvetica Neue Thin"/>
                <a:ea typeface="Helvetica Neue Thin"/>
                <a:cs typeface="Helvetica Neue Thin"/>
                <a:sym typeface="Helvetica Neue Thin"/>
              </a:defRPr>
            </a:lvl1p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封底">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6200000">
            <a:off x="19473178" y="9496808"/>
            <a:ext cx="2781300" cy="5676900"/>
          </a:xfrm>
          <a:prstGeom prst="rect">
            <a:avLst/>
          </a:prstGeom>
        </p:spPr>
      </p:pic>
      <p:pic>
        <p:nvPicPr>
          <p:cNvPr id="8" name="图片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082089" y="-3678989"/>
            <a:ext cx="11210089" cy="11210089"/>
          </a:xfrm>
          <a:prstGeom prst="rect">
            <a:avLst/>
          </a:prstGeom>
        </p:spPr>
      </p:pic>
      <p:sp>
        <p:nvSpPr>
          <p:cNvPr id="58" name="Thanks"/>
          <p:cNvSpPr txBox="1"/>
          <p:nvPr/>
        </p:nvSpPr>
        <p:spPr>
          <a:xfrm>
            <a:off x="9249618" y="4587104"/>
            <a:ext cx="5884764" cy="2149476"/>
          </a:xfrm>
          <a:prstGeom prst="rect">
            <a:avLst/>
          </a:prstGeom>
          <a:ln w="12700">
            <a:miter lim="400000"/>
          </a:ln>
          <a:extLst>
            <a:ext uri="{C572A759-6A51-4108-AA02-DFA0A04FC94B}">
              <ma14:wrappingTextBoxFlag xmlns:ma14="http://schemas.microsoft.com/office/mac/drawingml/2011/main" xmlns="" val="1"/>
            </a:ext>
          </a:extLst>
        </p:spPr>
        <p:txBody>
          <a:bodyPr wrap="none" lIns="71437" tIns="71437" rIns="71437" bIns="71437" anchor="ctr">
            <a:spAutoFit/>
          </a:bodyPr>
          <a:lstStyle>
            <a:lvl1pPr>
              <a:defRPr sz="11200" b="0">
                <a:latin typeface="Arial Black"/>
                <a:ea typeface="Arial Black"/>
                <a:cs typeface="Arial Black"/>
                <a:sym typeface="Arial Black"/>
              </a:defRPr>
            </a:lvl1pPr>
          </a:lstStyle>
          <a:p>
            <a:r>
              <a:rPr dirty="0"/>
              <a:t>Thanks</a:t>
            </a:r>
          </a:p>
        </p:txBody>
      </p:sp>
      <p:sp>
        <p:nvSpPr>
          <p:cNvPr id="59" name="www.ecug.org"/>
          <p:cNvSpPr txBox="1"/>
          <p:nvPr/>
        </p:nvSpPr>
        <p:spPr>
          <a:xfrm>
            <a:off x="10758196" y="7073324"/>
            <a:ext cx="2867609" cy="624050"/>
          </a:xfrm>
          <a:prstGeom prst="rect">
            <a:avLst/>
          </a:prstGeom>
          <a:ln w="12700">
            <a:miter lim="400000"/>
          </a:ln>
          <a:extLst>
            <a:ext uri="{C572A759-6A51-4108-AA02-DFA0A04FC94B}">
              <ma14:wrappingTextBoxFlag xmlns:ma14="http://schemas.microsoft.com/office/mac/drawingml/2011/main" xmlns="" val="1"/>
            </a:ext>
          </a:extLst>
        </p:spPr>
        <p:txBody>
          <a:bodyPr wrap="none" lIns="71437" tIns="71437" rIns="71437" bIns="71437" anchor="ctr">
            <a:spAutoFit/>
          </a:bodyPr>
          <a:lstStyle>
            <a:lvl1pPr>
              <a:defRPr sz="3400" b="0">
                <a:latin typeface="Arial"/>
                <a:ea typeface="Arial"/>
                <a:cs typeface="Arial"/>
                <a:sym typeface="Arial"/>
              </a:defRPr>
            </a:lvl1pPr>
          </a:lstStyle>
          <a:p>
            <a:r>
              <a:rPr dirty="0"/>
              <a:t>www.ecug.org</a:t>
            </a:r>
          </a:p>
        </p:txBody>
      </p:sp>
      <p:sp>
        <p:nvSpPr>
          <p:cNvPr id="62" name="幻灯片编号"/>
          <p:cNvSpPr txBox="1">
            <a:spLocks noGrp="1"/>
          </p:cNvSpPr>
          <p:nvPr>
            <p:ph type="sldNum" sz="quarter" idx="2"/>
          </p:nvPr>
        </p:nvSpPr>
        <p:spPr>
          <a:prstGeom prst="rect">
            <a:avLst/>
          </a:prstGeom>
        </p:spPr>
        <p:txBody>
          <a:bodyPr/>
          <a:lstStyle>
            <a:lvl1pPr>
              <a:defRPr>
                <a:latin typeface="Helvetica Neue Thin"/>
                <a:ea typeface="Helvetica Neue Thin"/>
                <a:cs typeface="Helvetica Neue Thin"/>
                <a:sym typeface="Helvetica Neue Thin"/>
              </a:defRPr>
            </a:lvl1pPr>
          </a:lstStyle>
          <a:p>
            <a:fld id="{86CB4B4D-7CA3-9044-876B-883B54F8677D}" type="slidenum">
              <a:t>‹#›</a:t>
            </a:fld>
            <a:endParaRPr dirty="0"/>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mp; Conten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1557872" y="1535576"/>
            <a:ext cx="21208997" cy="1022027"/>
          </a:xfrm>
          <a:prstGeom prst="rect">
            <a:avLst/>
          </a:prstGeom>
        </p:spPr>
        <p:txBody>
          <a:bodyPr lIns="0" tIns="0" rIns="0" bIns="0"/>
          <a:lstStyle>
            <a:lvl1pPr marL="0" indent="0" algn="l">
              <a:lnSpc>
                <a:spcPct val="100000"/>
              </a:lnSpc>
              <a:spcBef>
                <a:spcPts val="0"/>
              </a:spcBef>
              <a:buNone/>
              <a:defRPr sz="5867" b="0" cap="all" spc="133" baseline="0">
                <a:solidFill>
                  <a:schemeClr val="accent1"/>
                </a:solidFill>
                <a:latin typeface="Lato Black" panose="020F0A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sp>
        <p:nvSpPr>
          <p:cNvPr id="3" name="Text Placeholder 9"/>
          <p:cNvSpPr>
            <a:spLocks noGrp="1"/>
          </p:cNvSpPr>
          <p:nvPr>
            <p:ph type="body" sz="quarter" idx="11"/>
          </p:nvPr>
        </p:nvSpPr>
        <p:spPr>
          <a:xfrm>
            <a:off x="1583267" y="2557603"/>
            <a:ext cx="21208997" cy="376917"/>
          </a:xfrm>
          <a:prstGeom prst="rect">
            <a:avLst/>
          </a:prstGeom>
        </p:spPr>
        <p:txBody>
          <a:bodyPr lIns="0" tIns="0" rIns="0" bIns="0"/>
          <a:lstStyle>
            <a:lvl1pPr marL="0" indent="0" algn="l">
              <a:lnSpc>
                <a:spcPts val="3200"/>
              </a:lnSpc>
              <a:spcBef>
                <a:spcPts val="0"/>
              </a:spcBef>
              <a:buNone/>
              <a:defRPr sz="2400" b="0" cap="none" spc="0" baseline="0">
                <a:solidFill>
                  <a:schemeClr val="accent4"/>
                </a:solidFill>
                <a:latin typeface="Lato" panose="020F05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cxnSp>
        <p:nvCxnSpPr>
          <p:cNvPr id="5" name="Straight Connector 4"/>
          <p:cNvCxnSpPr/>
          <p:nvPr userDrawn="1"/>
        </p:nvCxnSpPr>
        <p:spPr>
          <a:xfrm>
            <a:off x="1583267" y="1312179"/>
            <a:ext cx="24384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TextBox 15"/>
          <p:cNvSpPr txBox="1"/>
          <p:nvPr userDrawn="1"/>
        </p:nvSpPr>
        <p:spPr>
          <a:xfrm>
            <a:off x="1583268" y="12594243"/>
            <a:ext cx="4756147" cy="328231"/>
          </a:xfrm>
          <a:prstGeom prst="rect">
            <a:avLst/>
          </a:prstGeom>
          <a:noFill/>
        </p:spPr>
        <p:txBody>
          <a:bodyPr wrap="square" lIns="0" tIns="0" rIns="0" bIns="0" rtlCol="0">
            <a:spAutoFit/>
          </a:bodyPr>
          <a:lstStyle/>
          <a:p>
            <a:pPr algn="l"/>
            <a:r>
              <a:rPr lang="en-US" sz="2133" b="0" spc="80" baseline="0" dirty="0">
                <a:solidFill>
                  <a:schemeClr val="accent3"/>
                </a:solidFill>
                <a:latin typeface="Lato" panose="020F0502020204030203" pitchFamily="34" charset="0"/>
              </a:rPr>
              <a:t>Www.</a:t>
            </a:r>
            <a:r>
              <a:rPr lang="en-US" sz="2133" b="0" kern="1200" spc="80" baseline="0" dirty="0">
                <a:solidFill>
                  <a:schemeClr val="accent2"/>
                </a:solidFill>
                <a:latin typeface="Lato" panose="020F0502020204030203" pitchFamily="34" charset="0"/>
                <a:ea typeface="+mn-ea"/>
                <a:cs typeface="+mn-cs"/>
              </a:rPr>
              <a:t>163yun</a:t>
            </a:r>
            <a:r>
              <a:rPr lang="en-US" sz="2133" b="0" spc="80" baseline="0" dirty="0">
                <a:solidFill>
                  <a:schemeClr val="accent3"/>
                </a:solidFill>
                <a:latin typeface="Lato" panose="020F0502020204030203" pitchFamily="34" charset="0"/>
              </a:rPr>
              <a:t>.Com</a:t>
            </a:r>
            <a:endParaRPr lang="en-US" sz="2133" b="0" spc="80" baseline="0" dirty="0">
              <a:solidFill>
                <a:schemeClr val="accent2"/>
              </a:solidFill>
              <a:latin typeface="Lato" panose="020F0502020204030203" pitchFamily="34" charset="0"/>
            </a:endParaRPr>
          </a:p>
        </p:txBody>
      </p:sp>
    </p:spTree>
    <p:extLst>
      <p:ext uri="{BB962C8B-B14F-4D97-AF65-F5344CB8AC3E}">
        <p14:creationId xmlns:p14="http://schemas.microsoft.com/office/powerpoint/2010/main" val="1184119775"/>
      </p:ext>
    </p:extLst>
  </p:cSld>
  <p:clrMapOvr>
    <a:masterClrMapping/>
  </p:clrMapOvr>
  <p:transition spd="slow" advClick="0" advTm="3000">
    <p:fade/>
  </p:transition>
  <p:extLst>
    <p:ext uri="{DCECCB84-F9BA-43D5-87BE-67443E8EF086}">
      <p15:sldGuideLst xmlns:p15="http://schemas.microsoft.com/office/powerpoint/2012/main">
        <p15:guide id="1" orient="horz" pos="2700">
          <p15:clr>
            <a:srgbClr val="FBAE40"/>
          </p15:clr>
        </p15:guide>
        <p15:guide id="2" pos="5384">
          <p15:clr>
            <a:srgbClr val="FBAE40"/>
          </p15:clr>
        </p15:guide>
        <p15:guide id="3" pos="374">
          <p15:clr>
            <a:srgbClr val="FBAE40"/>
          </p15:clr>
        </p15:guide>
        <p15:guide id="4" orient="horz" pos="306">
          <p15:clr>
            <a:srgbClr val="FBAE40"/>
          </p15:clr>
        </p15:guide>
        <p15:guide id="5" orient="horz" pos="97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82F288E0-7875-42C4-84C8-98DBBD3BF4D2}" type="datetimeFigureOut">
              <a:rPr lang="zh-CN" altLang="en-US" smtClean="0"/>
              <a:t>2020/7/9</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a:xfrm>
            <a:off x="11938773" y="13073062"/>
            <a:ext cx="496930" cy="482823"/>
          </a:xfrm>
        </p:spPr>
        <p:txBody>
          <a:bodyPr/>
          <a:lstStyle/>
          <a:p>
            <a:fld id="{7D9BB5D0-35E4-459D-AEF3-FE4D7C45CC19}" type="slidenum">
              <a:rPr lang="zh-CN" altLang="en-US" smtClean="0"/>
              <a:t>‹#›</a:t>
            </a:fld>
            <a:endParaRPr lang="zh-CN" altLang="en-US"/>
          </a:p>
        </p:txBody>
      </p:sp>
    </p:spTree>
    <p:extLst>
      <p:ext uri="{BB962C8B-B14F-4D97-AF65-F5344CB8AC3E}">
        <p14:creationId xmlns:p14="http://schemas.microsoft.com/office/powerpoint/2010/main" val="20542119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0CED82D-CACA-8A47-B3DC-7CD4190B5D90}" type="datetimeFigureOut">
              <a:rPr kumimoji="1" lang="zh-CN" altLang="en-US" smtClean="0"/>
              <a:t>2020/7/9</a:t>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a:xfrm>
            <a:off x="11941979" y="13073062"/>
            <a:ext cx="490518" cy="482823"/>
          </a:xfrm>
        </p:spPr>
        <p:txBody>
          <a:bodyPr/>
          <a:lstStyle/>
          <a:p>
            <a:fld id="{3F2545A8-4E87-A845-9155-002940F1F66C}" type="slidenum">
              <a:rPr kumimoji="1" lang="zh-CN" altLang="en-US" smtClean="0"/>
              <a:t>‹#›</a:t>
            </a:fld>
            <a:endParaRPr kumimoji="1" lang="zh-CN" altLang="en-US"/>
          </a:p>
        </p:txBody>
      </p:sp>
    </p:spTree>
    <p:extLst>
      <p:ext uri="{BB962C8B-B14F-4D97-AF65-F5344CB8AC3E}">
        <p14:creationId xmlns:p14="http://schemas.microsoft.com/office/powerpoint/2010/main" val="318100901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
        <p:nvSpPr>
          <p:cNvPr id="4" name="日期占位符 3"/>
          <p:cNvSpPr>
            <a:spLocks noGrp="1"/>
          </p:cNvSpPr>
          <p:nvPr>
            <p:ph type="dt" sz="half" idx="10"/>
          </p:nvPr>
        </p:nvSpPr>
        <p:spPr>
          <a:xfrm>
            <a:off x="1219200" y="12712704"/>
            <a:ext cx="5689600" cy="730251"/>
          </a:xfrm>
          <a:prstGeom prst="rect">
            <a:avLst/>
          </a:prstGeom>
        </p:spPr>
        <p:txBody>
          <a:bodyPr/>
          <a:lstStyle/>
          <a:p>
            <a:fld id="{F8A60AB0-812A-0C42-9E08-AD53870762EB}" type="datetimeFigureOut">
              <a:rPr kumimoji="1" lang="zh-CN" altLang="en-US" smtClean="0">
                <a:solidFill>
                  <a:prstClr val="black">
                    <a:tint val="75000"/>
                  </a:prstClr>
                </a:solidFill>
              </a:rPr>
              <a:t>2020/7/9</a:t>
            </a:fld>
            <a:endParaRPr kumimoji="1" lang="zh-CN" altLang="en-US">
              <a:solidFill>
                <a:prstClr val="black">
                  <a:tint val="75000"/>
                </a:prstClr>
              </a:solidFill>
            </a:endParaRPr>
          </a:p>
        </p:txBody>
      </p:sp>
      <p:sp>
        <p:nvSpPr>
          <p:cNvPr id="5" name="页脚占位符 4"/>
          <p:cNvSpPr>
            <a:spLocks noGrp="1"/>
          </p:cNvSpPr>
          <p:nvPr>
            <p:ph type="ftr" sz="quarter" idx="11"/>
          </p:nvPr>
        </p:nvSpPr>
        <p:spPr>
          <a:xfrm>
            <a:off x="8331200" y="12712704"/>
            <a:ext cx="7721600" cy="730251"/>
          </a:xfrm>
          <a:prstGeom prst="rect">
            <a:avLst/>
          </a:prstGeom>
        </p:spPr>
        <p:txBody>
          <a:bodyPr/>
          <a:lstStyle/>
          <a:p>
            <a:endParaRPr kumimoji="1" lang="zh-CN" altLang="en-US">
              <a:solidFill>
                <a:prstClr val="black">
                  <a:tint val="75000"/>
                </a:prstClr>
              </a:solidFill>
            </a:endParaRPr>
          </a:p>
        </p:txBody>
      </p:sp>
      <p:sp>
        <p:nvSpPr>
          <p:cNvPr id="6" name="幻灯片编号占位符 5"/>
          <p:cNvSpPr>
            <a:spLocks noGrp="1"/>
          </p:cNvSpPr>
          <p:nvPr>
            <p:ph type="sldNum" sz="quarter" idx="12"/>
          </p:nvPr>
        </p:nvSpPr>
        <p:spPr>
          <a:xfrm>
            <a:off x="20074741" y="12712704"/>
            <a:ext cx="490518" cy="482823"/>
          </a:xfrm>
          <a:prstGeom prst="rect">
            <a:avLst/>
          </a:prstGeom>
        </p:spPr>
        <p:txBody>
          <a:bodyPr/>
          <a:lstStyle/>
          <a:p>
            <a:fld id="{EC04221F-D6C4-4342-82F6-FEA4B4707251}" type="slidenum">
              <a:rPr kumimoji="1" lang="zh-CN" altLang="en-US" smtClean="0">
                <a:solidFill>
                  <a:prstClr val="black">
                    <a:tint val="75000"/>
                  </a:prstClr>
                </a:solidFill>
              </a:rPr>
              <a:t>‹#›</a:t>
            </a:fld>
            <a:endParaRPr kumimoji="1" lang="zh-CN" altLang="en-US">
              <a:solidFill>
                <a:prstClr val="black">
                  <a:tint val="75000"/>
                </a:prstClr>
              </a:solidFill>
            </a:endParaRPr>
          </a:p>
        </p:txBody>
      </p:sp>
      <p:sp>
        <p:nvSpPr>
          <p:cNvPr id="7" name="标题 1"/>
          <p:cNvSpPr>
            <a:spLocks noGrp="1"/>
          </p:cNvSpPr>
          <p:nvPr>
            <p:ph type="ctrTitle"/>
          </p:nvPr>
        </p:nvSpPr>
        <p:spPr>
          <a:xfrm>
            <a:off x="1542904" y="214772"/>
            <a:ext cx="14797403" cy="1060627"/>
          </a:xfrm>
        </p:spPr>
        <p:txBody>
          <a:bodyPr>
            <a:noAutofit/>
          </a:bodyPr>
          <a:lstStyle>
            <a:lvl1pPr algn="l">
              <a:defRPr sz="4800" b="1">
                <a:solidFill>
                  <a:srgbClr val="00487D"/>
                </a:solidFill>
                <a:latin typeface="微软雅黑" panose="020B0503020204020204" charset="-122"/>
                <a:ea typeface="微软雅黑" panose="020B0503020204020204" charset="-122"/>
                <a:cs typeface="微软雅黑" panose="020B0503020204020204" charset="-122"/>
              </a:defRPr>
            </a:lvl1pPr>
          </a:lstStyle>
          <a:p>
            <a:r>
              <a:rPr kumimoji="1" lang="zh-CN" altLang="en-US" dirty="0"/>
              <a:t>单击此处编辑母版标题样式</a:t>
            </a:r>
          </a:p>
        </p:txBody>
      </p:sp>
      <p:sp>
        <p:nvSpPr>
          <p:cNvPr id="8" name="副标题 2"/>
          <p:cNvSpPr>
            <a:spLocks noGrp="1"/>
          </p:cNvSpPr>
          <p:nvPr>
            <p:ph type="subTitle" idx="1" hasCustomPrompt="1"/>
          </p:nvPr>
        </p:nvSpPr>
        <p:spPr>
          <a:xfrm>
            <a:off x="1106488" y="1945159"/>
            <a:ext cx="22257819" cy="9792413"/>
          </a:xfrm>
        </p:spPr>
        <p:txBody>
          <a:bodyPr>
            <a:normAutofit/>
          </a:bodyPr>
          <a:lstStyle>
            <a:lvl1pPr marL="0" indent="0" algn="l">
              <a:buNone/>
              <a:defRPr sz="36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vl2pPr marL="914411" indent="0" algn="ctr">
              <a:buNone/>
              <a:defRPr>
                <a:solidFill>
                  <a:schemeClr val="tx1">
                    <a:tint val="75000"/>
                  </a:schemeClr>
                </a:solidFill>
              </a:defRPr>
            </a:lvl2pPr>
            <a:lvl3pPr marL="1828823" indent="0" algn="ctr">
              <a:buNone/>
              <a:defRPr>
                <a:solidFill>
                  <a:schemeClr val="tx1">
                    <a:tint val="75000"/>
                  </a:schemeClr>
                </a:solidFill>
              </a:defRPr>
            </a:lvl3pPr>
            <a:lvl4pPr marL="2743234" indent="0" algn="ctr">
              <a:buNone/>
              <a:defRPr>
                <a:solidFill>
                  <a:schemeClr val="tx1">
                    <a:tint val="75000"/>
                  </a:schemeClr>
                </a:solidFill>
              </a:defRPr>
            </a:lvl4pPr>
            <a:lvl5pPr marL="3657646" indent="0" algn="ctr">
              <a:buNone/>
              <a:defRPr>
                <a:solidFill>
                  <a:schemeClr val="tx1">
                    <a:tint val="75000"/>
                  </a:schemeClr>
                </a:solidFill>
              </a:defRPr>
            </a:lvl5pPr>
            <a:lvl6pPr marL="4572057" indent="0" algn="ctr">
              <a:buNone/>
              <a:defRPr>
                <a:solidFill>
                  <a:schemeClr val="tx1">
                    <a:tint val="75000"/>
                  </a:schemeClr>
                </a:solidFill>
              </a:defRPr>
            </a:lvl6pPr>
            <a:lvl7pPr marL="5486469" indent="0" algn="ctr">
              <a:buNone/>
              <a:defRPr>
                <a:solidFill>
                  <a:schemeClr val="tx1">
                    <a:tint val="75000"/>
                  </a:schemeClr>
                </a:solidFill>
              </a:defRPr>
            </a:lvl7pPr>
            <a:lvl8pPr marL="6400880" indent="0" algn="ctr">
              <a:buNone/>
              <a:defRPr>
                <a:solidFill>
                  <a:schemeClr val="tx1">
                    <a:tint val="75000"/>
                  </a:schemeClr>
                </a:solidFill>
              </a:defRPr>
            </a:lvl8pPr>
            <a:lvl9pPr marL="7315291" indent="0" algn="ctr">
              <a:buNone/>
              <a:defRPr>
                <a:solidFill>
                  <a:schemeClr val="tx1">
                    <a:tint val="75000"/>
                  </a:schemeClr>
                </a:solidFill>
              </a:defRPr>
            </a:lvl9pPr>
          </a:lstStyle>
          <a:p>
            <a:r>
              <a:rPr kumimoji="1" lang="zh-CN" altLang="en-US" dirty="0"/>
              <a:t>正文内容</a:t>
            </a:r>
          </a:p>
        </p:txBody>
      </p:sp>
    </p:spTree>
    <p:extLst>
      <p:ext uri="{BB962C8B-B14F-4D97-AF65-F5344CB8AC3E}">
        <p14:creationId xmlns:p14="http://schemas.microsoft.com/office/powerpoint/2010/main" val="107000149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引文">
    <p:spTree>
      <p:nvGrpSpPr>
        <p:cNvPr id="1" name=""/>
        <p:cNvGrpSpPr/>
        <p:nvPr/>
      </p:nvGrpSpPr>
      <p:grpSpPr>
        <a:xfrm>
          <a:off x="0" y="0"/>
          <a:ext cx="0" cy="0"/>
          <a:chOff x="0" y="0"/>
          <a:chExt cx="0" cy="0"/>
        </a:xfrm>
      </p:grpSpPr>
      <p:sp>
        <p:nvSpPr>
          <p:cNvPr id="27" name="章节标题内容"/>
          <p:cNvSpPr txBox="1">
            <a:spLocks noGrp="1"/>
          </p:cNvSpPr>
          <p:nvPr>
            <p:ph type="body" sz="quarter" idx="13" hasCustomPrompt="1"/>
          </p:nvPr>
        </p:nvSpPr>
        <p:spPr>
          <a:xfrm>
            <a:off x="2387602" y="5126565"/>
            <a:ext cx="19621501" cy="1683152"/>
          </a:xfrm>
          <a:prstGeom prst="rect">
            <a:avLst/>
          </a:prstGeom>
        </p:spPr>
        <p:txBody>
          <a:bodyPr>
            <a:spAutoFit/>
          </a:bodyPr>
          <a:lstStyle>
            <a:lvl1pPr marL="0" indent="0" algn="ctr">
              <a:spcBef>
                <a:spcPct val="0"/>
              </a:spcBef>
              <a:buSzTx/>
              <a:buNone/>
              <a:defRPr sz="100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章节标题内容</a:t>
            </a:r>
          </a:p>
        </p:txBody>
      </p:sp>
      <p:sp>
        <p:nvSpPr>
          <p:cNvPr id="28" name="Slide Number"/>
          <p:cNvSpPr txBox="1">
            <a:spLocks noGrp="1"/>
          </p:cNvSpPr>
          <p:nvPr>
            <p:ph type="sldNum" sz="quarter" idx="2"/>
          </p:nvPr>
        </p:nvSpPr>
        <p:spPr>
          <a:xfrm>
            <a:off x="11941979" y="13073062"/>
            <a:ext cx="490518" cy="482823"/>
          </a:xfrm>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1023160908"/>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4239" y="4239"/>
          <a:ext cx="4232" cy="4232"/>
        </p:xfrm>
        <a:graphic>
          <a:graphicData uri="http://schemas.openxmlformats.org/presentationml/2006/ole">
            <mc:AlternateContent xmlns:mc="http://schemas.openxmlformats.org/markup-compatibility/2006">
              <mc:Choice xmlns:v="urn:schemas-microsoft-com:vml" Requires="v">
                <p:oleObj spid="_x0000_s1068" name="think-cell Slide" r:id="rId4" imgW="12700" imgH="12700" progId="TCLayout.ActiveDocument.1">
                  <p:embed/>
                </p:oleObj>
              </mc:Choice>
              <mc:Fallback>
                <p:oleObj name="think-cell Slide" r:id="rId4" imgW="12700" imgH="12700" progId="TCLayout.ActiveDocument.1">
                  <p:embed/>
                  <p:pic>
                    <p:nvPicPr>
                      <p:cNvPr id="3" name="Object 2" hidden="1"/>
                      <p:cNvPicPr/>
                      <p:nvPr/>
                    </p:nvPicPr>
                    <p:blipFill>
                      <a:blip r:embed="rId5"/>
                      <a:stretch>
                        <a:fillRect/>
                      </a:stretch>
                    </p:blipFill>
                    <p:spPr>
                      <a:xfrm>
                        <a:off x="4239" y="4239"/>
                        <a:ext cx="4232" cy="4232"/>
                      </a:xfrm>
                      <a:prstGeom prst="rect">
                        <a:avLst/>
                      </a:prstGeom>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p>
        </p:txBody>
      </p:sp>
      <p:sp>
        <p:nvSpPr>
          <p:cNvPr id="6" name="幻灯片编号占位符 5"/>
          <p:cNvSpPr>
            <a:spLocks noGrp="1"/>
          </p:cNvSpPr>
          <p:nvPr>
            <p:ph type="sldNum" sz="quarter" idx="12"/>
          </p:nvPr>
        </p:nvSpPr>
        <p:spPr>
          <a:xfrm>
            <a:off x="11941979" y="13073062"/>
            <a:ext cx="490518" cy="482823"/>
          </a:xfrm>
        </p:spPr>
        <p:txBody>
          <a:bodyPr/>
          <a:lstStyle/>
          <a:p>
            <a:fld id="{3F2545A8-4E87-A845-9155-002940F1F66C}" type="slidenum">
              <a:rPr kumimoji="1" lang="zh-CN" altLang="en-US" smtClean="0"/>
              <a:t>‹#›</a:t>
            </a:fld>
            <a:endParaRPr kumimoji="1" lang="zh-CN" altLang="en-US"/>
          </a:p>
        </p:txBody>
      </p:sp>
      <p:sp>
        <p:nvSpPr>
          <p:cNvPr id="7" name="日期占位符 6"/>
          <p:cNvSpPr>
            <a:spLocks noGrp="1"/>
          </p:cNvSpPr>
          <p:nvPr>
            <p:ph type="dt" sz="half" idx="13"/>
          </p:nvPr>
        </p:nvSpPr>
        <p:spPr>
          <a:xfrm>
            <a:off x="1219200" y="12712701"/>
            <a:ext cx="5689600" cy="730251"/>
          </a:xfrm>
          <a:prstGeom prst="rect">
            <a:avLst/>
          </a:prstGeom>
        </p:spPr>
        <p:txBody>
          <a:bodyPr/>
          <a:lstStyle/>
          <a:p>
            <a:endParaRPr kumimoji="1" lang="zh-CN" altLang="en-US"/>
          </a:p>
        </p:txBody>
      </p:sp>
      <p:sp>
        <p:nvSpPr>
          <p:cNvPr id="8" name="页脚占位符 7"/>
          <p:cNvSpPr>
            <a:spLocks noGrp="1"/>
          </p:cNvSpPr>
          <p:nvPr>
            <p:ph type="ftr" sz="quarter" idx="14"/>
          </p:nvPr>
        </p:nvSpPr>
        <p:spPr>
          <a:xfrm>
            <a:off x="8331200" y="12712701"/>
            <a:ext cx="7721600" cy="730251"/>
          </a:xfrm>
          <a:prstGeom prst="rect">
            <a:avLst/>
          </a:prstGeom>
        </p:spPr>
        <p:txBody>
          <a:bodyPr/>
          <a:lstStyle/>
          <a:p>
            <a:endParaRPr kumimoji="1" lang="zh-CN" altLang="en-US"/>
          </a:p>
        </p:txBody>
      </p:sp>
    </p:spTree>
    <p:extLst>
      <p:ext uri="{BB962C8B-B14F-4D97-AF65-F5344CB8AC3E}">
        <p14:creationId xmlns:p14="http://schemas.microsoft.com/office/powerpoint/2010/main" val="94927784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AFF"/>
        </a:solidFill>
        <a:effectLst/>
      </p:bgPr>
    </p:bg>
    <p:spTree>
      <p:nvGrpSpPr>
        <p:cNvPr id="1" name=""/>
        <p:cNvGrpSpPr/>
        <p:nvPr/>
      </p:nvGrpSpPr>
      <p:grpSpPr>
        <a:xfrm>
          <a:off x="0" y="0"/>
          <a:ext cx="0" cy="0"/>
          <a:chOff x="0" y="0"/>
          <a:chExt cx="0" cy="0"/>
        </a:xfrm>
      </p:grpSpPr>
      <p:sp>
        <p:nvSpPr>
          <p:cNvPr id="2" name="正文级别 1…"/>
          <p:cNvSpPr txBox="1">
            <a:spLocks noGrp="1"/>
          </p:cNvSpPr>
          <p:nvPr>
            <p:ph type="body" idx="1"/>
          </p:nvPr>
        </p:nvSpPr>
        <p:spPr>
          <a:xfrm>
            <a:off x="1524000" y="1498378"/>
            <a:ext cx="21336000" cy="5152773"/>
          </a:xfrm>
          <a:prstGeom prst="rect">
            <a:avLst/>
          </a:prstGeom>
          <a:ln w="12700">
            <a:miter lim="400000"/>
          </a:ln>
          <a:extLst>
            <a:ext uri="{C572A759-6A51-4108-AA02-DFA0A04FC94B}">
              <ma14:wrappingTextBoxFlag xmlns:ma14="http://schemas.microsoft.com/office/mac/drawingml/2011/main" xmlns="" val="1"/>
            </a:ext>
          </a:extLst>
        </p:spPr>
        <p:txBody>
          <a:bodyPr lIns="71437" tIns="71437" rIns="71437" bIns="71437">
            <a:normAutofit/>
          </a:bodyPr>
          <a:lstStyle/>
          <a:p>
            <a:r>
              <a:t>正文级别 1</a:t>
            </a:r>
          </a:p>
          <a:p>
            <a:pPr lvl="1"/>
            <a:r>
              <a:t>正文级别 2</a:t>
            </a:r>
          </a:p>
          <a:p>
            <a:pPr lvl="2"/>
            <a:r>
              <a:t>正文级别 3</a:t>
            </a:r>
          </a:p>
          <a:p>
            <a:pPr lvl="3"/>
            <a:r>
              <a:t>正文级别 4</a:t>
            </a:r>
          </a:p>
          <a:p>
            <a:pPr lvl="4"/>
            <a:r>
              <a:t>正文级别 5</a:t>
            </a:r>
          </a:p>
        </p:txBody>
      </p:sp>
      <p:grpSp>
        <p:nvGrpSpPr>
          <p:cNvPr id="5" name="成组"/>
          <p:cNvGrpSpPr/>
          <p:nvPr/>
        </p:nvGrpSpPr>
        <p:grpSpPr>
          <a:xfrm>
            <a:off x="764791" y="12732591"/>
            <a:ext cx="4386967" cy="513349"/>
            <a:chOff x="0" y="0"/>
            <a:chExt cx="4386965" cy="513348"/>
          </a:xfrm>
        </p:grpSpPr>
        <p:pic>
          <p:nvPicPr>
            <p:cNvPr id="3" name="成组" descr="成组"/>
            <p:cNvPicPr>
              <a:picLocks noChangeAspect="1"/>
            </p:cNvPicPr>
            <p:nvPr/>
          </p:nvPicPr>
          <p:blipFill>
            <a:blip r:embed="rId10"/>
            <a:stretch>
              <a:fillRect/>
            </a:stretch>
          </p:blipFill>
          <p:spPr>
            <a:xfrm>
              <a:off x="0" y="0"/>
              <a:ext cx="734169" cy="458856"/>
            </a:xfrm>
            <a:prstGeom prst="rect">
              <a:avLst/>
            </a:prstGeom>
            <a:ln w="12700" cap="flat">
              <a:noFill/>
              <a:miter lim="400000"/>
            </a:ln>
            <a:effectLst/>
          </p:spPr>
        </p:pic>
        <p:sp>
          <p:nvSpPr>
            <p:cNvPr id="4" name="Effective Cloud User Group"/>
            <p:cNvSpPr txBox="1"/>
            <p:nvPr/>
          </p:nvSpPr>
          <p:spPr>
            <a:xfrm>
              <a:off x="835616" y="47105"/>
              <a:ext cx="3551350" cy="46624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71437" tIns="71437" rIns="71437" bIns="71437" numCol="1" anchor="ctr">
              <a:spAutoFit/>
            </a:bodyPr>
            <a:lstStyle>
              <a:lvl1pPr algn="l" defTabSz="12700">
                <a:lnSpc>
                  <a:spcPts val="26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200" b="0">
                  <a:solidFill>
                    <a:srgbClr val="5E5E5E"/>
                  </a:solidFill>
                  <a:latin typeface="Arial"/>
                  <a:ea typeface="Arial"/>
                  <a:cs typeface="Arial"/>
                  <a:sym typeface="Arial"/>
                </a:defRPr>
              </a:lvl1pPr>
            </a:lstStyle>
            <a:p>
              <a:r>
                <a:t>Effective Cloud User Group</a:t>
              </a:r>
            </a:p>
          </p:txBody>
        </p:sp>
      </p:grpSp>
      <p:sp>
        <p:nvSpPr>
          <p:cNvPr id="6" name="www.ecug.org"/>
          <p:cNvSpPr txBox="1"/>
          <p:nvPr/>
        </p:nvSpPr>
        <p:spPr>
          <a:xfrm>
            <a:off x="21699008" y="12757298"/>
            <a:ext cx="1910421" cy="463935"/>
          </a:xfrm>
          <a:prstGeom prst="rect">
            <a:avLst/>
          </a:prstGeom>
          <a:ln w="12700">
            <a:miter lim="400000"/>
          </a:ln>
          <a:extLst>
            <a:ext uri="{C572A759-6A51-4108-AA02-DFA0A04FC94B}">
              <ma14:wrappingTextBoxFlag xmlns:ma14="http://schemas.microsoft.com/office/mac/drawingml/2011/main" xmlns="" val="1"/>
            </a:ext>
          </a:extLst>
        </p:spPr>
        <p:txBody>
          <a:bodyPr wrap="none" lIns="71437" tIns="71437" rIns="71437" bIns="71437" anchor="ctr">
            <a:spAutoFit/>
          </a:bodyPr>
          <a:lstStyle>
            <a:lvl1pPr>
              <a:defRPr sz="2200" b="0">
                <a:solidFill>
                  <a:srgbClr val="5E5E5E"/>
                </a:solidFill>
                <a:latin typeface="Arial"/>
                <a:ea typeface="Arial"/>
                <a:cs typeface="Arial"/>
                <a:sym typeface="Arial"/>
              </a:defRPr>
            </a:lvl1pPr>
          </a:lstStyle>
          <a:p>
            <a:r>
              <a:t>www.ecug.org</a:t>
            </a:r>
          </a:p>
        </p:txBody>
      </p:sp>
      <p:sp>
        <p:nvSpPr>
          <p:cNvPr id="7" name="标题文本"/>
          <p:cNvSpPr txBox="1">
            <a:spLocks noGrp="1"/>
          </p:cNvSpPr>
          <p:nvPr>
            <p:ph type="title"/>
          </p:nvPr>
        </p:nvSpPr>
        <p:spPr>
          <a:xfrm>
            <a:off x="4387453" y="357187"/>
            <a:ext cx="15609094" cy="3036095"/>
          </a:xfrm>
          <a:prstGeom prst="rect">
            <a:avLst/>
          </a:prstGeom>
          <a:ln w="12700">
            <a:miter lim="400000"/>
          </a:ln>
          <a:extLst>
            <a:ext uri="{C572A759-6A51-4108-AA02-DFA0A04FC94B}">
              <ma14:wrappingTextBoxFlag xmlns:ma14="http://schemas.microsoft.com/office/mac/drawingml/2011/main" xmlns="" val="1"/>
            </a:ext>
          </a:extLst>
        </p:spPr>
        <p:txBody>
          <a:bodyPr lIns="71437" tIns="71437" rIns="71437" bIns="71437" anchor="ctr">
            <a:normAutofit/>
          </a:bodyPr>
          <a:lstStyle/>
          <a:p>
            <a:r>
              <a:t>标题文本</a:t>
            </a:r>
          </a:p>
        </p:txBody>
      </p:sp>
      <p:sp>
        <p:nvSpPr>
          <p:cNvPr id="8" name="幻灯片编号"/>
          <p:cNvSpPr txBox="1">
            <a:spLocks noGrp="1"/>
          </p:cNvSpPr>
          <p:nvPr>
            <p:ph type="sldNum" sz="quarter" idx="2"/>
          </p:nvPr>
        </p:nvSpPr>
        <p:spPr>
          <a:xfrm>
            <a:off x="11954103" y="13073062"/>
            <a:ext cx="466269" cy="477671"/>
          </a:xfrm>
          <a:prstGeom prst="rect">
            <a:avLst/>
          </a:prstGeom>
          <a:ln w="12700">
            <a:miter lim="400000"/>
          </a:ln>
        </p:spPr>
        <p:txBody>
          <a:bodyPr wrap="none" lIns="71437" tIns="71437" rIns="71437" bIns="71437">
            <a:spAutoFit/>
          </a:bodyPr>
          <a:lstStyle>
            <a:lvl1pPr>
              <a:defRPr sz="2200" b="0">
                <a:latin typeface="Helvetica Neue Light"/>
                <a:ea typeface="Helvetica Neue Light"/>
                <a:cs typeface="Helvetica Neue Light"/>
                <a:sym typeface="Helvetica Neue Light"/>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3" r:id="rId2"/>
    <p:sldLayoutId id="2147483657" r:id="rId3"/>
    <p:sldLayoutId id="2147483658" r:id="rId4"/>
    <p:sldLayoutId id="2147483659" r:id="rId5"/>
    <p:sldLayoutId id="2147483661" r:id="rId6"/>
    <p:sldLayoutId id="2147483662" r:id="rId7"/>
    <p:sldLayoutId id="2147483663" r:id="rId8"/>
  </p:sldLayoutIdLst>
  <p:transition spd="med"/>
  <p:txStyles>
    <p:titleStyle>
      <a:lvl1pPr marL="0" marR="0" indent="0" algn="ctr" defTabSz="821531"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n-lt"/>
          <a:ea typeface="+mn-ea"/>
          <a:cs typeface="+mn-cs"/>
          <a:sym typeface="Helvetica Neue Medium"/>
        </a:defRPr>
      </a:lvl1pPr>
      <a:lvl2pPr marL="0" marR="0" indent="0" algn="ctr" defTabSz="821531"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n-lt"/>
          <a:ea typeface="+mn-ea"/>
          <a:cs typeface="+mn-cs"/>
          <a:sym typeface="Helvetica Neue Medium"/>
        </a:defRPr>
      </a:lvl2pPr>
      <a:lvl3pPr marL="0" marR="0" indent="0" algn="ctr" defTabSz="821531"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n-lt"/>
          <a:ea typeface="+mn-ea"/>
          <a:cs typeface="+mn-cs"/>
          <a:sym typeface="Helvetica Neue Medium"/>
        </a:defRPr>
      </a:lvl3pPr>
      <a:lvl4pPr marL="0" marR="0" indent="0" algn="ctr" defTabSz="821531"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n-lt"/>
          <a:ea typeface="+mn-ea"/>
          <a:cs typeface="+mn-cs"/>
          <a:sym typeface="Helvetica Neue Medium"/>
        </a:defRPr>
      </a:lvl4pPr>
      <a:lvl5pPr marL="0" marR="0" indent="0" algn="ctr" defTabSz="821531"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n-lt"/>
          <a:ea typeface="+mn-ea"/>
          <a:cs typeface="+mn-cs"/>
          <a:sym typeface="Helvetica Neue Medium"/>
        </a:defRPr>
      </a:lvl5pPr>
      <a:lvl6pPr marL="0" marR="0" indent="0" algn="ctr" defTabSz="821531"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n-lt"/>
          <a:ea typeface="+mn-ea"/>
          <a:cs typeface="+mn-cs"/>
          <a:sym typeface="Helvetica Neue Medium"/>
        </a:defRPr>
      </a:lvl6pPr>
      <a:lvl7pPr marL="0" marR="0" indent="0" algn="ctr" defTabSz="821531"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n-lt"/>
          <a:ea typeface="+mn-ea"/>
          <a:cs typeface="+mn-cs"/>
          <a:sym typeface="Helvetica Neue Medium"/>
        </a:defRPr>
      </a:lvl7pPr>
      <a:lvl8pPr marL="0" marR="0" indent="0" algn="ctr" defTabSz="821531"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n-lt"/>
          <a:ea typeface="+mn-ea"/>
          <a:cs typeface="+mn-cs"/>
          <a:sym typeface="Helvetica Neue Medium"/>
        </a:defRPr>
      </a:lvl8pPr>
      <a:lvl9pPr marL="0" marR="0" indent="0" algn="ctr" defTabSz="821531"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n-lt"/>
          <a:ea typeface="+mn-ea"/>
          <a:cs typeface="+mn-cs"/>
          <a:sym typeface="Helvetica Neue Medium"/>
        </a:defRPr>
      </a:lvl9pPr>
    </p:titleStyle>
    <p:bodyStyle>
      <a:lvl1pPr marL="0" marR="0" indent="0" algn="l" defTabSz="821531" latinLnBrk="0">
        <a:lnSpc>
          <a:spcPct val="100000"/>
        </a:lnSpc>
        <a:spcBef>
          <a:spcPts val="4500"/>
        </a:spcBef>
        <a:spcAft>
          <a:spcPts val="0"/>
        </a:spcAft>
        <a:buClrTx/>
        <a:buSzTx/>
        <a:buFontTx/>
        <a:buNone/>
        <a:tabLst/>
        <a:defRPr sz="3000" b="0" i="0" u="none" strike="noStrike" cap="none" spc="0" baseline="0">
          <a:ln>
            <a:noFill/>
          </a:ln>
          <a:solidFill>
            <a:srgbClr val="000000"/>
          </a:solidFill>
          <a:uFillTx/>
          <a:latin typeface="Heiti SC Medium"/>
          <a:ea typeface="Heiti SC Medium"/>
          <a:cs typeface="Heiti SC Medium"/>
          <a:sym typeface="Heiti SC Medium"/>
        </a:defRPr>
      </a:lvl1pPr>
      <a:lvl2pPr marL="0" marR="0" indent="0" algn="l" defTabSz="821531" latinLnBrk="0">
        <a:lnSpc>
          <a:spcPct val="100000"/>
        </a:lnSpc>
        <a:spcBef>
          <a:spcPts val="4500"/>
        </a:spcBef>
        <a:spcAft>
          <a:spcPts val="0"/>
        </a:spcAft>
        <a:buClrTx/>
        <a:buSzTx/>
        <a:buFontTx/>
        <a:buNone/>
        <a:tabLst/>
        <a:defRPr sz="3000" b="0" i="0" u="none" strike="noStrike" cap="none" spc="0" baseline="0">
          <a:ln>
            <a:noFill/>
          </a:ln>
          <a:solidFill>
            <a:srgbClr val="000000"/>
          </a:solidFill>
          <a:uFillTx/>
          <a:latin typeface="Heiti SC Medium"/>
          <a:ea typeface="Heiti SC Medium"/>
          <a:cs typeface="Heiti SC Medium"/>
          <a:sym typeface="Heiti SC Medium"/>
        </a:defRPr>
      </a:lvl2pPr>
      <a:lvl3pPr marL="0" marR="0" indent="0" algn="l" defTabSz="821531" latinLnBrk="0">
        <a:lnSpc>
          <a:spcPct val="100000"/>
        </a:lnSpc>
        <a:spcBef>
          <a:spcPts val="4500"/>
        </a:spcBef>
        <a:spcAft>
          <a:spcPts val="0"/>
        </a:spcAft>
        <a:buClrTx/>
        <a:buSzTx/>
        <a:buFontTx/>
        <a:buNone/>
        <a:tabLst/>
        <a:defRPr sz="3000" b="0" i="0" u="none" strike="noStrike" cap="none" spc="0" baseline="0">
          <a:ln>
            <a:noFill/>
          </a:ln>
          <a:solidFill>
            <a:srgbClr val="000000"/>
          </a:solidFill>
          <a:uFillTx/>
          <a:latin typeface="Heiti SC Medium"/>
          <a:ea typeface="Heiti SC Medium"/>
          <a:cs typeface="Heiti SC Medium"/>
          <a:sym typeface="Heiti SC Medium"/>
        </a:defRPr>
      </a:lvl3pPr>
      <a:lvl4pPr marL="0" marR="0" indent="0" algn="l" defTabSz="821531" latinLnBrk="0">
        <a:lnSpc>
          <a:spcPct val="100000"/>
        </a:lnSpc>
        <a:spcBef>
          <a:spcPts val="4500"/>
        </a:spcBef>
        <a:spcAft>
          <a:spcPts val="0"/>
        </a:spcAft>
        <a:buClrTx/>
        <a:buSzTx/>
        <a:buFontTx/>
        <a:buNone/>
        <a:tabLst/>
        <a:defRPr sz="3000" b="0" i="0" u="none" strike="noStrike" cap="none" spc="0" baseline="0">
          <a:ln>
            <a:noFill/>
          </a:ln>
          <a:solidFill>
            <a:srgbClr val="000000"/>
          </a:solidFill>
          <a:uFillTx/>
          <a:latin typeface="Heiti SC Medium"/>
          <a:ea typeface="Heiti SC Medium"/>
          <a:cs typeface="Heiti SC Medium"/>
          <a:sym typeface="Heiti SC Medium"/>
        </a:defRPr>
      </a:lvl4pPr>
      <a:lvl5pPr marL="0" marR="0" indent="0" algn="l" defTabSz="821531" latinLnBrk="0">
        <a:lnSpc>
          <a:spcPct val="100000"/>
        </a:lnSpc>
        <a:spcBef>
          <a:spcPts val="4500"/>
        </a:spcBef>
        <a:spcAft>
          <a:spcPts val="0"/>
        </a:spcAft>
        <a:buClrTx/>
        <a:buSzTx/>
        <a:buFontTx/>
        <a:buNone/>
        <a:tabLst/>
        <a:defRPr sz="3000" b="0" i="0" u="none" strike="noStrike" cap="none" spc="0" baseline="0">
          <a:ln>
            <a:noFill/>
          </a:ln>
          <a:solidFill>
            <a:srgbClr val="000000"/>
          </a:solidFill>
          <a:uFillTx/>
          <a:latin typeface="Heiti SC Medium"/>
          <a:ea typeface="Heiti SC Medium"/>
          <a:cs typeface="Heiti SC Medium"/>
          <a:sym typeface="Heiti SC Medium"/>
        </a:defRPr>
      </a:lvl5pPr>
      <a:lvl6pPr marL="0" marR="0" indent="0" algn="l" defTabSz="821531" latinLnBrk="0">
        <a:lnSpc>
          <a:spcPct val="100000"/>
        </a:lnSpc>
        <a:spcBef>
          <a:spcPts val="4500"/>
        </a:spcBef>
        <a:spcAft>
          <a:spcPts val="0"/>
        </a:spcAft>
        <a:buClrTx/>
        <a:buSzTx/>
        <a:buFontTx/>
        <a:buNone/>
        <a:tabLst/>
        <a:defRPr sz="3000" b="0" i="0" u="none" strike="noStrike" cap="none" spc="0" baseline="0">
          <a:ln>
            <a:noFill/>
          </a:ln>
          <a:solidFill>
            <a:srgbClr val="000000"/>
          </a:solidFill>
          <a:uFillTx/>
          <a:latin typeface="Heiti SC Medium"/>
          <a:ea typeface="Heiti SC Medium"/>
          <a:cs typeface="Heiti SC Medium"/>
          <a:sym typeface="Heiti SC Medium"/>
        </a:defRPr>
      </a:lvl6pPr>
      <a:lvl7pPr marL="0" marR="0" indent="0" algn="l" defTabSz="821531" latinLnBrk="0">
        <a:lnSpc>
          <a:spcPct val="100000"/>
        </a:lnSpc>
        <a:spcBef>
          <a:spcPts val="4500"/>
        </a:spcBef>
        <a:spcAft>
          <a:spcPts val="0"/>
        </a:spcAft>
        <a:buClrTx/>
        <a:buSzTx/>
        <a:buFontTx/>
        <a:buNone/>
        <a:tabLst/>
        <a:defRPr sz="3000" b="0" i="0" u="none" strike="noStrike" cap="none" spc="0" baseline="0">
          <a:ln>
            <a:noFill/>
          </a:ln>
          <a:solidFill>
            <a:srgbClr val="000000"/>
          </a:solidFill>
          <a:uFillTx/>
          <a:latin typeface="Heiti SC Medium"/>
          <a:ea typeface="Heiti SC Medium"/>
          <a:cs typeface="Heiti SC Medium"/>
          <a:sym typeface="Heiti SC Medium"/>
        </a:defRPr>
      </a:lvl7pPr>
      <a:lvl8pPr marL="0" marR="0" indent="0" algn="l" defTabSz="821531" latinLnBrk="0">
        <a:lnSpc>
          <a:spcPct val="100000"/>
        </a:lnSpc>
        <a:spcBef>
          <a:spcPts val="4500"/>
        </a:spcBef>
        <a:spcAft>
          <a:spcPts val="0"/>
        </a:spcAft>
        <a:buClrTx/>
        <a:buSzTx/>
        <a:buFontTx/>
        <a:buNone/>
        <a:tabLst/>
        <a:defRPr sz="3000" b="0" i="0" u="none" strike="noStrike" cap="none" spc="0" baseline="0">
          <a:ln>
            <a:noFill/>
          </a:ln>
          <a:solidFill>
            <a:srgbClr val="000000"/>
          </a:solidFill>
          <a:uFillTx/>
          <a:latin typeface="Heiti SC Medium"/>
          <a:ea typeface="Heiti SC Medium"/>
          <a:cs typeface="Heiti SC Medium"/>
          <a:sym typeface="Heiti SC Medium"/>
        </a:defRPr>
      </a:lvl8pPr>
      <a:lvl9pPr marL="0" marR="0" indent="0" algn="l" defTabSz="821531" latinLnBrk="0">
        <a:lnSpc>
          <a:spcPct val="100000"/>
        </a:lnSpc>
        <a:spcBef>
          <a:spcPts val="4500"/>
        </a:spcBef>
        <a:spcAft>
          <a:spcPts val="0"/>
        </a:spcAft>
        <a:buClrTx/>
        <a:buSzTx/>
        <a:buFontTx/>
        <a:buNone/>
        <a:tabLst/>
        <a:defRPr sz="3000" b="0" i="0" u="none" strike="noStrike" cap="none" spc="0" baseline="0">
          <a:ln>
            <a:noFill/>
          </a:ln>
          <a:solidFill>
            <a:srgbClr val="000000"/>
          </a:solidFill>
          <a:uFillTx/>
          <a:latin typeface="Heiti SC Medium"/>
          <a:ea typeface="Heiti SC Medium"/>
          <a:cs typeface="Heiti SC Medium"/>
          <a:sym typeface="Heiti SC Medium"/>
        </a:defRPr>
      </a:lvl9pPr>
    </p:bodyStyle>
    <p:otherStyle>
      <a:lvl1pPr marL="0" marR="0" indent="0" algn="ctr" defTabSz="821531" latinLnBrk="0">
        <a:lnSpc>
          <a:spcPct val="100000"/>
        </a:lnSpc>
        <a:spcBef>
          <a:spcPts val="0"/>
        </a:spcBef>
        <a:spcAft>
          <a:spcPts val="0"/>
        </a:spcAft>
        <a:buClrTx/>
        <a:buSzTx/>
        <a:buFontTx/>
        <a:buNone/>
        <a:tabLst/>
        <a:defRPr sz="2200" b="0" i="0" u="none" strike="noStrike" cap="none" spc="0" baseline="0">
          <a:ln>
            <a:noFill/>
          </a:ln>
          <a:solidFill>
            <a:schemeClr val="tx1"/>
          </a:solidFill>
          <a:uFillTx/>
          <a:latin typeface="+mn-lt"/>
          <a:ea typeface="+mn-ea"/>
          <a:cs typeface="+mn-cs"/>
          <a:sym typeface="Helvetica Neue Light"/>
        </a:defRPr>
      </a:lvl1pPr>
      <a:lvl2pPr marL="0" marR="0" indent="228600" algn="ctr" defTabSz="821531" latinLnBrk="0">
        <a:lnSpc>
          <a:spcPct val="100000"/>
        </a:lnSpc>
        <a:spcBef>
          <a:spcPts val="0"/>
        </a:spcBef>
        <a:spcAft>
          <a:spcPts val="0"/>
        </a:spcAft>
        <a:buClrTx/>
        <a:buSzTx/>
        <a:buFontTx/>
        <a:buNone/>
        <a:tabLst/>
        <a:defRPr sz="2200" b="0" i="0" u="none" strike="noStrike" cap="none" spc="0" baseline="0">
          <a:ln>
            <a:noFill/>
          </a:ln>
          <a:solidFill>
            <a:schemeClr val="tx1"/>
          </a:solidFill>
          <a:uFillTx/>
          <a:latin typeface="+mn-lt"/>
          <a:ea typeface="+mn-ea"/>
          <a:cs typeface="+mn-cs"/>
          <a:sym typeface="Helvetica Neue Light"/>
        </a:defRPr>
      </a:lvl2pPr>
      <a:lvl3pPr marL="0" marR="0" indent="457200" algn="ctr" defTabSz="821531" latinLnBrk="0">
        <a:lnSpc>
          <a:spcPct val="100000"/>
        </a:lnSpc>
        <a:spcBef>
          <a:spcPts val="0"/>
        </a:spcBef>
        <a:spcAft>
          <a:spcPts val="0"/>
        </a:spcAft>
        <a:buClrTx/>
        <a:buSzTx/>
        <a:buFontTx/>
        <a:buNone/>
        <a:tabLst/>
        <a:defRPr sz="2200" b="0" i="0" u="none" strike="noStrike" cap="none" spc="0" baseline="0">
          <a:ln>
            <a:noFill/>
          </a:ln>
          <a:solidFill>
            <a:schemeClr val="tx1"/>
          </a:solidFill>
          <a:uFillTx/>
          <a:latin typeface="+mn-lt"/>
          <a:ea typeface="+mn-ea"/>
          <a:cs typeface="+mn-cs"/>
          <a:sym typeface="Helvetica Neue Light"/>
        </a:defRPr>
      </a:lvl3pPr>
      <a:lvl4pPr marL="0" marR="0" indent="685800" algn="ctr" defTabSz="821531" latinLnBrk="0">
        <a:lnSpc>
          <a:spcPct val="100000"/>
        </a:lnSpc>
        <a:spcBef>
          <a:spcPts val="0"/>
        </a:spcBef>
        <a:spcAft>
          <a:spcPts val="0"/>
        </a:spcAft>
        <a:buClrTx/>
        <a:buSzTx/>
        <a:buFontTx/>
        <a:buNone/>
        <a:tabLst/>
        <a:defRPr sz="2200" b="0" i="0" u="none" strike="noStrike" cap="none" spc="0" baseline="0">
          <a:ln>
            <a:noFill/>
          </a:ln>
          <a:solidFill>
            <a:schemeClr val="tx1"/>
          </a:solidFill>
          <a:uFillTx/>
          <a:latin typeface="+mn-lt"/>
          <a:ea typeface="+mn-ea"/>
          <a:cs typeface="+mn-cs"/>
          <a:sym typeface="Helvetica Neue Light"/>
        </a:defRPr>
      </a:lvl4pPr>
      <a:lvl5pPr marL="0" marR="0" indent="914400" algn="ctr" defTabSz="821531" latinLnBrk="0">
        <a:lnSpc>
          <a:spcPct val="100000"/>
        </a:lnSpc>
        <a:spcBef>
          <a:spcPts val="0"/>
        </a:spcBef>
        <a:spcAft>
          <a:spcPts val="0"/>
        </a:spcAft>
        <a:buClrTx/>
        <a:buSzTx/>
        <a:buFontTx/>
        <a:buNone/>
        <a:tabLst/>
        <a:defRPr sz="2200" b="0" i="0" u="none" strike="noStrike" cap="none" spc="0" baseline="0">
          <a:ln>
            <a:noFill/>
          </a:ln>
          <a:solidFill>
            <a:schemeClr val="tx1"/>
          </a:solidFill>
          <a:uFillTx/>
          <a:latin typeface="+mn-lt"/>
          <a:ea typeface="+mn-ea"/>
          <a:cs typeface="+mn-cs"/>
          <a:sym typeface="Helvetica Neue Light"/>
        </a:defRPr>
      </a:lvl5pPr>
      <a:lvl6pPr marL="0" marR="0" indent="1143000" algn="ctr" defTabSz="821531" latinLnBrk="0">
        <a:lnSpc>
          <a:spcPct val="100000"/>
        </a:lnSpc>
        <a:spcBef>
          <a:spcPts val="0"/>
        </a:spcBef>
        <a:spcAft>
          <a:spcPts val="0"/>
        </a:spcAft>
        <a:buClrTx/>
        <a:buSzTx/>
        <a:buFontTx/>
        <a:buNone/>
        <a:tabLst/>
        <a:defRPr sz="2200" b="0" i="0" u="none" strike="noStrike" cap="none" spc="0" baseline="0">
          <a:ln>
            <a:noFill/>
          </a:ln>
          <a:solidFill>
            <a:schemeClr val="tx1"/>
          </a:solidFill>
          <a:uFillTx/>
          <a:latin typeface="+mn-lt"/>
          <a:ea typeface="+mn-ea"/>
          <a:cs typeface="+mn-cs"/>
          <a:sym typeface="Helvetica Neue Light"/>
        </a:defRPr>
      </a:lvl6pPr>
      <a:lvl7pPr marL="0" marR="0" indent="1371600" algn="ctr" defTabSz="821531" latinLnBrk="0">
        <a:lnSpc>
          <a:spcPct val="100000"/>
        </a:lnSpc>
        <a:spcBef>
          <a:spcPts val="0"/>
        </a:spcBef>
        <a:spcAft>
          <a:spcPts val="0"/>
        </a:spcAft>
        <a:buClrTx/>
        <a:buSzTx/>
        <a:buFontTx/>
        <a:buNone/>
        <a:tabLst/>
        <a:defRPr sz="2200" b="0" i="0" u="none" strike="noStrike" cap="none" spc="0" baseline="0">
          <a:ln>
            <a:noFill/>
          </a:ln>
          <a:solidFill>
            <a:schemeClr val="tx1"/>
          </a:solidFill>
          <a:uFillTx/>
          <a:latin typeface="+mn-lt"/>
          <a:ea typeface="+mn-ea"/>
          <a:cs typeface="+mn-cs"/>
          <a:sym typeface="Helvetica Neue Light"/>
        </a:defRPr>
      </a:lvl7pPr>
      <a:lvl8pPr marL="0" marR="0" indent="1600200" algn="ctr" defTabSz="821531" latinLnBrk="0">
        <a:lnSpc>
          <a:spcPct val="100000"/>
        </a:lnSpc>
        <a:spcBef>
          <a:spcPts val="0"/>
        </a:spcBef>
        <a:spcAft>
          <a:spcPts val="0"/>
        </a:spcAft>
        <a:buClrTx/>
        <a:buSzTx/>
        <a:buFontTx/>
        <a:buNone/>
        <a:tabLst/>
        <a:defRPr sz="2200" b="0" i="0" u="none" strike="noStrike" cap="none" spc="0" baseline="0">
          <a:ln>
            <a:noFill/>
          </a:ln>
          <a:solidFill>
            <a:schemeClr val="tx1"/>
          </a:solidFill>
          <a:uFillTx/>
          <a:latin typeface="+mn-lt"/>
          <a:ea typeface="+mn-ea"/>
          <a:cs typeface="+mn-cs"/>
          <a:sym typeface="Helvetica Neue Light"/>
        </a:defRPr>
      </a:lvl8pPr>
      <a:lvl9pPr marL="0" marR="0" indent="1828800" algn="ctr" defTabSz="821531" latinLnBrk="0">
        <a:lnSpc>
          <a:spcPct val="100000"/>
        </a:lnSpc>
        <a:spcBef>
          <a:spcPts val="0"/>
        </a:spcBef>
        <a:spcAft>
          <a:spcPts val="0"/>
        </a:spcAft>
        <a:buClrTx/>
        <a:buSzTx/>
        <a:buFontTx/>
        <a:buNone/>
        <a:tabLst/>
        <a:defRPr sz="2200" b="0" i="0" u="none" strike="noStrike" cap="none" spc="0" baseline="0">
          <a:ln>
            <a:noFill/>
          </a:ln>
          <a:solidFill>
            <a:schemeClr val="tx1"/>
          </a:solidFill>
          <a:uFillTx/>
          <a:latin typeface="+mn-lt"/>
          <a:ea typeface="+mn-ea"/>
          <a:cs typeface="+mn-cs"/>
          <a:sym typeface="Helvetica Neue Ligh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6.xml"/><Relationship Id="rId5" Type="http://schemas.openxmlformats.org/officeDocument/2006/relationships/image" Target="../media/image24.png"/><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9.xml"/><Relationship Id="rId1" Type="http://schemas.openxmlformats.org/officeDocument/2006/relationships/slideLayout" Target="../slideLayouts/slideLayout8.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您的演讲标题可以写在这里…"/>
          <p:cNvSpPr txBox="1"/>
          <p:nvPr/>
        </p:nvSpPr>
        <p:spPr>
          <a:xfrm>
            <a:off x="1885685" y="4194266"/>
            <a:ext cx="15240001" cy="2124363"/>
          </a:xfrm>
          <a:prstGeom prst="rect">
            <a:avLst/>
          </a:prstGeom>
          <a:ln w="12700">
            <a:miter lim="400000"/>
          </a:ln>
          <a:extLst>
            <a:ext uri="{C572A759-6A51-4108-AA02-DFA0A04FC94B}">
              <ma14:wrappingTextBoxFlag xmlns:ma14="http://schemas.microsoft.com/office/mac/drawingml/2011/main" xmlns="" val="1"/>
            </a:ext>
          </a:extLst>
        </p:spPr>
        <p:txBody>
          <a:bodyPr lIns="71437" tIns="71437" rIns="71437" bIns="71437" anchor="ctr">
            <a:spAutoFit/>
          </a:bodyPr>
          <a:lstStyle/>
          <a:p>
            <a:pPr algn="l">
              <a:lnSpc>
                <a:spcPct val="150000"/>
              </a:lnSpc>
              <a:defRPr sz="9600" b="0">
                <a:latin typeface="Heiti SC Medium"/>
                <a:ea typeface="Heiti SC Medium"/>
                <a:cs typeface="Heiti SC Medium"/>
                <a:sym typeface="Heiti SC Medium"/>
              </a:defRPr>
            </a:pPr>
            <a:r>
              <a:rPr lang="zh-CN" altLang="en-US" sz="9600" b="0">
                <a:solidFill>
                  <a:schemeClr val="tx1">
                    <a:lumMod val="65000"/>
                    <a:lumOff val="35000"/>
                  </a:schemeClr>
                </a:solidFill>
                <a:latin typeface="+mn-lt"/>
                <a:ea typeface="+mn-ea"/>
                <a:cs typeface="+mn-ea"/>
                <a:sym typeface="+mn-lt"/>
              </a:rPr>
              <a:t>区块链及其应用</a:t>
            </a:r>
            <a:endParaRPr dirty="0">
              <a:solidFill>
                <a:schemeClr val="tx1">
                  <a:lumMod val="65000"/>
                  <a:lumOff val="35000"/>
                </a:schemeClr>
              </a:solidFill>
              <a:latin typeface="+mn-lt"/>
              <a:ea typeface="+mn-ea"/>
              <a:cs typeface="+mn-ea"/>
              <a:sym typeface="+mn-lt"/>
            </a:endParaRPr>
          </a:p>
        </p:txBody>
      </p:sp>
      <p:sp>
        <p:nvSpPr>
          <p:cNvPr id="72" name="大家该怎么称呼您（请写在这里）"/>
          <p:cNvSpPr txBox="1"/>
          <p:nvPr/>
        </p:nvSpPr>
        <p:spPr>
          <a:xfrm>
            <a:off x="1885685" y="7786740"/>
            <a:ext cx="11430001" cy="886780"/>
          </a:xfrm>
          <a:prstGeom prst="rect">
            <a:avLst/>
          </a:prstGeom>
          <a:ln w="12700">
            <a:miter lim="400000"/>
          </a:ln>
          <a:extLst>
            <a:ext uri="{C572A759-6A51-4108-AA02-DFA0A04FC94B}">
              <ma14:wrappingTextBoxFlag xmlns:ma14="http://schemas.microsoft.com/office/mac/drawingml/2011/main" xmlns="" val="1"/>
            </a:ext>
          </a:extLst>
        </p:spPr>
        <p:txBody>
          <a:bodyPr wrap="square" lIns="71437" tIns="71437" rIns="71437" bIns="71437" anchor="ctr">
            <a:spAutoFit/>
          </a:bodyPr>
          <a:lstStyle>
            <a:lvl1pPr algn="l">
              <a:lnSpc>
                <a:spcPct val="120000"/>
              </a:lnSpc>
              <a:defRPr sz="5200" b="0">
                <a:latin typeface="Heiti SC Light"/>
                <a:ea typeface="Heiti SC Light"/>
                <a:cs typeface="Heiti SC Light"/>
                <a:sym typeface="Heiti SC Light"/>
              </a:defRPr>
            </a:lvl1pPr>
          </a:lstStyle>
          <a:p>
            <a:r>
              <a:rPr lang="zh-CN" altLang="en-US" sz="4400" b="1">
                <a:solidFill>
                  <a:schemeClr val="dk1">
                    <a:lumMod val="100000"/>
                  </a:schemeClr>
                </a:solidFill>
                <a:latin typeface="+mn-lt"/>
                <a:ea typeface="+mn-ea"/>
                <a:cs typeface="+mn-ea"/>
                <a:sym typeface="+mn-lt"/>
              </a:rPr>
              <a:t>吴万港</a:t>
            </a:r>
            <a:endParaRPr lang="en-US" altLang="zh-CN" sz="4400" b="1" dirty="0">
              <a:solidFill>
                <a:schemeClr val="dk1">
                  <a:lumMod val="100000"/>
                </a:schemeClr>
              </a:solidFill>
              <a:latin typeface="+mn-lt"/>
              <a:ea typeface="+mn-ea"/>
              <a:cs typeface="+mn-ea"/>
              <a:sym typeface="+mn-lt"/>
            </a:endParaRPr>
          </a:p>
        </p:txBody>
      </p:sp>
      <p:sp>
        <p:nvSpPr>
          <p:cNvPr id="73" name="矩形"/>
          <p:cNvSpPr/>
          <p:nvPr/>
        </p:nvSpPr>
        <p:spPr>
          <a:xfrm>
            <a:off x="1885685" y="7397371"/>
            <a:ext cx="11430001" cy="79797"/>
          </a:xfrm>
          <a:prstGeom prst="rect">
            <a:avLst/>
          </a:prstGeom>
          <a:solidFill>
            <a:srgbClr val="6F2BC9"/>
          </a:solidFill>
          <a:ln w="12700">
            <a:miter lim="400000"/>
          </a:ln>
        </p:spPr>
        <p:txBody>
          <a:bodyPr lIns="71437" tIns="71437" rIns="71437" bIns="71437" anchor="ctr"/>
          <a:lstStyle/>
          <a:p>
            <a:pPr>
              <a:defRPr sz="3000" b="0">
                <a:solidFill>
                  <a:srgbClr val="FFFFFF"/>
                </a:solidFill>
                <a:latin typeface="+mn-lt"/>
                <a:ea typeface="+mn-ea"/>
                <a:cs typeface="+mn-cs"/>
                <a:sym typeface="Helvetica Neue Medium"/>
              </a:defRPr>
            </a:pPr>
            <a:endParaRPr>
              <a:latin typeface="+mn-lt"/>
              <a:ea typeface="+mn-ea"/>
              <a:cs typeface="+mn-ea"/>
              <a:sym typeface="+mn-lt"/>
            </a:endParaRPr>
          </a:p>
        </p:txBody>
      </p:sp>
    </p:spTree>
    <p:extLst>
      <p:ext uri="{BB962C8B-B14F-4D97-AF65-F5344CB8AC3E}">
        <p14:creationId xmlns:p14="http://schemas.microsoft.com/office/powerpoint/2010/main" val="4162743948"/>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9227851" y="2443550"/>
            <a:ext cx="1757211" cy="3046988"/>
          </a:xfrm>
          <a:prstGeom prst="rect">
            <a:avLst/>
          </a:prstGeom>
          <a:noFill/>
        </p:spPr>
        <p:txBody>
          <a:bodyPr wrap="none" rtlCol="0">
            <a:spAutoFit/>
          </a:bodyPr>
          <a:lstStyle/>
          <a:p>
            <a:r>
              <a:rPr lang="en-US" altLang="zh-CN" sz="19200" dirty="0">
                <a:solidFill>
                  <a:srgbClr val="577188"/>
                </a:solidFill>
                <a:latin typeface="Malgun Gothic" panose="020B0503020000020004" charset="-127"/>
                <a:ea typeface="Malgun Gothic" panose="020B0503020000020004" charset="-127"/>
              </a:rPr>
              <a:t>C</a:t>
            </a:r>
            <a:endParaRPr lang="zh-CN" altLang="en-US" sz="19200" dirty="0">
              <a:solidFill>
                <a:srgbClr val="577188"/>
              </a:solidFill>
              <a:latin typeface="Malgun Gothic" panose="020B0503020000020004" charset="-127"/>
            </a:endParaRPr>
          </a:p>
        </p:txBody>
      </p:sp>
      <p:sp>
        <p:nvSpPr>
          <p:cNvPr id="15" name="文本框 14"/>
          <p:cNvSpPr txBox="1"/>
          <p:nvPr/>
        </p:nvSpPr>
        <p:spPr>
          <a:xfrm>
            <a:off x="10704566" y="3922656"/>
            <a:ext cx="3156633" cy="1077218"/>
          </a:xfrm>
          <a:prstGeom prst="rect">
            <a:avLst/>
          </a:prstGeom>
          <a:noFill/>
        </p:spPr>
        <p:txBody>
          <a:bodyPr wrap="none" rtlCol="0">
            <a:spAutoFit/>
          </a:bodyPr>
          <a:lstStyle/>
          <a:p>
            <a:r>
              <a:rPr lang="en-US" altLang="zh-CN" sz="6400" dirty="0">
                <a:solidFill>
                  <a:srgbClr val="577188"/>
                </a:solidFill>
                <a:latin typeface="Malgun Gothic" panose="020B0503020000020004" charset="-127"/>
                <a:ea typeface="Malgun Gothic" panose="020B0503020000020004" charset="-127"/>
              </a:rPr>
              <a:t>ontents</a:t>
            </a:r>
            <a:endParaRPr lang="zh-CN" altLang="en-US" sz="6400" dirty="0">
              <a:solidFill>
                <a:srgbClr val="577188"/>
              </a:solidFill>
              <a:latin typeface="Malgun Gothic" panose="020B0503020000020004" charset="-127"/>
            </a:endParaRPr>
          </a:p>
        </p:txBody>
      </p:sp>
      <p:sp>
        <p:nvSpPr>
          <p:cNvPr id="16" name="文本框 15"/>
          <p:cNvSpPr txBox="1"/>
          <p:nvPr/>
        </p:nvSpPr>
        <p:spPr>
          <a:xfrm>
            <a:off x="11004816" y="2815796"/>
            <a:ext cx="2374368" cy="1405449"/>
          </a:xfrm>
          <a:prstGeom prst="rect">
            <a:avLst/>
          </a:prstGeom>
          <a:noFill/>
        </p:spPr>
        <p:txBody>
          <a:bodyPr wrap="none" rtlCol="0">
            <a:spAutoFit/>
          </a:bodyPr>
          <a:lstStyle/>
          <a:p>
            <a:r>
              <a:rPr lang="zh-CN" altLang="en-US" sz="8533">
                <a:solidFill>
                  <a:srgbClr val="577188"/>
                </a:solidFill>
                <a:latin typeface="站酷高端黑" panose="02010600030101010101" pitchFamily="2" charset="-122"/>
                <a:ea typeface="站酷高端黑" panose="02010600030101010101" pitchFamily="2" charset="-122"/>
              </a:rPr>
              <a:t>目录</a:t>
            </a:r>
          </a:p>
        </p:txBody>
      </p:sp>
      <p:sp>
        <p:nvSpPr>
          <p:cNvPr id="24" name="TextBox 6"/>
          <p:cNvSpPr txBox="1">
            <a:spLocks noChangeArrowheads="1"/>
          </p:cNvSpPr>
          <p:nvPr/>
        </p:nvSpPr>
        <p:spPr bwMode="auto">
          <a:xfrm>
            <a:off x="10312165" y="5509698"/>
            <a:ext cx="8090747" cy="1066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43840" tIns="121920" rIns="243840" bIns="121920" numCol="1" anchor="t" anchorCtr="0" compatLnSpc="1">
            <a:spAutoFit/>
          </a:bodyPr>
          <a:lstStyle/>
          <a:p>
            <a:pPr algn="l" defTabSz="2438430" fontAlgn="base">
              <a:spcBef>
                <a:spcPct val="0"/>
              </a:spcBef>
              <a:spcAft>
                <a:spcPct val="0"/>
              </a:spcAft>
            </a:pPr>
            <a:r>
              <a:rPr lang="en-US" altLang="zh-CN" sz="5333">
                <a:solidFill>
                  <a:schemeClr val="tx1">
                    <a:lumMod val="75000"/>
                    <a:lumOff val="25000"/>
                  </a:schemeClr>
                </a:solidFill>
                <a:latin typeface="微软雅黑" panose="020B0503020204020204" charset="-122"/>
                <a:ea typeface="微软雅黑" panose="020B0503020204020204" charset="-122"/>
                <a:cs typeface="+mn-ea"/>
                <a:sym typeface="+mn-ea"/>
              </a:rPr>
              <a:t> </a:t>
            </a:r>
            <a:r>
              <a:rPr lang="zh-CN" altLang="en-US" sz="5333">
                <a:solidFill>
                  <a:srgbClr val="425CA9"/>
                </a:solidFill>
                <a:latin typeface="微软雅黑" panose="020B0503020204020204" charset="-122"/>
                <a:ea typeface="微软雅黑" panose="020B0503020204020204" charset="-122"/>
                <a:cs typeface="+mn-ea"/>
                <a:sym typeface="+mn-ea"/>
              </a:rPr>
              <a:t>区块链技术组成与特点</a:t>
            </a:r>
            <a:endParaRPr lang="zh-CN" altLang="en-US" sz="5333" dirty="0">
              <a:solidFill>
                <a:srgbClr val="425CA9"/>
              </a:solidFill>
              <a:latin typeface="微软雅黑" panose="020B0503020204020204" charset="-122"/>
              <a:ea typeface="微软雅黑" panose="020B0503020204020204" charset="-122"/>
              <a:cs typeface="+mn-ea"/>
              <a:sym typeface="+mn-ea"/>
            </a:endParaRPr>
          </a:p>
        </p:txBody>
      </p:sp>
      <p:grpSp>
        <p:nvGrpSpPr>
          <p:cNvPr id="3" name="组合 2"/>
          <p:cNvGrpSpPr/>
          <p:nvPr/>
        </p:nvGrpSpPr>
        <p:grpSpPr>
          <a:xfrm>
            <a:off x="9077970" y="5539744"/>
            <a:ext cx="1511981" cy="1069491"/>
            <a:chOff x="1489166" y="2322031"/>
            <a:chExt cx="566993" cy="401059"/>
          </a:xfrm>
        </p:grpSpPr>
        <p:sp>
          <p:nvSpPr>
            <p:cNvPr id="8" name="任意多边形 7"/>
            <p:cNvSpPr>
              <a:spLocks noChangeAspect="1"/>
            </p:cNvSpPr>
            <p:nvPr/>
          </p:nvSpPr>
          <p:spPr>
            <a:xfrm>
              <a:off x="1563012" y="2322031"/>
              <a:ext cx="432000" cy="388503"/>
            </a:xfrm>
            <a:custGeom>
              <a:avLst/>
              <a:gdLst>
                <a:gd name="connsiteX0" fmla="*/ 531453 w 2150426"/>
                <a:gd name="connsiteY0" fmla="*/ 1894557 h 1933898"/>
                <a:gd name="connsiteX1" fmla="*/ 523901 w 2150426"/>
                <a:gd name="connsiteY1" fmla="*/ 1888327 h 1933898"/>
                <a:gd name="connsiteX2" fmla="*/ 505804 w 2150426"/>
                <a:gd name="connsiteY2" fmla="*/ 1878396 h 1933898"/>
                <a:gd name="connsiteX3" fmla="*/ 445296 w 2150426"/>
                <a:gd name="connsiteY3" fmla="*/ 1809798 h 1933898"/>
                <a:gd name="connsiteX4" fmla="*/ 30326 w 2150426"/>
                <a:gd name="connsiteY4" fmla="*/ 1091048 h 1933898"/>
                <a:gd name="connsiteX5" fmla="*/ 1172 w 2150426"/>
                <a:gd name="connsiteY5" fmla="*/ 1004348 h 1933898"/>
                <a:gd name="connsiteX6" fmla="*/ 444 w 2150426"/>
                <a:gd name="connsiteY6" fmla="*/ 976700 h 1933898"/>
                <a:gd name="connsiteX7" fmla="*/ 0 w 2150426"/>
                <a:gd name="connsiteY7" fmla="*/ 974054 h 1933898"/>
                <a:gd name="connsiteX8" fmla="*/ 187 w 2150426"/>
                <a:gd name="connsiteY8" fmla="*/ 966943 h 1933898"/>
                <a:gd name="connsiteX9" fmla="*/ 0 w 2150426"/>
                <a:gd name="connsiteY9" fmla="*/ 959843 h 1933898"/>
                <a:gd name="connsiteX10" fmla="*/ 444 w 2150426"/>
                <a:gd name="connsiteY10" fmla="*/ 957201 h 1933898"/>
                <a:gd name="connsiteX11" fmla="*/ 1172 w 2150426"/>
                <a:gd name="connsiteY11" fmla="*/ 929549 h 1933898"/>
                <a:gd name="connsiteX12" fmla="*/ 30326 w 2150426"/>
                <a:gd name="connsiteY12" fmla="*/ 842849 h 1933898"/>
                <a:gd name="connsiteX13" fmla="*/ 445296 w 2150426"/>
                <a:gd name="connsiteY13" fmla="*/ 124100 h 1933898"/>
                <a:gd name="connsiteX14" fmla="*/ 505804 w 2150426"/>
                <a:gd name="connsiteY14" fmla="*/ 55501 h 1933898"/>
                <a:gd name="connsiteX15" fmla="*/ 529387 w 2150426"/>
                <a:gd name="connsiteY15" fmla="*/ 41045 h 1933898"/>
                <a:gd name="connsiteX16" fmla="*/ 531453 w 2150426"/>
                <a:gd name="connsiteY16" fmla="*/ 39340 h 1933898"/>
                <a:gd name="connsiteX17" fmla="*/ 537695 w 2150426"/>
                <a:gd name="connsiteY17" fmla="*/ 35952 h 1933898"/>
                <a:gd name="connsiteX18" fmla="*/ 543760 w 2150426"/>
                <a:gd name="connsiteY18" fmla="*/ 32234 h 1933898"/>
                <a:gd name="connsiteX19" fmla="*/ 546274 w 2150426"/>
                <a:gd name="connsiteY19" fmla="*/ 31296 h 1933898"/>
                <a:gd name="connsiteX20" fmla="*/ 570581 w 2150426"/>
                <a:gd name="connsiteY20" fmla="*/ 18102 h 1933898"/>
                <a:gd name="connsiteX21" fmla="*/ 660243 w 2150426"/>
                <a:gd name="connsiteY21" fmla="*/ 0 h 1933898"/>
                <a:gd name="connsiteX22" fmla="*/ 1490183 w 2150426"/>
                <a:gd name="connsiteY22" fmla="*/ 0 h 1933898"/>
                <a:gd name="connsiteX23" fmla="*/ 1579845 w 2150426"/>
                <a:gd name="connsiteY23" fmla="*/ 18102 h 1933898"/>
                <a:gd name="connsiteX24" fmla="*/ 1604154 w 2150426"/>
                <a:gd name="connsiteY24" fmla="*/ 31297 h 1933898"/>
                <a:gd name="connsiteX25" fmla="*/ 1606666 w 2150426"/>
                <a:gd name="connsiteY25" fmla="*/ 32234 h 1933898"/>
                <a:gd name="connsiteX26" fmla="*/ 1612726 w 2150426"/>
                <a:gd name="connsiteY26" fmla="*/ 35949 h 1933898"/>
                <a:gd name="connsiteX27" fmla="*/ 1618973 w 2150426"/>
                <a:gd name="connsiteY27" fmla="*/ 39340 h 1933898"/>
                <a:gd name="connsiteX28" fmla="*/ 1621041 w 2150426"/>
                <a:gd name="connsiteY28" fmla="*/ 41046 h 1933898"/>
                <a:gd name="connsiteX29" fmla="*/ 1644623 w 2150426"/>
                <a:gd name="connsiteY29" fmla="*/ 55501 h 1933898"/>
                <a:gd name="connsiteX30" fmla="*/ 1705130 w 2150426"/>
                <a:gd name="connsiteY30" fmla="*/ 124100 h 1933898"/>
                <a:gd name="connsiteX31" fmla="*/ 2120100 w 2150426"/>
                <a:gd name="connsiteY31" fmla="*/ 842849 h 1933898"/>
                <a:gd name="connsiteX32" fmla="*/ 2149255 w 2150426"/>
                <a:gd name="connsiteY32" fmla="*/ 929550 h 1933898"/>
                <a:gd name="connsiteX33" fmla="*/ 2149982 w 2150426"/>
                <a:gd name="connsiteY33" fmla="*/ 957198 h 1933898"/>
                <a:gd name="connsiteX34" fmla="*/ 2150426 w 2150426"/>
                <a:gd name="connsiteY34" fmla="*/ 959843 h 1933898"/>
                <a:gd name="connsiteX35" fmla="*/ 2150239 w 2150426"/>
                <a:gd name="connsiteY35" fmla="*/ 966953 h 1933898"/>
                <a:gd name="connsiteX36" fmla="*/ 2150426 w 2150426"/>
                <a:gd name="connsiteY36" fmla="*/ 974055 h 1933898"/>
                <a:gd name="connsiteX37" fmla="*/ 2149983 w 2150426"/>
                <a:gd name="connsiteY37" fmla="*/ 976697 h 1933898"/>
                <a:gd name="connsiteX38" fmla="*/ 2149255 w 2150426"/>
                <a:gd name="connsiteY38" fmla="*/ 1004348 h 1933898"/>
                <a:gd name="connsiteX39" fmla="*/ 2120101 w 2150426"/>
                <a:gd name="connsiteY39" fmla="*/ 1091049 h 1933898"/>
                <a:gd name="connsiteX40" fmla="*/ 1705131 w 2150426"/>
                <a:gd name="connsiteY40" fmla="*/ 1809798 h 1933898"/>
                <a:gd name="connsiteX41" fmla="*/ 1644623 w 2150426"/>
                <a:gd name="connsiteY41" fmla="*/ 1878396 h 1933898"/>
                <a:gd name="connsiteX42" fmla="*/ 1621040 w 2150426"/>
                <a:gd name="connsiteY42" fmla="*/ 1892852 h 1933898"/>
                <a:gd name="connsiteX43" fmla="*/ 1618973 w 2150426"/>
                <a:gd name="connsiteY43" fmla="*/ 1894557 h 1933898"/>
                <a:gd name="connsiteX44" fmla="*/ 1612730 w 2150426"/>
                <a:gd name="connsiteY44" fmla="*/ 1897947 h 1933898"/>
                <a:gd name="connsiteX45" fmla="*/ 1606666 w 2150426"/>
                <a:gd name="connsiteY45" fmla="*/ 1901663 h 1933898"/>
                <a:gd name="connsiteX46" fmla="*/ 1604153 w 2150426"/>
                <a:gd name="connsiteY46" fmla="*/ 1902602 h 1933898"/>
                <a:gd name="connsiteX47" fmla="*/ 1579845 w 2150426"/>
                <a:gd name="connsiteY47" fmla="*/ 1915796 h 1933898"/>
                <a:gd name="connsiteX48" fmla="*/ 1490183 w 2150426"/>
                <a:gd name="connsiteY48" fmla="*/ 1933897 h 1933898"/>
                <a:gd name="connsiteX49" fmla="*/ 660243 w 2150426"/>
                <a:gd name="connsiteY49" fmla="*/ 1933898 h 1933898"/>
                <a:gd name="connsiteX50" fmla="*/ 531453 w 2150426"/>
                <a:gd name="connsiteY50" fmla="*/ 1894557 h 1933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2150426" h="1933898">
                  <a:moveTo>
                    <a:pt x="531453" y="1894557"/>
                  </a:moveTo>
                  <a:lnTo>
                    <a:pt x="523901" y="1888327"/>
                  </a:lnTo>
                  <a:lnTo>
                    <a:pt x="505804" y="1878396"/>
                  </a:lnTo>
                  <a:cubicBezTo>
                    <a:pt x="481930" y="1860358"/>
                    <a:pt x="461198" y="1837341"/>
                    <a:pt x="445296" y="1809798"/>
                  </a:cubicBezTo>
                  <a:lnTo>
                    <a:pt x="30326" y="1091048"/>
                  </a:lnTo>
                  <a:cubicBezTo>
                    <a:pt x="14424" y="1063505"/>
                    <a:pt x="4856" y="1034042"/>
                    <a:pt x="1172" y="1004348"/>
                  </a:cubicBezTo>
                  <a:lnTo>
                    <a:pt x="444" y="976700"/>
                  </a:lnTo>
                  <a:lnTo>
                    <a:pt x="0" y="974054"/>
                  </a:lnTo>
                  <a:lnTo>
                    <a:pt x="187" y="966943"/>
                  </a:lnTo>
                  <a:lnTo>
                    <a:pt x="0" y="959843"/>
                  </a:lnTo>
                  <a:lnTo>
                    <a:pt x="444" y="957201"/>
                  </a:lnTo>
                  <a:lnTo>
                    <a:pt x="1172" y="929549"/>
                  </a:lnTo>
                  <a:cubicBezTo>
                    <a:pt x="4856" y="899855"/>
                    <a:pt x="14423" y="870392"/>
                    <a:pt x="30326" y="842849"/>
                  </a:cubicBezTo>
                  <a:lnTo>
                    <a:pt x="445296" y="124100"/>
                  </a:lnTo>
                  <a:cubicBezTo>
                    <a:pt x="461198" y="96556"/>
                    <a:pt x="481929" y="73539"/>
                    <a:pt x="505804" y="55501"/>
                  </a:cubicBezTo>
                  <a:lnTo>
                    <a:pt x="529387" y="41045"/>
                  </a:lnTo>
                  <a:lnTo>
                    <a:pt x="531453" y="39340"/>
                  </a:lnTo>
                  <a:lnTo>
                    <a:pt x="537695" y="35952"/>
                  </a:lnTo>
                  <a:lnTo>
                    <a:pt x="543760" y="32234"/>
                  </a:lnTo>
                  <a:lnTo>
                    <a:pt x="546274" y="31296"/>
                  </a:lnTo>
                  <a:lnTo>
                    <a:pt x="570581" y="18102"/>
                  </a:lnTo>
                  <a:cubicBezTo>
                    <a:pt x="598139" y="6446"/>
                    <a:pt x="628439" y="0"/>
                    <a:pt x="660243" y="0"/>
                  </a:cubicBezTo>
                  <a:lnTo>
                    <a:pt x="1490183" y="0"/>
                  </a:lnTo>
                  <a:cubicBezTo>
                    <a:pt x="1521987" y="0"/>
                    <a:pt x="1552286" y="6446"/>
                    <a:pt x="1579845" y="18102"/>
                  </a:cubicBezTo>
                  <a:lnTo>
                    <a:pt x="1604154" y="31297"/>
                  </a:lnTo>
                  <a:lnTo>
                    <a:pt x="1606666" y="32234"/>
                  </a:lnTo>
                  <a:lnTo>
                    <a:pt x="1612726" y="35949"/>
                  </a:lnTo>
                  <a:lnTo>
                    <a:pt x="1618973" y="39340"/>
                  </a:lnTo>
                  <a:lnTo>
                    <a:pt x="1621041" y="41046"/>
                  </a:lnTo>
                  <a:lnTo>
                    <a:pt x="1644623" y="55501"/>
                  </a:lnTo>
                  <a:cubicBezTo>
                    <a:pt x="1668496" y="73539"/>
                    <a:pt x="1689228" y="96557"/>
                    <a:pt x="1705130" y="124100"/>
                  </a:cubicBezTo>
                  <a:lnTo>
                    <a:pt x="2120100" y="842849"/>
                  </a:lnTo>
                  <a:cubicBezTo>
                    <a:pt x="2136003" y="870393"/>
                    <a:pt x="2145570" y="899855"/>
                    <a:pt x="2149255" y="929550"/>
                  </a:cubicBezTo>
                  <a:lnTo>
                    <a:pt x="2149982" y="957198"/>
                  </a:lnTo>
                  <a:lnTo>
                    <a:pt x="2150426" y="959843"/>
                  </a:lnTo>
                  <a:lnTo>
                    <a:pt x="2150239" y="966953"/>
                  </a:lnTo>
                  <a:lnTo>
                    <a:pt x="2150426" y="974055"/>
                  </a:lnTo>
                  <a:lnTo>
                    <a:pt x="2149983" y="976697"/>
                  </a:lnTo>
                  <a:lnTo>
                    <a:pt x="2149255" y="1004348"/>
                  </a:lnTo>
                  <a:cubicBezTo>
                    <a:pt x="2145570" y="1034043"/>
                    <a:pt x="2136003" y="1063505"/>
                    <a:pt x="2120101" y="1091049"/>
                  </a:cubicBezTo>
                  <a:lnTo>
                    <a:pt x="1705131" y="1809798"/>
                  </a:lnTo>
                  <a:cubicBezTo>
                    <a:pt x="1689228" y="1837341"/>
                    <a:pt x="1668497" y="1860358"/>
                    <a:pt x="1644623" y="1878396"/>
                  </a:cubicBezTo>
                  <a:lnTo>
                    <a:pt x="1621040" y="1892852"/>
                  </a:lnTo>
                  <a:lnTo>
                    <a:pt x="1618973" y="1894557"/>
                  </a:lnTo>
                  <a:lnTo>
                    <a:pt x="1612730" y="1897947"/>
                  </a:lnTo>
                  <a:lnTo>
                    <a:pt x="1606666" y="1901663"/>
                  </a:lnTo>
                  <a:lnTo>
                    <a:pt x="1604153" y="1902602"/>
                  </a:lnTo>
                  <a:lnTo>
                    <a:pt x="1579845" y="1915796"/>
                  </a:lnTo>
                  <a:cubicBezTo>
                    <a:pt x="1552287" y="1927452"/>
                    <a:pt x="1521988" y="1933897"/>
                    <a:pt x="1490183" y="1933897"/>
                  </a:cubicBezTo>
                  <a:lnTo>
                    <a:pt x="660243" y="1933898"/>
                  </a:lnTo>
                  <a:cubicBezTo>
                    <a:pt x="612537" y="1933898"/>
                    <a:pt x="568217" y="1919395"/>
                    <a:pt x="531453" y="1894557"/>
                  </a:cubicBezTo>
                  <a:close/>
                </a:path>
              </a:pathLst>
            </a:custGeom>
            <a:noFill/>
            <a:ln w="25400">
              <a:solidFill>
                <a:srgbClr val="5771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533"/>
            </a:p>
          </p:txBody>
        </p:sp>
        <p:sp>
          <p:nvSpPr>
            <p:cNvPr id="25" name="TextBox 6"/>
            <p:cNvSpPr txBox="1">
              <a:spLocks noChangeArrowheads="1"/>
            </p:cNvSpPr>
            <p:nvPr/>
          </p:nvSpPr>
          <p:spPr bwMode="auto">
            <a:xfrm>
              <a:off x="1489166" y="2323004"/>
              <a:ext cx="566993" cy="400086"/>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vert="horz" wrap="square" lIns="243840" tIns="121920" rIns="243840" bIns="121920" numCol="1" anchor="t" anchorCtr="0" compatLnSpc="1">
              <a:spAutoFit/>
            </a:bodyPr>
            <a:lstStyle/>
            <a:p>
              <a:pPr defTabSz="2438430" fontAlgn="base" hangingPunct="1">
                <a:spcBef>
                  <a:spcPct val="0"/>
                </a:spcBef>
                <a:spcAft>
                  <a:spcPct val="0"/>
                </a:spcAft>
              </a:pPr>
              <a:r>
                <a:rPr lang="en-US" altLang="zh-CN" sz="5333" dirty="0">
                  <a:solidFill>
                    <a:srgbClr val="425CA9"/>
                  </a:solidFill>
                  <a:latin typeface="Impact" panose="020B0806030902050204" pitchFamily="34" charset="0"/>
                  <a:ea typeface="微软雅黑" panose="020B0503020204020204" charset="-122"/>
                  <a:cs typeface="Times New Roman" panose="02020603050405020304" pitchFamily="18" charset="0"/>
                </a:rPr>
                <a:t>01</a:t>
              </a:r>
              <a:endParaRPr lang="zh-CN" altLang="en-US" sz="4800" dirty="0">
                <a:solidFill>
                  <a:srgbClr val="425CA9"/>
                </a:solidFill>
                <a:latin typeface="Impact" panose="020B0806030902050204" pitchFamily="34" charset="0"/>
                <a:ea typeface="宋体" panose="02010600030101010101" pitchFamily="2" charset="-122"/>
                <a:cs typeface="Times New Roman" panose="02020603050405020304" pitchFamily="18" charset="0"/>
              </a:endParaRPr>
            </a:p>
          </p:txBody>
        </p:sp>
      </p:grpSp>
      <p:sp>
        <p:nvSpPr>
          <p:cNvPr id="36" name="任意多边形: 形状 2"/>
          <p:cNvSpPr/>
          <p:nvPr/>
        </p:nvSpPr>
        <p:spPr>
          <a:xfrm>
            <a:off x="70112" y="11013950"/>
            <a:ext cx="24313888" cy="2545365"/>
          </a:xfrm>
          <a:custGeom>
            <a:avLst/>
            <a:gdLst>
              <a:gd name="connsiteX0" fmla="*/ 0 w 12032343"/>
              <a:gd name="connsiteY0" fmla="*/ 17481 h 1272682"/>
              <a:gd name="connsiteX1" fmla="*/ 1567543 w 12032343"/>
              <a:gd name="connsiteY1" fmla="*/ 902853 h 1272682"/>
              <a:gd name="connsiteX2" fmla="*/ 3599543 w 12032343"/>
              <a:gd name="connsiteY2" fmla="*/ 90053 h 1272682"/>
              <a:gd name="connsiteX3" fmla="*/ 5646057 w 12032343"/>
              <a:gd name="connsiteY3" fmla="*/ 1265710 h 1272682"/>
              <a:gd name="connsiteX4" fmla="*/ 7300686 w 12032343"/>
              <a:gd name="connsiteY4" fmla="*/ 598053 h 1272682"/>
              <a:gd name="connsiteX5" fmla="*/ 8563429 w 12032343"/>
              <a:gd name="connsiteY5" fmla="*/ 1033481 h 1272682"/>
              <a:gd name="connsiteX6" fmla="*/ 9608457 w 12032343"/>
              <a:gd name="connsiteY6" fmla="*/ 2967 h 1272682"/>
              <a:gd name="connsiteX7" fmla="*/ 10871200 w 12032343"/>
              <a:gd name="connsiteY7" fmla="*/ 699653 h 1272682"/>
              <a:gd name="connsiteX8" fmla="*/ 12032343 w 12032343"/>
              <a:gd name="connsiteY8" fmla="*/ 46510 h 1272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032343" h="1272682">
                <a:moveTo>
                  <a:pt x="0" y="17481"/>
                </a:moveTo>
                <a:cubicBezTo>
                  <a:pt x="483809" y="454119"/>
                  <a:pt x="967619" y="890758"/>
                  <a:pt x="1567543" y="902853"/>
                </a:cubicBezTo>
                <a:cubicBezTo>
                  <a:pt x="2167467" y="914948"/>
                  <a:pt x="2919791" y="29577"/>
                  <a:pt x="3599543" y="90053"/>
                </a:cubicBezTo>
                <a:cubicBezTo>
                  <a:pt x="4279295" y="150529"/>
                  <a:pt x="5029200" y="1181043"/>
                  <a:pt x="5646057" y="1265710"/>
                </a:cubicBezTo>
                <a:cubicBezTo>
                  <a:pt x="6262914" y="1350377"/>
                  <a:pt x="6814457" y="636758"/>
                  <a:pt x="7300686" y="598053"/>
                </a:cubicBezTo>
                <a:cubicBezTo>
                  <a:pt x="7786915" y="559348"/>
                  <a:pt x="8178801" y="1132662"/>
                  <a:pt x="8563429" y="1033481"/>
                </a:cubicBezTo>
                <a:cubicBezTo>
                  <a:pt x="8948057" y="934300"/>
                  <a:pt x="9223829" y="58605"/>
                  <a:pt x="9608457" y="2967"/>
                </a:cubicBezTo>
                <a:cubicBezTo>
                  <a:pt x="9993086" y="-52671"/>
                  <a:pt x="10467219" y="692396"/>
                  <a:pt x="10871200" y="699653"/>
                </a:cubicBezTo>
                <a:cubicBezTo>
                  <a:pt x="11275181" y="706910"/>
                  <a:pt x="11831562" y="152948"/>
                  <a:pt x="12032343" y="46510"/>
                </a:cubicBezTo>
              </a:path>
            </a:pathLst>
          </a:custGeom>
          <a:noFill/>
          <a:ln w="19050">
            <a:solidFill>
              <a:srgbClr val="5771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7" dirty="0">
              <a:latin typeface="微软雅黑" panose="020B0503020204020204" charset="-122"/>
              <a:ea typeface="微软雅黑" panose="020B0503020204020204" charset="-122"/>
            </a:endParaRPr>
          </a:p>
        </p:txBody>
      </p:sp>
      <p:sp>
        <p:nvSpPr>
          <p:cNvPr id="37" name="任意多边形: 形状 4"/>
          <p:cNvSpPr/>
          <p:nvPr/>
        </p:nvSpPr>
        <p:spPr>
          <a:xfrm flipH="1">
            <a:off x="70110" y="7752747"/>
            <a:ext cx="24342917" cy="5714757"/>
          </a:xfrm>
          <a:custGeom>
            <a:avLst/>
            <a:gdLst>
              <a:gd name="connsiteX0" fmla="*/ 0 w 12424228"/>
              <a:gd name="connsiteY0" fmla="*/ 0 h 2857379"/>
              <a:gd name="connsiteX1" fmla="*/ 2728685 w 12424228"/>
              <a:gd name="connsiteY1" fmla="*/ 2815772 h 2857379"/>
              <a:gd name="connsiteX2" fmla="*/ 5573485 w 12424228"/>
              <a:gd name="connsiteY2" fmla="*/ 1756229 h 2857379"/>
              <a:gd name="connsiteX3" fmla="*/ 7257143 w 12424228"/>
              <a:gd name="connsiteY3" fmla="*/ 2786743 h 2857379"/>
              <a:gd name="connsiteX4" fmla="*/ 8940800 w 12424228"/>
              <a:gd name="connsiteY4" fmla="*/ 1944915 h 2857379"/>
              <a:gd name="connsiteX5" fmla="*/ 10653485 w 12424228"/>
              <a:gd name="connsiteY5" fmla="*/ 2627086 h 2857379"/>
              <a:gd name="connsiteX6" fmla="*/ 11727543 w 12424228"/>
              <a:gd name="connsiteY6" fmla="*/ 1654629 h 2857379"/>
              <a:gd name="connsiteX7" fmla="*/ 12424228 w 12424228"/>
              <a:gd name="connsiteY7" fmla="*/ 1799772 h 2857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24228" h="2857379">
                <a:moveTo>
                  <a:pt x="0" y="0"/>
                </a:moveTo>
                <a:cubicBezTo>
                  <a:pt x="899885" y="1261533"/>
                  <a:pt x="1799771" y="2523067"/>
                  <a:pt x="2728685" y="2815772"/>
                </a:cubicBezTo>
                <a:cubicBezTo>
                  <a:pt x="3657599" y="3108477"/>
                  <a:pt x="4818742" y="1761067"/>
                  <a:pt x="5573485" y="1756229"/>
                </a:cubicBezTo>
                <a:cubicBezTo>
                  <a:pt x="6328228" y="1751391"/>
                  <a:pt x="6695924" y="2755295"/>
                  <a:pt x="7257143" y="2786743"/>
                </a:cubicBezTo>
                <a:cubicBezTo>
                  <a:pt x="7818362" y="2818191"/>
                  <a:pt x="8374743" y="1971525"/>
                  <a:pt x="8940800" y="1944915"/>
                </a:cubicBezTo>
                <a:cubicBezTo>
                  <a:pt x="9506857" y="1918306"/>
                  <a:pt x="10189028" y="2675467"/>
                  <a:pt x="10653485" y="2627086"/>
                </a:cubicBezTo>
                <a:cubicBezTo>
                  <a:pt x="11117942" y="2578705"/>
                  <a:pt x="11432419" y="1792515"/>
                  <a:pt x="11727543" y="1654629"/>
                </a:cubicBezTo>
                <a:cubicBezTo>
                  <a:pt x="12022667" y="1516743"/>
                  <a:pt x="12223447" y="1658257"/>
                  <a:pt x="12424228" y="1799772"/>
                </a:cubicBezTo>
              </a:path>
            </a:pathLst>
          </a:custGeom>
          <a:noFill/>
          <a:ln>
            <a:solidFill>
              <a:srgbClr val="5771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7" dirty="0">
              <a:latin typeface="微软雅黑" panose="020B0503020204020204" charset="-122"/>
              <a:ea typeface="微软雅黑" panose="020B0503020204020204" charset="-122"/>
            </a:endParaRPr>
          </a:p>
        </p:txBody>
      </p:sp>
      <p:sp>
        <p:nvSpPr>
          <p:cNvPr id="2" name="TextBox 6"/>
          <p:cNvSpPr txBox="1">
            <a:spLocks noChangeArrowheads="1"/>
          </p:cNvSpPr>
          <p:nvPr/>
        </p:nvSpPr>
        <p:spPr bwMode="auto">
          <a:xfrm>
            <a:off x="10589951" y="7194181"/>
            <a:ext cx="11473803" cy="1066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43840" tIns="121920" rIns="243840" bIns="121920" numCol="1" anchor="t" anchorCtr="0" compatLnSpc="1">
            <a:spAutoFit/>
          </a:bodyPr>
          <a:lstStyle/>
          <a:p>
            <a:pPr algn="l" defTabSz="2438430" fontAlgn="base">
              <a:spcBef>
                <a:spcPct val="0"/>
              </a:spcBef>
              <a:spcAft>
                <a:spcPct val="0"/>
              </a:spcAft>
            </a:pPr>
            <a:r>
              <a:rPr lang="zh-CN" altLang="en-US" sz="5333">
                <a:solidFill>
                  <a:schemeClr val="tx1">
                    <a:lumMod val="75000"/>
                    <a:lumOff val="25000"/>
                  </a:schemeClr>
                </a:solidFill>
                <a:latin typeface="微软雅黑" panose="020B0503020204020204" charset="-122"/>
                <a:ea typeface="微软雅黑" panose="020B0503020204020204" charset="-122"/>
                <a:cs typeface="+mn-ea"/>
                <a:sym typeface="+mn-ea"/>
              </a:rPr>
              <a:t>区块链的现状及价值探讨</a:t>
            </a:r>
            <a:endParaRPr lang="zh-CN" altLang="en-US" sz="5333" dirty="0">
              <a:solidFill>
                <a:schemeClr val="tx1">
                  <a:lumMod val="75000"/>
                  <a:lumOff val="25000"/>
                </a:schemeClr>
              </a:solidFill>
              <a:latin typeface="微软雅黑" panose="020B0503020204020204" charset="-122"/>
              <a:ea typeface="微软雅黑" panose="020B0503020204020204" charset="-122"/>
              <a:cs typeface="+mn-ea"/>
              <a:sym typeface="+mn-ea"/>
            </a:endParaRPr>
          </a:p>
        </p:txBody>
      </p:sp>
      <p:grpSp>
        <p:nvGrpSpPr>
          <p:cNvPr id="7" name="组合 6"/>
          <p:cNvGrpSpPr/>
          <p:nvPr/>
        </p:nvGrpSpPr>
        <p:grpSpPr>
          <a:xfrm>
            <a:off x="9077970" y="7224790"/>
            <a:ext cx="1511981" cy="1069491"/>
            <a:chOff x="1489166" y="3324906"/>
            <a:chExt cx="566993" cy="401059"/>
          </a:xfrm>
        </p:grpSpPr>
        <p:sp>
          <p:nvSpPr>
            <p:cNvPr id="9" name="任意多边形 8"/>
            <p:cNvSpPr>
              <a:spLocks noChangeAspect="1"/>
            </p:cNvSpPr>
            <p:nvPr/>
          </p:nvSpPr>
          <p:spPr>
            <a:xfrm>
              <a:off x="1563012" y="3324906"/>
              <a:ext cx="432000" cy="388503"/>
            </a:xfrm>
            <a:custGeom>
              <a:avLst/>
              <a:gdLst>
                <a:gd name="connsiteX0" fmla="*/ 531453 w 2150426"/>
                <a:gd name="connsiteY0" fmla="*/ 1894557 h 1933898"/>
                <a:gd name="connsiteX1" fmla="*/ 523901 w 2150426"/>
                <a:gd name="connsiteY1" fmla="*/ 1888327 h 1933898"/>
                <a:gd name="connsiteX2" fmla="*/ 505804 w 2150426"/>
                <a:gd name="connsiteY2" fmla="*/ 1878396 h 1933898"/>
                <a:gd name="connsiteX3" fmla="*/ 445296 w 2150426"/>
                <a:gd name="connsiteY3" fmla="*/ 1809798 h 1933898"/>
                <a:gd name="connsiteX4" fmla="*/ 30326 w 2150426"/>
                <a:gd name="connsiteY4" fmla="*/ 1091048 h 1933898"/>
                <a:gd name="connsiteX5" fmla="*/ 1172 w 2150426"/>
                <a:gd name="connsiteY5" fmla="*/ 1004348 h 1933898"/>
                <a:gd name="connsiteX6" fmla="*/ 444 w 2150426"/>
                <a:gd name="connsiteY6" fmla="*/ 976700 h 1933898"/>
                <a:gd name="connsiteX7" fmla="*/ 0 w 2150426"/>
                <a:gd name="connsiteY7" fmla="*/ 974054 h 1933898"/>
                <a:gd name="connsiteX8" fmla="*/ 187 w 2150426"/>
                <a:gd name="connsiteY8" fmla="*/ 966943 h 1933898"/>
                <a:gd name="connsiteX9" fmla="*/ 0 w 2150426"/>
                <a:gd name="connsiteY9" fmla="*/ 959843 h 1933898"/>
                <a:gd name="connsiteX10" fmla="*/ 444 w 2150426"/>
                <a:gd name="connsiteY10" fmla="*/ 957201 h 1933898"/>
                <a:gd name="connsiteX11" fmla="*/ 1172 w 2150426"/>
                <a:gd name="connsiteY11" fmla="*/ 929549 h 1933898"/>
                <a:gd name="connsiteX12" fmla="*/ 30326 w 2150426"/>
                <a:gd name="connsiteY12" fmla="*/ 842849 h 1933898"/>
                <a:gd name="connsiteX13" fmla="*/ 445296 w 2150426"/>
                <a:gd name="connsiteY13" fmla="*/ 124100 h 1933898"/>
                <a:gd name="connsiteX14" fmla="*/ 505804 w 2150426"/>
                <a:gd name="connsiteY14" fmla="*/ 55501 h 1933898"/>
                <a:gd name="connsiteX15" fmla="*/ 529387 w 2150426"/>
                <a:gd name="connsiteY15" fmla="*/ 41045 h 1933898"/>
                <a:gd name="connsiteX16" fmla="*/ 531453 w 2150426"/>
                <a:gd name="connsiteY16" fmla="*/ 39340 h 1933898"/>
                <a:gd name="connsiteX17" fmla="*/ 537695 w 2150426"/>
                <a:gd name="connsiteY17" fmla="*/ 35952 h 1933898"/>
                <a:gd name="connsiteX18" fmla="*/ 543760 w 2150426"/>
                <a:gd name="connsiteY18" fmla="*/ 32234 h 1933898"/>
                <a:gd name="connsiteX19" fmla="*/ 546274 w 2150426"/>
                <a:gd name="connsiteY19" fmla="*/ 31296 h 1933898"/>
                <a:gd name="connsiteX20" fmla="*/ 570581 w 2150426"/>
                <a:gd name="connsiteY20" fmla="*/ 18102 h 1933898"/>
                <a:gd name="connsiteX21" fmla="*/ 660243 w 2150426"/>
                <a:gd name="connsiteY21" fmla="*/ 0 h 1933898"/>
                <a:gd name="connsiteX22" fmla="*/ 1490183 w 2150426"/>
                <a:gd name="connsiteY22" fmla="*/ 0 h 1933898"/>
                <a:gd name="connsiteX23" fmla="*/ 1579845 w 2150426"/>
                <a:gd name="connsiteY23" fmla="*/ 18102 h 1933898"/>
                <a:gd name="connsiteX24" fmla="*/ 1604154 w 2150426"/>
                <a:gd name="connsiteY24" fmla="*/ 31297 h 1933898"/>
                <a:gd name="connsiteX25" fmla="*/ 1606666 w 2150426"/>
                <a:gd name="connsiteY25" fmla="*/ 32234 h 1933898"/>
                <a:gd name="connsiteX26" fmla="*/ 1612726 w 2150426"/>
                <a:gd name="connsiteY26" fmla="*/ 35949 h 1933898"/>
                <a:gd name="connsiteX27" fmla="*/ 1618973 w 2150426"/>
                <a:gd name="connsiteY27" fmla="*/ 39340 h 1933898"/>
                <a:gd name="connsiteX28" fmla="*/ 1621041 w 2150426"/>
                <a:gd name="connsiteY28" fmla="*/ 41046 h 1933898"/>
                <a:gd name="connsiteX29" fmla="*/ 1644623 w 2150426"/>
                <a:gd name="connsiteY29" fmla="*/ 55501 h 1933898"/>
                <a:gd name="connsiteX30" fmla="*/ 1705130 w 2150426"/>
                <a:gd name="connsiteY30" fmla="*/ 124100 h 1933898"/>
                <a:gd name="connsiteX31" fmla="*/ 2120100 w 2150426"/>
                <a:gd name="connsiteY31" fmla="*/ 842849 h 1933898"/>
                <a:gd name="connsiteX32" fmla="*/ 2149255 w 2150426"/>
                <a:gd name="connsiteY32" fmla="*/ 929550 h 1933898"/>
                <a:gd name="connsiteX33" fmla="*/ 2149982 w 2150426"/>
                <a:gd name="connsiteY33" fmla="*/ 957198 h 1933898"/>
                <a:gd name="connsiteX34" fmla="*/ 2150426 w 2150426"/>
                <a:gd name="connsiteY34" fmla="*/ 959843 h 1933898"/>
                <a:gd name="connsiteX35" fmla="*/ 2150239 w 2150426"/>
                <a:gd name="connsiteY35" fmla="*/ 966953 h 1933898"/>
                <a:gd name="connsiteX36" fmla="*/ 2150426 w 2150426"/>
                <a:gd name="connsiteY36" fmla="*/ 974055 h 1933898"/>
                <a:gd name="connsiteX37" fmla="*/ 2149983 w 2150426"/>
                <a:gd name="connsiteY37" fmla="*/ 976697 h 1933898"/>
                <a:gd name="connsiteX38" fmla="*/ 2149255 w 2150426"/>
                <a:gd name="connsiteY38" fmla="*/ 1004348 h 1933898"/>
                <a:gd name="connsiteX39" fmla="*/ 2120101 w 2150426"/>
                <a:gd name="connsiteY39" fmla="*/ 1091049 h 1933898"/>
                <a:gd name="connsiteX40" fmla="*/ 1705131 w 2150426"/>
                <a:gd name="connsiteY40" fmla="*/ 1809798 h 1933898"/>
                <a:gd name="connsiteX41" fmla="*/ 1644623 w 2150426"/>
                <a:gd name="connsiteY41" fmla="*/ 1878396 h 1933898"/>
                <a:gd name="connsiteX42" fmla="*/ 1621040 w 2150426"/>
                <a:gd name="connsiteY42" fmla="*/ 1892852 h 1933898"/>
                <a:gd name="connsiteX43" fmla="*/ 1618973 w 2150426"/>
                <a:gd name="connsiteY43" fmla="*/ 1894557 h 1933898"/>
                <a:gd name="connsiteX44" fmla="*/ 1612730 w 2150426"/>
                <a:gd name="connsiteY44" fmla="*/ 1897947 h 1933898"/>
                <a:gd name="connsiteX45" fmla="*/ 1606666 w 2150426"/>
                <a:gd name="connsiteY45" fmla="*/ 1901663 h 1933898"/>
                <a:gd name="connsiteX46" fmla="*/ 1604153 w 2150426"/>
                <a:gd name="connsiteY46" fmla="*/ 1902602 h 1933898"/>
                <a:gd name="connsiteX47" fmla="*/ 1579845 w 2150426"/>
                <a:gd name="connsiteY47" fmla="*/ 1915796 h 1933898"/>
                <a:gd name="connsiteX48" fmla="*/ 1490183 w 2150426"/>
                <a:gd name="connsiteY48" fmla="*/ 1933897 h 1933898"/>
                <a:gd name="connsiteX49" fmla="*/ 660243 w 2150426"/>
                <a:gd name="connsiteY49" fmla="*/ 1933898 h 1933898"/>
                <a:gd name="connsiteX50" fmla="*/ 531453 w 2150426"/>
                <a:gd name="connsiteY50" fmla="*/ 1894557 h 1933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2150426" h="1933898">
                  <a:moveTo>
                    <a:pt x="531453" y="1894557"/>
                  </a:moveTo>
                  <a:lnTo>
                    <a:pt x="523901" y="1888327"/>
                  </a:lnTo>
                  <a:lnTo>
                    <a:pt x="505804" y="1878396"/>
                  </a:lnTo>
                  <a:cubicBezTo>
                    <a:pt x="481930" y="1860358"/>
                    <a:pt x="461198" y="1837341"/>
                    <a:pt x="445296" y="1809798"/>
                  </a:cubicBezTo>
                  <a:lnTo>
                    <a:pt x="30326" y="1091048"/>
                  </a:lnTo>
                  <a:cubicBezTo>
                    <a:pt x="14424" y="1063505"/>
                    <a:pt x="4856" y="1034042"/>
                    <a:pt x="1172" y="1004348"/>
                  </a:cubicBezTo>
                  <a:lnTo>
                    <a:pt x="444" y="976700"/>
                  </a:lnTo>
                  <a:lnTo>
                    <a:pt x="0" y="974054"/>
                  </a:lnTo>
                  <a:lnTo>
                    <a:pt x="187" y="966943"/>
                  </a:lnTo>
                  <a:lnTo>
                    <a:pt x="0" y="959843"/>
                  </a:lnTo>
                  <a:lnTo>
                    <a:pt x="444" y="957201"/>
                  </a:lnTo>
                  <a:lnTo>
                    <a:pt x="1172" y="929549"/>
                  </a:lnTo>
                  <a:cubicBezTo>
                    <a:pt x="4856" y="899855"/>
                    <a:pt x="14423" y="870392"/>
                    <a:pt x="30326" y="842849"/>
                  </a:cubicBezTo>
                  <a:lnTo>
                    <a:pt x="445296" y="124100"/>
                  </a:lnTo>
                  <a:cubicBezTo>
                    <a:pt x="461198" y="96556"/>
                    <a:pt x="481929" y="73539"/>
                    <a:pt x="505804" y="55501"/>
                  </a:cubicBezTo>
                  <a:lnTo>
                    <a:pt x="529387" y="41045"/>
                  </a:lnTo>
                  <a:lnTo>
                    <a:pt x="531453" y="39340"/>
                  </a:lnTo>
                  <a:lnTo>
                    <a:pt x="537695" y="35952"/>
                  </a:lnTo>
                  <a:lnTo>
                    <a:pt x="543760" y="32234"/>
                  </a:lnTo>
                  <a:lnTo>
                    <a:pt x="546274" y="31296"/>
                  </a:lnTo>
                  <a:lnTo>
                    <a:pt x="570581" y="18102"/>
                  </a:lnTo>
                  <a:cubicBezTo>
                    <a:pt x="598139" y="6446"/>
                    <a:pt x="628439" y="0"/>
                    <a:pt x="660243" y="0"/>
                  </a:cubicBezTo>
                  <a:lnTo>
                    <a:pt x="1490183" y="0"/>
                  </a:lnTo>
                  <a:cubicBezTo>
                    <a:pt x="1521987" y="0"/>
                    <a:pt x="1552286" y="6446"/>
                    <a:pt x="1579845" y="18102"/>
                  </a:cubicBezTo>
                  <a:lnTo>
                    <a:pt x="1604154" y="31297"/>
                  </a:lnTo>
                  <a:lnTo>
                    <a:pt x="1606666" y="32234"/>
                  </a:lnTo>
                  <a:lnTo>
                    <a:pt x="1612726" y="35949"/>
                  </a:lnTo>
                  <a:lnTo>
                    <a:pt x="1618973" y="39340"/>
                  </a:lnTo>
                  <a:lnTo>
                    <a:pt x="1621041" y="41046"/>
                  </a:lnTo>
                  <a:lnTo>
                    <a:pt x="1644623" y="55501"/>
                  </a:lnTo>
                  <a:cubicBezTo>
                    <a:pt x="1668496" y="73539"/>
                    <a:pt x="1689228" y="96557"/>
                    <a:pt x="1705130" y="124100"/>
                  </a:cubicBezTo>
                  <a:lnTo>
                    <a:pt x="2120100" y="842849"/>
                  </a:lnTo>
                  <a:cubicBezTo>
                    <a:pt x="2136003" y="870393"/>
                    <a:pt x="2145570" y="899855"/>
                    <a:pt x="2149255" y="929550"/>
                  </a:cubicBezTo>
                  <a:lnTo>
                    <a:pt x="2149982" y="957198"/>
                  </a:lnTo>
                  <a:lnTo>
                    <a:pt x="2150426" y="959843"/>
                  </a:lnTo>
                  <a:lnTo>
                    <a:pt x="2150239" y="966953"/>
                  </a:lnTo>
                  <a:lnTo>
                    <a:pt x="2150426" y="974055"/>
                  </a:lnTo>
                  <a:lnTo>
                    <a:pt x="2149983" y="976697"/>
                  </a:lnTo>
                  <a:lnTo>
                    <a:pt x="2149255" y="1004348"/>
                  </a:lnTo>
                  <a:cubicBezTo>
                    <a:pt x="2145570" y="1034043"/>
                    <a:pt x="2136003" y="1063505"/>
                    <a:pt x="2120101" y="1091049"/>
                  </a:cubicBezTo>
                  <a:lnTo>
                    <a:pt x="1705131" y="1809798"/>
                  </a:lnTo>
                  <a:cubicBezTo>
                    <a:pt x="1689228" y="1837341"/>
                    <a:pt x="1668497" y="1860358"/>
                    <a:pt x="1644623" y="1878396"/>
                  </a:cubicBezTo>
                  <a:lnTo>
                    <a:pt x="1621040" y="1892852"/>
                  </a:lnTo>
                  <a:lnTo>
                    <a:pt x="1618973" y="1894557"/>
                  </a:lnTo>
                  <a:lnTo>
                    <a:pt x="1612730" y="1897947"/>
                  </a:lnTo>
                  <a:lnTo>
                    <a:pt x="1606666" y="1901663"/>
                  </a:lnTo>
                  <a:lnTo>
                    <a:pt x="1604153" y="1902602"/>
                  </a:lnTo>
                  <a:lnTo>
                    <a:pt x="1579845" y="1915796"/>
                  </a:lnTo>
                  <a:cubicBezTo>
                    <a:pt x="1552287" y="1927452"/>
                    <a:pt x="1521988" y="1933897"/>
                    <a:pt x="1490183" y="1933897"/>
                  </a:cubicBezTo>
                  <a:lnTo>
                    <a:pt x="660243" y="1933898"/>
                  </a:lnTo>
                  <a:cubicBezTo>
                    <a:pt x="612537" y="1933898"/>
                    <a:pt x="568217" y="1919395"/>
                    <a:pt x="531453" y="1894557"/>
                  </a:cubicBezTo>
                  <a:close/>
                </a:path>
              </a:pathLst>
            </a:custGeom>
            <a:noFill/>
            <a:ln w="25400">
              <a:solidFill>
                <a:srgbClr val="5771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533"/>
            </a:p>
          </p:txBody>
        </p:sp>
        <p:sp>
          <p:nvSpPr>
            <p:cNvPr id="10" name="TextBox 6"/>
            <p:cNvSpPr txBox="1">
              <a:spLocks noChangeArrowheads="1"/>
            </p:cNvSpPr>
            <p:nvPr/>
          </p:nvSpPr>
          <p:spPr bwMode="auto">
            <a:xfrm>
              <a:off x="1489166" y="3325879"/>
              <a:ext cx="566993" cy="400086"/>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vert="horz" wrap="square" lIns="243840" tIns="121920" rIns="243840" bIns="121920" numCol="1" anchor="t" anchorCtr="0" compatLnSpc="1">
              <a:spAutoFit/>
            </a:bodyPr>
            <a:lstStyle/>
            <a:p>
              <a:pPr defTabSz="2438430" fontAlgn="base" hangingPunct="1">
                <a:spcBef>
                  <a:spcPct val="0"/>
                </a:spcBef>
                <a:spcAft>
                  <a:spcPct val="0"/>
                </a:spcAft>
              </a:pPr>
              <a:r>
                <a:rPr lang="en-US" altLang="zh-CN" sz="5333" dirty="0">
                  <a:solidFill>
                    <a:schemeClr val="tx1">
                      <a:lumMod val="50000"/>
                      <a:lumOff val="50000"/>
                    </a:schemeClr>
                  </a:solidFill>
                  <a:latin typeface="Impact" panose="020B0806030902050204" pitchFamily="34" charset="0"/>
                  <a:ea typeface="微软雅黑" panose="020B0503020204020204" charset="-122"/>
                  <a:cs typeface="Times New Roman" panose="02020603050405020304" pitchFamily="18" charset="0"/>
                </a:rPr>
                <a:t>02</a:t>
              </a:r>
              <a:endParaRPr lang="zh-CN" altLang="en-US" sz="4800" dirty="0">
                <a:solidFill>
                  <a:schemeClr val="tx1">
                    <a:lumMod val="50000"/>
                    <a:lumOff val="50000"/>
                  </a:schemeClr>
                </a:solidFill>
                <a:latin typeface="Impact" panose="020B0806030902050204" pitchFamily="34" charset="0"/>
                <a:ea typeface="宋体" panose="02010600030101010101" pitchFamily="2" charset="-122"/>
                <a:cs typeface="Times New Roman" panose="02020603050405020304" pitchFamily="18" charset="0"/>
              </a:endParaRPr>
            </a:p>
          </p:txBody>
        </p:sp>
      </p:grpSp>
      <p:sp>
        <p:nvSpPr>
          <p:cNvPr id="17" name="TextBox 6"/>
          <p:cNvSpPr txBox="1">
            <a:spLocks noChangeArrowheads="1"/>
          </p:cNvSpPr>
          <p:nvPr/>
        </p:nvSpPr>
        <p:spPr bwMode="auto">
          <a:xfrm>
            <a:off x="10310470" y="8912431"/>
            <a:ext cx="11473803" cy="1066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43840" tIns="121920" rIns="243840" bIns="121920" numCol="1" anchor="t" anchorCtr="0" compatLnSpc="1">
            <a:spAutoFit/>
          </a:bodyPr>
          <a:lstStyle/>
          <a:p>
            <a:pPr algn="l" defTabSz="2438430" fontAlgn="base">
              <a:spcBef>
                <a:spcPct val="0"/>
              </a:spcBef>
              <a:spcAft>
                <a:spcPct val="0"/>
              </a:spcAft>
            </a:pPr>
            <a:r>
              <a:rPr lang="zh-CN" altLang="en-US" sz="5333">
                <a:solidFill>
                  <a:schemeClr val="tx1">
                    <a:lumMod val="75000"/>
                    <a:lumOff val="25000"/>
                  </a:schemeClr>
                </a:solidFill>
                <a:latin typeface="微软雅黑" panose="020B0503020204020204" charset="-122"/>
                <a:ea typeface="微软雅黑" panose="020B0503020204020204" charset="-122"/>
                <a:cs typeface="+mn-ea"/>
                <a:sym typeface="+mn-ea"/>
              </a:rPr>
              <a:t> 区块链的未来趋势</a:t>
            </a:r>
            <a:endParaRPr lang="zh-CN" altLang="en-US" sz="5333" dirty="0">
              <a:solidFill>
                <a:schemeClr val="tx1">
                  <a:lumMod val="75000"/>
                  <a:lumOff val="25000"/>
                </a:schemeClr>
              </a:solidFill>
              <a:latin typeface="微软雅黑" panose="020B0503020204020204" charset="-122"/>
              <a:ea typeface="微软雅黑" panose="020B0503020204020204" charset="-122"/>
              <a:cs typeface="+mn-ea"/>
              <a:sym typeface="+mn-ea"/>
            </a:endParaRPr>
          </a:p>
        </p:txBody>
      </p:sp>
      <p:grpSp>
        <p:nvGrpSpPr>
          <p:cNvPr id="18" name="组合 6"/>
          <p:cNvGrpSpPr/>
          <p:nvPr/>
        </p:nvGrpSpPr>
        <p:grpSpPr>
          <a:xfrm>
            <a:off x="9077970" y="8943039"/>
            <a:ext cx="1511981" cy="1069491"/>
            <a:chOff x="1489166" y="3324906"/>
            <a:chExt cx="566993" cy="401059"/>
          </a:xfrm>
        </p:grpSpPr>
        <p:sp>
          <p:nvSpPr>
            <p:cNvPr id="19" name="任意多边形 8"/>
            <p:cNvSpPr>
              <a:spLocks noChangeAspect="1"/>
            </p:cNvSpPr>
            <p:nvPr/>
          </p:nvSpPr>
          <p:spPr>
            <a:xfrm>
              <a:off x="1563012" y="3324906"/>
              <a:ext cx="432000" cy="388503"/>
            </a:xfrm>
            <a:custGeom>
              <a:avLst/>
              <a:gdLst>
                <a:gd name="connsiteX0" fmla="*/ 531453 w 2150426"/>
                <a:gd name="connsiteY0" fmla="*/ 1894557 h 1933898"/>
                <a:gd name="connsiteX1" fmla="*/ 523901 w 2150426"/>
                <a:gd name="connsiteY1" fmla="*/ 1888327 h 1933898"/>
                <a:gd name="connsiteX2" fmla="*/ 505804 w 2150426"/>
                <a:gd name="connsiteY2" fmla="*/ 1878396 h 1933898"/>
                <a:gd name="connsiteX3" fmla="*/ 445296 w 2150426"/>
                <a:gd name="connsiteY3" fmla="*/ 1809798 h 1933898"/>
                <a:gd name="connsiteX4" fmla="*/ 30326 w 2150426"/>
                <a:gd name="connsiteY4" fmla="*/ 1091048 h 1933898"/>
                <a:gd name="connsiteX5" fmla="*/ 1172 w 2150426"/>
                <a:gd name="connsiteY5" fmla="*/ 1004348 h 1933898"/>
                <a:gd name="connsiteX6" fmla="*/ 444 w 2150426"/>
                <a:gd name="connsiteY6" fmla="*/ 976700 h 1933898"/>
                <a:gd name="connsiteX7" fmla="*/ 0 w 2150426"/>
                <a:gd name="connsiteY7" fmla="*/ 974054 h 1933898"/>
                <a:gd name="connsiteX8" fmla="*/ 187 w 2150426"/>
                <a:gd name="connsiteY8" fmla="*/ 966943 h 1933898"/>
                <a:gd name="connsiteX9" fmla="*/ 0 w 2150426"/>
                <a:gd name="connsiteY9" fmla="*/ 959843 h 1933898"/>
                <a:gd name="connsiteX10" fmla="*/ 444 w 2150426"/>
                <a:gd name="connsiteY10" fmla="*/ 957201 h 1933898"/>
                <a:gd name="connsiteX11" fmla="*/ 1172 w 2150426"/>
                <a:gd name="connsiteY11" fmla="*/ 929549 h 1933898"/>
                <a:gd name="connsiteX12" fmla="*/ 30326 w 2150426"/>
                <a:gd name="connsiteY12" fmla="*/ 842849 h 1933898"/>
                <a:gd name="connsiteX13" fmla="*/ 445296 w 2150426"/>
                <a:gd name="connsiteY13" fmla="*/ 124100 h 1933898"/>
                <a:gd name="connsiteX14" fmla="*/ 505804 w 2150426"/>
                <a:gd name="connsiteY14" fmla="*/ 55501 h 1933898"/>
                <a:gd name="connsiteX15" fmla="*/ 529387 w 2150426"/>
                <a:gd name="connsiteY15" fmla="*/ 41045 h 1933898"/>
                <a:gd name="connsiteX16" fmla="*/ 531453 w 2150426"/>
                <a:gd name="connsiteY16" fmla="*/ 39340 h 1933898"/>
                <a:gd name="connsiteX17" fmla="*/ 537695 w 2150426"/>
                <a:gd name="connsiteY17" fmla="*/ 35952 h 1933898"/>
                <a:gd name="connsiteX18" fmla="*/ 543760 w 2150426"/>
                <a:gd name="connsiteY18" fmla="*/ 32234 h 1933898"/>
                <a:gd name="connsiteX19" fmla="*/ 546274 w 2150426"/>
                <a:gd name="connsiteY19" fmla="*/ 31296 h 1933898"/>
                <a:gd name="connsiteX20" fmla="*/ 570581 w 2150426"/>
                <a:gd name="connsiteY20" fmla="*/ 18102 h 1933898"/>
                <a:gd name="connsiteX21" fmla="*/ 660243 w 2150426"/>
                <a:gd name="connsiteY21" fmla="*/ 0 h 1933898"/>
                <a:gd name="connsiteX22" fmla="*/ 1490183 w 2150426"/>
                <a:gd name="connsiteY22" fmla="*/ 0 h 1933898"/>
                <a:gd name="connsiteX23" fmla="*/ 1579845 w 2150426"/>
                <a:gd name="connsiteY23" fmla="*/ 18102 h 1933898"/>
                <a:gd name="connsiteX24" fmla="*/ 1604154 w 2150426"/>
                <a:gd name="connsiteY24" fmla="*/ 31297 h 1933898"/>
                <a:gd name="connsiteX25" fmla="*/ 1606666 w 2150426"/>
                <a:gd name="connsiteY25" fmla="*/ 32234 h 1933898"/>
                <a:gd name="connsiteX26" fmla="*/ 1612726 w 2150426"/>
                <a:gd name="connsiteY26" fmla="*/ 35949 h 1933898"/>
                <a:gd name="connsiteX27" fmla="*/ 1618973 w 2150426"/>
                <a:gd name="connsiteY27" fmla="*/ 39340 h 1933898"/>
                <a:gd name="connsiteX28" fmla="*/ 1621041 w 2150426"/>
                <a:gd name="connsiteY28" fmla="*/ 41046 h 1933898"/>
                <a:gd name="connsiteX29" fmla="*/ 1644623 w 2150426"/>
                <a:gd name="connsiteY29" fmla="*/ 55501 h 1933898"/>
                <a:gd name="connsiteX30" fmla="*/ 1705130 w 2150426"/>
                <a:gd name="connsiteY30" fmla="*/ 124100 h 1933898"/>
                <a:gd name="connsiteX31" fmla="*/ 2120100 w 2150426"/>
                <a:gd name="connsiteY31" fmla="*/ 842849 h 1933898"/>
                <a:gd name="connsiteX32" fmla="*/ 2149255 w 2150426"/>
                <a:gd name="connsiteY32" fmla="*/ 929550 h 1933898"/>
                <a:gd name="connsiteX33" fmla="*/ 2149982 w 2150426"/>
                <a:gd name="connsiteY33" fmla="*/ 957198 h 1933898"/>
                <a:gd name="connsiteX34" fmla="*/ 2150426 w 2150426"/>
                <a:gd name="connsiteY34" fmla="*/ 959843 h 1933898"/>
                <a:gd name="connsiteX35" fmla="*/ 2150239 w 2150426"/>
                <a:gd name="connsiteY35" fmla="*/ 966953 h 1933898"/>
                <a:gd name="connsiteX36" fmla="*/ 2150426 w 2150426"/>
                <a:gd name="connsiteY36" fmla="*/ 974055 h 1933898"/>
                <a:gd name="connsiteX37" fmla="*/ 2149983 w 2150426"/>
                <a:gd name="connsiteY37" fmla="*/ 976697 h 1933898"/>
                <a:gd name="connsiteX38" fmla="*/ 2149255 w 2150426"/>
                <a:gd name="connsiteY38" fmla="*/ 1004348 h 1933898"/>
                <a:gd name="connsiteX39" fmla="*/ 2120101 w 2150426"/>
                <a:gd name="connsiteY39" fmla="*/ 1091049 h 1933898"/>
                <a:gd name="connsiteX40" fmla="*/ 1705131 w 2150426"/>
                <a:gd name="connsiteY40" fmla="*/ 1809798 h 1933898"/>
                <a:gd name="connsiteX41" fmla="*/ 1644623 w 2150426"/>
                <a:gd name="connsiteY41" fmla="*/ 1878396 h 1933898"/>
                <a:gd name="connsiteX42" fmla="*/ 1621040 w 2150426"/>
                <a:gd name="connsiteY42" fmla="*/ 1892852 h 1933898"/>
                <a:gd name="connsiteX43" fmla="*/ 1618973 w 2150426"/>
                <a:gd name="connsiteY43" fmla="*/ 1894557 h 1933898"/>
                <a:gd name="connsiteX44" fmla="*/ 1612730 w 2150426"/>
                <a:gd name="connsiteY44" fmla="*/ 1897947 h 1933898"/>
                <a:gd name="connsiteX45" fmla="*/ 1606666 w 2150426"/>
                <a:gd name="connsiteY45" fmla="*/ 1901663 h 1933898"/>
                <a:gd name="connsiteX46" fmla="*/ 1604153 w 2150426"/>
                <a:gd name="connsiteY46" fmla="*/ 1902602 h 1933898"/>
                <a:gd name="connsiteX47" fmla="*/ 1579845 w 2150426"/>
                <a:gd name="connsiteY47" fmla="*/ 1915796 h 1933898"/>
                <a:gd name="connsiteX48" fmla="*/ 1490183 w 2150426"/>
                <a:gd name="connsiteY48" fmla="*/ 1933897 h 1933898"/>
                <a:gd name="connsiteX49" fmla="*/ 660243 w 2150426"/>
                <a:gd name="connsiteY49" fmla="*/ 1933898 h 1933898"/>
                <a:gd name="connsiteX50" fmla="*/ 531453 w 2150426"/>
                <a:gd name="connsiteY50" fmla="*/ 1894557 h 1933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2150426" h="1933898">
                  <a:moveTo>
                    <a:pt x="531453" y="1894557"/>
                  </a:moveTo>
                  <a:lnTo>
                    <a:pt x="523901" y="1888327"/>
                  </a:lnTo>
                  <a:lnTo>
                    <a:pt x="505804" y="1878396"/>
                  </a:lnTo>
                  <a:cubicBezTo>
                    <a:pt x="481930" y="1860358"/>
                    <a:pt x="461198" y="1837341"/>
                    <a:pt x="445296" y="1809798"/>
                  </a:cubicBezTo>
                  <a:lnTo>
                    <a:pt x="30326" y="1091048"/>
                  </a:lnTo>
                  <a:cubicBezTo>
                    <a:pt x="14424" y="1063505"/>
                    <a:pt x="4856" y="1034042"/>
                    <a:pt x="1172" y="1004348"/>
                  </a:cubicBezTo>
                  <a:lnTo>
                    <a:pt x="444" y="976700"/>
                  </a:lnTo>
                  <a:lnTo>
                    <a:pt x="0" y="974054"/>
                  </a:lnTo>
                  <a:lnTo>
                    <a:pt x="187" y="966943"/>
                  </a:lnTo>
                  <a:lnTo>
                    <a:pt x="0" y="959843"/>
                  </a:lnTo>
                  <a:lnTo>
                    <a:pt x="444" y="957201"/>
                  </a:lnTo>
                  <a:lnTo>
                    <a:pt x="1172" y="929549"/>
                  </a:lnTo>
                  <a:cubicBezTo>
                    <a:pt x="4856" y="899855"/>
                    <a:pt x="14423" y="870392"/>
                    <a:pt x="30326" y="842849"/>
                  </a:cubicBezTo>
                  <a:lnTo>
                    <a:pt x="445296" y="124100"/>
                  </a:lnTo>
                  <a:cubicBezTo>
                    <a:pt x="461198" y="96556"/>
                    <a:pt x="481929" y="73539"/>
                    <a:pt x="505804" y="55501"/>
                  </a:cubicBezTo>
                  <a:lnTo>
                    <a:pt x="529387" y="41045"/>
                  </a:lnTo>
                  <a:lnTo>
                    <a:pt x="531453" y="39340"/>
                  </a:lnTo>
                  <a:lnTo>
                    <a:pt x="537695" y="35952"/>
                  </a:lnTo>
                  <a:lnTo>
                    <a:pt x="543760" y="32234"/>
                  </a:lnTo>
                  <a:lnTo>
                    <a:pt x="546274" y="31296"/>
                  </a:lnTo>
                  <a:lnTo>
                    <a:pt x="570581" y="18102"/>
                  </a:lnTo>
                  <a:cubicBezTo>
                    <a:pt x="598139" y="6446"/>
                    <a:pt x="628439" y="0"/>
                    <a:pt x="660243" y="0"/>
                  </a:cubicBezTo>
                  <a:lnTo>
                    <a:pt x="1490183" y="0"/>
                  </a:lnTo>
                  <a:cubicBezTo>
                    <a:pt x="1521987" y="0"/>
                    <a:pt x="1552286" y="6446"/>
                    <a:pt x="1579845" y="18102"/>
                  </a:cubicBezTo>
                  <a:lnTo>
                    <a:pt x="1604154" y="31297"/>
                  </a:lnTo>
                  <a:lnTo>
                    <a:pt x="1606666" y="32234"/>
                  </a:lnTo>
                  <a:lnTo>
                    <a:pt x="1612726" y="35949"/>
                  </a:lnTo>
                  <a:lnTo>
                    <a:pt x="1618973" y="39340"/>
                  </a:lnTo>
                  <a:lnTo>
                    <a:pt x="1621041" y="41046"/>
                  </a:lnTo>
                  <a:lnTo>
                    <a:pt x="1644623" y="55501"/>
                  </a:lnTo>
                  <a:cubicBezTo>
                    <a:pt x="1668496" y="73539"/>
                    <a:pt x="1689228" y="96557"/>
                    <a:pt x="1705130" y="124100"/>
                  </a:cubicBezTo>
                  <a:lnTo>
                    <a:pt x="2120100" y="842849"/>
                  </a:lnTo>
                  <a:cubicBezTo>
                    <a:pt x="2136003" y="870393"/>
                    <a:pt x="2145570" y="899855"/>
                    <a:pt x="2149255" y="929550"/>
                  </a:cubicBezTo>
                  <a:lnTo>
                    <a:pt x="2149982" y="957198"/>
                  </a:lnTo>
                  <a:lnTo>
                    <a:pt x="2150426" y="959843"/>
                  </a:lnTo>
                  <a:lnTo>
                    <a:pt x="2150239" y="966953"/>
                  </a:lnTo>
                  <a:lnTo>
                    <a:pt x="2150426" y="974055"/>
                  </a:lnTo>
                  <a:lnTo>
                    <a:pt x="2149983" y="976697"/>
                  </a:lnTo>
                  <a:lnTo>
                    <a:pt x="2149255" y="1004348"/>
                  </a:lnTo>
                  <a:cubicBezTo>
                    <a:pt x="2145570" y="1034043"/>
                    <a:pt x="2136003" y="1063505"/>
                    <a:pt x="2120101" y="1091049"/>
                  </a:cubicBezTo>
                  <a:lnTo>
                    <a:pt x="1705131" y="1809798"/>
                  </a:lnTo>
                  <a:cubicBezTo>
                    <a:pt x="1689228" y="1837341"/>
                    <a:pt x="1668497" y="1860358"/>
                    <a:pt x="1644623" y="1878396"/>
                  </a:cubicBezTo>
                  <a:lnTo>
                    <a:pt x="1621040" y="1892852"/>
                  </a:lnTo>
                  <a:lnTo>
                    <a:pt x="1618973" y="1894557"/>
                  </a:lnTo>
                  <a:lnTo>
                    <a:pt x="1612730" y="1897947"/>
                  </a:lnTo>
                  <a:lnTo>
                    <a:pt x="1606666" y="1901663"/>
                  </a:lnTo>
                  <a:lnTo>
                    <a:pt x="1604153" y="1902602"/>
                  </a:lnTo>
                  <a:lnTo>
                    <a:pt x="1579845" y="1915796"/>
                  </a:lnTo>
                  <a:cubicBezTo>
                    <a:pt x="1552287" y="1927452"/>
                    <a:pt x="1521988" y="1933897"/>
                    <a:pt x="1490183" y="1933897"/>
                  </a:cubicBezTo>
                  <a:lnTo>
                    <a:pt x="660243" y="1933898"/>
                  </a:lnTo>
                  <a:cubicBezTo>
                    <a:pt x="612537" y="1933898"/>
                    <a:pt x="568217" y="1919395"/>
                    <a:pt x="531453" y="1894557"/>
                  </a:cubicBezTo>
                  <a:close/>
                </a:path>
              </a:pathLst>
            </a:custGeom>
            <a:noFill/>
            <a:ln w="25400">
              <a:solidFill>
                <a:srgbClr val="5771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533"/>
            </a:p>
          </p:txBody>
        </p:sp>
        <p:sp>
          <p:nvSpPr>
            <p:cNvPr id="20" name="TextBox 6"/>
            <p:cNvSpPr txBox="1">
              <a:spLocks noChangeArrowheads="1"/>
            </p:cNvSpPr>
            <p:nvPr/>
          </p:nvSpPr>
          <p:spPr bwMode="auto">
            <a:xfrm>
              <a:off x="1489166" y="3325879"/>
              <a:ext cx="566993" cy="400086"/>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vert="horz" wrap="square" lIns="243840" tIns="121920" rIns="243840" bIns="121920" numCol="1" anchor="t" anchorCtr="0" compatLnSpc="1">
              <a:spAutoFit/>
            </a:bodyPr>
            <a:lstStyle/>
            <a:p>
              <a:pPr defTabSz="2438430" fontAlgn="base" hangingPunct="1">
                <a:spcBef>
                  <a:spcPct val="0"/>
                </a:spcBef>
                <a:spcAft>
                  <a:spcPct val="0"/>
                </a:spcAft>
              </a:pPr>
              <a:r>
                <a:rPr lang="en-US" altLang="zh-CN" sz="5333">
                  <a:solidFill>
                    <a:schemeClr val="tx1">
                      <a:lumMod val="50000"/>
                      <a:lumOff val="50000"/>
                    </a:schemeClr>
                  </a:solidFill>
                  <a:latin typeface="Impact" panose="020B0806030902050204" pitchFamily="34" charset="0"/>
                  <a:ea typeface="微软雅黑" panose="020B0503020204020204" charset="-122"/>
                  <a:cs typeface="Times New Roman" panose="02020603050405020304" pitchFamily="18" charset="0"/>
                </a:rPr>
                <a:t>03</a:t>
              </a:r>
              <a:endParaRPr lang="zh-CN" altLang="en-US" sz="4800" dirty="0">
                <a:solidFill>
                  <a:schemeClr val="tx1">
                    <a:lumMod val="50000"/>
                    <a:lumOff val="50000"/>
                  </a:schemeClr>
                </a:solidFill>
                <a:latin typeface="Impact" panose="020B0806030902050204" pitchFamily="34" charset="0"/>
                <a:ea typeface="宋体" panose="02010600030101010101" pitchFamily="2" charset="-122"/>
                <a:cs typeface="Times New Roman" panose="02020603050405020304" pitchFamily="18" charset="0"/>
              </a:endParaRPr>
            </a:p>
          </p:txBody>
        </p:sp>
      </p:grpSp>
    </p:spTree>
    <p:extLst>
      <p:ext uri="{BB962C8B-B14F-4D97-AF65-F5344CB8AC3E}">
        <p14:creationId xmlns:p14="http://schemas.microsoft.com/office/powerpoint/2010/main" val="3590175370"/>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 descr="3D小人疑问ppt图片素材"/>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1948" y="2425788"/>
            <a:ext cx="7334472" cy="10080440"/>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p:cNvSpPr txBox="1"/>
          <p:nvPr/>
        </p:nvSpPr>
        <p:spPr>
          <a:xfrm>
            <a:off x="7264926" y="2425787"/>
            <a:ext cx="17295045" cy="3046988"/>
          </a:xfrm>
          <a:prstGeom prst="rect">
            <a:avLst/>
          </a:prstGeom>
          <a:noFill/>
        </p:spPr>
        <p:txBody>
          <a:bodyPr wrap="square" rtlCol="0">
            <a:spAutoFit/>
          </a:bodyPr>
          <a:lstStyle/>
          <a:p>
            <a:pPr lvl="1" algn="l"/>
            <a:r>
              <a:rPr lang="en-US" altLang="zh-CN" sz="6400">
                <a:latin typeface="DengXian" panose="02010600030101010101" pitchFamily="2" charset="-122"/>
                <a:ea typeface="DengXian" panose="02010600030101010101" pitchFamily="2" charset="-122"/>
              </a:rPr>
              <a:t>2009</a:t>
            </a:r>
            <a:r>
              <a:rPr lang="zh-CN" altLang="en-US" sz="6400">
                <a:latin typeface="DengXian" panose="02010600030101010101" pitchFamily="2" charset="-122"/>
                <a:ea typeface="DengXian" panose="02010600030101010101" pitchFamily="2" charset="-122"/>
              </a:rPr>
              <a:t>年在次贷危机背景，</a:t>
            </a:r>
            <a:r>
              <a:rPr lang="en-US" altLang="zh-CN" sz="6400">
                <a:latin typeface="DengXian" panose="02010600030101010101" pitchFamily="2" charset="-122"/>
                <a:ea typeface="DengXian" panose="02010600030101010101" pitchFamily="2" charset="-122"/>
              </a:rPr>
              <a:t>”</a:t>
            </a:r>
            <a:r>
              <a:rPr lang="zh-CN" altLang="en-US" sz="6400">
                <a:latin typeface="DengXian" panose="02010600030101010101" pitchFamily="2" charset="-122"/>
                <a:ea typeface="DengXian" panose="02010600030101010101" pitchFamily="2" charset="-122"/>
              </a:rPr>
              <a:t>中本聪</a:t>
            </a:r>
            <a:r>
              <a:rPr lang="en-US" altLang="zh-CN" sz="6400">
                <a:latin typeface="DengXian" panose="02010600030101010101" pitchFamily="2" charset="-122"/>
                <a:ea typeface="DengXian" panose="02010600030101010101" pitchFamily="2" charset="-122"/>
              </a:rPr>
              <a:t>”</a:t>
            </a:r>
            <a:r>
              <a:rPr lang="zh-CN" altLang="en-US" sz="6400">
                <a:latin typeface="DengXian" panose="02010600030101010101" pitchFamily="2" charset="-122"/>
                <a:ea typeface="DengXian" panose="02010600030101010101" pitchFamily="2" charset="-122"/>
              </a:rPr>
              <a:t>由于对主权货币金融体系的不信任，创建了点对点的数字货币支付系统。</a:t>
            </a:r>
            <a:endParaRPr lang="en-US" altLang="zh-CN" sz="6400">
              <a:latin typeface="DengXian" panose="02010600030101010101" pitchFamily="2" charset="-122"/>
              <a:ea typeface="DengXian" panose="02010600030101010101" pitchFamily="2" charset="-122"/>
            </a:endParaRPr>
          </a:p>
        </p:txBody>
      </p:sp>
      <p:sp>
        <p:nvSpPr>
          <p:cNvPr id="25" name="TextBox 24"/>
          <p:cNvSpPr txBox="1"/>
          <p:nvPr/>
        </p:nvSpPr>
        <p:spPr>
          <a:xfrm>
            <a:off x="7264926" y="6447890"/>
            <a:ext cx="17295045" cy="2062103"/>
          </a:xfrm>
          <a:prstGeom prst="rect">
            <a:avLst/>
          </a:prstGeom>
          <a:noFill/>
        </p:spPr>
        <p:txBody>
          <a:bodyPr wrap="square" rtlCol="0">
            <a:spAutoFit/>
          </a:bodyPr>
          <a:lstStyle/>
          <a:p>
            <a:pPr lvl="1" algn="l"/>
            <a:r>
              <a:rPr lang="zh-CN" altLang="en-US" sz="6400">
                <a:latin typeface="DengXian" panose="02010600030101010101" pitchFamily="2" charset="-122"/>
                <a:ea typeface="DengXian" panose="02010600030101010101" pitchFamily="2" charset="-122"/>
              </a:rPr>
              <a:t>而今天，在不信任的组织或实体之间，以技术和算法构建信任网络，并于其上传输价值。</a:t>
            </a:r>
            <a:endParaRPr lang="en-US" altLang="zh-CN" sz="6400">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8626012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5"/>
          <p:cNvSpPr/>
          <p:nvPr/>
        </p:nvSpPr>
        <p:spPr bwMode="auto">
          <a:xfrm>
            <a:off x="19132952" y="7234483"/>
            <a:ext cx="999371" cy="2709717"/>
          </a:xfrm>
          <a:custGeom>
            <a:avLst/>
            <a:gdLst>
              <a:gd name="T0" fmla="*/ 280 w 280"/>
              <a:gd name="T1" fmla="*/ 278 h 862"/>
              <a:gd name="T2" fmla="*/ 280 w 280"/>
              <a:gd name="T3" fmla="*/ 862 h 862"/>
              <a:gd name="T4" fmla="*/ 0 w 280"/>
              <a:gd name="T5" fmla="*/ 582 h 862"/>
              <a:gd name="T6" fmla="*/ 0 w 280"/>
              <a:gd name="T7" fmla="*/ 0 h 862"/>
              <a:gd name="T8" fmla="*/ 3 w 280"/>
              <a:gd name="T9" fmla="*/ 0 h 862"/>
              <a:gd name="T10" fmla="*/ 280 w 280"/>
              <a:gd name="T11" fmla="*/ 278 h 862"/>
            </a:gdLst>
            <a:ahLst/>
            <a:cxnLst>
              <a:cxn ang="0">
                <a:pos x="T0" y="T1"/>
              </a:cxn>
              <a:cxn ang="0">
                <a:pos x="T2" y="T3"/>
              </a:cxn>
              <a:cxn ang="0">
                <a:pos x="T4" y="T5"/>
              </a:cxn>
              <a:cxn ang="0">
                <a:pos x="T6" y="T7"/>
              </a:cxn>
              <a:cxn ang="0">
                <a:pos x="T8" y="T9"/>
              </a:cxn>
              <a:cxn ang="0">
                <a:pos x="T10" y="T11"/>
              </a:cxn>
            </a:cxnLst>
            <a:rect l="0" t="0" r="r" b="b"/>
            <a:pathLst>
              <a:path w="280" h="862">
                <a:moveTo>
                  <a:pt x="280" y="278"/>
                </a:moveTo>
                <a:lnTo>
                  <a:pt x="280" y="862"/>
                </a:lnTo>
                <a:lnTo>
                  <a:pt x="0" y="582"/>
                </a:lnTo>
                <a:lnTo>
                  <a:pt x="0" y="0"/>
                </a:lnTo>
                <a:lnTo>
                  <a:pt x="3" y="0"/>
                </a:lnTo>
                <a:lnTo>
                  <a:pt x="280" y="278"/>
                </a:lnTo>
                <a:close/>
              </a:path>
            </a:pathLst>
          </a:custGeom>
          <a:solidFill>
            <a:schemeClr val="bg1">
              <a:lumMod val="8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243840" tIns="121920" rIns="243840" bIns="121920" numCol="1" anchor="t" anchorCtr="0" compatLnSpc="1"/>
          <a:lstStyle/>
          <a:p>
            <a:endParaRPr lang="en-US" sz="8533">
              <a:latin typeface="Roboto Light" panose="02000000000000000000" pitchFamily="2" charset="0"/>
              <a:ea typeface="Roboto Light" panose="02000000000000000000" pitchFamily="2" charset="0"/>
            </a:endParaRPr>
          </a:p>
        </p:txBody>
      </p:sp>
      <p:sp>
        <p:nvSpPr>
          <p:cNvPr id="6" name="Freeform 10"/>
          <p:cNvSpPr/>
          <p:nvPr/>
        </p:nvSpPr>
        <p:spPr bwMode="auto">
          <a:xfrm>
            <a:off x="13011802" y="7234483"/>
            <a:ext cx="1002941" cy="2709717"/>
          </a:xfrm>
          <a:custGeom>
            <a:avLst/>
            <a:gdLst>
              <a:gd name="T0" fmla="*/ 281 w 281"/>
              <a:gd name="T1" fmla="*/ 278 h 1123"/>
              <a:gd name="T2" fmla="*/ 281 w 281"/>
              <a:gd name="T3" fmla="*/ 1123 h 1123"/>
              <a:gd name="T4" fmla="*/ 0 w 281"/>
              <a:gd name="T5" fmla="*/ 842 h 1123"/>
              <a:gd name="T6" fmla="*/ 0 w 281"/>
              <a:gd name="T7" fmla="*/ 0 h 1123"/>
              <a:gd name="T8" fmla="*/ 278 w 281"/>
              <a:gd name="T9" fmla="*/ 278 h 1123"/>
              <a:gd name="T10" fmla="*/ 281 w 281"/>
              <a:gd name="T11" fmla="*/ 278 h 1123"/>
            </a:gdLst>
            <a:ahLst/>
            <a:cxnLst>
              <a:cxn ang="0">
                <a:pos x="T0" y="T1"/>
              </a:cxn>
              <a:cxn ang="0">
                <a:pos x="T2" y="T3"/>
              </a:cxn>
              <a:cxn ang="0">
                <a:pos x="T4" y="T5"/>
              </a:cxn>
              <a:cxn ang="0">
                <a:pos x="T6" y="T7"/>
              </a:cxn>
              <a:cxn ang="0">
                <a:pos x="T8" y="T9"/>
              </a:cxn>
              <a:cxn ang="0">
                <a:pos x="T10" y="T11"/>
              </a:cxn>
            </a:cxnLst>
            <a:rect l="0" t="0" r="r" b="b"/>
            <a:pathLst>
              <a:path w="281" h="1123">
                <a:moveTo>
                  <a:pt x="281" y="278"/>
                </a:moveTo>
                <a:lnTo>
                  <a:pt x="281" y="1123"/>
                </a:lnTo>
                <a:lnTo>
                  <a:pt x="0" y="842"/>
                </a:lnTo>
                <a:lnTo>
                  <a:pt x="0" y="0"/>
                </a:lnTo>
                <a:lnTo>
                  <a:pt x="278" y="278"/>
                </a:lnTo>
                <a:lnTo>
                  <a:pt x="281" y="278"/>
                </a:lnTo>
                <a:close/>
              </a:path>
            </a:pathLst>
          </a:custGeom>
          <a:solidFill>
            <a:schemeClr val="bg1">
              <a:lumMod val="8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243840" tIns="121920" rIns="243840" bIns="121920" numCol="1" anchor="t" anchorCtr="0" compatLnSpc="1"/>
          <a:lstStyle/>
          <a:p>
            <a:endParaRPr lang="en-US" sz="8533">
              <a:latin typeface="Roboto Light" panose="02000000000000000000" pitchFamily="2" charset="0"/>
              <a:ea typeface="Roboto Light" panose="02000000000000000000" pitchFamily="2" charset="0"/>
            </a:endParaRPr>
          </a:p>
        </p:txBody>
      </p:sp>
      <p:sp>
        <p:nvSpPr>
          <p:cNvPr id="9" name="Freeform 16"/>
          <p:cNvSpPr/>
          <p:nvPr/>
        </p:nvSpPr>
        <p:spPr bwMode="auto">
          <a:xfrm>
            <a:off x="6864259" y="7286327"/>
            <a:ext cx="999371" cy="2657875"/>
          </a:xfrm>
          <a:custGeom>
            <a:avLst/>
            <a:gdLst>
              <a:gd name="T0" fmla="*/ 280 w 280"/>
              <a:gd name="T1" fmla="*/ 278 h 1123"/>
              <a:gd name="T2" fmla="*/ 280 w 280"/>
              <a:gd name="T3" fmla="*/ 1123 h 1123"/>
              <a:gd name="T4" fmla="*/ 0 w 280"/>
              <a:gd name="T5" fmla="*/ 842 h 1123"/>
              <a:gd name="T6" fmla="*/ 0 w 280"/>
              <a:gd name="T7" fmla="*/ 0 h 1123"/>
              <a:gd name="T8" fmla="*/ 278 w 280"/>
              <a:gd name="T9" fmla="*/ 278 h 1123"/>
              <a:gd name="T10" fmla="*/ 280 w 280"/>
              <a:gd name="T11" fmla="*/ 278 h 1123"/>
            </a:gdLst>
            <a:ahLst/>
            <a:cxnLst>
              <a:cxn ang="0">
                <a:pos x="T0" y="T1"/>
              </a:cxn>
              <a:cxn ang="0">
                <a:pos x="T2" y="T3"/>
              </a:cxn>
              <a:cxn ang="0">
                <a:pos x="T4" y="T5"/>
              </a:cxn>
              <a:cxn ang="0">
                <a:pos x="T6" y="T7"/>
              </a:cxn>
              <a:cxn ang="0">
                <a:pos x="T8" y="T9"/>
              </a:cxn>
              <a:cxn ang="0">
                <a:pos x="T10" y="T11"/>
              </a:cxn>
            </a:cxnLst>
            <a:rect l="0" t="0" r="r" b="b"/>
            <a:pathLst>
              <a:path w="280" h="1123">
                <a:moveTo>
                  <a:pt x="280" y="278"/>
                </a:moveTo>
                <a:lnTo>
                  <a:pt x="280" y="1123"/>
                </a:lnTo>
                <a:lnTo>
                  <a:pt x="0" y="842"/>
                </a:lnTo>
                <a:lnTo>
                  <a:pt x="0" y="0"/>
                </a:lnTo>
                <a:lnTo>
                  <a:pt x="278" y="278"/>
                </a:lnTo>
                <a:lnTo>
                  <a:pt x="280" y="278"/>
                </a:lnTo>
                <a:close/>
              </a:path>
            </a:pathLst>
          </a:custGeom>
          <a:solidFill>
            <a:schemeClr val="bg1">
              <a:lumMod val="8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243840" tIns="121920" rIns="243840" bIns="121920" numCol="1" anchor="t" anchorCtr="0" compatLnSpc="1"/>
          <a:lstStyle/>
          <a:p>
            <a:endParaRPr lang="en-US" sz="8533">
              <a:latin typeface="Roboto Light" panose="02000000000000000000" pitchFamily="2" charset="0"/>
              <a:ea typeface="Roboto Light" panose="02000000000000000000" pitchFamily="2" charset="0"/>
            </a:endParaRPr>
          </a:p>
        </p:txBody>
      </p:sp>
      <p:sp>
        <p:nvSpPr>
          <p:cNvPr id="10" name="Freeform 17"/>
          <p:cNvSpPr/>
          <p:nvPr/>
        </p:nvSpPr>
        <p:spPr bwMode="auto">
          <a:xfrm>
            <a:off x="20844844" y="7527681"/>
            <a:ext cx="2202187" cy="2113672"/>
          </a:xfrm>
          <a:custGeom>
            <a:avLst/>
            <a:gdLst>
              <a:gd name="T0" fmla="*/ 210 w 617"/>
              <a:gd name="T1" fmla="*/ 849 h 849"/>
              <a:gd name="T2" fmla="*/ 210 w 617"/>
              <a:gd name="T3" fmla="*/ 717 h 849"/>
              <a:gd name="T4" fmla="*/ 0 w 617"/>
              <a:gd name="T5" fmla="*/ 717 h 849"/>
              <a:gd name="T6" fmla="*/ 0 w 617"/>
              <a:gd name="T7" fmla="*/ 133 h 849"/>
              <a:gd name="T8" fmla="*/ 210 w 617"/>
              <a:gd name="T9" fmla="*/ 133 h 849"/>
              <a:gd name="T10" fmla="*/ 210 w 617"/>
              <a:gd name="T11" fmla="*/ 0 h 849"/>
              <a:gd name="T12" fmla="*/ 617 w 617"/>
              <a:gd name="T13" fmla="*/ 424 h 849"/>
              <a:gd name="T14" fmla="*/ 210 w 617"/>
              <a:gd name="T15" fmla="*/ 849 h 8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7" h="849">
                <a:moveTo>
                  <a:pt x="210" y="849"/>
                </a:moveTo>
                <a:lnTo>
                  <a:pt x="210" y="717"/>
                </a:lnTo>
                <a:lnTo>
                  <a:pt x="0" y="717"/>
                </a:lnTo>
                <a:lnTo>
                  <a:pt x="0" y="133"/>
                </a:lnTo>
                <a:lnTo>
                  <a:pt x="210" y="133"/>
                </a:lnTo>
                <a:lnTo>
                  <a:pt x="210" y="0"/>
                </a:lnTo>
                <a:lnTo>
                  <a:pt x="617" y="424"/>
                </a:lnTo>
                <a:lnTo>
                  <a:pt x="210" y="849"/>
                </a:lnTo>
                <a:close/>
              </a:path>
            </a:pathLst>
          </a:custGeom>
          <a:solidFill>
            <a:schemeClr val="accent1"/>
          </a:solidFill>
          <a:ln>
            <a:noFill/>
          </a:ln>
        </p:spPr>
        <p:txBody>
          <a:bodyPr vert="horz" wrap="square" lIns="243840" tIns="121920" rIns="243840" bIns="121920" numCol="1" anchor="t" anchorCtr="0" compatLnSpc="1"/>
          <a:lstStyle/>
          <a:p>
            <a:endParaRPr lang="en-US" sz="8533">
              <a:latin typeface="Roboto Light" panose="02000000000000000000" pitchFamily="2" charset="0"/>
              <a:ea typeface="Roboto Light" panose="02000000000000000000" pitchFamily="2" charset="0"/>
            </a:endParaRPr>
          </a:p>
        </p:txBody>
      </p:sp>
      <p:grpSp>
        <p:nvGrpSpPr>
          <p:cNvPr id="11" name="组合 10"/>
          <p:cNvGrpSpPr/>
          <p:nvPr/>
        </p:nvGrpSpPr>
        <p:grpSpPr>
          <a:xfrm>
            <a:off x="1550607" y="7234484"/>
            <a:ext cx="5868728" cy="2700067"/>
            <a:chOff x="882491" y="2261909"/>
            <a:chExt cx="959665" cy="1012525"/>
          </a:xfrm>
        </p:grpSpPr>
        <p:sp>
          <p:nvSpPr>
            <p:cNvPr id="12" name="Freeform 15"/>
            <p:cNvSpPr/>
            <p:nvPr userDrawn="1"/>
          </p:nvSpPr>
          <p:spPr bwMode="auto">
            <a:xfrm>
              <a:off x="967016" y="2261909"/>
              <a:ext cx="772282" cy="1012525"/>
            </a:xfrm>
            <a:custGeom>
              <a:avLst/>
              <a:gdLst>
                <a:gd name="T0" fmla="*/ 577 w 577"/>
                <a:gd name="T1" fmla="*/ 0 h 1119"/>
                <a:gd name="T2" fmla="*/ 577 w 577"/>
                <a:gd name="T3" fmla="*/ 1119 h 1119"/>
                <a:gd name="T4" fmla="*/ 288 w 577"/>
                <a:gd name="T5" fmla="*/ 840 h 1119"/>
                <a:gd name="T6" fmla="*/ 0 w 577"/>
                <a:gd name="T7" fmla="*/ 1118 h 1119"/>
                <a:gd name="T8" fmla="*/ 0 w 577"/>
                <a:gd name="T9" fmla="*/ 0 h 1119"/>
                <a:gd name="T10" fmla="*/ 577 w 577"/>
                <a:gd name="T11" fmla="*/ 0 h 1119"/>
              </a:gdLst>
              <a:ahLst/>
              <a:cxnLst>
                <a:cxn ang="0">
                  <a:pos x="T0" y="T1"/>
                </a:cxn>
                <a:cxn ang="0">
                  <a:pos x="T2" y="T3"/>
                </a:cxn>
                <a:cxn ang="0">
                  <a:pos x="T4" y="T5"/>
                </a:cxn>
                <a:cxn ang="0">
                  <a:pos x="T6" y="T7"/>
                </a:cxn>
                <a:cxn ang="0">
                  <a:pos x="T8" y="T9"/>
                </a:cxn>
                <a:cxn ang="0">
                  <a:pos x="T10" y="T11"/>
                </a:cxn>
              </a:cxnLst>
              <a:rect l="0" t="0" r="r" b="b"/>
              <a:pathLst>
                <a:path w="577" h="1119">
                  <a:moveTo>
                    <a:pt x="577" y="0"/>
                  </a:moveTo>
                  <a:lnTo>
                    <a:pt x="577" y="1119"/>
                  </a:lnTo>
                  <a:lnTo>
                    <a:pt x="288" y="840"/>
                  </a:lnTo>
                  <a:lnTo>
                    <a:pt x="0" y="1118"/>
                  </a:lnTo>
                  <a:lnTo>
                    <a:pt x="0" y="0"/>
                  </a:lnTo>
                  <a:lnTo>
                    <a:pt x="577"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243840" tIns="121920" rIns="243840" bIns="121920" numCol="1" anchor="t" anchorCtr="0" compatLnSpc="1"/>
            <a:lstStyle/>
            <a:p>
              <a:endParaRPr lang="en-US" sz="8533">
                <a:latin typeface="Roboto Light" panose="02000000000000000000" pitchFamily="2" charset="0"/>
                <a:ea typeface="Roboto Light" panose="02000000000000000000" pitchFamily="2" charset="0"/>
              </a:endParaRPr>
            </a:p>
          </p:txBody>
        </p:sp>
        <p:sp>
          <p:nvSpPr>
            <p:cNvPr id="13" name="Text Placeholder 59"/>
            <p:cNvSpPr txBox="1"/>
            <p:nvPr/>
          </p:nvSpPr>
          <p:spPr>
            <a:xfrm>
              <a:off x="882491" y="2383410"/>
              <a:ext cx="959665" cy="677314"/>
            </a:xfrm>
            <a:prstGeom prst="rect">
              <a:avLst/>
            </a:prstGeom>
          </p:spPr>
          <p:txBody>
            <a:bodyPr anchor="ctr">
              <a:noAutofit/>
            </a:bodyPr>
            <a:lstStyle>
              <a:lvl1pPr marL="0" indent="0" algn="ctr" defTabSz="914400" rtl="0" eaLnBrk="1" latinLnBrk="0" hangingPunct="1">
                <a:spcBef>
                  <a:spcPct val="20000"/>
                </a:spcBef>
                <a:buFont typeface="Arial" panose="020B0604020202020204" pitchFamily="34" charset="0"/>
                <a:buNone/>
                <a:defRPr sz="2000" b="0" kern="1200">
                  <a:solidFill>
                    <a:schemeClr val="bg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4800">
                  <a:latin typeface="微软雅黑" panose="020B0503020204020204" charset="-122"/>
                  <a:ea typeface="微软雅黑" panose="020B0503020204020204" charset="-122"/>
                </a:rPr>
                <a:t>区块链</a:t>
              </a:r>
              <a:r>
                <a:rPr lang="en-US" altLang="zh-CN" sz="4800">
                  <a:latin typeface="微软雅黑" panose="020B0503020204020204" charset="-122"/>
                  <a:ea typeface="微软雅黑" panose="020B0503020204020204" charset="-122"/>
                </a:rPr>
                <a:t>1.0</a:t>
              </a:r>
              <a:endParaRPr lang="en-US" sz="4800" dirty="0">
                <a:latin typeface="微软雅黑" panose="020B0503020204020204" charset="-122"/>
                <a:ea typeface="微软雅黑" panose="020B0503020204020204" charset="-122"/>
              </a:endParaRPr>
            </a:p>
          </p:txBody>
        </p:sp>
      </p:grpSp>
      <p:grpSp>
        <p:nvGrpSpPr>
          <p:cNvPr id="17" name="组合 16"/>
          <p:cNvGrpSpPr/>
          <p:nvPr/>
        </p:nvGrpSpPr>
        <p:grpSpPr>
          <a:xfrm>
            <a:off x="7668190" y="7220936"/>
            <a:ext cx="5862405" cy="2709717"/>
            <a:chOff x="3176585" y="2261909"/>
            <a:chExt cx="959665" cy="1016144"/>
          </a:xfrm>
        </p:grpSpPr>
        <p:sp>
          <p:nvSpPr>
            <p:cNvPr id="18" name="Rectangle 11"/>
            <p:cNvSpPr>
              <a:spLocks noChangeArrowheads="1"/>
            </p:cNvSpPr>
            <p:nvPr userDrawn="1"/>
          </p:nvSpPr>
          <p:spPr bwMode="auto">
            <a:xfrm>
              <a:off x="3261110" y="2261909"/>
              <a:ext cx="772282" cy="10161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243840" tIns="121920" rIns="243840" bIns="121920" numCol="1" anchor="t" anchorCtr="0" compatLnSpc="1"/>
            <a:lstStyle/>
            <a:p>
              <a:endParaRPr lang="en-US" sz="8533">
                <a:latin typeface="Roboto Light" panose="02000000000000000000" pitchFamily="2" charset="0"/>
                <a:ea typeface="Roboto Light" panose="02000000000000000000" pitchFamily="2" charset="0"/>
              </a:endParaRPr>
            </a:p>
          </p:txBody>
        </p:sp>
        <p:sp>
          <p:nvSpPr>
            <p:cNvPr id="19" name="Text Placeholder 59"/>
            <p:cNvSpPr txBox="1"/>
            <p:nvPr/>
          </p:nvSpPr>
          <p:spPr>
            <a:xfrm>
              <a:off x="3176585" y="2383410"/>
              <a:ext cx="959665" cy="677314"/>
            </a:xfrm>
            <a:prstGeom prst="rect">
              <a:avLst/>
            </a:prstGeom>
          </p:spPr>
          <p:txBody>
            <a:bodyPr anchor="ctr">
              <a:noAutofit/>
            </a:bodyPr>
            <a:lstStyle>
              <a:lvl1pPr marL="0" indent="0" algn="ctr" defTabSz="914400" rtl="0" eaLnBrk="1" latinLnBrk="0" hangingPunct="1">
                <a:spcBef>
                  <a:spcPct val="20000"/>
                </a:spcBef>
                <a:buFont typeface="Arial" panose="020B0604020202020204" pitchFamily="34" charset="0"/>
                <a:buNone/>
                <a:defRPr sz="2000" b="0" kern="1200">
                  <a:solidFill>
                    <a:schemeClr val="bg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4800">
                  <a:latin typeface="微软雅黑" panose="020B0503020204020204" charset="-122"/>
                  <a:ea typeface="微软雅黑" panose="020B0503020204020204" charset="-122"/>
                </a:rPr>
                <a:t>区块链</a:t>
              </a:r>
              <a:r>
                <a:rPr lang="en-US" altLang="zh-CN" sz="4800">
                  <a:latin typeface="微软雅黑" panose="020B0503020204020204" charset="-122"/>
                  <a:ea typeface="微软雅黑" panose="020B0503020204020204" charset="-122"/>
                </a:rPr>
                <a:t>2.0</a:t>
              </a:r>
              <a:endParaRPr lang="en-US" sz="4800" dirty="0">
                <a:latin typeface="微软雅黑" panose="020B0503020204020204" charset="-122"/>
                <a:ea typeface="微软雅黑" panose="020B0503020204020204" charset="-122"/>
              </a:endParaRPr>
            </a:p>
          </p:txBody>
        </p:sp>
      </p:grpSp>
      <p:grpSp>
        <p:nvGrpSpPr>
          <p:cNvPr id="26" name="组合 25"/>
          <p:cNvGrpSpPr/>
          <p:nvPr/>
        </p:nvGrpSpPr>
        <p:grpSpPr>
          <a:xfrm>
            <a:off x="13802838" y="7234483"/>
            <a:ext cx="5604405" cy="2709717"/>
            <a:chOff x="6619064" y="2261909"/>
            <a:chExt cx="959665" cy="1016144"/>
          </a:xfrm>
        </p:grpSpPr>
        <p:sp>
          <p:nvSpPr>
            <p:cNvPr id="27" name="Rectangle 6"/>
            <p:cNvSpPr>
              <a:spLocks noChangeArrowheads="1"/>
            </p:cNvSpPr>
            <p:nvPr userDrawn="1"/>
          </p:nvSpPr>
          <p:spPr bwMode="auto">
            <a:xfrm>
              <a:off x="6703589" y="2261909"/>
              <a:ext cx="772282" cy="10161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243840" tIns="121920" rIns="243840" bIns="121920" numCol="1" anchor="t" anchorCtr="0" compatLnSpc="1"/>
            <a:lstStyle/>
            <a:p>
              <a:endParaRPr lang="en-US" sz="8533">
                <a:latin typeface="Roboto Light" panose="02000000000000000000" pitchFamily="2" charset="0"/>
                <a:ea typeface="Roboto Light" panose="02000000000000000000" pitchFamily="2" charset="0"/>
              </a:endParaRPr>
            </a:p>
          </p:txBody>
        </p:sp>
        <p:sp>
          <p:nvSpPr>
            <p:cNvPr id="28" name="Text Placeholder 59"/>
            <p:cNvSpPr txBox="1"/>
            <p:nvPr/>
          </p:nvSpPr>
          <p:spPr>
            <a:xfrm>
              <a:off x="6619064" y="2383410"/>
              <a:ext cx="959665" cy="677314"/>
            </a:xfrm>
            <a:prstGeom prst="rect">
              <a:avLst/>
            </a:prstGeom>
          </p:spPr>
          <p:txBody>
            <a:bodyPr anchor="ctr">
              <a:noAutofit/>
            </a:bodyPr>
            <a:lstStyle>
              <a:lvl1pPr marL="0" indent="0" algn="ctr" defTabSz="914400" rtl="0" eaLnBrk="1" latinLnBrk="0" hangingPunct="1">
                <a:spcBef>
                  <a:spcPct val="20000"/>
                </a:spcBef>
                <a:buFont typeface="Arial" panose="020B0604020202020204" pitchFamily="34" charset="0"/>
                <a:buNone/>
                <a:defRPr sz="2000" b="0" kern="1200">
                  <a:solidFill>
                    <a:schemeClr val="bg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4800">
                  <a:latin typeface="微软雅黑" panose="020B0503020204020204" charset="-122"/>
                  <a:ea typeface="微软雅黑" panose="020B0503020204020204" charset="-122"/>
                </a:rPr>
                <a:t>区块链</a:t>
              </a:r>
              <a:r>
                <a:rPr lang="en-US" altLang="zh-CN" sz="4800">
                  <a:latin typeface="微软雅黑" panose="020B0503020204020204" charset="-122"/>
                  <a:ea typeface="微软雅黑" panose="020B0503020204020204" charset="-122"/>
                </a:rPr>
                <a:t>3.0</a:t>
              </a:r>
              <a:endParaRPr lang="en-US" sz="4800" dirty="0">
                <a:latin typeface="微软雅黑" panose="020B0503020204020204" charset="-122"/>
                <a:ea typeface="微软雅黑" panose="020B0503020204020204" charset="-122"/>
              </a:endParaRPr>
            </a:p>
          </p:txBody>
        </p:sp>
      </p:grpSp>
      <p:sp>
        <p:nvSpPr>
          <p:cNvPr id="35" name="Text Placeholder 59"/>
          <p:cNvSpPr txBox="1"/>
          <p:nvPr/>
        </p:nvSpPr>
        <p:spPr>
          <a:xfrm>
            <a:off x="1925320" y="2502747"/>
            <a:ext cx="6014720" cy="4985173"/>
          </a:xfrm>
          <a:prstGeom prst="rect">
            <a:avLst/>
          </a:prstGeom>
        </p:spPr>
        <p:txBody>
          <a:bodyPr anchor="t">
            <a:noAutofit/>
          </a:bodyPr>
          <a:lstStyle>
            <a:lvl1pPr marL="0" indent="0" algn="l" defTabSz="914400" rtl="0" eaLnBrk="1" latinLnBrk="0" hangingPunct="1">
              <a:spcBef>
                <a:spcPct val="20000"/>
              </a:spcBef>
              <a:buFont typeface="Arial" panose="020B0604020202020204" pitchFamily="34" charset="0"/>
              <a:buNone/>
              <a:defRPr sz="1800" b="0" kern="1200">
                <a:solidFill>
                  <a:schemeClr val="tx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50000"/>
              </a:lnSpc>
            </a:pPr>
            <a:r>
              <a:rPr lang="zh-CN" altLang="en-US" sz="3733" b="1">
                <a:solidFill>
                  <a:schemeClr val="accent1"/>
                </a:solidFill>
                <a:latin typeface="微软雅黑" panose="020B0503020204020204" charset="-122"/>
                <a:ea typeface="微软雅黑" panose="020B0503020204020204" charset="-122"/>
                <a:sym typeface="微软雅黑" panose="020B0503020204020204" charset="-122"/>
              </a:rPr>
              <a:t>数字货币</a:t>
            </a:r>
            <a:endParaRPr lang="en-US" altLang="zh-CN" sz="3733" b="1" dirty="0">
              <a:solidFill>
                <a:schemeClr val="accent1"/>
              </a:solidFill>
              <a:latin typeface="微软雅黑" panose="020B0503020204020204" charset="-122"/>
              <a:ea typeface="微软雅黑" panose="020B0503020204020204" charset="-122"/>
              <a:sym typeface="微软雅黑" panose="020B0503020204020204" charset="-122"/>
            </a:endParaRPr>
          </a:p>
          <a:p>
            <a:r>
              <a:rPr lang="zh-CN" altLang="en-US" sz="2800">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代表项目</a:t>
            </a:r>
            <a:r>
              <a:rPr lang="en-US" altLang="zh-CN" sz="2800">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a:t>
            </a:r>
            <a:r>
              <a:rPr lang="zh-CN" altLang="en-US" sz="2800">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比特币</a:t>
            </a:r>
            <a:endParaRPr lang="en-US" altLang="zh-CN" sz="2133" b="1">
              <a:solidFill>
                <a:schemeClr val="accent2"/>
              </a:solidFill>
              <a:latin typeface="微软雅黑 Light" panose="020B0502040204020203" pitchFamily="34" charset="-122"/>
              <a:ea typeface="微软雅黑 Light" panose="020B0502040204020203" pitchFamily="34" charset="-122"/>
              <a:sym typeface="微软雅黑" panose="020B0503020204020204" charset="-122"/>
            </a:endParaRPr>
          </a:p>
          <a:p>
            <a:r>
              <a:rPr lang="zh-CN" altLang="en-US" sz="2800">
                <a:solidFill>
                  <a:schemeClr val="accent5"/>
                </a:solidFill>
                <a:latin typeface="微软雅黑 Light" panose="020B0502040204020203" pitchFamily="34" charset="-122"/>
                <a:ea typeface="微软雅黑 Light" panose="020B0502040204020203" pitchFamily="34" charset="-122"/>
              </a:rPr>
              <a:t>区块链类型</a:t>
            </a:r>
            <a:r>
              <a:rPr lang="en-US" altLang="zh-CN" sz="2800">
                <a:solidFill>
                  <a:schemeClr val="accent5"/>
                </a:solidFill>
                <a:latin typeface="微软雅黑 Light" panose="020B0502040204020203" pitchFamily="34" charset="-122"/>
                <a:ea typeface="微软雅黑 Light" panose="020B0502040204020203" pitchFamily="34" charset="-122"/>
              </a:rPr>
              <a:t>:</a:t>
            </a:r>
            <a:r>
              <a:rPr lang="zh-CN" altLang="en-US" sz="2800">
                <a:solidFill>
                  <a:schemeClr val="accent5"/>
                </a:solidFill>
                <a:latin typeface="微软雅黑 Light" panose="020B0502040204020203" pitchFamily="34" charset="-122"/>
                <a:ea typeface="微软雅黑 Light" panose="020B0502040204020203" pitchFamily="34" charset="-122"/>
              </a:rPr>
              <a:t>公链</a:t>
            </a:r>
            <a:endParaRPr lang="en-US" altLang="zh-CN" sz="2800">
              <a:solidFill>
                <a:schemeClr val="accent5"/>
              </a:solidFill>
              <a:latin typeface="微软雅黑 Light" panose="020B0502040204020203" pitchFamily="34" charset="-122"/>
              <a:ea typeface="微软雅黑 Light" panose="020B0502040204020203" pitchFamily="34" charset="-122"/>
            </a:endParaRPr>
          </a:p>
          <a:p>
            <a:r>
              <a:rPr lang="zh-CN" altLang="en-US" sz="2800">
                <a:solidFill>
                  <a:schemeClr val="accent5"/>
                </a:solidFill>
                <a:latin typeface="微软雅黑 Light" panose="020B0502040204020203" pitchFamily="34" charset="-122"/>
                <a:ea typeface="微软雅黑 Light" panose="020B0502040204020203" pitchFamily="34" charset="-122"/>
              </a:rPr>
              <a:t>主要功能：加密数字货币的发行、支付和流通</a:t>
            </a:r>
            <a:endParaRPr lang="en-US" altLang="zh-CN" sz="2800" dirty="0">
              <a:solidFill>
                <a:schemeClr val="accent5"/>
              </a:solidFill>
              <a:latin typeface="微软雅黑 Light" panose="020B0502040204020203" pitchFamily="34" charset="-122"/>
              <a:ea typeface="微软雅黑 Light" panose="020B0502040204020203" pitchFamily="34" charset="-122"/>
            </a:endParaRPr>
          </a:p>
        </p:txBody>
      </p:sp>
      <p:sp>
        <p:nvSpPr>
          <p:cNvPr id="36" name="Text Placeholder 59"/>
          <p:cNvSpPr txBox="1"/>
          <p:nvPr/>
        </p:nvSpPr>
        <p:spPr>
          <a:xfrm>
            <a:off x="8072847" y="2687232"/>
            <a:ext cx="5118211" cy="2496277"/>
          </a:xfrm>
          <a:prstGeom prst="rect">
            <a:avLst/>
          </a:prstGeom>
        </p:spPr>
        <p:txBody>
          <a:bodyPr anchor="t">
            <a:noAutofit/>
          </a:bodyPr>
          <a:lstStyle>
            <a:lvl1pPr marL="0" indent="0" algn="l" defTabSz="914400" rtl="0" eaLnBrk="1" latinLnBrk="0" hangingPunct="1">
              <a:spcBef>
                <a:spcPct val="20000"/>
              </a:spcBef>
              <a:buFont typeface="Arial" panose="020B0604020202020204" pitchFamily="34" charset="0"/>
              <a:buNone/>
              <a:defRPr sz="1800" b="0" kern="1200">
                <a:solidFill>
                  <a:schemeClr val="tx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3733" b="1">
                <a:solidFill>
                  <a:schemeClr val="accent1"/>
                </a:solidFill>
                <a:latin typeface="微软雅黑" panose="020B0503020204020204" charset="-122"/>
                <a:ea typeface="微软雅黑" panose="020B0503020204020204" charset="-122"/>
                <a:sym typeface="微软雅黑" panose="020B0503020204020204" charset="-122"/>
              </a:rPr>
              <a:t>智能合约</a:t>
            </a:r>
            <a:endParaRPr lang="en-US" altLang="zh-CN" sz="3733" b="1">
              <a:solidFill>
                <a:schemeClr val="accent1"/>
              </a:solidFill>
              <a:latin typeface="微软雅黑" panose="020B0503020204020204" charset="-122"/>
              <a:ea typeface="微软雅黑" panose="020B0503020204020204" charset="-122"/>
              <a:sym typeface="微软雅黑" panose="020B0503020204020204" charset="-122"/>
            </a:endParaRPr>
          </a:p>
          <a:p>
            <a:r>
              <a:rPr lang="zh-CN" altLang="en-US"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代表项目：以太坊</a:t>
            </a:r>
            <a:endParaRPr lang="en-US" altLang="zh-CN"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endParaRPr>
          </a:p>
          <a:p>
            <a:r>
              <a:rPr lang="zh-CN" altLang="en-US"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区块链类型：公链</a:t>
            </a:r>
            <a:endParaRPr lang="en-US" altLang="zh-CN"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endParaRPr>
          </a:p>
          <a:p>
            <a:r>
              <a:rPr lang="zh-CN" altLang="en-US"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主要功能：支持固定模板的智能合约可以根据用户定制支持数字货币发行、抵押、借贷金融股服务。如</a:t>
            </a:r>
            <a:r>
              <a:rPr lang="en-US" altLang="zh-CN"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ERC20</a:t>
            </a:r>
            <a:r>
              <a:rPr lang="zh-CN" altLang="en-US"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合约</a:t>
            </a:r>
            <a:endParaRPr lang="en-US" altLang="zh-CN" sz="2400" dirty="0">
              <a:latin typeface="微软雅黑 Light" panose="020B0502040204020203" pitchFamily="34" charset="-122"/>
              <a:ea typeface="微软雅黑 Light" panose="020B0502040204020203" pitchFamily="34" charset="-122"/>
            </a:endParaRPr>
          </a:p>
          <a:p>
            <a:endParaRPr lang="en-US" sz="2667" dirty="0"/>
          </a:p>
        </p:txBody>
      </p:sp>
      <p:sp>
        <p:nvSpPr>
          <p:cNvPr id="37" name="Text Placeholder 59"/>
          <p:cNvSpPr txBox="1"/>
          <p:nvPr/>
        </p:nvSpPr>
        <p:spPr>
          <a:xfrm>
            <a:off x="14286653" y="2714413"/>
            <a:ext cx="7162800" cy="2705947"/>
          </a:xfrm>
          <a:prstGeom prst="rect">
            <a:avLst/>
          </a:prstGeom>
        </p:spPr>
        <p:txBody>
          <a:bodyPr anchor="t">
            <a:noAutofit/>
          </a:bodyPr>
          <a:lstStyle>
            <a:lvl1pPr marL="0" indent="0" algn="l" defTabSz="914400" rtl="0" eaLnBrk="1" latinLnBrk="0" hangingPunct="1">
              <a:spcBef>
                <a:spcPct val="20000"/>
              </a:spcBef>
              <a:buFont typeface="Arial" panose="020B0604020202020204" pitchFamily="34" charset="0"/>
              <a:buNone/>
              <a:defRPr sz="1800" b="0" kern="1200">
                <a:solidFill>
                  <a:schemeClr val="tx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3733" b="1">
                <a:solidFill>
                  <a:schemeClr val="accent1"/>
                </a:solidFill>
                <a:latin typeface="微软雅黑" panose="020B0503020204020204" charset="-122"/>
                <a:ea typeface="微软雅黑" panose="020B0503020204020204" charset="-122"/>
                <a:sym typeface="微软雅黑" panose="020B0503020204020204" charset="-122"/>
              </a:rPr>
              <a:t>可编程社会</a:t>
            </a:r>
            <a:endParaRPr lang="en-US" altLang="zh-CN" sz="3733" b="1" dirty="0">
              <a:solidFill>
                <a:schemeClr val="accent1"/>
              </a:solidFill>
              <a:latin typeface="微软雅黑" panose="020B0503020204020204" charset="-122"/>
              <a:ea typeface="微软雅黑" panose="020B0503020204020204" charset="-122"/>
              <a:sym typeface="微软雅黑" panose="020B0503020204020204" charset="-122"/>
            </a:endParaRPr>
          </a:p>
          <a:p>
            <a:pPr>
              <a:lnSpc>
                <a:spcPct val="150000"/>
              </a:lnSpc>
            </a:pPr>
            <a:r>
              <a:rPr lang="zh-CN" altLang="en-US"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代表项目：</a:t>
            </a:r>
            <a:r>
              <a:rPr lang="en-US" altLang="zh-CN"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hyperledger</a:t>
            </a:r>
          </a:p>
          <a:p>
            <a:pPr>
              <a:lnSpc>
                <a:spcPct val="150000"/>
              </a:lnSpc>
            </a:pPr>
            <a:r>
              <a:rPr lang="zh-CN" altLang="en-US"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区块链类型：联盟链</a:t>
            </a:r>
            <a:endParaRPr lang="en-US" altLang="zh-CN"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endParaRPr>
          </a:p>
          <a:p>
            <a:pPr>
              <a:lnSpc>
                <a:spcPct val="150000"/>
              </a:lnSpc>
            </a:pPr>
            <a:r>
              <a:rPr lang="zh-CN" altLang="en-US"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主要功能：支持多种语言的灵活可编程“智能合约”，提供联盟内交易排序、排序、流程验证、支持虚机</a:t>
            </a:r>
            <a:r>
              <a:rPr lang="en-US" altLang="zh-CN"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/k8s</a:t>
            </a:r>
            <a:r>
              <a:rPr lang="zh-CN" altLang="en-US"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、云等各种部署</a:t>
            </a:r>
            <a:endParaRPr lang="zh-CN" altLang="en-US" sz="2933" dirty="0">
              <a:solidFill>
                <a:schemeClr val="accent5"/>
              </a:solidFill>
              <a:latin typeface="微软雅黑 Light" panose="020B0502040204020203" pitchFamily="34" charset="-122"/>
              <a:ea typeface="微软雅黑 Light" panose="020B0502040204020203" pitchFamily="34" charset="-122"/>
              <a:sym typeface="微软雅黑" panose="020B0503020204020204" charset="-122"/>
            </a:endParaRPr>
          </a:p>
        </p:txBody>
      </p:sp>
      <p:cxnSp>
        <p:nvCxnSpPr>
          <p:cNvPr id="38" name="Straight Connector 62"/>
          <p:cNvCxnSpPr/>
          <p:nvPr/>
        </p:nvCxnSpPr>
        <p:spPr>
          <a:xfrm>
            <a:off x="2069336" y="3593639"/>
            <a:ext cx="0" cy="293133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63"/>
          <p:cNvCxnSpPr/>
          <p:nvPr/>
        </p:nvCxnSpPr>
        <p:spPr>
          <a:xfrm>
            <a:off x="8184536" y="3593639"/>
            <a:ext cx="0" cy="293133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64"/>
          <p:cNvCxnSpPr/>
          <p:nvPr/>
        </p:nvCxnSpPr>
        <p:spPr>
          <a:xfrm>
            <a:off x="14295800" y="3593639"/>
            <a:ext cx="0" cy="293133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09903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1000"/>
                                        <p:tgtEl>
                                          <p:spTgt spid="11"/>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300"/>
                                        <p:tgtEl>
                                          <p:spTgt spid="9"/>
                                        </p:tgtEl>
                                      </p:cBhvr>
                                    </p:animEffect>
                                  </p:childTnLst>
                                </p:cTn>
                              </p:par>
                            </p:childTnLst>
                          </p:cTn>
                        </p:par>
                        <p:par>
                          <p:cTn id="12" fill="hold">
                            <p:stCondLst>
                              <p:cond delay="1500"/>
                            </p:stCondLst>
                            <p:childTnLst>
                              <p:par>
                                <p:cTn id="13" presetID="22" presetClass="entr" presetSubtype="4" fill="hold" nodeType="afterEffect">
                                  <p:stCondLst>
                                    <p:cond delay="0"/>
                                  </p:stCondLst>
                                  <p:childTnLst>
                                    <p:set>
                                      <p:cBhvr>
                                        <p:cTn id="14" dur="1" fill="hold">
                                          <p:stCondLst>
                                            <p:cond delay="0"/>
                                          </p:stCondLst>
                                        </p:cTn>
                                        <p:tgtEl>
                                          <p:spTgt spid="38"/>
                                        </p:tgtEl>
                                        <p:attrNameLst>
                                          <p:attrName>style.visibility</p:attrName>
                                        </p:attrNameLst>
                                      </p:cBhvr>
                                      <p:to>
                                        <p:strVal val="visible"/>
                                      </p:to>
                                    </p:set>
                                    <p:animEffect transition="in" filter="wipe(down)">
                                      <p:cBhvr>
                                        <p:cTn id="15" dur="500"/>
                                        <p:tgtEl>
                                          <p:spTgt spid="38"/>
                                        </p:tgtEl>
                                      </p:cBhvr>
                                    </p:animEffect>
                                  </p:childTnLst>
                                </p:cTn>
                              </p:par>
                            </p:childTnLst>
                          </p:cTn>
                        </p:par>
                        <p:par>
                          <p:cTn id="16" fill="hold">
                            <p:stCondLst>
                              <p:cond delay="2000"/>
                            </p:stCondLst>
                            <p:childTnLst>
                              <p:par>
                                <p:cTn id="17" presetID="22" presetClass="entr" presetSubtype="8" fill="hold" grpId="0" nodeType="after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wipe(left)">
                                      <p:cBhvr>
                                        <p:cTn id="19" dur="500"/>
                                        <p:tgtEl>
                                          <p:spTgt spid="35"/>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wipe(down)">
                                      <p:cBhvr>
                                        <p:cTn id="24" dur="300"/>
                                        <p:tgtEl>
                                          <p:spTgt spid="17"/>
                                        </p:tgtEl>
                                      </p:cBhvr>
                                    </p:animEffect>
                                  </p:childTnLst>
                                </p:cTn>
                              </p:par>
                            </p:childTnLst>
                          </p:cTn>
                        </p:par>
                        <p:par>
                          <p:cTn id="25" fill="hold">
                            <p:stCondLst>
                              <p:cond delay="300"/>
                            </p:stCondLst>
                            <p:childTnLst>
                              <p:par>
                                <p:cTn id="26" presetID="22" presetClass="entr" presetSubtype="4" fill="hold" nodeType="afterEffect">
                                  <p:stCondLst>
                                    <p:cond delay="0"/>
                                  </p:stCondLst>
                                  <p:childTnLst>
                                    <p:set>
                                      <p:cBhvr>
                                        <p:cTn id="27" dur="1" fill="hold">
                                          <p:stCondLst>
                                            <p:cond delay="0"/>
                                          </p:stCondLst>
                                        </p:cTn>
                                        <p:tgtEl>
                                          <p:spTgt spid="39"/>
                                        </p:tgtEl>
                                        <p:attrNameLst>
                                          <p:attrName>style.visibility</p:attrName>
                                        </p:attrNameLst>
                                      </p:cBhvr>
                                      <p:to>
                                        <p:strVal val="visible"/>
                                      </p:to>
                                    </p:set>
                                    <p:animEffect transition="in" filter="wipe(down)">
                                      <p:cBhvr>
                                        <p:cTn id="28" dur="500"/>
                                        <p:tgtEl>
                                          <p:spTgt spid="39"/>
                                        </p:tgtEl>
                                      </p:cBhvr>
                                    </p:animEffect>
                                  </p:childTnLst>
                                </p:cTn>
                              </p:par>
                            </p:childTnLst>
                          </p:cTn>
                        </p:par>
                        <p:par>
                          <p:cTn id="29" fill="hold">
                            <p:stCondLst>
                              <p:cond delay="800"/>
                            </p:stCondLst>
                            <p:childTnLst>
                              <p:par>
                                <p:cTn id="30" presetID="22" presetClass="entr" presetSubtype="8" fill="hold" grpId="0" nodeType="after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wipe(left)">
                                      <p:cBhvr>
                                        <p:cTn id="32" dur="500"/>
                                        <p:tgtEl>
                                          <p:spTgt spid="36"/>
                                        </p:tgtEl>
                                      </p:cBhvr>
                                    </p:animEffect>
                                  </p:childTnLst>
                                </p:cTn>
                              </p:par>
                            </p:childTnLst>
                          </p:cTn>
                        </p:par>
                        <p:par>
                          <p:cTn id="33" fill="hold">
                            <p:stCondLst>
                              <p:cond delay="1300"/>
                            </p:stCondLst>
                            <p:childTnLst>
                              <p:par>
                                <p:cTn id="34" presetID="22" presetClass="entr" presetSubtype="8" fill="hold" grpId="0" nodeType="after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wipe(left)">
                                      <p:cBhvr>
                                        <p:cTn id="36" dur="300"/>
                                        <p:tgtEl>
                                          <p:spTgt spid="6"/>
                                        </p:tgtEl>
                                      </p:cBhvr>
                                    </p:animEffect>
                                  </p:childTnLst>
                                </p:cTn>
                              </p:par>
                            </p:childTnLst>
                          </p:cTn>
                        </p:par>
                        <p:par>
                          <p:cTn id="37" fill="hold">
                            <p:stCondLst>
                              <p:cond delay="1600"/>
                            </p:stCondLst>
                            <p:childTnLst>
                              <p:par>
                                <p:cTn id="38" presetID="22" presetClass="entr" presetSubtype="4" fill="hold" nodeType="afterEffect">
                                  <p:stCondLst>
                                    <p:cond delay="0"/>
                                  </p:stCondLst>
                                  <p:childTnLst>
                                    <p:set>
                                      <p:cBhvr>
                                        <p:cTn id="39" dur="1" fill="hold">
                                          <p:stCondLst>
                                            <p:cond delay="0"/>
                                          </p:stCondLst>
                                        </p:cTn>
                                        <p:tgtEl>
                                          <p:spTgt spid="40"/>
                                        </p:tgtEl>
                                        <p:attrNameLst>
                                          <p:attrName>style.visibility</p:attrName>
                                        </p:attrNameLst>
                                      </p:cBhvr>
                                      <p:to>
                                        <p:strVal val="visible"/>
                                      </p:to>
                                    </p:set>
                                    <p:animEffect transition="in" filter="wipe(down)">
                                      <p:cBhvr>
                                        <p:cTn id="40" dur="500"/>
                                        <p:tgtEl>
                                          <p:spTgt spid="40"/>
                                        </p:tgtEl>
                                      </p:cBhvr>
                                    </p:animEffect>
                                  </p:childTnLst>
                                </p:cTn>
                              </p:par>
                            </p:childTnLst>
                          </p:cTn>
                        </p:par>
                        <p:par>
                          <p:cTn id="41" fill="hold">
                            <p:stCondLst>
                              <p:cond delay="2100"/>
                            </p:stCondLst>
                            <p:childTnLst>
                              <p:par>
                                <p:cTn id="42" presetID="22" presetClass="entr" presetSubtype="8" fill="hold" grpId="0" nodeType="afterEffect">
                                  <p:stCondLst>
                                    <p:cond delay="0"/>
                                  </p:stCondLst>
                                  <p:childTnLst>
                                    <p:set>
                                      <p:cBhvr>
                                        <p:cTn id="43" dur="1" fill="hold">
                                          <p:stCondLst>
                                            <p:cond delay="0"/>
                                          </p:stCondLst>
                                        </p:cTn>
                                        <p:tgtEl>
                                          <p:spTgt spid="37"/>
                                        </p:tgtEl>
                                        <p:attrNameLst>
                                          <p:attrName>style.visibility</p:attrName>
                                        </p:attrNameLst>
                                      </p:cBhvr>
                                      <p:to>
                                        <p:strVal val="visible"/>
                                      </p:to>
                                    </p:set>
                                    <p:animEffect transition="in" filter="wipe(left)">
                                      <p:cBhvr>
                                        <p:cTn id="44" dur="500"/>
                                        <p:tgtEl>
                                          <p:spTgt spid="37"/>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nodeType="clickEffect">
                                  <p:stCondLst>
                                    <p:cond delay="0"/>
                                  </p:stCondLst>
                                  <p:childTnLst>
                                    <p:set>
                                      <p:cBhvr>
                                        <p:cTn id="48" dur="1" fill="hold">
                                          <p:stCondLst>
                                            <p:cond delay="0"/>
                                          </p:stCondLst>
                                        </p:cTn>
                                        <p:tgtEl>
                                          <p:spTgt spid="26"/>
                                        </p:tgtEl>
                                        <p:attrNameLst>
                                          <p:attrName>style.visibility</p:attrName>
                                        </p:attrNameLst>
                                      </p:cBhvr>
                                      <p:to>
                                        <p:strVal val="visible"/>
                                      </p:to>
                                    </p:set>
                                    <p:animEffect transition="in" filter="wipe(down)">
                                      <p:cBhvr>
                                        <p:cTn id="49" dur="300"/>
                                        <p:tgtEl>
                                          <p:spTgt spid="26"/>
                                        </p:tgtEl>
                                      </p:cBhvr>
                                    </p:animEffect>
                                  </p:childTnLst>
                                </p:cTn>
                              </p:par>
                            </p:childTnLst>
                          </p:cTn>
                        </p:par>
                        <p:par>
                          <p:cTn id="50" fill="hold">
                            <p:stCondLst>
                              <p:cond delay="500"/>
                            </p:stCondLst>
                            <p:childTnLst>
                              <p:par>
                                <p:cTn id="51" presetID="22" presetClass="entr" presetSubtype="8" fill="hold" grpId="0" nodeType="afterEffect">
                                  <p:stCondLst>
                                    <p:cond delay="0"/>
                                  </p:stCondLst>
                                  <p:childTnLst>
                                    <p:set>
                                      <p:cBhvr>
                                        <p:cTn id="52" dur="1" fill="hold">
                                          <p:stCondLst>
                                            <p:cond delay="0"/>
                                          </p:stCondLst>
                                        </p:cTn>
                                        <p:tgtEl>
                                          <p:spTgt spid="4"/>
                                        </p:tgtEl>
                                        <p:attrNameLst>
                                          <p:attrName>style.visibility</p:attrName>
                                        </p:attrNameLst>
                                      </p:cBhvr>
                                      <p:to>
                                        <p:strVal val="visible"/>
                                      </p:to>
                                    </p:set>
                                    <p:animEffect transition="in" filter="wipe(left)">
                                      <p:cBhvr>
                                        <p:cTn id="53" dur="300"/>
                                        <p:tgtEl>
                                          <p:spTgt spid="4"/>
                                        </p:tgtEl>
                                      </p:cBhvr>
                                    </p:animEffect>
                                  </p:childTnLst>
                                </p:cTn>
                              </p:par>
                            </p:childTnLst>
                          </p:cTn>
                        </p:par>
                        <p:par>
                          <p:cTn id="54" fill="hold">
                            <p:stCondLst>
                              <p:cond delay="800"/>
                            </p:stCondLst>
                            <p:childTnLst>
                              <p:par>
                                <p:cTn id="55" presetID="22" presetClass="entr" presetSubtype="8" fill="hold" grpId="0" nodeType="afterEffect">
                                  <p:stCondLst>
                                    <p:cond delay="0"/>
                                  </p:stCondLst>
                                  <p:childTnLst>
                                    <p:set>
                                      <p:cBhvr>
                                        <p:cTn id="56" dur="1" fill="hold">
                                          <p:stCondLst>
                                            <p:cond delay="0"/>
                                          </p:stCondLst>
                                        </p:cTn>
                                        <p:tgtEl>
                                          <p:spTgt spid="10"/>
                                        </p:tgtEl>
                                        <p:attrNameLst>
                                          <p:attrName>style.visibility</p:attrName>
                                        </p:attrNameLst>
                                      </p:cBhvr>
                                      <p:to>
                                        <p:strVal val="visible"/>
                                      </p:to>
                                    </p:set>
                                    <p:animEffect transition="in" filter="wipe(left)">
                                      <p:cBhvr>
                                        <p:cTn id="57" dur="3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6" grpId="0" bldLvl="0" animBg="1"/>
      <p:bldP spid="9" grpId="0" bldLvl="0" animBg="1"/>
      <p:bldP spid="10" grpId="0" bldLvl="0" animBg="1"/>
      <p:bldP spid="35" grpId="0"/>
      <p:bldP spid="36" grpId="0"/>
      <p:bldP spid="3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p:cNvSpPr txBox="1"/>
          <p:nvPr/>
        </p:nvSpPr>
        <p:spPr>
          <a:xfrm>
            <a:off x="1732425" y="2195583"/>
            <a:ext cx="10920200" cy="1011939"/>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4800" b="1" dirty="0">
                <a:solidFill>
                  <a:schemeClr val="tx1">
                    <a:lumMod val="75000"/>
                    <a:lumOff val="25000"/>
                  </a:schemeClr>
                </a:solidFill>
                <a:latin typeface="微软雅黑" panose="020B0503020204020204" charset="-122"/>
                <a:ea typeface="微软雅黑" panose="020B0503020204020204" charset="-122"/>
                <a:cs typeface="+mn-ea"/>
              </a:rPr>
              <a:t>可追溯、不可篡改、分散式、多方共识</a:t>
            </a:r>
            <a:endParaRPr lang="en-US" altLang="zh-CN" sz="4800" b="1" dirty="0">
              <a:solidFill>
                <a:schemeClr val="tx1">
                  <a:lumMod val="75000"/>
                  <a:lumOff val="25000"/>
                </a:schemeClr>
              </a:solidFill>
              <a:latin typeface="微软雅黑" panose="020B0503020204020204" charset="-122"/>
              <a:ea typeface="微软雅黑" panose="020B0503020204020204" charset="-122"/>
              <a:cs typeface="+mn-ea"/>
            </a:endParaRPr>
          </a:p>
        </p:txBody>
      </p:sp>
      <p:grpSp>
        <p:nvGrpSpPr>
          <p:cNvPr id="33" name="组合 32"/>
          <p:cNvGrpSpPr/>
          <p:nvPr/>
        </p:nvGrpSpPr>
        <p:grpSpPr>
          <a:xfrm>
            <a:off x="7799512" y="3633480"/>
            <a:ext cx="8784976" cy="8784976"/>
            <a:chOff x="3899756" y="1232756"/>
            <a:chExt cx="4392488" cy="4392488"/>
          </a:xfrm>
        </p:grpSpPr>
        <p:grpSp>
          <p:nvGrpSpPr>
            <p:cNvPr id="34" name="组合 33"/>
            <p:cNvGrpSpPr/>
            <p:nvPr/>
          </p:nvGrpSpPr>
          <p:grpSpPr>
            <a:xfrm>
              <a:off x="4631098" y="2243650"/>
              <a:ext cx="2929803" cy="2929803"/>
              <a:chOff x="3724300" y="1840235"/>
              <a:chExt cx="3847864" cy="3847864"/>
            </a:xfrm>
          </p:grpSpPr>
          <p:sp>
            <p:nvSpPr>
              <p:cNvPr id="44" name="任意多边形: 形状 26"/>
              <p:cNvSpPr/>
              <p:nvPr/>
            </p:nvSpPr>
            <p:spPr bwMode="auto">
              <a:xfrm>
                <a:off x="3724300" y="2003548"/>
                <a:ext cx="3847864" cy="1354983"/>
              </a:xfrm>
              <a:custGeom>
                <a:avLst/>
                <a:gdLst>
                  <a:gd name="connsiteX0" fmla="*/ 576064 w 3271800"/>
                  <a:gd name="connsiteY0" fmla="*/ 0 h 1152128"/>
                  <a:gd name="connsiteX1" fmla="*/ 983402 w 3271800"/>
                  <a:gd name="connsiteY1" fmla="*/ 168726 h 1152128"/>
                  <a:gd name="connsiteX2" fmla="*/ 990533 w 3271800"/>
                  <a:gd name="connsiteY2" fmla="*/ 177368 h 1152128"/>
                  <a:gd name="connsiteX3" fmla="*/ 1031995 w 3271800"/>
                  <a:gd name="connsiteY3" fmla="*/ 211577 h 1152128"/>
                  <a:gd name="connsiteX4" fmla="*/ 1635900 w 3271800"/>
                  <a:gd name="connsiteY4" fmla="*/ 396044 h 1152128"/>
                  <a:gd name="connsiteX5" fmla="*/ 2239806 w 3271800"/>
                  <a:gd name="connsiteY5" fmla="*/ 211577 h 1152128"/>
                  <a:gd name="connsiteX6" fmla="*/ 2281266 w 3271800"/>
                  <a:gd name="connsiteY6" fmla="*/ 177369 h 1152128"/>
                  <a:gd name="connsiteX7" fmla="*/ 2288398 w 3271800"/>
                  <a:gd name="connsiteY7" fmla="*/ 168726 h 1152128"/>
                  <a:gd name="connsiteX8" fmla="*/ 2695736 w 3271800"/>
                  <a:gd name="connsiteY8" fmla="*/ 0 h 1152128"/>
                  <a:gd name="connsiteX9" fmla="*/ 3271800 w 3271800"/>
                  <a:gd name="connsiteY9" fmla="*/ 576064 h 1152128"/>
                  <a:gd name="connsiteX10" fmla="*/ 2695736 w 3271800"/>
                  <a:gd name="connsiteY10" fmla="*/ 1152128 h 1152128"/>
                  <a:gd name="connsiteX11" fmla="*/ 2288398 w 3271800"/>
                  <a:gd name="connsiteY11" fmla="*/ 983403 h 1152128"/>
                  <a:gd name="connsiteX12" fmla="*/ 2281267 w 3271800"/>
                  <a:gd name="connsiteY12" fmla="*/ 974760 h 1152128"/>
                  <a:gd name="connsiteX13" fmla="*/ 2239806 w 3271800"/>
                  <a:gd name="connsiteY13" fmla="*/ 940552 h 1152128"/>
                  <a:gd name="connsiteX14" fmla="*/ 1635900 w 3271800"/>
                  <a:gd name="connsiteY14" fmla="*/ 756084 h 1152128"/>
                  <a:gd name="connsiteX15" fmla="*/ 1031995 w 3271800"/>
                  <a:gd name="connsiteY15" fmla="*/ 940552 h 1152128"/>
                  <a:gd name="connsiteX16" fmla="*/ 990533 w 3271800"/>
                  <a:gd name="connsiteY16" fmla="*/ 974761 h 1152128"/>
                  <a:gd name="connsiteX17" fmla="*/ 983402 w 3271800"/>
                  <a:gd name="connsiteY17" fmla="*/ 983403 h 1152128"/>
                  <a:gd name="connsiteX18" fmla="*/ 576064 w 3271800"/>
                  <a:gd name="connsiteY18" fmla="*/ 1152128 h 1152128"/>
                  <a:gd name="connsiteX19" fmla="*/ 0 w 3271800"/>
                  <a:gd name="connsiteY19" fmla="*/ 576064 h 1152128"/>
                  <a:gd name="connsiteX20" fmla="*/ 576064 w 3271800"/>
                  <a:gd name="connsiteY20" fmla="*/ 0 h 1152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271800" h="1152128">
                    <a:moveTo>
                      <a:pt x="576064" y="0"/>
                    </a:moveTo>
                    <a:cubicBezTo>
                      <a:pt x="735139" y="0"/>
                      <a:pt x="879155" y="64478"/>
                      <a:pt x="983402" y="168726"/>
                    </a:cubicBezTo>
                    <a:lnTo>
                      <a:pt x="990533" y="177368"/>
                    </a:lnTo>
                    <a:lnTo>
                      <a:pt x="1031995" y="211577"/>
                    </a:lnTo>
                    <a:cubicBezTo>
                      <a:pt x="1204383" y="328040"/>
                      <a:pt x="1412200" y="396044"/>
                      <a:pt x="1635900" y="396044"/>
                    </a:cubicBezTo>
                    <a:cubicBezTo>
                      <a:pt x="1859601" y="396044"/>
                      <a:pt x="2067417" y="328040"/>
                      <a:pt x="2239806" y="211577"/>
                    </a:cubicBezTo>
                    <a:lnTo>
                      <a:pt x="2281266" y="177369"/>
                    </a:lnTo>
                    <a:lnTo>
                      <a:pt x="2288398" y="168726"/>
                    </a:lnTo>
                    <a:cubicBezTo>
                      <a:pt x="2392645" y="64478"/>
                      <a:pt x="2536661" y="0"/>
                      <a:pt x="2695736" y="0"/>
                    </a:cubicBezTo>
                    <a:cubicBezTo>
                      <a:pt x="3013887" y="0"/>
                      <a:pt x="3271800" y="257913"/>
                      <a:pt x="3271800" y="576064"/>
                    </a:cubicBezTo>
                    <a:cubicBezTo>
                      <a:pt x="3271800" y="894215"/>
                      <a:pt x="3013887" y="1152128"/>
                      <a:pt x="2695736" y="1152128"/>
                    </a:cubicBezTo>
                    <a:cubicBezTo>
                      <a:pt x="2536661" y="1152128"/>
                      <a:pt x="2392645" y="1087650"/>
                      <a:pt x="2288398" y="983403"/>
                    </a:cubicBezTo>
                    <a:lnTo>
                      <a:pt x="2281267" y="974760"/>
                    </a:lnTo>
                    <a:lnTo>
                      <a:pt x="2239806" y="940552"/>
                    </a:lnTo>
                    <a:cubicBezTo>
                      <a:pt x="2067417" y="824088"/>
                      <a:pt x="1859601" y="756084"/>
                      <a:pt x="1635900" y="756084"/>
                    </a:cubicBezTo>
                    <a:cubicBezTo>
                      <a:pt x="1412200" y="756084"/>
                      <a:pt x="1204383" y="824088"/>
                      <a:pt x="1031995" y="940552"/>
                    </a:cubicBezTo>
                    <a:lnTo>
                      <a:pt x="990533" y="974761"/>
                    </a:lnTo>
                    <a:lnTo>
                      <a:pt x="983402" y="983403"/>
                    </a:lnTo>
                    <a:cubicBezTo>
                      <a:pt x="879155" y="1087650"/>
                      <a:pt x="735139" y="1152128"/>
                      <a:pt x="576064" y="1152128"/>
                    </a:cubicBezTo>
                    <a:cubicBezTo>
                      <a:pt x="257913" y="1152128"/>
                      <a:pt x="0" y="894215"/>
                      <a:pt x="0" y="576064"/>
                    </a:cubicBezTo>
                    <a:cubicBezTo>
                      <a:pt x="0" y="257913"/>
                      <a:pt x="257913" y="0"/>
                      <a:pt x="576064" y="0"/>
                    </a:cubicBezTo>
                    <a:close/>
                  </a:path>
                </a:pathLst>
              </a:custGeom>
              <a:solidFill>
                <a:schemeClr val="accent1"/>
              </a:solidFill>
              <a:ln w="19050">
                <a:noFill/>
                <a:round/>
              </a:ln>
            </p:spPr>
            <p:txBody>
              <a:bodyPr anchor="ctr"/>
              <a:lstStyle/>
              <a:p>
                <a:pPr algn="ctr"/>
                <a:endParaRPr sz="8533">
                  <a:cs typeface="+mn-ea"/>
                  <a:sym typeface="+mn-lt"/>
                </a:endParaRPr>
              </a:p>
            </p:txBody>
          </p:sp>
          <p:sp>
            <p:nvSpPr>
              <p:cNvPr id="45" name="任意多边形: 形状 27"/>
              <p:cNvSpPr/>
              <p:nvPr/>
            </p:nvSpPr>
            <p:spPr bwMode="auto">
              <a:xfrm rot="7200000">
                <a:off x="4340371" y="3086675"/>
                <a:ext cx="3847864" cy="1354983"/>
              </a:xfrm>
              <a:custGeom>
                <a:avLst/>
                <a:gdLst>
                  <a:gd name="connsiteX0" fmla="*/ 576064 w 3271800"/>
                  <a:gd name="connsiteY0" fmla="*/ 0 h 1152128"/>
                  <a:gd name="connsiteX1" fmla="*/ 983402 w 3271800"/>
                  <a:gd name="connsiteY1" fmla="*/ 168726 h 1152128"/>
                  <a:gd name="connsiteX2" fmla="*/ 990533 w 3271800"/>
                  <a:gd name="connsiteY2" fmla="*/ 177368 h 1152128"/>
                  <a:gd name="connsiteX3" fmla="*/ 1031995 w 3271800"/>
                  <a:gd name="connsiteY3" fmla="*/ 211577 h 1152128"/>
                  <a:gd name="connsiteX4" fmla="*/ 1635900 w 3271800"/>
                  <a:gd name="connsiteY4" fmla="*/ 396044 h 1152128"/>
                  <a:gd name="connsiteX5" fmla="*/ 2239806 w 3271800"/>
                  <a:gd name="connsiteY5" fmla="*/ 211577 h 1152128"/>
                  <a:gd name="connsiteX6" fmla="*/ 2281266 w 3271800"/>
                  <a:gd name="connsiteY6" fmla="*/ 177369 h 1152128"/>
                  <a:gd name="connsiteX7" fmla="*/ 2288398 w 3271800"/>
                  <a:gd name="connsiteY7" fmla="*/ 168726 h 1152128"/>
                  <a:gd name="connsiteX8" fmla="*/ 2695736 w 3271800"/>
                  <a:gd name="connsiteY8" fmla="*/ 0 h 1152128"/>
                  <a:gd name="connsiteX9" fmla="*/ 3271800 w 3271800"/>
                  <a:gd name="connsiteY9" fmla="*/ 576064 h 1152128"/>
                  <a:gd name="connsiteX10" fmla="*/ 2695736 w 3271800"/>
                  <a:gd name="connsiteY10" fmla="*/ 1152128 h 1152128"/>
                  <a:gd name="connsiteX11" fmla="*/ 2288398 w 3271800"/>
                  <a:gd name="connsiteY11" fmla="*/ 983403 h 1152128"/>
                  <a:gd name="connsiteX12" fmla="*/ 2281267 w 3271800"/>
                  <a:gd name="connsiteY12" fmla="*/ 974760 h 1152128"/>
                  <a:gd name="connsiteX13" fmla="*/ 2239806 w 3271800"/>
                  <a:gd name="connsiteY13" fmla="*/ 940552 h 1152128"/>
                  <a:gd name="connsiteX14" fmla="*/ 1635900 w 3271800"/>
                  <a:gd name="connsiteY14" fmla="*/ 756084 h 1152128"/>
                  <a:gd name="connsiteX15" fmla="*/ 1031995 w 3271800"/>
                  <a:gd name="connsiteY15" fmla="*/ 940552 h 1152128"/>
                  <a:gd name="connsiteX16" fmla="*/ 990533 w 3271800"/>
                  <a:gd name="connsiteY16" fmla="*/ 974761 h 1152128"/>
                  <a:gd name="connsiteX17" fmla="*/ 983402 w 3271800"/>
                  <a:gd name="connsiteY17" fmla="*/ 983403 h 1152128"/>
                  <a:gd name="connsiteX18" fmla="*/ 576064 w 3271800"/>
                  <a:gd name="connsiteY18" fmla="*/ 1152128 h 1152128"/>
                  <a:gd name="connsiteX19" fmla="*/ 0 w 3271800"/>
                  <a:gd name="connsiteY19" fmla="*/ 576064 h 1152128"/>
                  <a:gd name="connsiteX20" fmla="*/ 576064 w 3271800"/>
                  <a:gd name="connsiteY20" fmla="*/ 0 h 1152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271800" h="1152128">
                    <a:moveTo>
                      <a:pt x="576064" y="0"/>
                    </a:moveTo>
                    <a:cubicBezTo>
                      <a:pt x="735139" y="0"/>
                      <a:pt x="879155" y="64478"/>
                      <a:pt x="983402" y="168726"/>
                    </a:cubicBezTo>
                    <a:lnTo>
                      <a:pt x="990533" y="177368"/>
                    </a:lnTo>
                    <a:lnTo>
                      <a:pt x="1031995" y="211577"/>
                    </a:lnTo>
                    <a:cubicBezTo>
                      <a:pt x="1204383" y="328040"/>
                      <a:pt x="1412200" y="396044"/>
                      <a:pt x="1635900" y="396044"/>
                    </a:cubicBezTo>
                    <a:cubicBezTo>
                      <a:pt x="1859601" y="396044"/>
                      <a:pt x="2067417" y="328040"/>
                      <a:pt x="2239806" y="211577"/>
                    </a:cubicBezTo>
                    <a:lnTo>
                      <a:pt x="2281266" y="177369"/>
                    </a:lnTo>
                    <a:lnTo>
                      <a:pt x="2288398" y="168726"/>
                    </a:lnTo>
                    <a:cubicBezTo>
                      <a:pt x="2392645" y="64478"/>
                      <a:pt x="2536661" y="0"/>
                      <a:pt x="2695736" y="0"/>
                    </a:cubicBezTo>
                    <a:cubicBezTo>
                      <a:pt x="3013887" y="0"/>
                      <a:pt x="3271800" y="257913"/>
                      <a:pt x="3271800" y="576064"/>
                    </a:cubicBezTo>
                    <a:cubicBezTo>
                      <a:pt x="3271800" y="894215"/>
                      <a:pt x="3013887" y="1152128"/>
                      <a:pt x="2695736" y="1152128"/>
                    </a:cubicBezTo>
                    <a:cubicBezTo>
                      <a:pt x="2536661" y="1152128"/>
                      <a:pt x="2392645" y="1087650"/>
                      <a:pt x="2288398" y="983403"/>
                    </a:cubicBezTo>
                    <a:lnTo>
                      <a:pt x="2281267" y="974760"/>
                    </a:lnTo>
                    <a:lnTo>
                      <a:pt x="2239806" y="940552"/>
                    </a:lnTo>
                    <a:cubicBezTo>
                      <a:pt x="2067417" y="824088"/>
                      <a:pt x="1859601" y="756084"/>
                      <a:pt x="1635900" y="756084"/>
                    </a:cubicBezTo>
                    <a:cubicBezTo>
                      <a:pt x="1412200" y="756084"/>
                      <a:pt x="1204383" y="824088"/>
                      <a:pt x="1031995" y="940552"/>
                    </a:cubicBezTo>
                    <a:lnTo>
                      <a:pt x="990533" y="974761"/>
                    </a:lnTo>
                    <a:lnTo>
                      <a:pt x="983402" y="983403"/>
                    </a:lnTo>
                    <a:cubicBezTo>
                      <a:pt x="879155" y="1087650"/>
                      <a:pt x="735139" y="1152128"/>
                      <a:pt x="576064" y="1152128"/>
                    </a:cubicBezTo>
                    <a:cubicBezTo>
                      <a:pt x="257913" y="1152128"/>
                      <a:pt x="0" y="894215"/>
                      <a:pt x="0" y="576064"/>
                    </a:cubicBezTo>
                    <a:cubicBezTo>
                      <a:pt x="0" y="257913"/>
                      <a:pt x="257913" y="0"/>
                      <a:pt x="576064" y="0"/>
                    </a:cubicBezTo>
                    <a:close/>
                  </a:path>
                </a:pathLst>
              </a:custGeom>
              <a:solidFill>
                <a:schemeClr val="accent4"/>
              </a:solidFill>
              <a:ln w="19050">
                <a:solidFill>
                  <a:schemeClr val="bg1"/>
                </a:solidFill>
                <a:round/>
              </a:ln>
            </p:spPr>
            <p:txBody>
              <a:bodyPr anchor="ctr"/>
              <a:lstStyle/>
              <a:p>
                <a:pPr algn="ctr"/>
                <a:endParaRPr sz="8533">
                  <a:cs typeface="+mn-ea"/>
                  <a:sym typeface="+mn-lt"/>
                </a:endParaRPr>
              </a:p>
            </p:txBody>
          </p:sp>
          <p:sp>
            <p:nvSpPr>
              <p:cNvPr id="46" name="任意多边形: 形状 28"/>
              <p:cNvSpPr/>
              <p:nvPr/>
            </p:nvSpPr>
            <p:spPr bwMode="auto">
              <a:xfrm rot="14400000">
                <a:off x="3100894" y="3086675"/>
                <a:ext cx="3847864" cy="1354983"/>
              </a:xfrm>
              <a:custGeom>
                <a:avLst/>
                <a:gdLst>
                  <a:gd name="connsiteX0" fmla="*/ 576064 w 3271800"/>
                  <a:gd name="connsiteY0" fmla="*/ 0 h 1152128"/>
                  <a:gd name="connsiteX1" fmla="*/ 983402 w 3271800"/>
                  <a:gd name="connsiteY1" fmla="*/ 168726 h 1152128"/>
                  <a:gd name="connsiteX2" fmla="*/ 990533 w 3271800"/>
                  <a:gd name="connsiteY2" fmla="*/ 177368 h 1152128"/>
                  <a:gd name="connsiteX3" fmla="*/ 1031995 w 3271800"/>
                  <a:gd name="connsiteY3" fmla="*/ 211577 h 1152128"/>
                  <a:gd name="connsiteX4" fmla="*/ 1635900 w 3271800"/>
                  <a:gd name="connsiteY4" fmla="*/ 396044 h 1152128"/>
                  <a:gd name="connsiteX5" fmla="*/ 2239806 w 3271800"/>
                  <a:gd name="connsiteY5" fmla="*/ 211577 h 1152128"/>
                  <a:gd name="connsiteX6" fmla="*/ 2281266 w 3271800"/>
                  <a:gd name="connsiteY6" fmla="*/ 177369 h 1152128"/>
                  <a:gd name="connsiteX7" fmla="*/ 2288398 w 3271800"/>
                  <a:gd name="connsiteY7" fmla="*/ 168726 h 1152128"/>
                  <a:gd name="connsiteX8" fmla="*/ 2695736 w 3271800"/>
                  <a:gd name="connsiteY8" fmla="*/ 0 h 1152128"/>
                  <a:gd name="connsiteX9" fmla="*/ 3271800 w 3271800"/>
                  <a:gd name="connsiteY9" fmla="*/ 576064 h 1152128"/>
                  <a:gd name="connsiteX10" fmla="*/ 2695736 w 3271800"/>
                  <a:gd name="connsiteY10" fmla="*/ 1152128 h 1152128"/>
                  <a:gd name="connsiteX11" fmla="*/ 2288398 w 3271800"/>
                  <a:gd name="connsiteY11" fmla="*/ 983403 h 1152128"/>
                  <a:gd name="connsiteX12" fmla="*/ 2281267 w 3271800"/>
                  <a:gd name="connsiteY12" fmla="*/ 974760 h 1152128"/>
                  <a:gd name="connsiteX13" fmla="*/ 2239806 w 3271800"/>
                  <a:gd name="connsiteY13" fmla="*/ 940552 h 1152128"/>
                  <a:gd name="connsiteX14" fmla="*/ 1635900 w 3271800"/>
                  <a:gd name="connsiteY14" fmla="*/ 756084 h 1152128"/>
                  <a:gd name="connsiteX15" fmla="*/ 1031995 w 3271800"/>
                  <a:gd name="connsiteY15" fmla="*/ 940552 h 1152128"/>
                  <a:gd name="connsiteX16" fmla="*/ 990533 w 3271800"/>
                  <a:gd name="connsiteY16" fmla="*/ 974761 h 1152128"/>
                  <a:gd name="connsiteX17" fmla="*/ 983402 w 3271800"/>
                  <a:gd name="connsiteY17" fmla="*/ 983403 h 1152128"/>
                  <a:gd name="connsiteX18" fmla="*/ 576064 w 3271800"/>
                  <a:gd name="connsiteY18" fmla="*/ 1152128 h 1152128"/>
                  <a:gd name="connsiteX19" fmla="*/ 0 w 3271800"/>
                  <a:gd name="connsiteY19" fmla="*/ 576064 h 1152128"/>
                  <a:gd name="connsiteX20" fmla="*/ 576064 w 3271800"/>
                  <a:gd name="connsiteY20" fmla="*/ 0 h 1152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271800" h="1152128">
                    <a:moveTo>
                      <a:pt x="576064" y="0"/>
                    </a:moveTo>
                    <a:cubicBezTo>
                      <a:pt x="735139" y="0"/>
                      <a:pt x="879155" y="64478"/>
                      <a:pt x="983402" y="168726"/>
                    </a:cubicBezTo>
                    <a:lnTo>
                      <a:pt x="990533" y="177368"/>
                    </a:lnTo>
                    <a:lnTo>
                      <a:pt x="1031995" y="211577"/>
                    </a:lnTo>
                    <a:cubicBezTo>
                      <a:pt x="1204383" y="328040"/>
                      <a:pt x="1412200" y="396044"/>
                      <a:pt x="1635900" y="396044"/>
                    </a:cubicBezTo>
                    <a:cubicBezTo>
                      <a:pt x="1859601" y="396044"/>
                      <a:pt x="2067417" y="328040"/>
                      <a:pt x="2239806" y="211577"/>
                    </a:cubicBezTo>
                    <a:lnTo>
                      <a:pt x="2281266" y="177369"/>
                    </a:lnTo>
                    <a:lnTo>
                      <a:pt x="2288398" y="168726"/>
                    </a:lnTo>
                    <a:cubicBezTo>
                      <a:pt x="2392645" y="64478"/>
                      <a:pt x="2536661" y="0"/>
                      <a:pt x="2695736" y="0"/>
                    </a:cubicBezTo>
                    <a:cubicBezTo>
                      <a:pt x="3013887" y="0"/>
                      <a:pt x="3271800" y="257913"/>
                      <a:pt x="3271800" y="576064"/>
                    </a:cubicBezTo>
                    <a:cubicBezTo>
                      <a:pt x="3271800" y="894215"/>
                      <a:pt x="3013887" y="1152128"/>
                      <a:pt x="2695736" y="1152128"/>
                    </a:cubicBezTo>
                    <a:cubicBezTo>
                      <a:pt x="2536661" y="1152128"/>
                      <a:pt x="2392645" y="1087650"/>
                      <a:pt x="2288398" y="983403"/>
                    </a:cubicBezTo>
                    <a:lnTo>
                      <a:pt x="2281267" y="974760"/>
                    </a:lnTo>
                    <a:lnTo>
                      <a:pt x="2239806" y="940552"/>
                    </a:lnTo>
                    <a:cubicBezTo>
                      <a:pt x="2067417" y="824088"/>
                      <a:pt x="1859601" y="756084"/>
                      <a:pt x="1635900" y="756084"/>
                    </a:cubicBezTo>
                    <a:cubicBezTo>
                      <a:pt x="1412200" y="756084"/>
                      <a:pt x="1204383" y="824088"/>
                      <a:pt x="1031995" y="940552"/>
                    </a:cubicBezTo>
                    <a:lnTo>
                      <a:pt x="990533" y="974761"/>
                    </a:lnTo>
                    <a:lnTo>
                      <a:pt x="983402" y="983403"/>
                    </a:lnTo>
                    <a:cubicBezTo>
                      <a:pt x="879155" y="1087650"/>
                      <a:pt x="735139" y="1152128"/>
                      <a:pt x="576064" y="1152128"/>
                    </a:cubicBezTo>
                    <a:cubicBezTo>
                      <a:pt x="257913" y="1152128"/>
                      <a:pt x="0" y="894215"/>
                      <a:pt x="0" y="576064"/>
                    </a:cubicBezTo>
                    <a:cubicBezTo>
                      <a:pt x="0" y="257913"/>
                      <a:pt x="257913" y="0"/>
                      <a:pt x="576064" y="0"/>
                    </a:cubicBezTo>
                    <a:close/>
                  </a:path>
                </a:pathLst>
              </a:custGeom>
              <a:solidFill>
                <a:schemeClr val="accent5"/>
              </a:solidFill>
              <a:ln w="19050">
                <a:solidFill>
                  <a:schemeClr val="bg1"/>
                </a:solidFill>
                <a:round/>
              </a:ln>
            </p:spPr>
            <p:txBody>
              <a:bodyPr anchor="ctr"/>
              <a:lstStyle/>
              <a:p>
                <a:pPr algn="ctr"/>
                <a:endParaRPr sz="8533">
                  <a:cs typeface="+mn-ea"/>
                  <a:sym typeface="+mn-lt"/>
                </a:endParaRPr>
              </a:p>
            </p:txBody>
          </p:sp>
          <p:sp>
            <p:nvSpPr>
              <p:cNvPr id="47" name="任意多边形: 形状 29"/>
              <p:cNvSpPr/>
              <p:nvPr/>
            </p:nvSpPr>
            <p:spPr bwMode="auto">
              <a:xfrm>
                <a:off x="3724300" y="2003548"/>
                <a:ext cx="1911333" cy="1354983"/>
              </a:xfrm>
              <a:custGeom>
                <a:avLst/>
                <a:gdLst>
                  <a:gd name="connsiteX0" fmla="*/ 740195 w 2088232"/>
                  <a:gd name="connsiteY0" fmla="*/ 0 h 1480390"/>
                  <a:gd name="connsiteX1" fmla="*/ 1263591 w 2088232"/>
                  <a:gd name="connsiteY1" fmla="*/ 216799 h 1480390"/>
                  <a:gd name="connsiteX2" fmla="*/ 1272754 w 2088232"/>
                  <a:gd name="connsiteY2" fmla="*/ 227903 h 1480390"/>
                  <a:gd name="connsiteX3" fmla="*/ 1326029 w 2088232"/>
                  <a:gd name="connsiteY3" fmla="*/ 271859 h 1480390"/>
                  <a:gd name="connsiteX4" fmla="*/ 1995214 w 2088232"/>
                  <a:gd name="connsiteY4" fmla="*/ 504837 h 1480390"/>
                  <a:gd name="connsiteX5" fmla="*/ 2088232 w 2088232"/>
                  <a:gd name="connsiteY5" fmla="*/ 508362 h 1480390"/>
                  <a:gd name="connsiteX6" fmla="*/ 2088232 w 2088232"/>
                  <a:gd name="connsiteY6" fmla="*/ 972028 h 1480390"/>
                  <a:gd name="connsiteX7" fmla="*/ 1995214 w 2088232"/>
                  <a:gd name="connsiteY7" fmla="*/ 975553 h 1480390"/>
                  <a:gd name="connsiteX8" fmla="*/ 1326029 w 2088232"/>
                  <a:gd name="connsiteY8" fmla="*/ 1208532 h 1480390"/>
                  <a:gd name="connsiteX9" fmla="*/ 1272754 w 2088232"/>
                  <a:gd name="connsiteY9" fmla="*/ 1252488 h 1480390"/>
                  <a:gd name="connsiteX10" fmla="*/ 1263591 w 2088232"/>
                  <a:gd name="connsiteY10" fmla="*/ 1263592 h 1480390"/>
                  <a:gd name="connsiteX11" fmla="*/ 740195 w 2088232"/>
                  <a:gd name="connsiteY11" fmla="*/ 1480390 h 1480390"/>
                  <a:gd name="connsiteX12" fmla="*/ 0 w 2088232"/>
                  <a:gd name="connsiteY12" fmla="*/ 740195 h 1480390"/>
                  <a:gd name="connsiteX13" fmla="*/ 740195 w 2088232"/>
                  <a:gd name="connsiteY13" fmla="*/ 0 h 1480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88232" h="1480390">
                    <a:moveTo>
                      <a:pt x="740195" y="0"/>
                    </a:moveTo>
                    <a:cubicBezTo>
                      <a:pt x="944593" y="0"/>
                      <a:pt x="1129642" y="82849"/>
                      <a:pt x="1263591" y="216799"/>
                    </a:cubicBezTo>
                    <a:lnTo>
                      <a:pt x="1272754" y="227903"/>
                    </a:lnTo>
                    <a:lnTo>
                      <a:pt x="1326029" y="271859"/>
                    </a:lnTo>
                    <a:cubicBezTo>
                      <a:pt x="1519845" y="402799"/>
                      <a:pt x="1748515" y="486066"/>
                      <a:pt x="1995214" y="504837"/>
                    </a:cubicBezTo>
                    <a:lnTo>
                      <a:pt x="2088232" y="508362"/>
                    </a:lnTo>
                    <a:lnTo>
                      <a:pt x="2088232" y="972028"/>
                    </a:lnTo>
                    <a:lnTo>
                      <a:pt x="1995214" y="975553"/>
                    </a:lnTo>
                    <a:cubicBezTo>
                      <a:pt x="1748515" y="994324"/>
                      <a:pt x="1519845" y="1077592"/>
                      <a:pt x="1326029" y="1208532"/>
                    </a:cubicBezTo>
                    <a:lnTo>
                      <a:pt x="1272754" y="1252488"/>
                    </a:lnTo>
                    <a:lnTo>
                      <a:pt x="1263591" y="1263592"/>
                    </a:lnTo>
                    <a:cubicBezTo>
                      <a:pt x="1129642" y="1397541"/>
                      <a:pt x="944593" y="1480390"/>
                      <a:pt x="740195" y="1480390"/>
                    </a:cubicBezTo>
                    <a:cubicBezTo>
                      <a:pt x="331397" y="1480390"/>
                      <a:pt x="0" y="1148993"/>
                      <a:pt x="0" y="740195"/>
                    </a:cubicBezTo>
                    <a:cubicBezTo>
                      <a:pt x="0" y="331397"/>
                      <a:pt x="331397" y="0"/>
                      <a:pt x="740195" y="0"/>
                    </a:cubicBezTo>
                    <a:close/>
                  </a:path>
                </a:pathLst>
              </a:custGeom>
              <a:solidFill>
                <a:schemeClr val="accent1"/>
              </a:solidFill>
              <a:ln w="19050">
                <a:solidFill>
                  <a:schemeClr val="bg1"/>
                </a:solidFill>
                <a:round/>
              </a:ln>
            </p:spPr>
            <p:txBody>
              <a:bodyPr anchor="ctr"/>
              <a:lstStyle/>
              <a:p>
                <a:pPr algn="ctr"/>
                <a:endParaRPr sz="8533">
                  <a:cs typeface="+mn-ea"/>
                  <a:sym typeface="+mn-lt"/>
                </a:endParaRPr>
              </a:p>
            </p:txBody>
          </p:sp>
          <p:sp>
            <p:nvSpPr>
              <p:cNvPr id="48" name="椭圆 47"/>
              <p:cNvSpPr/>
              <p:nvPr/>
            </p:nvSpPr>
            <p:spPr bwMode="auto">
              <a:xfrm>
                <a:off x="3935760" y="2212987"/>
                <a:ext cx="936104" cy="936104"/>
              </a:xfrm>
              <a:prstGeom prst="ellipse">
                <a:avLst/>
              </a:prstGeom>
              <a:solidFill>
                <a:schemeClr val="bg1"/>
              </a:solidFill>
              <a:ln w="19050">
                <a:noFill/>
                <a:round/>
              </a:ln>
            </p:spPr>
            <p:txBody>
              <a:bodyPr vert="horz" wrap="none" lIns="243840" tIns="121920" rIns="243840" bIns="121920" anchor="ctr" anchorCtr="1" compatLnSpc="1">
                <a:normAutofit/>
              </a:bodyPr>
              <a:lstStyle/>
              <a:p>
                <a:pPr algn="ctr"/>
                <a:r>
                  <a:rPr lang="zh-CN" altLang="en-US" dirty="0">
                    <a:solidFill>
                      <a:schemeClr val="accent1"/>
                    </a:solidFill>
                    <a:latin typeface="微软雅黑" panose="020B0503020204020204" charset="-122"/>
                    <a:ea typeface="微软雅黑" panose="020B0503020204020204" charset="-122"/>
                    <a:cs typeface="+mn-ea"/>
                    <a:sym typeface="+mn-lt"/>
                  </a:rPr>
                  <a:t>分散</a:t>
                </a:r>
              </a:p>
            </p:txBody>
          </p:sp>
          <p:sp>
            <p:nvSpPr>
              <p:cNvPr id="49" name="椭圆 48"/>
              <p:cNvSpPr/>
              <p:nvPr/>
            </p:nvSpPr>
            <p:spPr bwMode="auto">
              <a:xfrm>
                <a:off x="6417265" y="2212987"/>
                <a:ext cx="936104" cy="936104"/>
              </a:xfrm>
              <a:prstGeom prst="ellipse">
                <a:avLst/>
              </a:prstGeom>
              <a:solidFill>
                <a:schemeClr val="bg1"/>
              </a:solidFill>
              <a:ln w="19050">
                <a:noFill/>
                <a:round/>
              </a:ln>
            </p:spPr>
            <p:txBody>
              <a:bodyPr vert="horz" wrap="none" lIns="243840" tIns="121920" rIns="243840" bIns="121920" anchor="ctr" anchorCtr="1" compatLnSpc="1">
                <a:normAutofit/>
              </a:bodyPr>
              <a:lstStyle/>
              <a:p>
                <a:pPr algn="ctr"/>
                <a:r>
                  <a:rPr lang="zh-CN" altLang="en-US" dirty="0">
                    <a:solidFill>
                      <a:schemeClr val="accent4"/>
                    </a:solidFill>
                    <a:latin typeface="微软雅黑" panose="020B0503020204020204" charset="-122"/>
                    <a:ea typeface="微软雅黑" panose="020B0503020204020204" charset="-122"/>
                    <a:cs typeface="+mn-ea"/>
                    <a:sym typeface="+mn-lt"/>
                  </a:rPr>
                  <a:t>安全</a:t>
                </a:r>
              </a:p>
            </p:txBody>
          </p:sp>
          <p:sp>
            <p:nvSpPr>
              <p:cNvPr id="50" name="椭圆 49"/>
              <p:cNvSpPr/>
              <p:nvPr/>
            </p:nvSpPr>
            <p:spPr bwMode="auto">
              <a:xfrm>
                <a:off x="5180180" y="4437112"/>
                <a:ext cx="936104" cy="936104"/>
              </a:xfrm>
              <a:prstGeom prst="ellipse">
                <a:avLst/>
              </a:prstGeom>
              <a:solidFill>
                <a:schemeClr val="bg1"/>
              </a:solidFill>
              <a:ln w="19050">
                <a:noFill/>
                <a:round/>
              </a:ln>
            </p:spPr>
            <p:txBody>
              <a:bodyPr vert="horz" wrap="none" lIns="243840" tIns="121920" rIns="243840" bIns="121920" anchor="ctr" anchorCtr="1" compatLnSpc="1">
                <a:normAutofit/>
              </a:bodyPr>
              <a:lstStyle/>
              <a:p>
                <a:pPr algn="ctr"/>
                <a:r>
                  <a:rPr lang="zh-CN" altLang="en-US" dirty="0">
                    <a:solidFill>
                      <a:schemeClr val="accent5"/>
                    </a:solidFill>
                    <a:latin typeface="微软雅黑" panose="020B0503020204020204" charset="-122"/>
                    <a:ea typeface="微软雅黑" panose="020B0503020204020204" charset="-122"/>
                    <a:cs typeface="+mn-ea"/>
                    <a:sym typeface="+mn-lt"/>
                  </a:rPr>
                  <a:t>能耗</a:t>
                </a:r>
              </a:p>
            </p:txBody>
          </p:sp>
        </p:grpSp>
        <p:sp>
          <p:nvSpPr>
            <p:cNvPr id="35" name="椭圆 34"/>
            <p:cNvSpPr/>
            <p:nvPr/>
          </p:nvSpPr>
          <p:spPr bwMode="auto">
            <a:xfrm>
              <a:off x="3899756" y="1232756"/>
              <a:ext cx="4392488" cy="4392488"/>
            </a:xfrm>
            <a:prstGeom prst="ellipse">
              <a:avLst/>
            </a:prstGeom>
            <a:noFill/>
            <a:ln w="12700">
              <a:solidFill>
                <a:schemeClr val="tx2"/>
              </a:solidFill>
              <a:round/>
            </a:ln>
          </p:spPr>
          <p:txBody>
            <a:bodyPr anchor="ctr"/>
            <a:lstStyle/>
            <a:p>
              <a:pPr algn="ctr"/>
              <a:endParaRPr sz="8533">
                <a:cs typeface="+mn-ea"/>
                <a:sym typeface="+mn-lt"/>
              </a:endParaRPr>
            </a:p>
          </p:txBody>
        </p:sp>
        <p:sp>
          <p:nvSpPr>
            <p:cNvPr id="36" name="椭圆 35"/>
            <p:cNvSpPr/>
            <p:nvPr/>
          </p:nvSpPr>
          <p:spPr bwMode="auto">
            <a:xfrm>
              <a:off x="4116093" y="1527064"/>
              <a:ext cx="731930" cy="731930"/>
            </a:xfrm>
            <a:prstGeom prst="ellipse">
              <a:avLst/>
            </a:prstGeom>
            <a:solidFill>
              <a:schemeClr val="bg1"/>
            </a:solidFill>
            <a:ln w="9525">
              <a:solidFill>
                <a:schemeClr val="tx2"/>
              </a:solidFill>
              <a:round/>
            </a:ln>
          </p:spPr>
          <p:txBody>
            <a:bodyPr anchor="ctr"/>
            <a:lstStyle/>
            <a:p>
              <a:pPr algn="ctr"/>
              <a:endParaRPr sz="8533">
                <a:cs typeface="+mn-ea"/>
                <a:sym typeface="+mn-lt"/>
              </a:endParaRPr>
            </a:p>
          </p:txBody>
        </p:sp>
        <p:sp>
          <p:nvSpPr>
            <p:cNvPr id="37" name="椭圆 36"/>
            <p:cNvSpPr/>
            <p:nvPr/>
          </p:nvSpPr>
          <p:spPr bwMode="auto">
            <a:xfrm>
              <a:off x="7337652" y="1527064"/>
              <a:ext cx="731930" cy="731930"/>
            </a:xfrm>
            <a:prstGeom prst="ellipse">
              <a:avLst/>
            </a:prstGeom>
            <a:solidFill>
              <a:schemeClr val="bg1"/>
            </a:solidFill>
            <a:ln w="9525">
              <a:solidFill>
                <a:schemeClr val="tx2"/>
              </a:solidFill>
              <a:round/>
            </a:ln>
          </p:spPr>
          <p:txBody>
            <a:bodyPr anchor="ctr"/>
            <a:lstStyle/>
            <a:p>
              <a:pPr algn="ctr"/>
              <a:endParaRPr sz="8533">
                <a:cs typeface="+mn-ea"/>
                <a:sym typeface="+mn-lt"/>
              </a:endParaRPr>
            </a:p>
          </p:txBody>
        </p:sp>
        <p:sp>
          <p:nvSpPr>
            <p:cNvPr id="38" name="椭圆 37"/>
            <p:cNvSpPr/>
            <p:nvPr/>
          </p:nvSpPr>
          <p:spPr bwMode="auto">
            <a:xfrm>
              <a:off x="4116093" y="4579843"/>
              <a:ext cx="731930" cy="731930"/>
            </a:xfrm>
            <a:prstGeom prst="ellipse">
              <a:avLst/>
            </a:prstGeom>
            <a:solidFill>
              <a:schemeClr val="bg1"/>
            </a:solidFill>
            <a:ln w="9525">
              <a:solidFill>
                <a:schemeClr val="tx2"/>
              </a:solidFill>
              <a:round/>
            </a:ln>
          </p:spPr>
          <p:txBody>
            <a:bodyPr anchor="ctr"/>
            <a:lstStyle/>
            <a:p>
              <a:pPr algn="ctr"/>
              <a:endParaRPr sz="8533">
                <a:cs typeface="+mn-ea"/>
                <a:sym typeface="+mn-lt"/>
              </a:endParaRPr>
            </a:p>
          </p:txBody>
        </p:sp>
        <p:sp>
          <p:nvSpPr>
            <p:cNvPr id="39" name="椭圆 38"/>
            <p:cNvSpPr/>
            <p:nvPr/>
          </p:nvSpPr>
          <p:spPr bwMode="auto">
            <a:xfrm>
              <a:off x="7337652" y="4579843"/>
              <a:ext cx="731930" cy="731930"/>
            </a:xfrm>
            <a:prstGeom prst="ellipse">
              <a:avLst/>
            </a:prstGeom>
            <a:solidFill>
              <a:schemeClr val="bg1"/>
            </a:solidFill>
            <a:ln w="9525">
              <a:solidFill>
                <a:schemeClr val="tx2"/>
              </a:solidFill>
              <a:round/>
            </a:ln>
          </p:spPr>
          <p:txBody>
            <a:bodyPr anchor="ctr"/>
            <a:lstStyle/>
            <a:p>
              <a:pPr algn="ctr"/>
              <a:endParaRPr sz="8533">
                <a:cs typeface="+mn-ea"/>
                <a:sym typeface="+mn-lt"/>
              </a:endParaRPr>
            </a:p>
          </p:txBody>
        </p:sp>
        <p:sp>
          <p:nvSpPr>
            <p:cNvPr id="40" name="任意多边形: 形状 22"/>
            <p:cNvSpPr>
              <a:spLocks noChangeAspect="1"/>
            </p:cNvSpPr>
            <p:nvPr/>
          </p:nvSpPr>
          <p:spPr bwMode="auto">
            <a:xfrm>
              <a:off x="4291320" y="1671305"/>
              <a:ext cx="381476" cy="443446"/>
            </a:xfrm>
            <a:custGeom>
              <a:avLst/>
              <a:gdLst>
                <a:gd name="connsiteX0" fmla="*/ 144647 w 290884"/>
                <a:gd name="connsiteY0" fmla="*/ 246063 h 338138"/>
                <a:gd name="connsiteX1" fmla="*/ 110656 w 290884"/>
                <a:gd name="connsiteY1" fmla="*/ 261816 h 338138"/>
                <a:gd name="connsiteX2" fmla="*/ 144647 w 290884"/>
                <a:gd name="connsiteY2" fmla="*/ 314326 h 338138"/>
                <a:gd name="connsiteX3" fmla="*/ 177331 w 290884"/>
                <a:gd name="connsiteY3" fmla="*/ 261816 h 338138"/>
                <a:gd name="connsiteX4" fmla="*/ 144647 w 290884"/>
                <a:gd name="connsiteY4" fmla="*/ 246063 h 338138"/>
                <a:gd name="connsiteX5" fmla="*/ 186856 w 290884"/>
                <a:gd name="connsiteY5" fmla="*/ 222250 h 338138"/>
                <a:gd name="connsiteX6" fmla="*/ 181776 w 290884"/>
                <a:gd name="connsiteY6" fmla="*/ 224790 h 338138"/>
                <a:gd name="connsiteX7" fmla="*/ 167806 w 290884"/>
                <a:gd name="connsiteY7" fmla="*/ 233680 h 338138"/>
                <a:gd name="connsiteX8" fmla="*/ 183046 w 290884"/>
                <a:gd name="connsiteY8" fmla="*/ 241300 h 338138"/>
                <a:gd name="connsiteX9" fmla="*/ 186856 w 290884"/>
                <a:gd name="connsiteY9" fmla="*/ 222250 h 338138"/>
                <a:gd name="connsiteX10" fmla="*/ 102719 w 290884"/>
                <a:gd name="connsiteY10" fmla="*/ 222250 h 338138"/>
                <a:gd name="connsiteX11" fmla="*/ 105470 w 290884"/>
                <a:gd name="connsiteY11" fmla="*/ 241300 h 338138"/>
                <a:gd name="connsiteX12" fmla="*/ 123357 w 290884"/>
                <a:gd name="connsiteY12" fmla="*/ 233680 h 338138"/>
                <a:gd name="connsiteX13" fmla="*/ 106846 w 290884"/>
                <a:gd name="connsiteY13" fmla="*/ 224790 h 338138"/>
                <a:gd name="connsiteX14" fmla="*/ 102719 w 290884"/>
                <a:gd name="connsiteY14" fmla="*/ 222250 h 338138"/>
                <a:gd name="connsiteX15" fmla="*/ 233044 w 290884"/>
                <a:gd name="connsiteY15" fmla="*/ 184150 h 338138"/>
                <a:gd name="connsiteX16" fmla="*/ 209321 w 290884"/>
                <a:gd name="connsiteY16" fmla="*/ 203710 h 338138"/>
                <a:gd name="connsiteX17" fmla="*/ 202731 w 290884"/>
                <a:gd name="connsiteY17" fmla="*/ 249351 h 338138"/>
                <a:gd name="connsiteX18" fmla="*/ 246223 w 290884"/>
                <a:gd name="connsiteY18" fmla="*/ 257175 h 338138"/>
                <a:gd name="connsiteX19" fmla="*/ 265992 w 290884"/>
                <a:gd name="connsiteY19" fmla="*/ 250655 h 338138"/>
                <a:gd name="connsiteX20" fmla="*/ 233044 w 290884"/>
                <a:gd name="connsiteY20" fmla="*/ 184150 h 338138"/>
                <a:gd name="connsiteX21" fmla="*/ 56261 w 290884"/>
                <a:gd name="connsiteY21" fmla="*/ 184150 h 338138"/>
                <a:gd name="connsiteX22" fmla="*/ 21995 w 290884"/>
                <a:gd name="connsiteY22" fmla="*/ 250655 h 338138"/>
                <a:gd name="connsiteX23" fmla="*/ 43082 w 290884"/>
                <a:gd name="connsiteY23" fmla="*/ 257175 h 338138"/>
                <a:gd name="connsiteX24" fmla="*/ 85256 w 290884"/>
                <a:gd name="connsiteY24" fmla="*/ 249351 h 338138"/>
                <a:gd name="connsiteX25" fmla="*/ 78666 w 290884"/>
                <a:gd name="connsiteY25" fmla="*/ 203710 h 338138"/>
                <a:gd name="connsiteX26" fmla="*/ 56261 w 290884"/>
                <a:gd name="connsiteY26" fmla="*/ 184150 h 338138"/>
                <a:gd name="connsiteX27" fmla="*/ 210669 w 290884"/>
                <a:gd name="connsiteY27" fmla="*/ 163513 h 338138"/>
                <a:gd name="connsiteX28" fmla="*/ 210669 w 290884"/>
                <a:gd name="connsiteY28" fmla="*/ 169070 h 338138"/>
                <a:gd name="connsiteX29" fmla="*/ 210669 w 290884"/>
                <a:gd name="connsiteY29" fmla="*/ 174626 h 338138"/>
                <a:gd name="connsiteX30" fmla="*/ 217019 w 290884"/>
                <a:gd name="connsiteY30" fmla="*/ 169070 h 338138"/>
                <a:gd name="connsiteX31" fmla="*/ 210669 w 290884"/>
                <a:gd name="connsiteY31" fmla="*/ 163513 h 338138"/>
                <a:gd name="connsiteX32" fmla="*/ 77319 w 290884"/>
                <a:gd name="connsiteY32" fmla="*/ 163513 h 338138"/>
                <a:gd name="connsiteX33" fmla="*/ 70969 w 290884"/>
                <a:gd name="connsiteY33" fmla="*/ 169070 h 338138"/>
                <a:gd name="connsiteX34" fmla="*/ 77319 w 290884"/>
                <a:gd name="connsiteY34" fmla="*/ 174626 h 338138"/>
                <a:gd name="connsiteX35" fmla="*/ 77319 w 290884"/>
                <a:gd name="connsiteY35" fmla="*/ 169070 h 338138"/>
                <a:gd name="connsiteX36" fmla="*/ 77319 w 290884"/>
                <a:gd name="connsiteY36" fmla="*/ 163513 h 338138"/>
                <a:gd name="connsiteX37" fmla="*/ 144788 w 290884"/>
                <a:gd name="connsiteY37" fmla="*/ 150813 h 338138"/>
                <a:gd name="connsiteX38" fmla="*/ 163045 w 290884"/>
                <a:gd name="connsiteY38" fmla="*/ 169070 h 338138"/>
                <a:gd name="connsiteX39" fmla="*/ 144788 w 290884"/>
                <a:gd name="connsiteY39" fmla="*/ 187327 h 338138"/>
                <a:gd name="connsiteX40" fmla="*/ 126531 w 290884"/>
                <a:gd name="connsiteY40" fmla="*/ 169070 h 338138"/>
                <a:gd name="connsiteX41" fmla="*/ 144788 w 290884"/>
                <a:gd name="connsiteY41" fmla="*/ 150813 h 338138"/>
                <a:gd name="connsiteX42" fmla="*/ 145444 w 290884"/>
                <a:gd name="connsiteY42" fmla="*/ 114300 h 338138"/>
                <a:gd name="connsiteX43" fmla="*/ 119215 w 290884"/>
                <a:gd name="connsiteY43" fmla="*/ 130293 h 338138"/>
                <a:gd name="connsiteX44" fmla="*/ 100855 w 290884"/>
                <a:gd name="connsiteY44" fmla="*/ 144952 h 338138"/>
                <a:gd name="connsiteX45" fmla="*/ 99544 w 290884"/>
                <a:gd name="connsiteY45" fmla="*/ 168941 h 338138"/>
                <a:gd name="connsiteX46" fmla="*/ 100855 w 290884"/>
                <a:gd name="connsiteY46" fmla="*/ 192930 h 338138"/>
                <a:gd name="connsiteX47" fmla="*/ 119215 w 290884"/>
                <a:gd name="connsiteY47" fmla="*/ 206257 h 338138"/>
                <a:gd name="connsiteX48" fmla="*/ 145444 w 290884"/>
                <a:gd name="connsiteY48" fmla="*/ 222250 h 338138"/>
                <a:gd name="connsiteX49" fmla="*/ 170361 w 290884"/>
                <a:gd name="connsiteY49" fmla="*/ 206257 h 338138"/>
                <a:gd name="connsiteX50" fmla="*/ 190032 w 290884"/>
                <a:gd name="connsiteY50" fmla="*/ 192930 h 338138"/>
                <a:gd name="connsiteX51" fmla="*/ 190032 w 290884"/>
                <a:gd name="connsiteY51" fmla="*/ 168941 h 338138"/>
                <a:gd name="connsiteX52" fmla="*/ 190032 w 290884"/>
                <a:gd name="connsiteY52" fmla="*/ 144952 h 338138"/>
                <a:gd name="connsiteX53" fmla="*/ 170361 w 290884"/>
                <a:gd name="connsiteY53" fmla="*/ 130293 h 338138"/>
                <a:gd name="connsiteX54" fmla="*/ 145444 w 290884"/>
                <a:gd name="connsiteY54" fmla="*/ 114300 h 338138"/>
                <a:gd name="connsiteX55" fmla="*/ 183046 w 290884"/>
                <a:gd name="connsiteY55" fmla="*/ 96838 h 338138"/>
                <a:gd name="connsiteX56" fmla="*/ 167806 w 290884"/>
                <a:gd name="connsiteY56" fmla="*/ 103188 h 338138"/>
                <a:gd name="connsiteX57" fmla="*/ 181776 w 290884"/>
                <a:gd name="connsiteY57" fmla="*/ 113348 h 338138"/>
                <a:gd name="connsiteX58" fmla="*/ 186856 w 290884"/>
                <a:gd name="connsiteY58" fmla="*/ 115888 h 338138"/>
                <a:gd name="connsiteX59" fmla="*/ 183046 w 290884"/>
                <a:gd name="connsiteY59" fmla="*/ 96838 h 338138"/>
                <a:gd name="connsiteX60" fmla="*/ 105470 w 290884"/>
                <a:gd name="connsiteY60" fmla="*/ 96838 h 338138"/>
                <a:gd name="connsiteX61" fmla="*/ 102719 w 290884"/>
                <a:gd name="connsiteY61" fmla="*/ 115888 h 338138"/>
                <a:gd name="connsiteX62" fmla="*/ 106846 w 290884"/>
                <a:gd name="connsiteY62" fmla="*/ 113348 h 338138"/>
                <a:gd name="connsiteX63" fmla="*/ 123357 w 290884"/>
                <a:gd name="connsiteY63" fmla="*/ 103188 h 338138"/>
                <a:gd name="connsiteX64" fmla="*/ 105470 w 290884"/>
                <a:gd name="connsiteY64" fmla="*/ 96838 h 338138"/>
                <a:gd name="connsiteX65" fmla="*/ 246901 w 290884"/>
                <a:gd name="connsiteY65" fmla="*/ 79375 h 338138"/>
                <a:gd name="connsiteX66" fmla="*/ 202731 w 290884"/>
                <a:gd name="connsiteY66" fmla="*/ 88503 h 338138"/>
                <a:gd name="connsiteX67" fmla="*/ 209424 w 290884"/>
                <a:gd name="connsiteY67" fmla="*/ 134144 h 338138"/>
                <a:gd name="connsiteX68" fmla="*/ 233517 w 290884"/>
                <a:gd name="connsiteY68" fmla="*/ 152400 h 338138"/>
                <a:gd name="connsiteX69" fmla="*/ 250917 w 290884"/>
                <a:gd name="connsiteY69" fmla="*/ 132840 h 338138"/>
                <a:gd name="connsiteX70" fmla="*/ 266979 w 290884"/>
                <a:gd name="connsiteY70" fmla="*/ 85895 h 338138"/>
                <a:gd name="connsiteX71" fmla="*/ 246901 w 290884"/>
                <a:gd name="connsiteY71" fmla="*/ 79375 h 338138"/>
                <a:gd name="connsiteX72" fmla="*/ 43420 w 290884"/>
                <a:gd name="connsiteY72" fmla="*/ 79375 h 338138"/>
                <a:gd name="connsiteX73" fmla="*/ 22503 w 290884"/>
                <a:gd name="connsiteY73" fmla="*/ 85895 h 338138"/>
                <a:gd name="connsiteX74" fmla="*/ 38191 w 290884"/>
                <a:gd name="connsiteY74" fmla="*/ 132840 h 338138"/>
                <a:gd name="connsiteX75" fmla="*/ 56494 w 290884"/>
                <a:gd name="connsiteY75" fmla="*/ 152400 h 338138"/>
                <a:gd name="connsiteX76" fmla="*/ 78719 w 290884"/>
                <a:gd name="connsiteY76" fmla="*/ 134144 h 338138"/>
                <a:gd name="connsiteX77" fmla="*/ 85256 w 290884"/>
                <a:gd name="connsiteY77" fmla="*/ 88503 h 338138"/>
                <a:gd name="connsiteX78" fmla="*/ 43420 w 290884"/>
                <a:gd name="connsiteY78" fmla="*/ 79375 h 338138"/>
                <a:gd name="connsiteX79" fmla="*/ 144647 w 290884"/>
                <a:gd name="connsiteY79" fmla="*/ 22225 h 338138"/>
                <a:gd name="connsiteX80" fmla="*/ 110656 w 290884"/>
                <a:gd name="connsiteY80" fmla="*/ 74942 h 338138"/>
                <a:gd name="connsiteX81" fmla="*/ 144647 w 290884"/>
                <a:gd name="connsiteY81" fmla="*/ 92075 h 338138"/>
                <a:gd name="connsiteX82" fmla="*/ 177331 w 290884"/>
                <a:gd name="connsiteY82" fmla="*/ 74942 h 338138"/>
                <a:gd name="connsiteX83" fmla="*/ 144647 w 290884"/>
                <a:gd name="connsiteY83" fmla="*/ 22225 h 338138"/>
                <a:gd name="connsiteX84" fmla="*/ 145581 w 290884"/>
                <a:gd name="connsiteY84" fmla="*/ 0 h 338138"/>
                <a:gd name="connsiteX85" fmla="*/ 199637 w 290884"/>
                <a:gd name="connsiteY85" fmla="*/ 67363 h 338138"/>
                <a:gd name="connsiteX86" fmla="*/ 247101 w 290884"/>
                <a:gd name="connsiteY86" fmla="*/ 58117 h 338138"/>
                <a:gd name="connsiteX87" fmla="*/ 285335 w 290884"/>
                <a:gd name="connsiteY87" fmla="*/ 73968 h 338138"/>
                <a:gd name="connsiteX88" fmla="*/ 268195 w 290884"/>
                <a:gd name="connsiteY88" fmla="*/ 145294 h 338138"/>
                <a:gd name="connsiteX89" fmla="*/ 248419 w 290884"/>
                <a:gd name="connsiteY89" fmla="*/ 169069 h 338138"/>
                <a:gd name="connsiteX90" fmla="*/ 285335 w 290884"/>
                <a:gd name="connsiteY90" fmla="*/ 264170 h 338138"/>
                <a:gd name="connsiteX91" fmla="*/ 247101 w 290884"/>
                <a:gd name="connsiteY91" fmla="*/ 280021 h 338138"/>
                <a:gd name="connsiteX92" fmla="*/ 199637 w 290884"/>
                <a:gd name="connsiteY92" fmla="*/ 270775 h 338138"/>
                <a:gd name="connsiteX93" fmla="*/ 145581 w 290884"/>
                <a:gd name="connsiteY93" fmla="*/ 338138 h 338138"/>
                <a:gd name="connsiteX94" fmla="*/ 91525 w 290884"/>
                <a:gd name="connsiteY94" fmla="*/ 270775 h 338138"/>
                <a:gd name="connsiteX95" fmla="*/ 44061 w 290884"/>
                <a:gd name="connsiteY95" fmla="*/ 280021 h 338138"/>
                <a:gd name="connsiteX96" fmla="*/ 5827 w 290884"/>
                <a:gd name="connsiteY96" fmla="*/ 264170 h 338138"/>
                <a:gd name="connsiteX97" fmla="*/ 41425 w 290884"/>
                <a:gd name="connsiteY97" fmla="*/ 169069 h 338138"/>
                <a:gd name="connsiteX98" fmla="*/ 21648 w 290884"/>
                <a:gd name="connsiteY98" fmla="*/ 145294 h 338138"/>
                <a:gd name="connsiteX99" fmla="*/ 5827 w 290884"/>
                <a:gd name="connsiteY99" fmla="*/ 73968 h 338138"/>
                <a:gd name="connsiteX100" fmla="*/ 44061 w 290884"/>
                <a:gd name="connsiteY100" fmla="*/ 58117 h 338138"/>
                <a:gd name="connsiteX101" fmla="*/ 91525 w 290884"/>
                <a:gd name="connsiteY101" fmla="*/ 67363 h 338138"/>
                <a:gd name="connsiteX102" fmla="*/ 145581 w 290884"/>
                <a:gd name="connsiteY102"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290884" h="338138">
                  <a:moveTo>
                    <a:pt x="144647" y="246063"/>
                  </a:moveTo>
                  <a:cubicBezTo>
                    <a:pt x="132881" y="252627"/>
                    <a:pt x="121115" y="257878"/>
                    <a:pt x="110656" y="261816"/>
                  </a:cubicBezTo>
                  <a:cubicBezTo>
                    <a:pt x="119807" y="295948"/>
                    <a:pt x="132881" y="314326"/>
                    <a:pt x="144647" y="314326"/>
                  </a:cubicBezTo>
                  <a:cubicBezTo>
                    <a:pt x="155106" y="314326"/>
                    <a:pt x="168180" y="295948"/>
                    <a:pt x="177331" y="261816"/>
                  </a:cubicBezTo>
                  <a:cubicBezTo>
                    <a:pt x="166872" y="257878"/>
                    <a:pt x="155106" y="252627"/>
                    <a:pt x="144647" y="246063"/>
                  </a:cubicBezTo>
                  <a:close/>
                  <a:moveTo>
                    <a:pt x="186856" y="222250"/>
                  </a:moveTo>
                  <a:cubicBezTo>
                    <a:pt x="184316" y="222250"/>
                    <a:pt x="183046" y="223520"/>
                    <a:pt x="181776" y="224790"/>
                  </a:cubicBezTo>
                  <a:cubicBezTo>
                    <a:pt x="176696" y="228600"/>
                    <a:pt x="171616" y="231140"/>
                    <a:pt x="167806" y="233680"/>
                  </a:cubicBezTo>
                  <a:cubicBezTo>
                    <a:pt x="172886" y="237490"/>
                    <a:pt x="177966" y="238760"/>
                    <a:pt x="183046" y="241300"/>
                  </a:cubicBezTo>
                  <a:cubicBezTo>
                    <a:pt x="184316" y="234950"/>
                    <a:pt x="185586" y="228600"/>
                    <a:pt x="186856" y="222250"/>
                  </a:cubicBezTo>
                  <a:close/>
                  <a:moveTo>
                    <a:pt x="102719" y="222250"/>
                  </a:moveTo>
                  <a:cubicBezTo>
                    <a:pt x="102719" y="228600"/>
                    <a:pt x="104095" y="234950"/>
                    <a:pt x="105470" y="241300"/>
                  </a:cubicBezTo>
                  <a:cubicBezTo>
                    <a:pt x="110974" y="238760"/>
                    <a:pt x="117853" y="237490"/>
                    <a:pt x="123357" y="233680"/>
                  </a:cubicBezTo>
                  <a:cubicBezTo>
                    <a:pt x="117853" y="231140"/>
                    <a:pt x="112350" y="228600"/>
                    <a:pt x="106846" y="224790"/>
                  </a:cubicBezTo>
                  <a:cubicBezTo>
                    <a:pt x="105470" y="223520"/>
                    <a:pt x="104095" y="222250"/>
                    <a:pt x="102719" y="222250"/>
                  </a:cubicBezTo>
                  <a:close/>
                  <a:moveTo>
                    <a:pt x="233044" y="184150"/>
                  </a:moveTo>
                  <a:cubicBezTo>
                    <a:pt x="225136" y="190670"/>
                    <a:pt x="218546" y="197190"/>
                    <a:pt x="209321" y="203710"/>
                  </a:cubicBezTo>
                  <a:cubicBezTo>
                    <a:pt x="208003" y="219359"/>
                    <a:pt x="206685" y="235007"/>
                    <a:pt x="202731" y="249351"/>
                  </a:cubicBezTo>
                  <a:cubicBezTo>
                    <a:pt x="219864" y="254567"/>
                    <a:pt x="234361" y="257175"/>
                    <a:pt x="246223" y="257175"/>
                  </a:cubicBezTo>
                  <a:cubicBezTo>
                    <a:pt x="251494" y="257175"/>
                    <a:pt x="262038" y="257175"/>
                    <a:pt x="265992" y="250655"/>
                  </a:cubicBezTo>
                  <a:cubicBezTo>
                    <a:pt x="272581" y="241527"/>
                    <a:pt x="262038" y="215446"/>
                    <a:pt x="233044" y="184150"/>
                  </a:cubicBezTo>
                  <a:close/>
                  <a:moveTo>
                    <a:pt x="56261" y="184150"/>
                  </a:moveTo>
                  <a:cubicBezTo>
                    <a:pt x="25949" y="215446"/>
                    <a:pt x="15406" y="241527"/>
                    <a:pt x="21995" y="250655"/>
                  </a:cubicBezTo>
                  <a:cubicBezTo>
                    <a:pt x="25949" y="257175"/>
                    <a:pt x="36493" y="257175"/>
                    <a:pt x="43082" y="257175"/>
                  </a:cubicBezTo>
                  <a:cubicBezTo>
                    <a:pt x="54943" y="257175"/>
                    <a:pt x="69441" y="254567"/>
                    <a:pt x="85256" y="249351"/>
                  </a:cubicBezTo>
                  <a:cubicBezTo>
                    <a:pt x="82620" y="235007"/>
                    <a:pt x="79984" y="219359"/>
                    <a:pt x="78666" y="203710"/>
                  </a:cubicBezTo>
                  <a:cubicBezTo>
                    <a:pt x="70759" y="197190"/>
                    <a:pt x="62851" y="190670"/>
                    <a:pt x="56261" y="184150"/>
                  </a:cubicBezTo>
                  <a:close/>
                  <a:moveTo>
                    <a:pt x="210669" y="163513"/>
                  </a:moveTo>
                  <a:cubicBezTo>
                    <a:pt x="210669" y="164902"/>
                    <a:pt x="210669" y="166291"/>
                    <a:pt x="210669" y="169070"/>
                  </a:cubicBezTo>
                  <a:cubicBezTo>
                    <a:pt x="210669" y="170459"/>
                    <a:pt x="210669" y="173237"/>
                    <a:pt x="210669" y="174626"/>
                  </a:cubicBezTo>
                  <a:cubicBezTo>
                    <a:pt x="213209" y="173237"/>
                    <a:pt x="215749" y="170459"/>
                    <a:pt x="217019" y="169070"/>
                  </a:cubicBezTo>
                  <a:cubicBezTo>
                    <a:pt x="215749" y="166291"/>
                    <a:pt x="213209" y="164902"/>
                    <a:pt x="210669" y="163513"/>
                  </a:cubicBezTo>
                  <a:close/>
                  <a:moveTo>
                    <a:pt x="77319" y="163513"/>
                  </a:moveTo>
                  <a:cubicBezTo>
                    <a:pt x="74779" y="164902"/>
                    <a:pt x="73509" y="166291"/>
                    <a:pt x="70969" y="169070"/>
                  </a:cubicBezTo>
                  <a:cubicBezTo>
                    <a:pt x="73509" y="170459"/>
                    <a:pt x="74779" y="173237"/>
                    <a:pt x="77319" y="174626"/>
                  </a:cubicBezTo>
                  <a:cubicBezTo>
                    <a:pt x="77319" y="173237"/>
                    <a:pt x="77319" y="170459"/>
                    <a:pt x="77319" y="169070"/>
                  </a:cubicBezTo>
                  <a:cubicBezTo>
                    <a:pt x="77319" y="166291"/>
                    <a:pt x="77319" y="164902"/>
                    <a:pt x="77319" y="163513"/>
                  </a:cubicBezTo>
                  <a:close/>
                  <a:moveTo>
                    <a:pt x="144788" y="150813"/>
                  </a:moveTo>
                  <a:cubicBezTo>
                    <a:pt x="154871" y="150813"/>
                    <a:pt x="163045" y="158987"/>
                    <a:pt x="163045" y="169070"/>
                  </a:cubicBezTo>
                  <a:cubicBezTo>
                    <a:pt x="163045" y="179153"/>
                    <a:pt x="154871" y="187327"/>
                    <a:pt x="144788" y="187327"/>
                  </a:cubicBezTo>
                  <a:cubicBezTo>
                    <a:pt x="134705" y="187327"/>
                    <a:pt x="126531" y="179153"/>
                    <a:pt x="126531" y="169070"/>
                  </a:cubicBezTo>
                  <a:cubicBezTo>
                    <a:pt x="126531" y="158987"/>
                    <a:pt x="134705" y="150813"/>
                    <a:pt x="144788" y="150813"/>
                  </a:cubicBezTo>
                  <a:close/>
                  <a:moveTo>
                    <a:pt x="145444" y="114300"/>
                  </a:moveTo>
                  <a:cubicBezTo>
                    <a:pt x="136264" y="119631"/>
                    <a:pt x="128395" y="124962"/>
                    <a:pt x="119215" y="130293"/>
                  </a:cubicBezTo>
                  <a:cubicBezTo>
                    <a:pt x="112658" y="135623"/>
                    <a:pt x="106101" y="139622"/>
                    <a:pt x="100855" y="144952"/>
                  </a:cubicBezTo>
                  <a:cubicBezTo>
                    <a:pt x="100855" y="152949"/>
                    <a:pt x="99544" y="160945"/>
                    <a:pt x="99544" y="168941"/>
                  </a:cubicBezTo>
                  <a:cubicBezTo>
                    <a:pt x="99544" y="176938"/>
                    <a:pt x="100855" y="184934"/>
                    <a:pt x="100855" y="192930"/>
                  </a:cubicBezTo>
                  <a:cubicBezTo>
                    <a:pt x="107412" y="196928"/>
                    <a:pt x="112658" y="202259"/>
                    <a:pt x="119215" y="206257"/>
                  </a:cubicBezTo>
                  <a:cubicBezTo>
                    <a:pt x="128395" y="212921"/>
                    <a:pt x="136264" y="218252"/>
                    <a:pt x="145444" y="222250"/>
                  </a:cubicBezTo>
                  <a:cubicBezTo>
                    <a:pt x="153312" y="218252"/>
                    <a:pt x="162492" y="212921"/>
                    <a:pt x="170361" y="206257"/>
                  </a:cubicBezTo>
                  <a:cubicBezTo>
                    <a:pt x="176918" y="202259"/>
                    <a:pt x="183475" y="196928"/>
                    <a:pt x="190032" y="192930"/>
                  </a:cubicBezTo>
                  <a:cubicBezTo>
                    <a:pt x="190032" y="184934"/>
                    <a:pt x="190032" y="176938"/>
                    <a:pt x="190032" y="168941"/>
                  </a:cubicBezTo>
                  <a:cubicBezTo>
                    <a:pt x="190032" y="160945"/>
                    <a:pt x="190032" y="152949"/>
                    <a:pt x="190032" y="144952"/>
                  </a:cubicBezTo>
                  <a:cubicBezTo>
                    <a:pt x="183475" y="139622"/>
                    <a:pt x="176918" y="135623"/>
                    <a:pt x="170361" y="130293"/>
                  </a:cubicBezTo>
                  <a:cubicBezTo>
                    <a:pt x="162492" y="124962"/>
                    <a:pt x="153312" y="119631"/>
                    <a:pt x="145444" y="114300"/>
                  </a:cubicBezTo>
                  <a:close/>
                  <a:moveTo>
                    <a:pt x="183046" y="96838"/>
                  </a:moveTo>
                  <a:cubicBezTo>
                    <a:pt x="177966" y="98108"/>
                    <a:pt x="172886" y="100648"/>
                    <a:pt x="167806" y="103188"/>
                  </a:cubicBezTo>
                  <a:cubicBezTo>
                    <a:pt x="171616" y="106998"/>
                    <a:pt x="176696" y="109538"/>
                    <a:pt x="181776" y="113348"/>
                  </a:cubicBezTo>
                  <a:cubicBezTo>
                    <a:pt x="183046" y="114618"/>
                    <a:pt x="184316" y="115888"/>
                    <a:pt x="186856" y="115888"/>
                  </a:cubicBezTo>
                  <a:cubicBezTo>
                    <a:pt x="185586" y="109538"/>
                    <a:pt x="184316" y="103188"/>
                    <a:pt x="183046" y="96838"/>
                  </a:cubicBezTo>
                  <a:close/>
                  <a:moveTo>
                    <a:pt x="105470" y="96838"/>
                  </a:moveTo>
                  <a:cubicBezTo>
                    <a:pt x="104095" y="103188"/>
                    <a:pt x="102719" y="109538"/>
                    <a:pt x="102719" y="115888"/>
                  </a:cubicBezTo>
                  <a:cubicBezTo>
                    <a:pt x="104095" y="115888"/>
                    <a:pt x="105470" y="114618"/>
                    <a:pt x="106846" y="113348"/>
                  </a:cubicBezTo>
                  <a:cubicBezTo>
                    <a:pt x="112350" y="109538"/>
                    <a:pt x="117853" y="106998"/>
                    <a:pt x="123357" y="103188"/>
                  </a:cubicBezTo>
                  <a:cubicBezTo>
                    <a:pt x="117853" y="100648"/>
                    <a:pt x="110974" y="98108"/>
                    <a:pt x="105470" y="96838"/>
                  </a:cubicBezTo>
                  <a:close/>
                  <a:moveTo>
                    <a:pt x="246901" y="79375"/>
                  </a:moveTo>
                  <a:cubicBezTo>
                    <a:pt x="234855" y="79375"/>
                    <a:pt x="220132" y="83287"/>
                    <a:pt x="202731" y="88503"/>
                  </a:cubicBezTo>
                  <a:cubicBezTo>
                    <a:pt x="206747" y="102847"/>
                    <a:pt x="208085" y="118496"/>
                    <a:pt x="209424" y="134144"/>
                  </a:cubicBezTo>
                  <a:cubicBezTo>
                    <a:pt x="217455" y="139360"/>
                    <a:pt x="225486" y="145880"/>
                    <a:pt x="233517" y="152400"/>
                  </a:cubicBezTo>
                  <a:cubicBezTo>
                    <a:pt x="240209" y="145880"/>
                    <a:pt x="245563" y="139360"/>
                    <a:pt x="250917" y="132840"/>
                  </a:cubicBezTo>
                  <a:cubicBezTo>
                    <a:pt x="269656" y="108063"/>
                    <a:pt x="270994" y="92415"/>
                    <a:pt x="266979" y="85895"/>
                  </a:cubicBezTo>
                  <a:cubicBezTo>
                    <a:pt x="262963" y="80679"/>
                    <a:pt x="252255" y="79375"/>
                    <a:pt x="246901" y="79375"/>
                  </a:cubicBezTo>
                  <a:close/>
                  <a:moveTo>
                    <a:pt x="43420" y="79375"/>
                  </a:moveTo>
                  <a:cubicBezTo>
                    <a:pt x="36884" y="79375"/>
                    <a:pt x="26425" y="80679"/>
                    <a:pt x="22503" y="85895"/>
                  </a:cubicBezTo>
                  <a:cubicBezTo>
                    <a:pt x="18581" y="92415"/>
                    <a:pt x="21195" y="108063"/>
                    <a:pt x="38191" y="132840"/>
                  </a:cubicBezTo>
                  <a:cubicBezTo>
                    <a:pt x="43420" y="139360"/>
                    <a:pt x="49957" y="145880"/>
                    <a:pt x="56494" y="152400"/>
                  </a:cubicBezTo>
                  <a:cubicBezTo>
                    <a:pt x="63031" y="145880"/>
                    <a:pt x="70875" y="139360"/>
                    <a:pt x="78719" y="134144"/>
                  </a:cubicBezTo>
                  <a:cubicBezTo>
                    <a:pt x="80026" y="118496"/>
                    <a:pt x="82641" y="102847"/>
                    <a:pt x="85256" y="88503"/>
                  </a:cubicBezTo>
                  <a:cubicBezTo>
                    <a:pt x="69568" y="83287"/>
                    <a:pt x="55187" y="79375"/>
                    <a:pt x="43420" y="79375"/>
                  </a:cubicBezTo>
                  <a:close/>
                  <a:moveTo>
                    <a:pt x="144647" y="22225"/>
                  </a:moveTo>
                  <a:cubicBezTo>
                    <a:pt x="132881" y="22225"/>
                    <a:pt x="119807" y="41994"/>
                    <a:pt x="110656" y="74942"/>
                  </a:cubicBezTo>
                  <a:cubicBezTo>
                    <a:pt x="121115" y="80214"/>
                    <a:pt x="132881" y="85485"/>
                    <a:pt x="144647" y="92075"/>
                  </a:cubicBezTo>
                  <a:cubicBezTo>
                    <a:pt x="155106" y="85485"/>
                    <a:pt x="166872" y="80214"/>
                    <a:pt x="177331" y="74942"/>
                  </a:cubicBezTo>
                  <a:cubicBezTo>
                    <a:pt x="168180" y="41994"/>
                    <a:pt x="155106" y="22225"/>
                    <a:pt x="144647" y="22225"/>
                  </a:cubicBezTo>
                  <a:close/>
                  <a:moveTo>
                    <a:pt x="145581" y="0"/>
                  </a:moveTo>
                  <a:cubicBezTo>
                    <a:pt x="169313" y="0"/>
                    <a:pt x="187771" y="27738"/>
                    <a:pt x="199637" y="67363"/>
                  </a:cubicBezTo>
                  <a:cubicBezTo>
                    <a:pt x="216777" y="60759"/>
                    <a:pt x="232598" y="58117"/>
                    <a:pt x="247101" y="58117"/>
                  </a:cubicBezTo>
                  <a:cubicBezTo>
                    <a:pt x="269514" y="58117"/>
                    <a:pt x="280061" y="67363"/>
                    <a:pt x="285335" y="73968"/>
                  </a:cubicBezTo>
                  <a:cubicBezTo>
                    <a:pt x="293246" y="85855"/>
                    <a:pt x="295883" y="108310"/>
                    <a:pt x="268195" y="145294"/>
                  </a:cubicBezTo>
                  <a:cubicBezTo>
                    <a:pt x="262922" y="153219"/>
                    <a:pt x="256330" y="161144"/>
                    <a:pt x="248419" y="169069"/>
                  </a:cubicBezTo>
                  <a:cubicBezTo>
                    <a:pt x="281380" y="204732"/>
                    <a:pt x="301156" y="240395"/>
                    <a:pt x="285335" y="264170"/>
                  </a:cubicBezTo>
                  <a:cubicBezTo>
                    <a:pt x="280061" y="270775"/>
                    <a:pt x="269514" y="280021"/>
                    <a:pt x="247101" y="280021"/>
                  </a:cubicBezTo>
                  <a:cubicBezTo>
                    <a:pt x="232598" y="280021"/>
                    <a:pt x="216777" y="276058"/>
                    <a:pt x="199637" y="270775"/>
                  </a:cubicBezTo>
                  <a:cubicBezTo>
                    <a:pt x="187771" y="310400"/>
                    <a:pt x="169313" y="338138"/>
                    <a:pt x="145581" y="338138"/>
                  </a:cubicBezTo>
                  <a:cubicBezTo>
                    <a:pt x="120531" y="338138"/>
                    <a:pt x="102072" y="310400"/>
                    <a:pt x="91525" y="270775"/>
                  </a:cubicBezTo>
                  <a:cubicBezTo>
                    <a:pt x="73067" y="276058"/>
                    <a:pt x="57246" y="280021"/>
                    <a:pt x="44061" y="280021"/>
                  </a:cubicBezTo>
                  <a:cubicBezTo>
                    <a:pt x="21648" y="280021"/>
                    <a:pt x="9782" y="270775"/>
                    <a:pt x="5827" y="264170"/>
                  </a:cubicBezTo>
                  <a:cubicBezTo>
                    <a:pt x="-9994" y="240395"/>
                    <a:pt x="8464" y="204732"/>
                    <a:pt x="41425" y="169069"/>
                  </a:cubicBezTo>
                  <a:cubicBezTo>
                    <a:pt x="33514" y="161144"/>
                    <a:pt x="26922" y="153219"/>
                    <a:pt x="21648" y="145294"/>
                  </a:cubicBezTo>
                  <a:cubicBezTo>
                    <a:pt x="-6039" y="108310"/>
                    <a:pt x="-2084" y="85855"/>
                    <a:pt x="5827" y="73968"/>
                  </a:cubicBezTo>
                  <a:cubicBezTo>
                    <a:pt x="9782" y="67363"/>
                    <a:pt x="21648" y="58117"/>
                    <a:pt x="44061" y="58117"/>
                  </a:cubicBezTo>
                  <a:cubicBezTo>
                    <a:pt x="57246" y="58117"/>
                    <a:pt x="73067" y="60759"/>
                    <a:pt x="91525" y="67363"/>
                  </a:cubicBezTo>
                  <a:cubicBezTo>
                    <a:pt x="102072" y="27738"/>
                    <a:pt x="120531" y="0"/>
                    <a:pt x="145581" y="0"/>
                  </a:cubicBezTo>
                  <a:close/>
                </a:path>
              </a:pathLst>
            </a:custGeom>
            <a:solidFill>
              <a:schemeClr val="accent1"/>
            </a:solidFill>
            <a:ln>
              <a:noFill/>
            </a:ln>
          </p:spPr>
          <p:txBody>
            <a:bodyPr anchor="ctr"/>
            <a:lstStyle/>
            <a:p>
              <a:pPr algn="ctr"/>
              <a:endParaRPr sz="8533">
                <a:cs typeface="+mn-ea"/>
                <a:sym typeface="+mn-lt"/>
              </a:endParaRPr>
            </a:p>
          </p:txBody>
        </p:sp>
        <p:sp>
          <p:nvSpPr>
            <p:cNvPr id="41" name="任意多边形: 形状 23"/>
            <p:cNvSpPr>
              <a:spLocks noChangeAspect="1"/>
            </p:cNvSpPr>
            <p:nvPr/>
          </p:nvSpPr>
          <p:spPr bwMode="auto">
            <a:xfrm>
              <a:off x="7482013" y="1671305"/>
              <a:ext cx="443209" cy="443446"/>
            </a:xfrm>
            <a:custGeom>
              <a:avLst/>
              <a:gdLst>
                <a:gd name="connsiteX0" fmla="*/ 94638 w 328437"/>
                <a:gd name="connsiteY0" fmla="*/ 163513 h 328613"/>
                <a:gd name="connsiteX1" fmla="*/ 95937 w 328437"/>
                <a:gd name="connsiteY1" fmla="*/ 163513 h 328613"/>
                <a:gd name="connsiteX2" fmla="*/ 134903 w 328437"/>
                <a:gd name="connsiteY2" fmla="*/ 169971 h 328613"/>
                <a:gd name="connsiteX3" fmla="*/ 136202 w 328437"/>
                <a:gd name="connsiteY3" fmla="*/ 171262 h 328613"/>
                <a:gd name="connsiteX4" fmla="*/ 136202 w 328437"/>
                <a:gd name="connsiteY4" fmla="*/ 238422 h 328613"/>
                <a:gd name="connsiteX5" fmla="*/ 136202 w 328437"/>
                <a:gd name="connsiteY5" fmla="*/ 239713 h 328613"/>
                <a:gd name="connsiteX6" fmla="*/ 134903 w 328437"/>
                <a:gd name="connsiteY6" fmla="*/ 239713 h 328613"/>
                <a:gd name="connsiteX7" fmla="*/ 133604 w 328437"/>
                <a:gd name="connsiteY7" fmla="*/ 239713 h 328613"/>
                <a:gd name="connsiteX8" fmla="*/ 94638 w 328437"/>
                <a:gd name="connsiteY8" fmla="*/ 226798 h 328613"/>
                <a:gd name="connsiteX9" fmla="*/ 93339 w 328437"/>
                <a:gd name="connsiteY9" fmla="*/ 225506 h 328613"/>
                <a:gd name="connsiteX10" fmla="*/ 93339 w 328437"/>
                <a:gd name="connsiteY10" fmla="*/ 166096 h 328613"/>
                <a:gd name="connsiteX11" fmla="*/ 94638 w 328437"/>
                <a:gd name="connsiteY11" fmla="*/ 163513 h 328613"/>
                <a:gd name="connsiteX12" fmla="*/ 45714 w 328437"/>
                <a:gd name="connsiteY12" fmla="*/ 157163 h 328613"/>
                <a:gd name="connsiteX13" fmla="*/ 48227 w 328437"/>
                <a:gd name="connsiteY13" fmla="*/ 157163 h 328613"/>
                <a:gd name="connsiteX14" fmla="*/ 74620 w 328437"/>
                <a:gd name="connsiteY14" fmla="*/ 161051 h 328613"/>
                <a:gd name="connsiteX15" fmla="*/ 75877 w 328437"/>
                <a:gd name="connsiteY15" fmla="*/ 162347 h 328613"/>
                <a:gd name="connsiteX16" fmla="*/ 75877 w 328437"/>
                <a:gd name="connsiteY16" fmla="*/ 218071 h 328613"/>
                <a:gd name="connsiteX17" fmla="*/ 74620 w 328437"/>
                <a:gd name="connsiteY17" fmla="*/ 219367 h 328613"/>
                <a:gd name="connsiteX18" fmla="*/ 73363 w 328437"/>
                <a:gd name="connsiteY18" fmla="*/ 220663 h 328613"/>
                <a:gd name="connsiteX19" fmla="*/ 46971 w 328437"/>
                <a:gd name="connsiteY19" fmla="*/ 211592 h 328613"/>
                <a:gd name="connsiteX20" fmla="*/ 45714 w 328437"/>
                <a:gd name="connsiteY20" fmla="*/ 209000 h 328613"/>
                <a:gd name="connsiteX21" fmla="*/ 45714 w 328437"/>
                <a:gd name="connsiteY21" fmla="*/ 158459 h 328613"/>
                <a:gd name="connsiteX22" fmla="*/ 45714 w 328437"/>
                <a:gd name="connsiteY22" fmla="*/ 157163 h 328613"/>
                <a:gd name="connsiteX23" fmla="*/ 34601 w 328437"/>
                <a:gd name="connsiteY23" fmla="*/ 131763 h 328613"/>
                <a:gd name="connsiteX24" fmla="*/ 34601 w 328437"/>
                <a:gd name="connsiteY24" fmla="*/ 246063 h 328613"/>
                <a:gd name="connsiteX25" fmla="*/ 161601 w 328437"/>
                <a:gd name="connsiteY25" fmla="*/ 311151 h 328613"/>
                <a:gd name="connsiteX26" fmla="*/ 161601 w 328437"/>
                <a:gd name="connsiteY26" fmla="*/ 133351 h 328613"/>
                <a:gd name="connsiteX27" fmla="*/ 134613 w 328437"/>
                <a:gd name="connsiteY27" fmla="*/ 133351 h 328613"/>
                <a:gd name="connsiteX28" fmla="*/ 235241 w 328437"/>
                <a:gd name="connsiteY28" fmla="*/ 15875 h 328613"/>
                <a:gd name="connsiteX29" fmla="*/ 147314 w 328437"/>
                <a:gd name="connsiteY29" fmla="*/ 120775 h 328613"/>
                <a:gd name="connsiteX30" fmla="*/ 165417 w 328437"/>
                <a:gd name="connsiteY30" fmla="*/ 120775 h 328613"/>
                <a:gd name="connsiteX31" fmla="*/ 171882 w 328437"/>
                <a:gd name="connsiteY31" fmla="*/ 127251 h 328613"/>
                <a:gd name="connsiteX32" fmla="*/ 171882 w 328437"/>
                <a:gd name="connsiteY32" fmla="*/ 311150 h 328613"/>
                <a:gd name="connsiteX33" fmla="*/ 222311 w 328437"/>
                <a:gd name="connsiteY33" fmla="*/ 285249 h 328613"/>
                <a:gd name="connsiteX34" fmla="*/ 222311 w 328437"/>
                <a:gd name="connsiteY34" fmla="*/ 157037 h 328613"/>
                <a:gd name="connsiteX35" fmla="*/ 223604 w 328437"/>
                <a:gd name="connsiteY35" fmla="*/ 154447 h 328613"/>
                <a:gd name="connsiteX36" fmla="*/ 257223 w 328437"/>
                <a:gd name="connsiteY36" fmla="*/ 151857 h 328613"/>
                <a:gd name="connsiteX37" fmla="*/ 258516 w 328437"/>
                <a:gd name="connsiteY37" fmla="*/ 151857 h 328613"/>
                <a:gd name="connsiteX38" fmla="*/ 259809 w 328437"/>
                <a:gd name="connsiteY38" fmla="*/ 153152 h 328613"/>
                <a:gd name="connsiteX39" fmla="*/ 259809 w 328437"/>
                <a:gd name="connsiteY39" fmla="*/ 265823 h 328613"/>
                <a:gd name="connsiteX40" fmla="*/ 293429 w 328437"/>
                <a:gd name="connsiteY40" fmla="*/ 247692 h 328613"/>
                <a:gd name="connsiteX41" fmla="*/ 294722 w 328437"/>
                <a:gd name="connsiteY41" fmla="*/ 118185 h 328613"/>
                <a:gd name="connsiteX42" fmla="*/ 296015 w 328437"/>
                <a:gd name="connsiteY42" fmla="*/ 114300 h 328613"/>
                <a:gd name="connsiteX43" fmla="*/ 301187 w 328437"/>
                <a:gd name="connsiteY43" fmla="*/ 111710 h 328613"/>
                <a:gd name="connsiteX44" fmla="*/ 307652 w 328437"/>
                <a:gd name="connsiteY44" fmla="*/ 113005 h 328613"/>
                <a:gd name="connsiteX45" fmla="*/ 235241 w 328437"/>
                <a:gd name="connsiteY45" fmla="*/ 15875 h 328613"/>
                <a:gd name="connsiteX46" fmla="*/ 235348 w 328437"/>
                <a:gd name="connsiteY46" fmla="*/ 0 h 328613"/>
                <a:gd name="connsiteX47" fmla="*/ 239233 w 328437"/>
                <a:gd name="connsiteY47" fmla="*/ 0 h 328613"/>
                <a:gd name="connsiteX48" fmla="*/ 241823 w 328437"/>
                <a:gd name="connsiteY48" fmla="*/ 2598 h 328613"/>
                <a:gd name="connsiteX49" fmla="*/ 327286 w 328437"/>
                <a:gd name="connsiteY49" fmla="*/ 115599 h 328613"/>
                <a:gd name="connsiteX50" fmla="*/ 327286 w 328437"/>
                <a:gd name="connsiteY50" fmla="*/ 123392 h 328613"/>
                <a:gd name="connsiteX51" fmla="*/ 322107 w 328437"/>
                <a:gd name="connsiteY51" fmla="*/ 125990 h 328613"/>
                <a:gd name="connsiteX52" fmla="*/ 307863 w 328437"/>
                <a:gd name="connsiteY52" fmla="*/ 124691 h 328613"/>
                <a:gd name="connsiteX53" fmla="*/ 307863 w 328437"/>
                <a:gd name="connsiteY53" fmla="*/ 251980 h 328613"/>
                <a:gd name="connsiteX54" fmla="*/ 303978 w 328437"/>
                <a:gd name="connsiteY54" fmla="*/ 257175 h 328613"/>
                <a:gd name="connsiteX55" fmla="*/ 169308 w 328437"/>
                <a:gd name="connsiteY55" fmla="*/ 327314 h 328613"/>
                <a:gd name="connsiteX56" fmla="*/ 166718 w 328437"/>
                <a:gd name="connsiteY56" fmla="*/ 328613 h 328613"/>
                <a:gd name="connsiteX57" fmla="*/ 164129 w 328437"/>
                <a:gd name="connsiteY57" fmla="*/ 327314 h 328613"/>
                <a:gd name="connsiteX58" fmla="*/ 25574 w 328437"/>
                <a:gd name="connsiteY58" fmla="*/ 254578 h 328613"/>
                <a:gd name="connsiteX59" fmla="*/ 21689 w 328437"/>
                <a:gd name="connsiteY59" fmla="*/ 249382 h 328613"/>
                <a:gd name="connsiteX60" fmla="*/ 21689 w 328437"/>
                <a:gd name="connsiteY60" fmla="*/ 129887 h 328613"/>
                <a:gd name="connsiteX61" fmla="*/ 6150 w 328437"/>
                <a:gd name="connsiteY61" fmla="*/ 129887 h 328613"/>
                <a:gd name="connsiteX62" fmla="*/ 971 w 328437"/>
                <a:gd name="connsiteY62" fmla="*/ 127289 h 328613"/>
                <a:gd name="connsiteX63" fmla="*/ 971 w 328437"/>
                <a:gd name="connsiteY63" fmla="*/ 120795 h 328613"/>
                <a:gd name="connsiteX64" fmla="*/ 34638 w 328437"/>
                <a:gd name="connsiteY64" fmla="*/ 54552 h 328613"/>
                <a:gd name="connsiteX65" fmla="*/ 38523 w 328437"/>
                <a:gd name="connsiteY65" fmla="*/ 50656 h 328613"/>
                <a:gd name="connsiteX66" fmla="*/ 59241 w 328437"/>
                <a:gd name="connsiteY66" fmla="*/ 45460 h 328613"/>
                <a:gd name="connsiteX67" fmla="*/ 59241 w 328437"/>
                <a:gd name="connsiteY67" fmla="*/ 27276 h 328613"/>
                <a:gd name="connsiteX68" fmla="*/ 63126 w 328437"/>
                <a:gd name="connsiteY68" fmla="*/ 20782 h 328613"/>
                <a:gd name="connsiteX69" fmla="*/ 83844 w 328437"/>
                <a:gd name="connsiteY69" fmla="*/ 14287 h 328613"/>
                <a:gd name="connsiteX70" fmla="*/ 85139 w 328437"/>
                <a:gd name="connsiteY70" fmla="*/ 14287 h 328613"/>
                <a:gd name="connsiteX71" fmla="*/ 86434 w 328437"/>
                <a:gd name="connsiteY71" fmla="*/ 14287 h 328613"/>
                <a:gd name="connsiteX72" fmla="*/ 98088 w 328437"/>
                <a:gd name="connsiteY72" fmla="*/ 16885 h 328613"/>
                <a:gd name="connsiteX73" fmla="*/ 103268 w 328437"/>
                <a:gd name="connsiteY73" fmla="*/ 22081 h 328613"/>
                <a:gd name="connsiteX74" fmla="*/ 103268 w 328437"/>
                <a:gd name="connsiteY74" fmla="*/ 33771 h 328613"/>
                <a:gd name="connsiteX75" fmla="*/ 235348 w 328437"/>
                <a:gd name="connsiteY75" fmla="*/ 0 h 32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328437" h="328613">
                  <a:moveTo>
                    <a:pt x="94638" y="163513"/>
                  </a:moveTo>
                  <a:cubicBezTo>
                    <a:pt x="94638" y="163513"/>
                    <a:pt x="95937" y="163513"/>
                    <a:pt x="95937" y="163513"/>
                  </a:cubicBezTo>
                  <a:cubicBezTo>
                    <a:pt x="95937" y="163513"/>
                    <a:pt x="95937" y="163513"/>
                    <a:pt x="134903" y="169971"/>
                  </a:cubicBezTo>
                  <a:cubicBezTo>
                    <a:pt x="136202" y="169971"/>
                    <a:pt x="136202" y="169971"/>
                    <a:pt x="136202" y="171262"/>
                  </a:cubicBezTo>
                  <a:cubicBezTo>
                    <a:pt x="136202" y="171262"/>
                    <a:pt x="136202" y="171262"/>
                    <a:pt x="136202" y="238422"/>
                  </a:cubicBezTo>
                  <a:cubicBezTo>
                    <a:pt x="136202" y="238422"/>
                    <a:pt x="136202" y="239713"/>
                    <a:pt x="136202" y="239713"/>
                  </a:cubicBezTo>
                  <a:cubicBezTo>
                    <a:pt x="134903" y="239713"/>
                    <a:pt x="134903" y="239713"/>
                    <a:pt x="134903" y="239713"/>
                  </a:cubicBezTo>
                  <a:cubicBezTo>
                    <a:pt x="134903" y="239713"/>
                    <a:pt x="134903" y="239713"/>
                    <a:pt x="133604" y="239713"/>
                  </a:cubicBezTo>
                  <a:cubicBezTo>
                    <a:pt x="133604" y="239713"/>
                    <a:pt x="133604" y="239713"/>
                    <a:pt x="94638" y="226798"/>
                  </a:cubicBezTo>
                  <a:cubicBezTo>
                    <a:pt x="94638" y="226798"/>
                    <a:pt x="93339" y="225506"/>
                    <a:pt x="93339" y="225506"/>
                  </a:cubicBezTo>
                  <a:cubicBezTo>
                    <a:pt x="93339" y="225506"/>
                    <a:pt x="93339" y="225506"/>
                    <a:pt x="93339" y="166096"/>
                  </a:cubicBezTo>
                  <a:cubicBezTo>
                    <a:pt x="93339" y="164805"/>
                    <a:pt x="94638" y="164805"/>
                    <a:pt x="94638" y="163513"/>
                  </a:cubicBezTo>
                  <a:close/>
                  <a:moveTo>
                    <a:pt x="45714" y="157163"/>
                  </a:moveTo>
                  <a:cubicBezTo>
                    <a:pt x="46971" y="157163"/>
                    <a:pt x="46971" y="157163"/>
                    <a:pt x="48227" y="157163"/>
                  </a:cubicBezTo>
                  <a:cubicBezTo>
                    <a:pt x="48227" y="157163"/>
                    <a:pt x="48227" y="157163"/>
                    <a:pt x="74620" y="161051"/>
                  </a:cubicBezTo>
                  <a:cubicBezTo>
                    <a:pt x="74620" y="161051"/>
                    <a:pt x="75877" y="161051"/>
                    <a:pt x="75877" y="162347"/>
                  </a:cubicBezTo>
                  <a:cubicBezTo>
                    <a:pt x="75877" y="162347"/>
                    <a:pt x="75877" y="162347"/>
                    <a:pt x="75877" y="218071"/>
                  </a:cubicBezTo>
                  <a:cubicBezTo>
                    <a:pt x="75877" y="219367"/>
                    <a:pt x="75877" y="219367"/>
                    <a:pt x="74620" y="219367"/>
                  </a:cubicBezTo>
                  <a:cubicBezTo>
                    <a:pt x="74620" y="220663"/>
                    <a:pt x="74620" y="220663"/>
                    <a:pt x="73363" y="220663"/>
                  </a:cubicBezTo>
                  <a:cubicBezTo>
                    <a:pt x="73363" y="220663"/>
                    <a:pt x="73363" y="220663"/>
                    <a:pt x="46971" y="211592"/>
                  </a:cubicBezTo>
                  <a:cubicBezTo>
                    <a:pt x="45714" y="210296"/>
                    <a:pt x="45714" y="210296"/>
                    <a:pt x="45714" y="209000"/>
                  </a:cubicBezTo>
                  <a:cubicBezTo>
                    <a:pt x="45714" y="209000"/>
                    <a:pt x="45714" y="209000"/>
                    <a:pt x="45714" y="158459"/>
                  </a:cubicBezTo>
                  <a:cubicBezTo>
                    <a:pt x="45714" y="158459"/>
                    <a:pt x="45714" y="157163"/>
                    <a:pt x="45714" y="157163"/>
                  </a:cubicBezTo>
                  <a:close/>
                  <a:moveTo>
                    <a:pt x="34601" y="131763"/>
                  </a:moveTo>
                  <a:lnTo>
                    <a:pt x="34601" y="246063"/>
                  </a:lnTo>
                  <a:lnTo>
                    <a:pt x="161601" y="311151"/>
                  </a:lnTo>
                  <a:lnTo>
                    <a:pt x="161601" y="133351"/>
                  </a:lnTo>
                  <a:lnTo>
                    <a:pt x="134613" y="133351"/>
                  </a:lnTo>
                  <a:close/>
                  <a:moveTo>
                    <a:pt x="235241" y="15875"/>
                  </a:moveTo>
                  <a:cubicBezTo>
                    <a:pt x="235241" y="15875"/>
                    <a:pt x="235241" y="15875"/>
                    <a:pt x="147314" y="120775"/>
                  </a:cubicBezTo>
                  <a:cubicBezTo>
                    <a:pt x="147314" y="120775"/>
                    <a:pt x="147314" y="120775"/>
                    <a:pt x="165417" y="120775"/>
                  </a:cubicBezTo>
                  <a:cubicBezTo>
                    <a:pt x="169296" y="120775"/>
                    <a:pt x="171882" y="123365"/>
                    <a:pt x="171882" y="127251"/>
                  </a:cubicBezTo>
                  <a:cubicBezTo>
                    <a:pt x="171882" y="127251"/>
                    <a:pt x="171882" y="127251"/>
                    <a:pt x="171882" y="311150"/>
                  </a:cubicBezTo>
                  <a:cubicBezTo>
                    <a:pt x="171882" y="311150"/>
                    <a:pt x="171882" y="311150"/>
                    <a:pt x="222311" y="285249"/>
                  </a:cubicBezTo>
                  <a:cubicBezTo>
                    <a:pt x="222311" y="285249"/>
                    <a:pt x="222311" y="285249"/>
                    <a:pt x="222311" y="157037"/>
                  </a:cubicBezTo>
                  <a:cubicBezTo>
                    <a:pt x="222311" y="155742"/>
                    <a:pt x="222311" y="154447"/>
                    <a:pt x="223604" y="154447"/>
                  </a:cubicBezTo>
                  <a:cubicBezTo>
                    <a:pt x="223604" y="154447"/>
                    <a:pt x="223604" y="154447"/>
                    <a:pt x="257223" y="151857"/>
                  </a:cubicBezTo>
                  <a:cubicBezTo>
                    <a:pt x="257223" y="151857"/>
                    <a:pt x="258516" y="151857"/>
                    <a:pt x="258516" y="151857"/>
                  </a:cubicBezTo>
                  <a:cubicBezTo>
                    <a:pt x="258516" y="153152"/>
                    <a:pt x="259809" y="153152"/>
                    <a:pt x="259809" y="153152"/>
                  </a:cubicBezTo>
                  <a:cubicBezTo>
                    <a:pt x="259809" y="153152"/>
                    <a:pt x="259809" y="153152"/>
                    <a:pt x="259809" y="265823"/>
                  </a:cubicBezTo>
                  <a:cubicBezTo>
                    <a:pt x="259809" y="265823"/>
                    <a:pt x="259809" y="265823"/>
                    <a:pt x="293429" y="247692"/>
                  </a:cubicBezTo>
                  <a:cubicBezTo>
                    <a:pt x="293429" y="247692"/>
                    <a:pt x="293429" y="247692"/>
                    <a:pt x="294722" y="118185"/>
                  </a:cubicBezTo>
                  <a:cubicBezTo>
                    <a:pt x="294722" y="116890"/>
                    <a:pt x="294722" y="115595"/>
                    <a:pt x="296015" y="114300"/>
                  </a:cubicBezTo>
                  <a:cubicBezTo>
                    <a:pt x="297308" y="113005"/>
                    <a:pt x="298601" y="111710"/>
                    <a:pt x="301187" y="111710"/>
                  </a:cubicBezTo>
                  <a:lnTo>
                    <a:pt x="307652" y="113005"/>
                  </a:lnTo>
                  <a:cubicBezTo>
                    <a:pt x="307652" y="113005"/>
                    <a:pt x="307652" y="113005"/>
                    <a:pt x="235241" y="15875"/>
                  </a:cubicBezTo>
                  <a:close/>
                  <a:moveTo>
                    <a:pt x="235348" y="0"/>
                  </a:moveTo>
                  <a:cubicBezTo>
                    <a:pt x="235348" y="0"/>
                    <a:pt x="237938" y="0"/>
                    <a:pt x="239233" y="0"/>
                  </a:cubicBezTo>
                  <a:cubicBezTo>
                    <a:pt x="241823" y="1299"/>
                    <a:pt x="241823" y="2598"/>
                    <a:pt x="241823" y="2598"/>
                  </a:cubicBezTo>
                  <a:cubicBezTo>
                    <a:pt x="241823" y="2598"/>
                    <a:pt x="241823" y="2598"/>
                    <a:pt x="327286" y="115599"/>
                  </a:cubicBezTo>
                  <a:cubicBezTo>
                    <a:pt x="327286" y="115599"/>
                    <a:pt x="329876" y="119496"/>
                    <a:pt x="327286" y="123392"/>
                  </a:cubicBezTo>
                  <a:cubicBezTo>
                    <a:pt x="324697" y="125990"/>
                    <a:pt x="322107" y="125990"/>
                    <a:pt x="322107" y="125990"/>
                  </a:cubicBezTo>
                  <a:cubicBezTo>
                    <a:pt x="322107" y="125990"/>
                    <a:pt x="322107" y="125990"/>
                    <a:pt x="307863" y="124691"/>
                  </a:cubicBezTo>
                  <a:cubicBezTo>
                    <a:pt x="307863" y="124691"/>
                    <a:pt x="307863" y="124691"/>
                    <a:pt x="307863" y="251980"/>
                  </a:cubicBezTo>
                  <a:cubicBezTo>
                    <a:pt x="307863" y="254578"/>
                    <a:pt x="306568" y="255877"/>
                    <a:pt x="303978" y="257175"/>
                  </a:cubicBezTo>
                  <a:cubicBezTo>
                    <a:pt x="303978" y="257175"/>
                    <a:pt x="303978" y="257175"/>
                    <a:pt x="169308" y="327314"/>
                  </a:cubicBezTo>
                  <a:cubicBezTo>
                    <a:pt x="169308" y="327314"/>
                    <a:pt x="168013" y="328613"/>
                    <a:pt x="166718" y="328613"/>
                  </a:cubicBezTo>
                  <a:cubicBezTo>
                    <a:pt x="165424" y="328613"/>
                    <a:pt x="164129" y="327314"/>
                    <a:pt x="164129" y="327314"/>
                  </a:cubicBezTo>
                  <a:cubicBezTo>
                    <a:pt x="164129" y="327314"/>
                    <a:pt x="164129" y="327314"/>
                    <a:pt x="25574" y="254578"/>
                  </a:cubicBezTo>
                  <a:cubicBezTo>
                    <a:pt x="22984" y="254578"/>
                    <a:pt x="21689" y="251980"/>
                    <a:pt x="21689" y="249382"/>
                  </a:cubicBezTo>
                  <a:cubicBezTo>
                    <a:pt x="21689" y="249382"/>
                    <a:pt x="21689" y="249382"/>
                    <a:pt x="21689" y="129887"/>
                  </a:cubicBezTo>
                  <a:cubicBezTo>
                    <a:pt x="21689" y="129887"/>
                    <a:pt x="21689" y="129887"/>
                    <a:pt x="6150" y="129887"/>
                  </a:cubicBezTo>
                  <a:cubicBezTo>
                    <a:pt x="3561" y="129887"/>
                    <a:pt x="2266" y="128588"/>
                    <a:pt x="971" y="127289"/>
                  </a:cubicBezTo>
                  <a:cubicBezTo>
                    <a:pt x="-324" y="125990"/>
                    <a:pt x="-324" y="123392"/>
                    <a:pt x="971" y="120795"/>
                  </a:cubicBezTo>
                  <a:cubicBezTo>
                    <a:pt x="971" y="120795"/>
                    <a:pt x="971" y="120795"/>
                    <a:pt x="34638" y="54552"/>
                  </a:cubicBezTo>
                  <a:cubicBezTo>
                    <a:pt x="35933" y="51955"/>
                    <a:pt x="37228" y="51955"/>
                    <a:pt x="38523" y="50656"/>
                  </a:cubicBezTo>
                  <a:cubicBezTo>
                    <a:pt x="38523" y="50656"/>
                    <a:pt x="38523" y="50656"/>
                    <a:pt x="59241" y="45460"/>
                  </a:cubicBezTo>
                  <a:cubicBezTo>
                    <a:pt x="59241" y="45460"/>
                    <a:pt x="59241" y="45460"/>
                    <a:pt x="59241" y="27276"/>
                  </a:cubicBezTo>
                  <a:cubicBezTo>
                    <a:pt x="59241" y="24678"/>
                    <a:pt x="60536" y="22081"/>
                    <a:pt x="63126" y="20782"/>
                  </a:cubicBezTo>
                  <a:cubicBezTo>
                    <a:pt x="63126" y="20782"/>
                    <a:pt x="63126" y="20782"/>
                    <a:pt x="83844" y="14287"/>
                  </a:cubicBezTo>
                  <a:cubicBezTo>
                    <a:pt x="83844" y="14287"/>
                    <a:pt x="83844" y="14287"/>
                    <a:pt x="85139" y="14287"/>
                  </a:cubicBezTo>
                  <a:cubicBezTo>
                    <a:pt x="86434" y="14287"/>
                    <a:pt x="86434" y="14287"/>
                    <a:pt x="86434" y="14287"/>
                  </a:cubicBezTo>
                  <a:cubicBezTo>
                    <a:pt x="86434" y="14287"/>
                    <a:pt x="86434" y="14287"/>
                    <a:pt x="98088" y="16885"/>
                  </a:cubicBezTo>
                  <a:cubicBezTo>
                    <a:pt x="100678" y="16885"/>
                    <a:pt x="103268" y="19483"/>
                    <a:pt x="103268" y="22081"/>
                  </a:cubicBezTo>
                  <a:cubicBezTo>
                    <a:pt x="103268" y="22081"/>
                    <a:pt x="103268" y="22081"/>
                    <a:pt x="103268" y="33771"/>
                  </a:cubicBezTo>
                  <a:cubicBezTo>
                    <a:pt x="103268" y="33771"/>
                    <a:pt x="103268" y="33771"/>
                    <a:pt x="235348" y="0"/>
                  </a:cubicBezTo>
                  <a:close/>
                </a:path>
              </a:pathLst>
            </a:custGeom>
            <a:solidFill>
              <a:schemeClr val="accent4"/>
            </a:solidFill>
            <a:ln>
              <a:noFill/>
            </a:ln>
          </p:spPr>
          <p:txBody>
            <a:bodyPr anchor="ctr"/>
            <a:lstStyle/>
            <a:p>
              <a:pPr algn="ctr"/>
              <a:endParaRPr sz="8533">
                <a:cs typeface="+mn-ea"/>
                <a:sym typeface="+mn-lt"/>
              </a:endParaRPr>
            </a:p>
          </p:txBody>
        </p:sp>
        <p:sp>
          <p:nvSpPr>
            <p:cNvPr id="42" name="任意多边形: 形状 24"/>
            <p:cNvSpPr>
              <a:spLocks noChangeAspect="1"/>
            </p:cNvSpPr>
            <p:nvPr/>
          </p:nvSpPr>
          <p:spPr bwMode="auto">
            <a:xfrm>
              <a:off x="4259684" y="4724084"/>
              <a:ext cx="444749" cy="443446"/>
            </a:xfrm>
            <a:custGeom>
              <a:avLst/>
              <a:gdLst>
                <a:gd name="connsiteX0" fmla="*/ 101959 w 337539"/>
                <a:gd name="connsiteY0" fmla="*/ 249238 h 336550"/>
                <a:gd name="connsiteX1" fmla="*/ 78262 w 337539"/>
                <a:gd name="connsiteY1" fmla="*/ 259629 h 336550"/>
                <a:gd name="connsiteX2" fmla="*/ 74313 w 337539"/>
                <a:gd name="connsiteY2" fmla="*/ 276514 h 336550"/>
                <a:gd name="connsiteX3" fmla="*/ 111174 w 337539"/>
                <a:gd name="connsiteY3" fmla="*/ 299894 h 336550"/>
                <a:gd name="connsiteX4" fmla="*/ 128288 w 337539"/>
                <a:gd name="connsiteY4" fmla="*/ 306388 h 336550"/>
                <a:gd name="connsiteX5" fmla="*/ 101959 w 337539"/>
                <a:gd name="connsiteY5" fmla="*/ 249238 h 336550"/>
                <a:gd name="connsiteX6" fmla="*/ 126700 w 337539"/>
                <a:gd name="connsiteY6" fmla="*/ 247650 h 336550"/>
                <a:gd name="connsiteX7" fmla="*/ 163530 w 337539"/>
                <a:gd name="connsiteY7" fmla="*/ 311436 h 336550"/>
                <a:gd name="connsiteX8" fmla="*/ 264813 w 337539"/>
                <a:gd name="connsiteY8" fmla="*/ 274987 h 336550"/>
                <a:gd name="connsiteX9" fmla="*/ 251660 w 337539"/>
                <a:gd name="connsiteY9" fmla="*/ 274987 h 336550"/>
                <a:gd name="connsiteX10" fmla="*/ 179315 w 337539"/>
                <a:gd name="connsiteY10" fmla="*/ 260668 h 336550"/>
                <a:gd name="connsiteX11" fmla="*/ 126700 w 337539"/>
                <a:gd name="connsiteY11" fmla="*/ 247650 h 336550"/>
                <a:gd name="connsiteX12" fmla="*/ 29863 w 337539"/>
                <a:gd name="connsiteY12" fmla="*/ 209550 h 336550"/>
                <a:gd name="connsiteX13" fmla="*/ 52444 w 337539"/>
                <a:gd name="connsiteY13" fmla="*/ 252413 h 336550"/>
                <a:gd name="connsiteX14" fmla="*/ 59086 w 337539"/>
                <a:gd name="connsiteY14" fmla="*/ 243321 h 336550"/>
                <a:gd name="connsiteX15" fmla="*/ 94951 w 337539"/>
                <a:gd name="connsiteY15" fmla="*/ 223838 h 336550"/>
                <a:gd name="connsiteX16" fmla="*/ 93623 w 337539"/>
                <a:gd name="connsiteY16" fmla="*/ 214746 h 336550"/>
                <a:gd name="connsiteX17" fmla="*/ 29863 w 337539"/>
                <a:gd name="connsiteY17" fmla="*/ 209550 h 336550"/>
                <a:gd name="connsiteX18" fmla="*/ 312707 w 337539"/>
                <a:gd name="connsiteY18" fmla="*/ 161925 h 336550"/>
                <a:gd name="connsiteX19" fmla="*/ 245420 w 337539"/>
                <a:gd name="connsiteY19" fmla="*/ 189789 h 336550"/>
                <a:gd name="connsiteX20" fmla="*/ 118763 w 337539"/>
                <a:gd name="connsiteY20" fmla="*/ 213673 h 336550"/>
                <a:gd name="connsiteX21" fmla="*/ 120082 w 337539"/>
                <a:gd name="connsiteY21" fmla="*/ 222961 h 336550"/>
                <a:gd name="connsiteX22" fmla="*/ 121402 w 337539"/>
                <a:gd name="connsiteY22" fmla="*/ 222961 h 336550"/>
                <a:gd name="connsiteX23" fmla="*/ 188688 w 337539"/>
                <a:gd name="connsiteY23" fmla="*/ 237556 h 336550"/>
                <a:gd name="connsiteX24" fmla="*/ 253336 w 337539"/>
                <a:gd name="connsiteY24" fmla="*/ 250825 h 336550"/>
                <a:gd name="connsiteX25" fmla="*/ 290278 w 337539"/>
                <a:gd name="connsiteY25" fmla="*/ 246845 h 336550"/>
                <a:gd name="connsiteX26" fmla="*/ 300833 w 337539"/>
                <a:gd name="connsiteY26" fmla="*/ 226942 h 336550"/>
                <a:gd name="connsiteX27" fmla="*/ 312707 w 337539"/>
                <a:gd name="connsiteY27" fmla="*/ 161925 h 336550"/>
                <a:gd name="connsiteX28" fmla="*/ 41891 w 337539"/>
                <a:gd name="connsiteY28" fmla="*/ 101600 h 336550"/>
                <a:gd name="connsiteX29" fmla="*/ 36640 w 337539"/>
                <a:gd name="connsiteY29" fmla="*/ 110888 h 336550"/>
                <a:gd name="connsiteX30" fmla="*/ 26138 w 337539"/>
                <a:gd name="connsiteY30" fmla="*/ 183866 h 336550"/>
                <a:gd name="connsiteX31" fmla="*/ 90463 w 337539"/>
                <a:gd name="connsiteY31" fmla="*/ 190500 h 336550"/>
                <a:gd name="connsiteX32" fmla="*/ 91776 w 337539"/>
                <a:gd name="connsiteY32" fmla="*/ 165290 h 336550"/>
                <a:gd name="connsiteX33" fmla="*/ 44517 w 337539"/>
                <a:gd name="connsiteY33" fmla="*/ 113542 h 336550"/>
                <a:gd name="connsiteX34" fmla="*/ 41891 w 337539"/>
                <a:gd name="connsiteY34" fmla="*/ 101600 h 336550"/>
                <a:gd name="connsiteX35" fmla="*/ 258855 w 337539"/>
                <a:gd name="connsiteY35" fmla="*/ 57150 h 336550"/>
                <a:gd name="connsiteX36" fmla="*/ 204466 w 337539"/>
                <a:gd name="connsiteY36" fmla="*/ 115243 h 336550"/>
                <a:gd name="connsiteX37" fmla="*/ 123547 w 337539"/>
                <a:gd name="connsiteY37" fmla="*/ 173336 h 336550"/>
                <a:gd name="connsiteX38" fmla="*/ 115588 w 337539"/>
                <a:gd name="connsiteY38" fmla="*/ 173336 h 336550"/>
                <a:gd name="connsiteX39" fmla="*/ 115588 w 337539"/>
                <a:gd name="connsiteY39" fmla="*/ 190500 h 336550"/>
                <a:gd name="connsiteX40" fmla="*/ 309263 w 337539"/>
                <a:gd name="connsiteY40" fmla="*/ 136368 h 336550"/>
                <a:gd name="connsiteX41" fmla="*/ 258855 w 337539"/>
                <a:gd name="connsiteY41" fmla="*/ 57150 h 336550"/>
                <a:gd name="connsiteX42" fmla="*/ 136226 w 337539"/>
                <a:gd name="connsiteY42" fmla="*/ 28575 h 336550"/>
                <a:gd name="connsiteX43" fmla="*/ 69863 w 337539"/>
                <a:gd name="connsiteY43" fmla="*/ 62888 h 336550"/>
                <a:gd name="connsiteX44" fmla="*/ 95081 w 337539"/>
                <a:gd name="connsiteY44" fmla="*/ 138113 h 336550"/>
                <a:gd name="connsiteX45" fmla="*/ 136226 w 337539"/>
                <a:gd name="connsiteY45" fmla="*/ 28575 h 336550"/>
                <a:gd name="connsiteX46" fmla="*/ 167601 w 337539"/>
                <a:gd name="connsiteY46" fmla="*/ 25400 h 336550"/>
                <a:gd name="connsiteX47" fmla="*/ 118763 w 337539"/>
                <a:gd name="connsiteY47" fmla="*/ 147638 h 336550"/>
                <a:gd name="connsiteX48" fmla="*/ 124043 w 337539"/>
                <a:gd name="connsiteY48" fmla="*/ 147638 h 336550"/>
                <a:gd name="connsiteX49" fmla="*/ 184760 w 337539"/>
                <a:gd name="connsiteY49" fmla="*/ 101634 h 336550"/>
                <a:gd name="connsiteX50" fmla="*/ 236238 w 337539"/>
                <a:gd name="connsiteY50" fmla="*/ 42487 h 336550"/>
                <a:gd name="connsiteX51" fmla="*/ 226999 w 337539"/>
                <a:gd name="connsiteY51" fmla="*/ 37229 h 336550"/>
                <a:gd name="connsiteX52" fmla="*/ 168921 w 337539"/>
                <a:gd name="connsiteY52" fmla="*/ 25400 h 336550"/>
                <a:gd name="connsiteX53" fmla="*/ 167601 w 337539"/>
                <a:gd name="connsiteY53" fmla="*/ 25400 h 336550"/>
                <a:gd name="connsiteX54" fmla="*/ 168770 w 337539"/>
                <a:gd name="connsiteY54" fmla="*/ 0 h 336550"/>
                <a:gd name="connsiteX55" fmla="*/ 237249 w 337539"/>
                <a:gd name="connsiteY55" fmla="*/ 14461 h 336550"/>
                <a:gd name="connsiteX56" fmla="*/ 325481 w 337539"/>
                <a:gd name="connsiteY56" fmla="*/ 107801 h 336550"/>
                <a:gd name="connsiteX57" fmla="*/ 322848 w 337539"/>
                <a:gd name="connsiteY57" fmla="*/ 236637 h 336550"/>
                <a:gd name="connsiteX58" fmla="*/ 308362 w 337539"/>
                <a:gd name="connsiteY58" fmla="*/ 261615 h 336550"/>
                <a:gd name="connsiteX59" fmla="*/ 305728 w 337539"/>
                <a:gd name="connsiteY59" fmla="*/ 266874 h 336550"/>
                <a:gd name="connsiteX60" fmla="*/ 168770 w 337539"/>
                <a:gd name="connsiteY60" fmla="*/ 336550 h 336550"/>
                <a:gd name="connsiteX61" fmla="*/ 100290 w 337539"/>
                <a:gd name="connsiteY61" fmla="*/ 322089 h 336550"/>
                <a:gd name="connsiteX62" fmla="*/ 12058 w 337539"/>
                <a:gd name="connsiteY62" fmla="*/ 228749 h 336550"/>
                <a:gd name="connsiteX63" fmla="*/ 14691 w 337539"/>
                <a:gd name="connsiteY63" fmla="*/ 99913 h 336550"/>
                <a:gd name="connsiteX64" fmla="*/ 168770 w 337539"/>
                <a:gd name="connsiteY64"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337539" h="336550">
                  <a:moveTo>
                    <a:pt x="101959" y="249238"/>
                  </a:moveTo>
                  <a:cubicBezTo>
                    <a:pt x="94060" y="250537"/>
                    <a:pt x="84845" y="253135"/>
                    <a:pt x="78262" y="259629"/>
                  </a:cubicBezTo>
                  <a:cubicBezTo>
                    <a:pt x="75629" y="263526"/>
                    <a:pt x="74313" y="270020"/>
                    <a:pt x="74313" y="276514"/>
                  </a:cubicBezTo>
                  <a:cubicBezTo>
                    <a:pt x="86161" y="285606"/>
                    <a:pt x="98009" y="293399"/>
                    <a:pt x="111174" y="299894"/>
                  </a:cubicBezTo>
                  <a:cubicBezTo>
                    <a:pt x="116440" y="302492"/>
                    <a:pt x="123022" y="303790"/>
                    <a:pt x="128288" y="306388"/>
                  </a:cubicBezTo>
                  <a:cubicBezTo>
                    <a:pt x="116440" y="288204"/>
                    <a:pt x="107224" y="268721"/>
                    <a:pt x="101959" y="249238"/>
                  </a:cubicBezTo>
                  <a:close/>
                  <a:moveTo>
                    <a:pt x="126700" y="247650"/>
                  </a:moveTo>
                  <a:cubicBezTo>
                    <a:pt x="134592" y="269780"/>
                    <a:pt x="147746" y="291910"/>
                    <a:pt x="163530" y="311436"/>
                  </a:cubicBezTo>
                  <a:cubicBezTo>
                    <a:pt x="201676" y="312738"/>
                    <a:pt x="237191" y="299721"/>
                    <a:pt x="264813" y="274987"/>
                  </a:cubicBezTo>
                  <a:cubicBezTo>
                    <a:pt x="260867" y="274987"/>
                    <a:pt x="256921" y="274987"/>
                    <a:pt x="251660" y="274987"/>
                  </a:cubicBezTo>
                  <a:cubicBezTo>
                    <a:pt x="224037" y="274987"/>
                    <a:pt x="201676" y="267177"/>
                    <a:pt x="179315" y="260668"/>
                  </a:cubicBezTo>
                  <a:cubicBezTo>
                    <a:pt x="162215" y="254159"/>
                    <a:pt x="146431" y="248952"/>
                    <a:pt x="126700" y="247650"/>
                  </a:cubicBezTo>
                  <a:close/>
                  <a:moveTo>
                    <a:pt x="29863" y="209550"/>
                  </a:moveTo>
                  <a:cubicBezTo>
                    <a:pt x="35176" y="225137"/>
                    <a:pt x="43146" y="239424"/>
                    <a:pt x="52444" y="252413"/>
                  </a:cubicBezTo>
                  <a:cubicBezTo>
                    <a:pt x="53773" y="249815"/>
                    <a:pt x="56429" y="245919"/>
                    <a:pt x="59086" y="243321"/>
                  </a:cubicBezTo>
                  <a:cubicBezTo>
                    <a:pt x="68384" y="231631"/>
                    <a:pt x="84324" y="226436"/>
                    <a:pt x="94951" y="223838"/>
                  </a:cubicBezTo>
                  <a:cubicBezTo>
                    <a:pt x="94951" y="221240"/>
                    <a:pt x="93623" y="217343"/>
                    <a:pt x="93623" y="214746"/>
                  </a:cubicBezTo>
                  <a:cubicBezTo>
                    <a:pt x="72369" y="214746"/>
                    <a:pt x="51116" y="212148"/>
                    <a:pt x="29863" y="209550"/>
                  </a:cubicBezTo>
                  <a:close/>
                  <a:moveTo>
                    <a:pt x="312707" y="161925"/>
                  </a:moveTo>
                  <a:cubicBezTo>
                    <a:pt x="298194" y="168559"/>
                    <a:pt x="274446" y="179174"/>
                    <a:pt x="245420" y="189789"/>
                  </a:cubicBezTo>
                  <a:cubicBezTo>
                    <a:pt x="203201" y="204385"/>
                    <a:pt x="159663" y="212346"/>
                    <a:pt x="118763" y="213673"/>
                  </a:cubicBezTo>
                  <a:cubicBezTo>
                    <a:pt x="118763" y="217653"/>
                    <a:pt x="120082" y="220307"/>
                    <a:pt x="120082" y="222961"/>
                  </a:cubicBezTo>
                  <a:cubicBezTo>
                    <a:pt x="120082" y="222961"/>
                    <a:pt x="121402" y="222961"/>
                    <a:pt x="121402" y="222961"/>
                  </a:cubicBezTo>
                  <a:cubicBezTo>
                    <a:pt x="146469" y="222961"/>
                    <a:pt x="167579" y="229595"/>
                    <a:pt x="188688" y="237556"/>
                  </a:cubicBezTo>
                  <a:cubicBezTo>
                    <a:pt x="207159" y="244191"/>
                    <a:pt x="228269" y="250825"/>
                    <a:pt x="253336" y="250825"/>
                  </a:cubicBezTo>
                  <a:cubicBezTo>
                    <a:pt x="265210" y="250825"/>
                    <a:pt x="277084" y="249498"/>
                    <a:pt x="290278" y="246845"/>
                  </a:cubicBezTo>
                  <a:cubicBezTo>
                    <a:pt x="294236" y="240210"/>
                    <a:pt x="296875" y="233576"/>
                    <a:pt x="300833" y="226942"/>
                  </a:cubicBezTo>
                  <a:cubicBezTo>
                    <a:pt x="310068" y="207039"/>
                    <a:pt x="314026" y="184482"/>
                    <a:pt x="312707" y="161925"/>
                  </a:cubicBezTo>
                  <a:close/>
                  <a:moveTo>
                    <a:pt x="41891" y="101600"/>
                  </a:moveTo>
                  <a:cubicBezTo>
                    <a:pt x="39266" y="104254"/>
                    <a:pt x="37953" y="108234"/>
                    <a:pt x="36640" y="110888"/>
                  </a:cubicBezTo>
                  <a:cubicBezTo>
                    <a:pt x="27451" y="133445"/>
                    <a:pt x="23513" y="158655"/>
                    <a:pt x="26138" y="183866"/>
                  </a:cubicBezTo>
                  <a:cubicBezTo>
                    <a:pt x="47142" y="187846"/>
                    <a:pt x="68146" y="190500"/>
                    <a:pt x="90463" y="190500"/>
                  </a:cubicBezTo>
                  <a:cubicBezTo>
                    <a:pt x="90463" y="182539"/>
                    <a:pt x="90463" y="174578"/>
                    <a:pt x="91776" y="165290"/>
                  </a:cubicBezTo>
                  <a:cubicBezTo>
                    <a:pt x="78648" y="158655"/>
                    <a:pt x="55019" y="141406"/>
                    <a:pt x="44517" y="113542"/>
                  </a:cubicBezTo>
                  <a:cubicBezTo>
                    <a:pt x="43204" y="109561"/>
                    <a:pt x="41891" y="105580"/>
                    <a:pt x="41891" y="101600"/>
                  </a:cubicBezTo>
                  <a:close/>
                  <a:moveTo>
                    <a:pt x="258855" y="57150"/>
                  </a:moveTo>
                  <a:cubicBezTo>
                    <a:pt x="234977" y="72993"/>
                    <a:pt x="219058" y="95438"/>
                    <a:pt x="204466" y="115243"/>
                  </a:cubicBezTo>
                  <a:cubicBezTo>
                    <a:pt x="184568" y="144289"/>
                    <a:pt x="164670" y="173336"/>
                    <a:pt x="123547" y="173336"/>
                  </a:cubicBezTo>
                  <a:cubicBezTo>
                    <a:pt x="120894" y="173336"/>
                    <a:pt x="118241" y="173336"/>
                    <a:pt x="115588" y="173336"/>
                  </a:cubicBezTo>
                  <a:cubicBezTo>
                    <a:pt x="115588" y="178617"/>
                    <a:pt x="115588" y="183899"/>
                    <a:pt x="115588" y="190500"/>
                  </a:cubicBezTo>
                  <a:cubicBezTo>
                    <a:pt x="211099" y="185219"/>
                    <a:pt x="286712" y="148250"/>
                    <a:pt x="309263" y="136368"/>
                  </a:cubicBezTo>
                  <a:cubicBezTo>
                    <a:pt x="301304" y="104681"/>
                    <a:pt x="284059" y="76954"/>
                    <a:pt x="258855" y="57150"/>
                  </a:cubicBezTo>
                  <a:close/>
                  <a:moveTo>
                    <a:pt x="136226" y="28575"/>
                  </a:moveTo>
                  <a:cubicBezTo>
                    <a:pt x="111008" y="35174"/>
                    <a:pt x="88444" y="47051"/>
                    <a:pt x="69863" y="62888"/>
                  </a:cubicBezTo>
                  <a:cubicBezTo>
                    <a:pt x="55263" y="99841"/>
                    <a:pt x="76499" y="123596"/>
                    <a:pt x="95081" y="138113"/>
                  </a:cubicBezTo>
                  <a:cubicBezTo>
                    <a:pt x="103044" y="91922"/>
                    <a:pt x="121626" y="52330"/>
                    <a:pt x="136226" y="28575"/>
                  </a:cubicBezTo>
                  <a:close/>
                  <a:moveTo>
                    <a:pt x="167601" y="25400"/>
                  </a:moveTo>
                  <a:cubicBezTo>
                    <a:pt x="158361" y="39858"/>
                    <a:pt x="128003" y="87176"/>
                    <a:pt x="118763" y="147638"/>
                  </a:cubicBezTo>
                  <a:cubicBezTo>
                    <a:pt x="120083" y="147638"/>
                    <a:pt x="122723" y="147638"/>
                    <a:pt x="124043" y="147638"/>
                  </a:cubicBezTo>
                  <a:cubicBezTo>
                    <a:pt x="151762" y="147638"/>
                    <a:pt x="164961" y="127922"/>
                    <a:pt x="184760" y="101634"/>
                  </a:cubicBezTo>
                  <a:cubicBezTo>
                    <a:pt x="197960" y="81919"/>
                    <a:pt x="212479" y="59574"/>
                    <a:pt x="236238" y="42487"/>
                  </a:cubicBezTo>
                  <a:cubicBezTo>
                    <a:pt x="233598" y="41173"/>
                    <a:pt x="230958" y="38544"/>
                    <a:pt x="226999" y="37229"/>
                  </a:cubicBezTo>
                  <a:cubicBezTo>
                    <a:pt x="208519" y="29343"/>
                    <a:pt x="188720" y="25400"/>
                    <a:pt x="168921" y="25400"/>
                  </a:cubicBezTo>
                  <a:cubicBezTo>
                    <a:pt x="168921" y="25400"/>
                    <a:pt x="167601" y="25400"/>
                    <a:pt x="167601" y="25400"/>
                  </a:cubicBezTo>
                  <a:close/>
                  <a:moveTo>
                    <a:pt x="168770" y="0"/>
                  </a:moveTo>
                  <a:cubicBezTo>
                    <a:pt x="192474" y="0"/>
                    <a:pt x="216178" y="5258"/>
                    <a:pt x="237249" y="14461"/>
                  </a:cubicBezTo>
                  <a:cubicBezTo>
                    <a:pt x="278073" y="32866"/>
                    <a:pt x="309679" y="65732"/>
                    <a:pt x="325481" y="107801"/>
                  </a:cubicBezTo>
                  <a:cubicBezTo>
                    <a:pt x="342601" y="149870"/>
                    <a:pt x="341284" y="195883"/>
                    <a:pt x="322848" y="236637"/>
                  </a:cubicBezTo>
                  <a:cubicBezTo>
                    <a:pt x="318897" y="245839"/>
                    <a:pt x="313629" y="253727"/>
                    <a:pt x="308362" y="261615"/>
                  </a:cubicBezTo>
                  <a:cubicBezTo>
                    <a:pt x="308362" y="261615"/>
                    <a:pt x="308362" y="261615"/>
                    <a:pt x="305728" y="266874"/>
                  </a:cubicBezTo>
                  <a:cubicBezTo>
                    <a:pt x="274122" y="310257"/>
                    <a:pt x="222763" y="336550"/>
                    <a:pt x="168770" y="336550"/>
                  </a:cubicBezTo>
                  <a:cubicBezTo>
                    <a:pt x="145065" y="336550"/>
                    <a:pt x="121361" y="331292"/>
                    <a:pt x="100290" y="322089"/>
                  </a:cubicBezTo>
                  <a:cubicBezTo>
                    <a:pt x="59466" y="303684"/>
                    <a:pt x="27861" y="270818"/>
                    <a:pt x="12058" y="228749"/>
                  </a:cubicBezTo>
                  <a:cubicBezTo>
                    <a:pt x="-5062" y="186680"/>
                    <a:pt x="-3745" y="140667"/>
                    <a:pt x="14691" y="99913"/>
                  </a:cubicBezTo>
                  <a:cubicBezTo>
                    <a:pt x="42346" y="39439"/>
                    <a:pt x="102924" y="0"/>
                    <a:pt x="168770" y="0"/>
                  </a:cubicBezTo>
                  <a:close/>
                </a:path>
              </a:pathLst>
            </a:custGeom>
            <a:solidFill>
              <a:schemeClr val="accent3"/>
            </a:solidFill>
            <a:ln>
              <a:noFill/>
            </a:ln>
          </p:spPr>
          <p:txBody>
            <a:bodyPr anchor="ctr"/>
            <a:lstStyle/>
            <a:p>
              <a:pPr algn="ctr"/>
              <a:endParaRPr sz="8533">
                <a:cs typeface="+mn-ea"/>
                <a:sym typeface="+mn-lt"/>
              </a:endParaRPr>
            </a:p>
          </p:txBody>
        </p:sp>
        <p:sp>
          <p:nvSpPr>
            <p:cNvPr id="43" name="任意多边形: 形状 25"/>
            <p:cNvSpPr>
              <a:spLocks noChangeAspect="1"/>
            </p:cNvSpPr>
            <p:nvPr/>
          </p:nvSpPr>
          <p:spPr bwMode="auto">
            <a:xfrm>
              <a:off x="7473242" y="4716513"/>
              <a:ext cx="460752" cy="458588"/>
            </a:xfrm>
            <a:custGeom>
              <a:avLst/>
              <a:gdLst>
                <a:gd name="connsiteX0" fmla="*/ 241300 w 338138"/>
                <a:gd name="connsiteY0" fmla="*/ 103187 h 336550"/>
                <a:gd name="connsiteX1" fmla="*/ 152400 w 338138"/>
                <a:gd name="connsiteY1" fmla="*/ 193675 h 336550"/>
                <a:gd name="connsiteX2" fmla="*/ 96837 w 338138"/>
                <a:gd name="connsiteY2" fmla="*/ 136525 h 336550"/>
                <a:gd name="connsiteX3" fmla="*/ 77787 w 338138"/>
                <a:gd name="connsiteY3" fmla="*/ 157162 h 336550"/>
                <a:gd name="connsiteX4" fmla="*/ 152400 w 338138"/>
                <a:gd name="connsiteY4" fmla="*/ 233362 h 336550"/>
                <a:gd name="connsiteX5" fmla="*/ 261937 w 338138"/>
                <a:gd name="connsiteY5" fmla="*/ 123825 h 336550"/>
                <a:gd name="connsiteX6" fmla="*/ 241301 w 338138"/>
                <a:gd name="connsiteY6" fmla="*/ 77787 h 336550"/>
                <a:gd name="connsiteX7" fmla="*/ 287338 w 338138"/>
                <a:gd name="connsiteY7" fmla="*/ 123825 h 336550"/>
                <a:gd name="connsiteX8" fmla="*/ 152400 w 338138"/>
                <a:gd name="connsiteY8" fmla="*/ 258762 h 336550"/>
                <a:gd name="connsiteX9" fmla="*/ 50800 w 338138"/>
                <a:gd name="connsiteY9" fmla="*/ 157162 h 336550"/>
                <a:gd name="connsiteX10" fmla="*/ 96838 w 338138"/>
                <a:gd name="connsiteY10" fmla="*/ 111125 h 336550"/>
                <a:gd name="connsiteX11" fmla="*/ 152400 w 338138"/>
                <a:gd name="connsiteY11" fmla="*/ 165100 h 336550"/>
                <a:gd name="connsiteX12" fmla="*/ 169069 w 338138"/>
                <a:gd name="connsiteY12" fmla="*/ 19050 h 336550"/>
                <a:gd name="connsiteX13" fmla="*/ 19050 w 338138"/>
                <a:gd name="connsiteY13" fmla="*/ 169069 h 336550"/>
                <a:gd name="connsiteX14" fmla="*/ 169069 w 338138"/>
                <a:gd name="connsiteY14" fmla="*/ 319088 h 336550"/>
                <a:gd name="connsiteX15" fmla="*/ 319088 w 338138"/>
                <a:gd name="connsiteY15" fmla="*/ 169069 h 336550"/>
                <a:gd name="connsiteX16" fmla="*/ 169069 w 338138"/>
                <a:gd name="connsiteY16" fmla="*/ 19050 h 336550"/>
                <a:gd name="connsiteX17" fmla="*/ 169069 w 338138"/>
                <a:gd name="connsiteY17" fmla="*/ 0 h 336550"/>
                <a:gd name="connsiteX18" fmla="*/ 338138 w 338138"/>
                <a:gd name="connsiteY18" fmla="*/ 168275 h 336550"/>
                <a:gd name="connsiteX19" fmla="*/ 169069 w 338138"/>
                <a:gd name="connsiteY19" fmla="*/ 336550 h 336550"/>
                <a:gd name="connsiteX20" fmla="*/ 0 w 338138"/>
                <a:gd name="connsiteY20" fmla="*/ 168275 h 336550"/>
                <a:gd name="connsiteX21" fmla="*/ 169069 w 338138"/>
                <a:gd name="connsiteY21"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8138" h="336550">
                  <a:moveTo>
                    <a:pt x="241300" y="103187"/>
                  </a:moveTo>
                  <a:lnTo>
                    <a:pt x="152400" y="193675"/>
                  </a:lnTo>
                  <a:lnTo>
                    <a:pt x="96837" y="136525"/>
                  </a:lnTo>
                  <a:lnTo>
                    <a:pt x="77787" y="157162"/>
                  </a:lnTo>
                  <a:lnTo>
                    <a:pt x="152400" y="233362"/>
                  </a:lnTo>
                  <a:lnTo>
                    <a:pt x="261937" y="123825"/>
                  </a:lnTo>
                  <a:close/>
                  <a:moveTo>
                    <a:pt x="241301" y="77787"/>
                  </a:moveTo>
                  <a:lnTo>
                    <a:pt x="287338" y="123825"/>
                  </a:lnTo>
                  <a:lnTo>
                    <a:pt x="152400" y="258762"/>
                  </a:lnTo>
                  <a:lnTo>
                    <a:pt x="50800" y="157162"/>
                  </a:lnTo>
                  <a:lnTo>
                    <a:pt x="96838" y="111125"/>
                  </a:lnTo>
                  <a:lnTo>
                    <a:pt x="152400" y="165100"/>
                  </a:lnTo>
                  <a:close/>
                  <a:moveTo>
                    <a:pt x="169069" y="19050"/>
                  </a:moveTo>
                  <a:cubicBezTo>
                    <a:pt x="86216" y="19050"/>
                    <a:pt x="19050" y="86216"/>
                    <a:pt x="19050" y="169069"/>
                  </a:cubicBezTo>
                  <a:cubicBezTo>
                    <a:pt x="19050" y="251922"/>
                    <a:pt x="86216" y="319088"/>
                    <a:pt x="169069" y="319088"/>
                  </a:cubicBezTo>
                  <a:cubicBezTo>
                    <a:pt x="251922" y="319088"/>
                    <a:pt x="319088" y="251922"/>
                    <a:pt x="319088" y="169069"/>
                  </a:cubicBezTo>
                  <a:cubicBezTo>
                    <a:pt x="319088" y="86216"/>
                    <a:pt x="251922" y="19050"/>
                    <a:pt x="169069" y="19050"/>
                  </a:cubicBezTo>
                  <a:close/>
                  <a:moveTo>
                    <a:pt x="169069" y="0"/>
                  </a:moveTo>
                  <a:cubicBezTo>
                    <a:pt x="262443" y="0"/>
                    <a:pt x="338138" y="75339"/>
                    <a:pt x="338138" y="168275"/>
                  </a:cubicBezTo>
                  <a:cubicBezTo>
                    <a:pt x="338138" y="261211"/>
                    <a:pt x="262443" y="336550"/>
                    <a:pt x="169069" y="336550"/>
                  </a:cubicBezTo>
                  <a:cubicBezTo>
                    <a:pt x="75695" y="336550"/>
                    <a:pt x="0" y="261211"/>
                    <a:pt x="0" y="168275"/>
                  </a:cubicBezTo>
                  <a:cubicBezTo>
                    <a:pt x="0" y="75339"/>
                    <a:pt x="75695" y="0"/>
                    <a:pt x="169069" y="0"/>
                  </a:cubicBezTo>
                  <a:close/>
                </a:path>
              </a:pathLst>
            </a:custGeom>
            <a:solidFill>
              <a:schemeClr val="accent5"/>
            </a:solidFill>
            <a:ln>
              <a:noFill/>
            </a:ln>
          </p:spPr>
          <p:txBody>
            <a:bodyPr anchor="ctr"/>
            <a:lstStyle/>
            <a:p>
              <a:pPr algn="ctr"/>
              <a:endParaRPr sz="8533">
                <a:cs typeface="+mn-ea"/>
                <a:sym typeface="+mn-lt"/>
              </a:endParaRPr>
            </a:p>
          </p:txBody>
        </p:sp>
      </p:grpSp>
      <p:grpSp>
        <p:nvGrpSpPr>
          <p:cNvPr id="2" name="组合 1"/>
          <p:cNvGrpSpPr/>
          <p:nvPr/>
        </p:nvGrpSpPr>
        <p:grpSpPr>
          <a:xfrm>
            <a:off x="17100619" y="3922615"/>
            <a:ext cx="5795184" cy="1763341"/>
            <a:chOff x="6412732" y="1470980"/>
            <a:chExt cx="2173194" cy="661253"/>
          </a:xfrm>
        </p:grpSpPr>
        <p:sp>
          <p:nvSpPr>
            <p:cNvPr id="62" name="文本框 60"/>
            <p:cNvSpPr txBox="1"/>
            <p:nvPr/>
          </p:nvSpPr>
          <p:spPr>
            <a:xfrm>
              <a:off x="6412732" y="1470980"/>
              <a:ext cx="2173194" cy="207749"/>
            </a:xfrm>
            <a:prstGeom prst="rect">
              <a:avLst/>
            </a:prstGeom>
            <a:noFill/>
          </p:spPr>
          <p:txBody>
            <a:bodyPr wrap="none" lIns="0" tIns="0" rIns="0" bIns="0">
              <a:noAutofit/>
            </a:bodyPr>
            <a:lstStyle/>
            <a:p>
              <a:r>
                <a:rPr lang="zh-CN" altLang="en-US" sz="3733" dirty="0">
                  <a:solidFill>
                    <a:schemeClr val="accent4"/>
                  </a:solidFill>
                  <a:latin typeface="微软雅黑" panose="020B0503020204020204" charset="-122"/>
                  <a:ea typeface="微软雅黑" panose="020B0503020204020204" charset="-122"/>
                  <a:cs typeface="+mn-ea"/>
                  <a:sym typeface="+mn-lt"/>
                </a:rPr>
                <a:t>账户</a:t>
              </a:r>
            </a:p>
          </p:txBody>
        </p:sp>
        <p:sp>
          <p:nvSpPr>
            <p:cNvPr id="63" name="矩形 62"/>
            <p:cNvSpPr/>
            <p:nvPr/>
          </p:nvSpPr>
          <p:spPr>
            <a:xfrm>
              <a:off x="6412732" y="1678728"/>
              <a:ext cx="2173194" cy="453505"/>
            </a:xfrm>
            <a:prstGeom prst="rect">
              <a:avLst/>
            </a:prstGeom>
          </p:spPr>
          <p:txBody>
            <a:bodyPr wrap="square" lIns="0" tIns="0" rIns="0" bIns="0" anchor="ctr">
              <a:normAutofit/>
            </a:bodyPr>
            <a:lstStyle/>
            <a:p>
              <a:pPr>
                <a:lnSpc>
                  <a:spcPct val="120000"/>
                </a:lnSpc>
              </a:pPr>
              <a:r>
                <a:rPr lang="zh-CN" altLang="en-US" sz="2800" dirty="0">
                  <a:solidFill>
                    <a:sysClr val="windowText" lastClr="000000"/>
                  </a:solidFill>
                  <a:latin typeface="微软雅黑 Light" panose="020B0502040204020203" pitchFamily="34" charset="-122"/>
                  <a:ea typeface="微软雅黑 Light" panose="020B0502040204020203" pitchFamily="34" charset="-122"/>
                  <a:cs typeface="+mn-ea"/>
                  <a:sym typeface="+mn-lt"/>
                </a:rPr>
                <a:t>非对称秘钥表示参与者身份</a:t>
              </a:r>
            </a:p>
            <a:p>
              <a:pPr>
                <a:lnSpc>
                  <a:spcPct val="120000"/>
                </a:lnSpc>
              </a:pPr>
              <a:r>
                <a:rPr lang="zh-CN" altLang="en-US" sz="2800" dirty="0">
                  <a:solidFill>
                    <a:sysClr val="windowText" lastClr="000000"/>
                  </a:solidFill>
                  <a:latin typeface="微软雅黑 Light" panose="020B0502040204020203" pitchFamily="34" charset="-122"/>
                  <a:ea typeface="微软雅黑 Light" panose="020B0502040204020203" pitchFamily="34" charset="-122"/>
                  <a:cs typeface="+mn-ea"/>
                  <a:sym typeface="+mn-lt"/>
                </a:rPr>
                <a:t>状态数据库记录当前信息</a:t>
              </a:r>
            </a:p>
          </p:txBody>
        </p:sp>
      </p:grpSp>
      <p:grpSp>
        <p:nvGrpSpPr>
          <p:cNvPr id="6" name="组合 5"/>
          <p:cNvGrpSpPr/>
          <p:nvPr/>
        </p:nvGrpSpPr>
        <p:grpSpPr>
          <a:xfrm>
            <a:off x="17132332" y="10207156"/>
            <a:ext cx="5857805" cy="2211304"/>
            <a:chOff x="6424624" y="3827683"/>
            <a:chExt cx="2196677" cy="829239"/>
          </a:xfrm>
        </p:grpSpPr>
        <p:sp>
          <p:nvSpPr>
            <p:cNvPr id="60" name="文本框 62"/>
            <p:cNvSpPr txBox="1"/>
            <p:nvPr/>
          </p:nvSpPr>
          <p:spPr>
            <a:xfrm>
              <a:off x="6424624" y="3827683"/>
              <a:ext cx="2186663" cy="207749"/>
            </a:xfrm>
            <a:prstGeom prst="rect">
              <a:avLst/>
            </a:prstGeom>
            <a:noFill/>
          </p:spPr>
          <p:txBody>
            <a:bodyPr wrap="none" lIns="0" tIns="0" rIns="0" bIns="0">
              <a:noAutofit/>
            </a:bodyPr>
            <a:lstStyle/>
            <a:p>
              <a:r>
                <a:rPr lang="zh-CN" altLang="en-US" sz="3733" dirty="0">
                  <a:solidFill>
                    <a:schemeClr val="accent5"/>
                  </a:solidFill>
                  <a:latin typeface="微软雅黑" panose="020B0503020204020204" charset="-122"/>
                  <a:ea typeface="微软雅黑" panose="020B0503020204020204" charset="-122"/>
                  <a:cs typeface="+mn-ea"/>
                  <a:sym typeface="+mn-lt"/>
                </a:rPr>
                <a:t>共识</a:t>
              </a:r>
            </a:p>
          </p:txBody>
        </p:sp>
        <p:sp>
          <p:nvSpPr>
            <p:cNvPr id="61" name="矩形 60"/>
            <p:cNvSpPr/>
            <p:nvPr/>
          </p:nvSpPr>
          <p:spPr>
            <a:xfrm>
              <a:off x="6424624" y="4035431"/>
              <a:ext cx="2196677" cy="621491"/>
            </a:xfrm>
            <a:prstGeom prst="rect">
              <a:avLst/>
            </a:prstGeom>
          </p:spPr>
          <p:txBody>
            <a:bodyPr wrap="square" lIns="0" tIns="0" rIns="0" bIns="0" anchor="ctr">
              <a:normAutofit/>
            </a:bodyPr>
            <a:lstStyle/>
            <a:p>
              <a:pPr>
                <a:lnSpc>
                  <a:spcPct val="120000"/>
                </a:lnSpc>
              </a:pPr>
              <a:r>
                <a:rPr lang="zh-CN" altLang="en-US" sz="2800" dirty="0">
                  <a:solidFill>
                    <a:sysClr val="windowText" lastClr="000000"/>
                  </a:solidFill>
                  <a:latin typeface="微软雅黑 Light" panose="020B0502040204020203" pitchFamily="34" charset="-122"/>
                  <a:ea typeface="微软雅黑 Light" panose="020B0502040204020203" pitchFamily="34" charset="-122"/>
                  <a:cs typeface="+mn-ea"/>
                  <a:sym typeface="+mn-lt"/>
                </a:rPr>
                <a:t>多节点之间通过算法达成状态一致</a:t>
              </a:r>
            </a:p>
          </p:txBody>
        </p:sp>
      </p:grpSp>
      <p:grpSp>
        <p:nvGrpSpPr>
          <p:cNvPr id="3" name="组合 2"/>
          <p:cNvGrpSpPr/>
          <p:nvPr/>
        </p:nvGrpSpPr>
        <p:grpSpPr>
          <a:xfrm>
            <a:off x="1066801" y="4128348"/>
            <a:ext cx="6734387" cy="1762760"/>
            <a:chOff x="532714" y="1527670"/>
            <a:chExt cx="2176511" cy="661253"/>
          </a:xfrm>
        </p:grpSpPr>
        <p:sp>
          <p:nvSpPr>
            <p:cNvPr id="58" name="文本框 56"/>
            <p:cNvSpPr txBox="1"/>
            <p:nvPr/>
          </p:nvSpPr>
          <p:spPr>
            <a:xfrm>
              <a:off x="532714" y="1527670"/>
              <a:ext cx="2176511" cy="207749"/>
            </a:xfrm>
            <a:prstGeom prst="rect">
              <a:avLst/>
            </a:prstGeom>
            <a:noFill/>
          </p:spPr>
          <p:txBody>
            <a:bodyPr wrap="none" lIns="0" tIns="0" rIns="0" bIns="0">
              <a:noAutofit/>
            </a:bodyPr>
            <a:lstStyle/>
            <a:p>
              <a:pPr algn="r"/>
              <a:r>
                <a:rPr lang="zh-CN" altLang="en-US" sz="3733" dirty="0">
                  <a:solidFill>
                    <a:schemeClr val="accent1"/>
                  </a:solidFill>
                  <a:latin typeface="微软雅黑" panose="020B0503020204020204" charset="-122"/>
                  <a:ea typeface="微软雅黑" panose="020B0503020204020204" charset="-122"/>
                  <a:cs typeface="+mn-ea"/>
                  <a:sym typeface="+mn-lt"/>
                </a:rPr>
                <a:t>分布式账本</a:t>
              </a:r>
            </a:p>
          </p:txBody>
        </p:sp>
        <p:sp>
          <p:nvSpPr>
            <p:cNvPr id="59" name="矩形 58"/>
            <p:cNvSpPr/>
            <p:nvPr/>
          </p:nvSpPr>
          <p:spPr>
            <a:xfrm>
              <a:off x="532714" y="1735417"/>
              <a:ext cx="2176511" cy="453506"/>
            </a:xfrm>
            <a:prstGeom prst="rect">
              <a:avLst/>
            </a:prstGeom>
          </p:spPr>
          <p:txBody>
            <a:bodyPr wrap="square" lIns="0" tIns="0" rIns="0" bIns="0" anchor="ctr">
              <a:normAutofit/>
            </a:bodyPr>
            <a:lstStyle/>
            <a:p>
              <a:pPr>
                <a:lnSpc>
                  <a:spcPct val="120000"/>
                </a:lnSpc>
              </a:pPr>
              <a:r>
                <a:rPr lang="zh-CN" altLang="en-US" sz="2800" dirty="0">
                  <a:solidFill>
                    <a:sysClr val="windowText" lastClr="000000"/>
                  </a:solidFill>
                  <a:latin typeface="微软雅黑 Light" panose="020B0502040204020203" pitchFamily="34" charset="-122"/>
                  <a:ea typeface="微软雅黑 Light" panose="020B0502040204020203" pitchFamily="34" charset="-122"/>
                  <a:cs typeface="+mn-ea"/>
                  <a:sym typeface="+mn-lt"/>
                </a:rPr>
                <a:t>链式区块记录变更，对等节点全量保存</a:t>
              </a:r>
            </a:p>
          </p:txBody>
        </p:sp>
      </p:grpSp>
      <p:grpSp>
        <p:nvGrpSpPr>
          <p:cNvPr id="5" name="组合 4"/>
          <p:cNvGrpSpPr/>
          <p:nvPr/>
        </p:nvGrpSpPr>
        <p:grpSpPr>
          <a:xfrm>
            <a:off x="1065963" y="10153692"/>
            <a:ext cx="6222475" cy="1763341"/>
            <a:chOff x="532714" y="3830243"/>
            <a:chExt cx="2141672" cy="661253"/>
          </a:xfrm>
        </p:grpSpPr>
        <p:sp>
          <p:nvSpPr>
            <p:cNvPr id="56" name="文本框 58"/>
            <p:cNvSpPr txBox="1"/>
            <p:nvPr/>
          </p:nvSpPr>
          <p:spPr>
            <a:xfrm>
              <a:off x="532714" y="3830243"/>
              <a:ext cx="2141672" cy="207749"/>
            </a:xfrm>
            <a:prstGeom prst="rect">
              <a:avLst/>
            </a:prstGeom>
            <a:noFill/>
          </p:spPr>
          <p:txBody>
            <a:bodyPr wrap="none" lIns="0" tIns="0" rIns="0" bIns="0">
              <a:noAutofit/>
            </a:bodyPr>
            <a:lstStyle/>
            <a:p>
              <a:pPr algn="r"/>
              <a:r>
                <a:rPr lang="zh-CN" altLang="en-US" sz="3733" dirty="0">
                  <a:solidFill>
                    <a:schemeClr val="accent3"/>
                  </a:solidFill>
                  <a:latin typeface="微软雅黑" panose="020B0503020204020204" charset="-122"/>
                  <a:ea typeface="微软雅黑" panose="020B0503020204020204" charset="-122"/>
                  <a:cs typeface="+mn-ea"/>
                  <a:sym typeface="+mn-lt"/>
                </a:rPr>
                <a:t>智能合约</a:t>
              </a:r>
            </a:p>
          </p:txBody>
        </p:sp>
        <p:sp>
          <p:nvSpPr>
            <p:cNvPr id="57" name="矩形 56"/>
            <p:cNvSpPr/>
            <p:nvPr/>
          </p:nvSpPr>
          <p:spPr>
            <a:xfrm>
              <a:off x="532714" y="4037991"/>
              <a:ext cx="2141672" cy="453505"/>
            </a:xfrm>
            <a:prstGeom prst="rect">
              <a:avLst/>
            </a:prstGeom>
          </p:spPr>
          <p:txBody>
            <a:bodyPr wrap="square" lIns="0" tIns="0" rIns="0" bIns="0" anchor="ctr">
              <a:normAutofit/>
            </a:bodyPr>
            <a:lstStyle/>
            <a:p>
              <a:pPr>
                <a:lnSpc>
                  <a:spcPct val="120000"/>
                </a:lnSpc>
              </a:pPr>
              <a:r>
                <a:rPr lang="zh-CN" altLang="en-US" sz="2667" dirty="0">
                  <a:solidFill>
                    <a:sysClr val="windowText" lastClr="000000"/>
                  </a:solidFill>
                  <a:latin typeface="微软雅黑 Light" panose="020B0502040204020203" pitchFamily="34" charset="-122"/>
                  <a:ea typeface="微软雅黑 Light" panose="020B0502040204020203" pitchFamily="34" charset="-122"/>
                  <a:cs typeface="+mn-ea"/>
                  <a:sym typeface="+mn-lt"/>
                </a:rPr>
                <a:t>通过链上编码定义参与者间的承诺</a:t>
              </a:r>
            </a:p>
          </p:txBody>
        </p:sp>
      </p:grpSp>
      <p:sp>
        <p:nvSpPr>
          <p:cNvPr id="51" name="矩形 50"/>
          <p:cNvSpPr/>
          <p:nvPr/>
        </p:nvSpPr>
        <p:spPr>
          <a:xfrm>
            <a:off x="1264584" y="2257780"/>
            <a:ext cx="278320" cy="858381"/>
          </a:xfrm>
          <a:prstGeom prst="rect">
            <a:avLst/>
          </a:prstGeom>
          <a:solidFill>
            <a:srgbClr val="0070C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sz="8533"/>
          </a:p>
        </p:txBody>
      </p:sp>
    </p:spTree>
    <p:extLst>
      <p:ext uri="{BB962C8B-B14F-4D97-AF65-F5344CB8AC3E}">
        <p14:creationId xmlns:p14="http://schemas.microsoft.com/office/powerpoint/2010/main" val="2445820173"/>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文本框 3"/>
          <p:cNvSpPr txBox="1"/>
          <p:nvPr/>
        </p:nvSpPr>
        <p:spPr>
          <a:xfrm>
            <a:off x="767237" y="1095506"/>
            <a:ext cx="22849525" cy="3046796"/>
          </a:xfrm>
          <a:prstGeom prst="rect">
            <a:avLst/>
          </a:prstGeom>
          <a:ln w="12700">
            <a:miter lim="400000"/>
          </a:ln>
          <a:extLst>
            <a:ext uri="{C572A759-6A51-4108-AA02-DFA0A04FC94B}">
              <ma14:wrappingTextBoxFlag xmlns="" xmlns:ma14="http://schemas.microsoft.com/office/mac/drawingml/2011/main" val="1"/>
            </a:ext>
          </a:extLst>
        </p:spPr>
        <p:txBody>
          <a:bodyPr lIns="121917" rIns="121917">
            <a:spAutoFit/>
          </a:bodyPr>
          <a:lstStyle/>
          <a:p>
            <a:pPr marL="914411" lvl="1" indent="-914411" algn="l">
              <a:lnSpc>
                <a:spcPct val="120000"/>
              </a:lnSpc>
              <a:buFont typeface="Arial" panose="020B0604020202020204" pitchFamily="34" charset="0"/>
              <a:buChar char="•"/>
              <a:defRPr sz="2000">
                <a:latin typeface="Lantinghei SC Extralight"/>
                <a:ea typeface="Lantinghei SC Extralight"/>
                <a:cs typeface="Lantinghei SC Extralight"/>
                <a:sym typeface="Lantinghei SC Extralight"/>
              </a:defRPr>
            </a:pPr>
            <a:r>
              <a:rPr lang="zh-CN" altLang="en-US" sz="5333"/>
              <a:t>一种去中心</a:t>
            </a:r>
            <a:r>
              <a:rPr lang="en-US" altLang="zh-CN" sz="5333"/>
              <a:t>/</a:t>
            </a:r>
            <a:r>
              <a:rPr lang="zh-CN" altLang="en-US" sz="5333"/>
              <a:t>弱中心化的分布式数据存储，数据通过称之为区块的文件，永久的巨鹿在分布式存储上，新的区块链被添加到记录的末端，一旦书写很难修改或移除。</a:t>
            </a:r>
            <a:endParaRPr sz="5333"/>
          </a:p>
        </p:txBody>
      </p:sp>
      <p:sp>
        <p:nvSpPr>
          <p:cNvPr id="115" name="Slide Number"/>
          <p:cNvSpPr txBox="1">
            <a:spLocks noGrp="1"/>
          </p:cNvSpPr>
          <p:nvPr>
            <p:ph type="sldNum" sz="quarter" idx="2"/>
          </p:nvPr>
        </p:nvSpPr>
        <p:spPr>
          <a:xfrm>
            <a:off x="22684412" y="12214862"/>
            <a:ext cx="530909" cy="523214"/>
          </a:xfrm>
          <a:prstGeom prst="rect">
            <a:avLst/>
          </a:prstGeom>
          <a:extLst>
            <a:ext uri="{C572A759-6A51-4108-AA02-DFA0A04FC94B}">
              <ma14:wrappingTextBoxFlag xmlns="" xmlns:ma14="http://schemas.microsoft.com/office/mac/drawingml/2011/main" val="1"/>
            </a:ext>
          </a:extLst>
        </p:spPr>
        <p:txBody>
          <a:bodyPr wrap="none" lIns="91437" tIns="91437" rIns="91437" bIns="91437">
            <a:spAutoFit/>
          </a:bodyPr>
          <a:lstStyle/>
          <a:p>
            <a:fld id="{86CB4B4D-7CA3-9044-876B-883B54F8677D}" type="slidenum">
              <a:t>6</a:t>
            </a:fld>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2508" y="4142303"/>
            <a:ext cx="24051491" cy="8595774"/>
          </a:xfrm>
          <a:prstGeom prst="rect">
            <a:avLst/>
          </a:prstGeom>
        </p:spPr>
      </p:pic>
    </p:spTree>
    <p:extLst>
      <p:ext uri="{BB962C8B-B14F-4D97-AF65-F5344CB8AC3E}">
        <p14:creationId xmlns:p14="http://schemas.microsoft.com/office/powerpoint/2010/main" val="3448747250"/>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iterate>
                                    <p:tmAbs val="0"/>
                                  </p:iterate>
                                  <p:childTnLst>
                                    <p:set>
                                      <p:cBhvr>
                                        <p:cTn id="6" fill="hold"/>
                                        <p:tgtEl>
                                          <p:spTgt spid="114"/>
                                        </p:tgtEl>
                                        <p:attrNameLst>
                                          <p:attrName>style.visibility</p:attrName>
                                        </p:attrNameLst>
                                      </p:cBhvr>
                                      <p:to>
                                        <p:strVal val="visible"/>
                                      </p:to>
                                    </p:set>
                                    <p:anim calcmode="lin" valueType="num">
                                      <p:cBhvr>
                                        <p:cTn id="7" dur="1000" fill="hold"/>
                                        <p:tgtEl>
                                          <p:spTgt spid="114"/>
                                        </p:tgtEl>
                                        <p:attrNameLst>
                                          <p:attrName>ppt_w</p:attrName>
                                        </p:attrNameLst>
                                      </p:cBhvr>
                                      <p:tavLst>
                                        <p:tav tm="0">
                                          <p:val>
                                            <p:fltVal val="0"/>
                                          </p:val>
                                        </p:tav>
                                        <p:tav tm="100000">
                                          <p:val>
                                            <p:strVal val="#ppt_w"/>
                                          </p:val>
                                        </p:tav>
                                      </p:tavLst>
                                    </p:anim>
                                    <p:anim calcmode="lin" valueType="num">
                                      <p:cBhvr>
                                        <p:cTn id="8" dur="1000" fill="hold"/>
                                        <p:tgtEl>
                                          <p:spTgt spid="11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animBg="1" advAuto="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Slide Number"/>
          <p:cNvSpPr txBox="1">
            <a:spLocks noGrp="1"/>
          </p:cNvSpPr>
          <p:nvPr>
            <p:ph type="sldNum" sz="quarter" idx="2"/>
          </p:nvPr>
        </p:nvSpPr>
        <p:spPr>
          <a:xfrm>
            <a:off x="22684412" y="12214862"/>
            <a:ext cx="530909" cy="523214"/>
          </a:xfrm>
          <a:prstGeom prst="rect">
            <a:avLst/>
          </a:prstGeom>
          <a:extLst>
            <a:ext uri="{C572A759-6A51-4108-AA02-DFA0A04FC94B}">
              <ma14:wrappingTextBoxFlag xmlns="" xmlns:ma14="http://schemas.microsoft.com/office/mac/drawingml/2011/main" val="1"/>
            </a:ext>
          </a:extLst>
        </p:spPr>
        <p:txBody>
          <a:bodyPr wrap="none" lIns="91437" tIns="91437" rIns="91437" bIns="91437">
            <a:spAutoFit/>
          </a:bodyPr>
          <a:lstStyle/>
          <a:p>
            <a:fld id="{86CB4B4D-7CA3-9044-876B-883B54F8677D}" type="slidenum">
              <a:t>7</a:t>
            </a:fld>
            <a:endParaRPr/>
          </a:p>
        </p:txBody>
      </p:sp>
      <p:pic>
        <p:nvPicPr>
          <p:cNvPr id="2" name="Picture 1"/>
          <p:cNvPicPr>
            <a:picLocks noChangeAspect="1"/>
          </p:cNvPicPr>
          <p:nvPr/>
        </p:nvPicPr>
        <p:blipFill>
          <a:blip r:embed="rId3"/>
          <a:stretch>
            <a:fillRect/>
          </a:stretch>
        </p:blipFill>
        <p:spPr>
          <a:xfrm>
            <a:off x="0" y="1068779"/>
            <a:ext cx="24384000" cy="11669297"/>
          </a:xfrm>
          <a:prstGeom prst="rect">
            <a:avLst/>
          </a:prstGeom>
        </p:spPr>
      </p:pic>
    </p:spTree>
    <p:extLst>
      <p:ext uri="{BB962C8B-B14F-4D97-AF65-F5344CB8AC3E}">
        <p14:creationId xmlns:p14="http://schemas.microsoft.com/office/powerpoint/2010/main" val="2424683613"/>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文本框 3"/>
          <p:cNvSpPr txBox="1"/>
          <p:nvPr/>
        </p:nvSpPr>
        <p:spPr>
          <a:xfrm>
            <a:off x="679254" y="1885447"/>
            <a:ext cx="22849525" cy="2354234"/>
          </a:xfrm>
          <a:prstGeom prst="rect">
            <a:avLst/>
          </a:prstGeom>
          <a:ln w="12700">
            <a:miter lim="400000"/>
          </a:ln>
          <a:extLst>
            <a:ext uri="{C572A759-6A51-4108-AA02-DFA0A04FC94B}">
              <ma14:wrappingTextBoxFlag xmlns="" xmlns:ma14="http://schemas.microsoft.com/office/mac/drawingml/2011/main" val="1"/>
            </a:ext>
          </a:extLst>
        </p:spPr>
        <p:txBody>
          <a:bodyPr lIns="121917" rIns="121917">
            <a:spAutoFit/>
          </a:bodyPr>
          <a:lstStyle/>
          <a:p>
            <a:pPr lvl="1" indent="609608" algn="l">
              <a:lnSpc>
                <a:spcPct val="120000"/>
              </a:lnSpc>
              <a:defRPr sz="2000">
                <a:latin typeface="Lantinghei SC Extralight"/>
                <a:ea typeface="Lantinghei SC Extralight"/>
                <a:cs typeface="Lantinghei SC Extralight"/>
                <a:sym typeface="Lantinghei SC Extralight"/>
              </a:defRPr>
            </a:pPr>
            <a:r>
              <a:rPr lang="en-US" altLang="zh-Hans" sz="6400"/>
              <a:t>Consensus</a:t>
            </a:r>
            <a:r>
              <a:rPr lang="zh-CN" altLang="en-US" sz="6400"/>
              <a:t>是区块链网络中不同的节点对用来记录交易数据的区块的记账权的争夺</a:t>
            </a:r>
            <a:endParaRPr lang="en-US" altLang="zh-CN" sz="6400"/>
          </a:p>
        </p:txBody>
      </p:sp>
      <p:sp>
        <p:nvSpPr>
          <p:cNvPr id="115" name="Slide Number"/>
          <p:cNvSpPr txBox="1">
            <a:spLocks noGrp="1"/>
          </p:cNvSpPr>
          <p:nvPr>
            <p:ph type="sldNum" sz="quarter" idx="2"/>
          </p:nvPr>
        </p:nvSpPr>
        <p:spPr>
          <a:xfrm>
            <a:off x="22684412" y="12214862"/>
            <a:ext cx="530909" cy="523214"/>
          </a:xfrm>
          <a:prstGeom prst="rect">
            <a:avLst/>
          </a:prstGeom>
          <a:extLst>
            <a:ext uri="{C572A759-6A51-4108-AA02-DFA0A04FC94B}">
              <ma14:wrappingTextBoxFlag xmlns="" xmlns:ma14="http://schemas.microsoft.com/office/mac/drawingml/2011/main" val="1"/>
            </a:ext>
          </a:extLst>
        </p:spPr>
        <p:txBody>
          <a:bodyPr wrap="none" lIns="91437" tIns="91437" rIns="91437" bIns="91437">
            <a:spAutoFit/>
          </a:bodyPr>
          <a:lstStyle/>
          <a:p>
            <a:fld id="{86CB4B4D-7CA3-9044-876B-883B54F8677D}" type="slidenum">
              <a:t>8</a:t>
            </a:fld>
            <a:endParaRPr/>
          </a:p>
        </p:txBody>
      </p:sp>
      <p:sp>
        <p:nvSpPr>
          <p:cNvPr id="5" name="文本框 3"/>
          <p:cNvSpPr txBox="1"/>
          <p:nvPr/>
        </p:nvSpPr>
        <p:spPr>
          <a:xfrm>
            <a:off x="783772" y="4541863"/>
            <a:ext cx="22065754" cy="1077154"/>
          </a:xfrm>
          <a:prstGeom prst="rect">
            <a:avLst/>
          </a:prstGeom>
          <a:ln w="12700">
            <a:miter lim="400000"/>
          </a:ln>
          <a:extLst>
            <a:ext uri="{C572A759-6A51-4108-AA02-DFA0A04FC94B}">
              <ma14:wrappingTextBoxFlag xmlns="" xmlns:ma14="http://schemas.microsoft.com/office/mac/drawingml/2011/main" val="1"/>
            </a:ext>
          </a:extLst>
        </p:spPr>
        <p:txBody>
          <a:bodyPr wrap="square" lIns="121917" rIns="121917">
            <a:spAutoFit/>
          </a:bodyPr>
          <a:lstStyle/>
          <a:p>
            <a:pPr lvl="1" indent="609608" algn="l">
              <a:lnSpc>
                <a:spcPct val="120000"/>
              </a:lnSpc>
              <a:defRPr sz="2000">
                <a:latin typeface="Lantinghei SC Extralight"/>
                <a:ea typeface="Lantinghei SC Extralight"/>
                <a:cs typeface="Lantinghei SC Extralight"/>
                <a:sym typeface="Lantinghei SC Extralight"/>
              </a:defRPr>
            </a:pPr>
            <a:r>
              <a:rPr lang="en-US" altLang="zh-Hans" sz="5333"/>
              <a:t>PoW:</a:t>
            </a:r>
            <a:r>
              <a:rPr lang="zh-Hans" altLang="en-US" sz="5333"/>
              <a:t> </a:t>
            </a:r>
            <a:r>
              <a:rPr lang="en-US" altLang="zh-Hans" sz="5333"/>
              <a:t>Pro</a:t>
            </a:r>
            <a:r>
              <a:rPr lang="en-US" altLang="zh-CN" sz="5333"/>
              <a:t>of</a:t>
            </a:r>
            <a:r>
              <a:rPr lang="zh-Hans" altLang="en-US" sz="5333"/>
              <a:t> </a:t>
            </a:r>
            <a:r>
              <a:rPr lang="en-US" altLang="zh-CN" sz="5333"/>
              <a:t>of</a:t>
            </a:r>
            <a:r>
              <a:rPr lang="zh-Hans" altLang="en-US" sz="5333"/>
              <a:t> </a:t>
            </a:r>
            <a:r>
              <a:rPr lang="en-US" altLang="zh-CN" sz="5333"/>
              <a:t>Wo</a:t>
            </a:r>
            <a:r>
              <a:rPr lang="en-US" altLang="zh-Hans" sz="5333"/>
              <a:t>rk</a:t>
            </a:r>
            <a:r>
              <a:rPr lang="zh-Hans" altLang="en-US" sz="5333"/>
              <a:t> </a:t>
            </a:r>
            <a:r>
              <a:rPr lang="zh-CN" altLang="en-US" sz="5333"/>
              <a:t>工作量证明</a:t>
            </a:r>
            <a:endParaRPr lang="en-US" altLang="zh-CN" sz="5333"/>
          </a:p>
        </p:txBody>
      </p:sp>
      <p:sp>
        <p:nvSpPr>
          <p:cNvPr id="6" name="文本框 3"/>
          <p:cNvSpPr txBox="1"/>
          <p:nvPr/>
        </p:nvSpPr>
        <p:spPr>
          <a:xfrm>
            <a:off x="783772" y="5914365"/>
            <a:ext cx="22849525" cy="992323"/>
          </a:xfrm>
          <a:prstGeom prst="rect">
            <a:avLst/>
          </a:prstGeom>
          <a:ln w="12700">
            <a:miter lim="400000"/>
          </a:ln>
          <a:extLst>
            <a:ext uri="{C572A759-6A51-4108-AA02-DFA0A04FC94B}">
              <ma14:wrappingTextBoxFlag xmlns="" xmlns:ma14="http://schemas.microsoft.com/office/mac/drawingml/2011/main" val="1"/>
            </a:ext>
          </a:extLst>
        </p:spPr>
        <p:txBody>
          <a:bodyPr lIns="121917" rIns="121917">
            <a:spAutoFit/>
          </a:bodyPr>
          <a:lstStyle/>
          <a:p>
            <a:pPr lvl="1" indent="609608" algn="l">
              <a:lnSpc>
                <a:spcPct val="120000"/>
              </a:lnSpc>
              <a:defRPr sz="2000">
                <a:latin typeface="Lantinghei SC Extralight"/>
                <a:ea typeface="Lantinghei SC Extralight"/>
                <a:cs typeface="Lantinghei SC Extralight"/>
                <a:sym typeface="Lantinghei SC Extralight"/>
              </a:defRPr>
            </a:pPr>
            <a:r>
              <a:rPr lang="en-US" altLang="zh-Hans" sz="5333"/>
              <a:t>PoS:</a:t>
            </a:r>
            <a:r>
              <a:rPr lang="zh-Hans" altLang="en-US" sz="5333"/>
              <a:t> </a:t>
            </a:r>
            <a:r>
              <a:rPr lang="en-US" altLang="zh-Hans" sz="5333"/>
              <a:t>Pro</a:t>
            </a:r>
            <a:r>
              <a:rPr lang="en-US" altLang="zh-CN" sz="5333"/>
              <a:t>of</a:t>
            </a:r>
            <a:r>
              <a:rPr lang="zh-Hans" altLang="en-US" sz="5333"/>
              <a:t> </a:t>
            </a:r>
            <a:r>
              <a:rPr lang="en-US" altLang="zh-CN" sz="5333"/>
              <a:t>of</a:t>
            </a:r>
            <a:r>
              <a:rPr lang="zh-Hans" altLang="en-US" sz="5333"/>
              <a:t> </a:t>
            </a:r>
            <a:r>
              <a:rPr lang="en-US" altLang="zh-Hans" sz="5333"/>
              <a:t>Stake</a:t>
            </a:r>
            <a:r>
              <a:rPr lang="zh-Hans" altLang="en-US" sz="5333"/>
              <a:t> </a:t>
            </a:r>
            <a:r>
              <a:rPr lang="zh-CN" altLang="en-US" sz="5333"/>
              <a:t>权益证明</a:t>
            </a:r>
            <a:endParaRPr lang="en-US" altLang="zh-CN" sz="5333"/>
          </a:p>
        </p:txBody>
      </p:sp>
      <p:sp>
        <p:nvSpPr>
          <p:cNvPr id="7" name="文本框 3"/>
          <p:cNvSpPr txBox="1"/>
          <p:nvPr/>
        </p:nvSpPr>
        <p:spPr>
          <a:xfrm>
            <a:off x="783772" y="7257779"/>
            <a:ext cx="22849525" cy="992323"/>
          </a:xfrm>
          <a:prstGeom prst="rect">
            <a:avLst/>
          </a:prstGeom>
          <a:ln w="12700">
            <a:miter lim="400000"/>
          </a:ln>
          <a:extLst>
            <a:ext uri="{C572A759-6A51-4108-AA02-DFA0A04FC94B}">
              <ma14:wrappingTextBoxFlag xmlns="" xmlns:ma14="http://schemas.microsoft.com/office/mac/drawingml/2011/main" val="1"/>
            </a:ext>
          </a:extLst>
        </p:spPr>
        <p:txBody>
          <a:bodyPr lIns="121917" rIns="121917">
            <a:spAutoFit/>
          </a:bodyPr>
          <a:lstStyle/>
          <a:p>
            <a:pPr lvl="1" indent="609608" algn="l">
              <a:lnSpc>
                <a:spcPct val="120000"/>
              </a:lnSpc>
              <a:defRPr sz="2000">
                <a:latin typeface="Lantinghei SC Extralight"/>
                <a:ea typeface="Lantinghei SC Extralight"/>
                <a:cs typeface="Lantinghei SC Extralight"/>
                <a:sym typeface="Lantinghei SC Extralight"/>
              </a:defRPr>
            </a:pPr>
            <a:r>
              <a:rPr lang="en-US" altLang="zh-Hans" sz="5333"/>
              <a:t>DPoS:</a:t>
            </a:r>
            <a:r>
              <a:rPr lang="zh-Hans" altLang="en-US" sz="5333"/>
              <a:t>  </a:t>
            </a:r>
            <a:r>
              <a:rPr lang="en-US" altLang="zh-Hans" sz="5333"/>
              <a:t>Delegate</a:t>
            </a:r>
            <a:r>
              <a:rPr lang="zh-Hans" altLang="en-US" sz="5333"/>
              <a:t> </a:t>
            </a:r>
            <a:r>
              <a:rPr lang="en-US" altLang="zh-Hans" sz="5333"/>
              <a:t>Pro</a:t>
            </a:r>
            <a:r>
              <a:rPr lang="en-US" altLang="zh-CN" sz="5333"/>
              <a:t>of</a:t>
            </a:r>
            <a:r>
              <a:rPr lang="zh-Hans" altLang="en-US" sz="5333"/>
              <a:t> </a:t>
            </a:r>
            <a:r>
              <a:rPr lang="en-US" altLang="zh-CN" sz="5333"/>
              <a:t>of</a:t>
            </a:r>
            <a:r>
              <a:rPr lang="zh-Hans" altLang="en-US" sz="5333"/>
              <a:t> </a:t>
            </a:r>
            <a:r>
              <a:rPr lang="en-US" altLang="zh-Hans" sz="5333"/>
              <a:t>Stake</a:t>
            </a:r>
            <a:r>
              <a:rPr lang="zh-Hans" altLang="en-US" sz="5333"/>
              <a:t> </a:t>
            </a:r>
            <a:r>
              <a:rPr lang="zh-CN" altLang="en-US" sz="5333"/>
              <a:t>股份授权证明</a:t>
            </a:r>
            <a:endParaRPr lang="en-US" altLang="zh-CN" sz="5333"/>
          </a:p>
        </p:txBody>
      </p:sp>
      <p:sp>
        <p:nvSpPr>
          <p:cNvPr id="8" name="文本框 3"/>
          <p:cNvSpPr txBox="1"/>
          <p:nvPr/>
        </p:nvSpPr>
        <p:spPr>
          <a:xfrm>
            <a:off x="783772" y="8544187"/>
            <a:ext cx="22849525" cy="992323"/>
          </a:xfrm>
          <a:prstGeom prst="rect">
            <a:avLst/>
          </a:prstGeom>
          <a:ln w="12700">
            <a:miter lim="400000"/>
          </a:ln>
          <a:extLst>
            <a:ext uri="{C572A759-6A51-4108-AA02-DFA0A04FC94B}">
              <ma14:wrappingTextBoxFlag xmlns="" xmlns:ma14="http://schemas.microsoft.com/office/mac/drawingml/2011/main" val="1"/>
            </a:ext>
          </a:extLst>
        </p:spPr>
        <p:txBody>
          <a:bodyPr lIns="121917" rIns="121917">
            <a:spAutoFit/>
          </a:bodyPr>
          <a:lstStyle/>
          <a:p>
            <a:pPr lvl="1" indent="609608" algn="l">
              <a:lnSpc>
                <a:spcPct val="120000"/>
              </a:lnSpc>
              <a:defRPr sz="2000">
                <a:latin typeface="Lantinghei SC Extralight"/>
                <a:ea typeface="Lantinghei SC Extralight"/>
                <a:cs typeface="Lantinghei SC Extralight"/>
                <a:sym typeface="Lantinghei SC Extralight"/>
              </a:defRPr>
            </a:pPr>
            <a:r>
              <a:rPr lang="en-US" altLang="zh-Hans" sz="5333"/>
              <a:t>Casper:</a:t>
            </a:r>
            <a:r>
              <a:rPr lang="zh-Hans" altLang="en-US" sz="5333"/>
              <a:t>  </a:t>
            </a:r>
            <a:r>
              <a:rPr lang="zh-CN" altLang="en-US" sz="5333"/>
              <a:t>投注共识</a:t>
            </a:r>
            <a:endParaRPr lang="en-US" altLang="zh-CN" sz="5333"/>
          </a:p>
        </p:txBody>
      </p:sp>
      <p:sp>
        <p:nvSpPr>
          <p:cNvPr id="9" name="文本框 3"/>
          <p:cNvSpPr txBox="1"/>
          <p:nvPr/>
        </p:nvSpPr>
        <p:spPr>
          <a:xfrm>
            <a:off x="783772" y="9814864"/>
            <a:ext cx="22849525" cy="992323"/>
          </a:xfrm>
          <a:prstGeom prst="rect">
            <a:avLst/>
          </a:prstGeom>
          <a:ln w="12700">
            <a:miter lim="400000"/>
          </a:ln>
          <a:extLst>
            <a:ext uri="{C572A759-6A51-4108-AA02-DFA0A04FC94B}">
              <ma14:wrappingTextBoxFlag xmlns="" xmlns:ma14="http://schemas.microsoft.com/office/mac/drawingml/2011/main" val="1"/>
            </a:ext>
          </a:extLst>
        </p:spPr>
        <p:txBody>
          <a:bodyPr lIns="121917" rIns="121917">
            <a:spAutoFit/>
          </a:bodyPr>
          <a:lstStyle/>
          <a:p>
            <a:pPr lvl="1" indent="609608" algn="l">
              <a:lnSpc>
                <a:spcPct val="120000"/>
              </a:lnSpc>
              <a:defRPr sz="2000">
                <a:latin typeface="Lantinghei SC Extralight"/>
                <a:ea typeface="Lantinghei SC Extralight"/>
                <a:cs typeface="Lantinghei SC Extralight"/>
                <a:sym typeface="Lantinghei SC Extralight"/>
              </a:defRPr>
            </a:pPr>
            <a:r>
              <a:rPr lang="en-US" altLang="zh-Hans" sz="5333"/>
              <a:t>PoET:</a:t>
            </a:r>
            <a:r>
              <a:rPr lang="zh-Hans" altLang="en-US" sz="5333"/>
              <a:t>  </a:t>
            </a:r>
            <a:r>
              <a:rPr lang="en-US" altLang="zh-CN" sz="5333"/>
              <a:t>P</a:t>
            </a:r>
            <a:r>
              <a:rPr lang="en-US" altLang="zh-Hans" sz="5333"/>
              <a:t>roof</a:t>
            </a:r>
            <a:r>
              <a:rPr lang="zh-Hans" altLang="en-US" sz="5333"/>
              <a:t> </a:t>
            </a:r>
            <a:r>
              <a:rPr lang="en-US" altLang="zh-Hans" sz="5333"/>
              <a:t>of</a:t>
            </a:r>
            <a:r>
              <a:rPr lang="zh-Hans" altLang="en-US" sz="5333"/>
              <a:t> </a:t>
            </a:r>
            <a:r>
              <a:rPr lang="en-US" altLang="zh-Hans" sz="5333"/>
              <a:t>Elapsed</a:t>
            </a:r>
            <a:r>
              <a:rPr lang="zh-Hans" altLang="en-US" sz="5333"/>
              <a:t> </a:t>
            </a:r>
            <a:r>
              <a:rPr lang="en-US" altLang="zh-Hans" sz="5333"/>
              <a:t>Time,</a:t>
            </a:r>
            <a:r>
              <a:rPr lang="zh-CN" altLang="en-US" sz="5333"/>
              <a:t>时间消耗证明机制</a:t>
            </a:r>
            <a:endParaRPr lang="en-US" altLang="zh-CN" sz="5333"/>
          </a:p>
        </p:txBody>
      </p:sp>
    </p:spTree>
    <p:extLst>
      <p:ext uri="{BB962C8B-B14F-4D97-AF65-F5344CB8AC3E}">
        <p14:creationId xmlns:p14="http://schemas.microsoft.com/office/powerpoint/2010/main" val="1516500702"/>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iterate>
                                    <p:tmAbs val="0"/>
                                  </p:iterate>
                                  <p:childTnLst>
                                    <p:set>
                                      <p:cBhvr>
                                        <p:cTn id="6" fill="hold"/>
                                        <p:tgtEl>
                                          <p:spTgt spid="114"/>
                                        </p:tgtEl>
                                        <p:attrNameLst>
                                          <p:attrName>style.visibility</p:attrName>
                                        </p:attrNameLst>
                                      </p:cBhvr>
                                      <p:to>
                                        <p:strVal val="visible"/>
                                      </p:to>
                                    </p:set>
                                    <p:anim calcmode="lin" valueType="num">
                                      <p:cBhvr>
                                        <p:cTn id="7" dur="1000" fill="hold"/>
                                        <p:tgtEl>
                                          <p:spTgt spid="114"/>
                                        </p:tgtEl>
                                        <p:attrNameLst>
                                          <p:attrName>ppt_w</p:attrName>
                                        </p:attrNameLst>
                                      </p:cBhvr>
                                      <p:tavLst>
                                        <p:tav tm="0">
                                          <p:val>
                                            <p:fltVal val="0"/>
                                          </p:val>
                                        </p:tav>
                                        <p:tav tm="100000">
                                          <p:val>
                                            <p:strVal val="#ppt_w"/>
                                          </p:val>
                                        </p:tav>
                                      </p:tavLst>
                                    </p:anim>
                                    <p:anim calcmode="lin" valueType="num">
                                      <p:cBhvr>
                                        <p:cTn id="8" dur="1000" fill="hold"/>
                                        <p:tgtEl>
                                          <p:spTgt spid="114"/>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iterate>
                                    <p:tmAbs val="0"/>
                                  </p:iterate>
                                  <p:childTnLst>
                                    <p:set>
                                      <p:cBhvr>
                                        <p:cTn id="12" fill="hold"/>
                                        <p:tgtEl>
                                          <p:spTgt spid="5"/>
                                        </p:tgtEl>
                                        <p:attrNameLst>
                                          <p:attrName>style.visibility</p:attrName>
                                        </p:attrNameLst>
                                      </p:cBhvr>
                                      <p:to>
                                        <p:strVal val="visible"/>
                                      </p:to>
                                    </p:set>
                                    <p:anim calcmode="lin" valueType="num">
                                      <p:cBhvr>
                                        <p:cTn id="13" dur="1000" fill="hold"/>
                                        <p:tgtEl>
                                          <p:spTgt spid="5"/>
                                        </p:tgtEl>
                                        <p:attrNameLst>
                                          <p:attrName>ppt_w</p:attrName>
                                        </p:attrNameLst>
                                      </p:cBhvr>
                                      <p:tavLst>
                                        <p:tav tm="0">
                                          <p:val>
                                            <p:fltVal val="0"/>
                                          </p:val>
                                        </p:tav>
                                        <p:tav tm="100000">
                                          <p:val>
                                            <p:strVal val="#ppt_w"/>
                                          </p:val>
                                        </p:tav>
                                      </p:tavLst>
                                    </p:anim>
                                    <p:anim calcmode="lin" valueType="num">
                                      <p:cBhvr>
                                        <p:cTn id="14" dur="10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iterate>
                                    <p:tmAbs val="0"/>
                                  </p:iterate>
                                  <p:childTnLst>
                                    <p:set>
                                      <p:cBhvr>
                                        <p:cTn id="18" fill="hold"/>
                                        <p:tgtEl>
                                          <p:spTgt spid="6"/>
                                        </p:tgtEl>
                                        <p:attrNameLst>
                                          <p:attrName>style.visibility</p:attrName>
                                        </p:attrNameLst>
                                      </p:cBhvr>
                                      <p:to>
                                        <p:strVal val="visible"/>
                                      </p:to>
                                    </p:set>
                                    <p:anim calcmode="lin" valueType="num">
                                      <p:cBhvr>
                                        <p:cTn id="19" dur="1000" fill="hold"/>
                                        <p:tgtEl>
                                          <p:spTgt spid="6"/>
                                        </p:tgtEl>
                                        <p:attrNameLst>
                                          <p:attrName>ppt_w</p:attrName>
                                        </p:attrNameLst>
                                      </p:cBhvr>
                                      <p:tavLst>
                                        <p:tav tm="0">
                                          <p:val>
                                            <p:fltVal val="0"/>
                                          </p:val>
                                        </p:tav>
                                        <p:tav tm="100000">
                                          <p:val>
                                            <p:strVal val="#ppt_w"/>
                                          </p:val>
                                        </p:tav>
                                      </p:tavLst>
                                    </p:anim>
                                    <p:anim calcmode="lin" valueType="num">
                                      <p:cBhvr>
                                        <p:cTn id="20" dur="1000" fill="hold"/>
                                        <p:tgtEl>
                                          <p:spTgt spid="6"/>
                                        </p:tgtEl>
                                        <p:attrNameLst>
                                          <p:attrName>ppt_h</p:attrName>
                                        </p:attrNameLst>
                                      </p:cBhvr>
                                      <p:tavLst>
                                        <p:tav tm="0">
                                          <p:val>
                                            <p:flt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3" presetClass="entr" presetSubtype="16" fill="hold" grpId="0" nodeType="clickEffect">
                                  <p:stCondLst>
                                    <p:cond delay="0"/>
                                  </p:stCondLst>
                                  <p:iterate>
                                    <p:tmAbs val="0"/>
                                  </p:iterate>
                                  <p:childTnLst>
                                    <p:set>
                                      <p:cBhvr>
                                        <p:cTn id="24" fill="hold"/>
                                        <p:tgtEl>
                                          <p:spTgt spid="7"/>
                                        </p:tgtEl>
                                        <p:attrNameLst>
                                          <p:attrName>style.visibility</p:attrName>
                                        </p:attrNameLst>
                                      </p:cBhvr>
                                      <p:to>
                                        <p:strVal val="visible"/>
                                      </p:to>
                                    </p:set>
                                    <p:anim calcmode="lin" valueType="num">
                                      <p:cBhvr>
                                        <p:cTn id="25" dur="1000" fill="hold"/>
                                        <p:tgtEl>
                                          <p:spTgt spid="7"/>
                                        </p:tgtEl>
                                        <p:attrNameLst>
                                          <p:attrName>ppt_w</p:attrName>
                                        </p:attrNameLst>
                                      </p:cBhvr>
                                      <p:tavLst>
                                        <p:tav tm="0">
                                          <p:val>
                                            <p:fltVal val="0"/>
                                          </p:val>
                                        </p:tav>
                                        <p:tav tm="100000">
                                          <p:val>
                                            <p:strVal val="#ppt_w"/>
                                          </p:val>
                                        </p:tav>
                                      </p:tavLst>
                                    </p:anim>
                                    <p:anim calcmode="lin" valueType="num">
                                      <p:cBhvr>
                                        <p:cTn id="26" dur="10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grpId="0" nodeType="clickEffect">
                                  <p:stCondLst>
                                    <p:cond delay="0"/>
                                  </p:stCondLst>
                                  <p:iterate>
                                    <p:tmAbs val="0"/>
                                  </p:iterate>
                                  <p:childTnLst>
                                    <p:set>
                                      <p:cBhvr>
                                        <p:cTn id="30" fill="hold"/>
                                        <p:tgtEl>
                                          <p:spTgt spid="8"/>
                                        </p:tgtEl>
                                        <p:attrNameLst>
                                          <p:attrName>style.visibility</p:attrName>
                                        </p:attrNameLst>
                                      </p:cBhvr>
                                      <p:to>
                                        <p:strVal val="visible"/>
                                      </p:to>
                                    </p:set>
                                    <p:anim calcmode="lin" valueType="num">
                                      <p:cBhvr>
                                        <p:cTn id="31" dur="1000" fill="hold"/>
                                        <p:tgtEl>
                                          <p:spTgt spid="8"/>
                                        </p:tgtEl>
                                        <p:attrNameLst>
                                          <p:attrName>ppt_w</p:attrName>
                                        </p:attrNameLst>
                                      </p:cBhvr>
                                      <p:tavLst>
                                        <p:tav tm="0">
                                          <p:val>
                                            <p:fltVal val="0"/>
                                          </p:val>
                                        </p:tav>
                                        <p:tav tm="100000">
                                          <p:val>
                                            <p:strVal val="#ppt_w"/>
                                          </p:val>
                                        </p:tav>
                                      </p:tavLst>
                                    </p:anim>
                                    <p:anim calcmode="lin" valueType="num">
                                      <p:cBhvr>
                                        <p:cTn id="32" dur="1000" fill="hold"/>
                                        <p:tgtEl>
                                          <p:spTgt spid="8"/>
                                        </p:tgtEl>
                                        <p:attrNameLst>
                                          <p:attrName>ppt_h</p:attrName>
                                        </p:attrNameLst>
                                      </p:cBhvr>
                                      <p:tavLst>
                                        <p:tav tm="0">
                                          <p:val>
                                            <p:fltVal val="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23" presetClass="entr" presetSubtype="16" fill="hold" grpId="0" nodeType="clickEffect">
                                  <p:stCondLst>
                                    <p:cond delay="0"/>
                                  </p:stCondLst>
                                  <p:iterate>
                                    <p:tmAbs val="0"/>
                                  </p:iterate>
                                  <p:childTnLst>
                                    <p:set>
                                      <p:cBhvr>
                                        <p:cTn id="36" fill="hold"/>
                                        <p:tgtEl>
                                          <p:spTgt spid="9"/>
                                        </p:tgtEl>
                                        <p:attrNameLst>
                                          <p:attrName>style.visibility</p:attrName>
                                        </p:attrNameLst>
                                      </p:cBhvr>
                                      <p:to>
                                        <p:strVal val="visible"/>
                                      </p:to>
                                    </p:set>
                                    <p:anim calcmode="lin" valueType="num">
                                      <p:cBhvr>
                                        <p:cTn id="37" dur="1000" fill="hold"/>
                                        <p:tgtEl>
                                          <p:spTgt spid="9"/>
                                        </p:tgtEl>
                                        <p:attrNameLst>
                                          <p:attrName>ppt_w</p:attrName>
                                        </p:attrNameLst>
                                      </p:cBhvr>
                                      <p:tavLst>
                                        <p:tav tm="0">
                                          <p:val>
                                            <p:fltVal val="0"/>
                                          </p:val>
                                        </p:tav>
                                        <p:tav tm="100000">
                                          <p:val>
                                            <p:strVal val="#ppt_w"/>
                                          </p:val>
                                        </p:tav>
                                      </p:tavLst>
                                    </p:anim>
                                    <p:anim calcmode="lin" valueType="num">
                                      <p:cBhvr>
                                        <p:cTn id="38" dur="1000" fill="hold"/>
                                        <p:tgtEl>
                                          <p:spTgt spid="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animBg="1" advAuto="0"/>
      <p:bldP spid="5" grpId="0" animBg="1" advAuto="0"/>
      <p:bldP spid="6" grpId="0" animBg="1" advAuto="0"/>
      <p:bldP spid="7" grpId="0" animBg="1" advAuto="0"/>
      <p:bldP spid="8" grpId="0" animBg="1" advAuto="0"/>
      <p:bldP spid="9" grpId="0" animBg="1" advAuto="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Slide Number"/>
          <p:cNvSpPr txBox="1">
            <a:spLocks noGrp="1"/>
          </p:cNvSpPr>
          <p:nvPr>
            <p:ph type="sldNum" sz="quarter" idx="2"/>
          </p:nvPr>
        </p:nvSpPr>
        <p:spPr>
          <a:xfrm>
            <a:off x="22684412" y="12214862"/>
            <a:ext cx="530909" cy="523214"/>
          </a:xfrm>
          <a:prstGeom prst="rect">
            <a:avLst/>
          </a:prstGeom>
          <a:extLst>
            <a:ext uri="{C572A759-6A51-4108-AA02-DFA0A04FC94B}">
              <ma14:wrappingTextBoxFlag xmlns="" xmlns:ma14="http://schemas.microsoft.com/office/mac/drawingml/2011/main" val="1"/>
            </a:ext>
          </a:extLst>
        </p:spPr>
        <p:txBody>
          <a:bodyPr wrap="none" lIns="91437" tIns="91437" rIns="91437" bIns="91437">
            <a:spAutoFit/>
          </a:bodyPr>
          <a:lstStyle/>
          <a:p>
            <a:fld id="{86CB4B4D-7CA3-9044-876B-883B54F8677D}" type="slidenum">
              <a:t>9</a:t>
            </a:fld>
            <a:endParaRPr/>
          </a:p>
        </p:txBody>
      </p:sp>
      <p:sp>
        <p:nvSpPr>
          <p:cNvPr id="10" name="TextBox 9"/>
          <p:cNvSpPr txBox="1"/>
          <p:nvPr/>
        </p:nvSpPr>
        <p:spPr>
          <a:xfrm>
            <a:off x="1080944" y="4956403"/>
            <a:ext cx="3921547" cy="3703450"/>
          </a:xfrm>
          <a:prstGeom prst="rect">
            <a:avLst/>
          </a:prstGeom>
          <a:solidFill>
            <a:srgbClr val="EC6C1F"/>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square" rtlCol="0">
            <a:spAutoFit/>
          </a:bodyPr>
          <a:lstStyle/>
          <a:p>
            <a:r>
              <a:rPr lang="zh-CN" altLang="en-US" sz="11733">
                <a:ln w="0"/>
                <a:solidFill>
                  <a:schemeClr val="accent1"/>
                </a:solidFill>
                <a:effectLst>
                  <a:outerShdw blurRad="38100" dist="25400" dir="5400000" algn="ctr" rotWithShape="0">
                    <a:srgbClr val="6E747A">
                      <a:alpha val="43000"/>
                    </a:srgbClr>
                  </a:outerShdw>
                </a:effectLst>
              </a:rPr>
              <a:t>智能合约</a:t>
            </a:r>
            <a:endParaRPr lang="en-US" sz="11733">
              <a:ln w="0"/>
              <a:solidFill>
                <a:schemeClr val="accent1"/>
              </a:solidFill>
              <a:effectLst>
                <a:outerShdw blurRad="38100" dist="25400" dir="5400000" algn="ctr" rotWithShape="0">
                  <a:srgbClr val="6E747A">
                    <a:alpha val="43000"/>
                  </a:srgbClr>
                </a:outerShdw>
              </a:effectLst>
            </a:endParaRPr>
          </a:p>
        </p:txBody>
      </p:sp>
      <p:sp>
        <p:nvSpPr>
          <p:cNvPr id="11" name="TextBox 10"/>
          <p:cNvSpPr txBox="1"/>
          <p:nvPr/>
        </p:nvSpPr>
        <p:spPr>
          <a:xfrm>
            <a:off x="6422798" y="3355964"/>
            <a:ext cx="17295045" cy="3046988"/>
          </a:xfrm>
          <a:prstGeom prst="rect">
            <a:avLst/>
          </a:prstGeom>
          <a:noFill/>
        </p:spPr>
        <p:txBody>
          <a:bodyPr wrap="square" rtlCol="0">
            <a:spAutoFit/>
          </a:bodyPr>
          <a:lstStyle/>
          <a:p>
            <a:pPr lvl="1" algn="l"/>
            <a:r>
              <a:rPr lang="zh-CN" altLang="en-US" sz="6400"/>
              <a:t>是一种旨在以信息化方式验证或执行合同的计算机代码。允许在没有第三方的情况下进行可信交易，可追踪、不可逆。</a:t>
            </a:r>
            <a:endParaRPr lang="en-US" altLang="zh-CN" sz="6400"/>
          </a:p>
        </p:txBody>
      </p:sp>
      <p:sp>
        <p:nvSpPr>
          <p:cNvPr id="12" name="TextBox 11"/>
          <p:cNvSpPr txBox="1"/>
          <p:nvPr/>
        </p:nvSpPr>
        <p:spPr>
          <a:xfrm>
            <a:off x="6326435" y="6690959"/>
            <a:ext cx="17295045" cy="3046988"/>
          </a:xfrm>
          <a:prstGeom prst="rect">
            <a:avLst/>
          </a:prstGeom>
          <a:noFill/>
        </p:spPr>
        <p:txBody>
          <a:bodyPr wrap="square" rtlCol="0">
            <a:spAutoFit/>
          </a:bodyPr>
          <a:lstStyle/>
          <a:p>
            <a:pPr lvl="1" algn="l"/>
            <a:r>
              <a:rPr lang="zh-CN" altLang="en-US" sz="6400"/>
              <a:t>计算机可读</a:t>
            </a:r>
            <a:r>
              <a:rPr lang="en-US" altLang="zh-CN" sz="6400"/>
              <a:t>/</a:t>
            </a:r>
            <a:r>
              <a:rPr lang="zh-CN" altLang="en-US" sz="6400"/>
              <a:t>可执行的代码</a:t>
            </a:r>
            <a:endParaRPr lang="en-US" altLang="zh-CN" sz="6400"/>
          </a:p>
          <a:p>
            <a:pPr lvl="1" algn="l"/>
            <a:r>
              <a:rPr lang="zh-CN" altLang="en-US" sz="6400"/>
              <a:t>合约执行</a:t>
            </a:r>
            <a:endParaRPr lang="en-US" altLang="zh-CN" sz="6400"/>
          </a:p>
          <a:p>
            <a:pPr lvl="1" algn="l"/>
            <a:r>
              <a:rPr lang="zh-CN" altLang="en-US" sz="6400"/>
              <a:t>达成协议</a:t>
            </a:r>
            <a:endParaRPr lang="en-US" altLang="zh-CN" sz="6400"/>
          </a:p>
        </p:txBody>
      </p:sp>
    </p:spTree>
    <p:extLst>
      <p:ext uri="{BB962C8B-B14F-4D97-AF65-F5344CB8AC3E}">
        <p14:creationId xmlns:p14="http://schemas.microsoft.com/office/powerpoint/2010/main" val="1183946557"/>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9227851" y="2443550"/>
            <a:ext cx="1757211" cy="3046988"/>
          </a:xfrm>
          <a:prstGeom prst="rect">
            <a:avLst/>
          </a:prstGeom>
          <a:noFill/>
        </p:spPr>
        <p:txBody>
          <a:bodyPr wrap="none" rtlCol="0">
            <a:spAutoFit/>
          </a:bodyPr>
          <a:lstStyle/>
          <a:p>
            <a:r>
              <a:rPr lang="en-US" altLang="zh-CN" sz="19200" dirty="0">
                <a:solidFill>
                  <a:srgbClr val="577188"/>
                </a:solidFill>
                <a:latin typeface="Malgun Gothic" panose="020B0503020000020004" charset="-127"/>
                <a:ea typeface="Malgun Gothic" panose="020B0503020000020004" charset="-127"/>
              </a:rPr>
              <a:t>C</a:t>
            </a:r>
            <a:endParaRPr lang="zh-CN" altLang="en-US" sz="19200" dirty="0">
              <a:solidFill>
                <a:srgbClr val="577188"/>
              </a:solidFill>
              <a:latin typeface="Malgun Gothic" panose="020B0503020000020004" charset="-127"/>
            </a:endParaRPr>
          </a:p>
        </p:txBody>
      </p:sp>
      <p:sp>
        <p:nvSpPr>
          <p:cNvPr id="15" name="文本框 14"/>
          <p:cNvSpPr txBox="1"/>
          <p:nvPr/>
        </p:nvSpPr>
        <p:spPr>
          <a:xfrm>
            <a:off x="10704566" y="3922656"/>
            <a:ext cx="3156633" cy="1077218"/>
          </a:xfrm>
          <a:prstGeom prst="rect">
            <a:avLst/>
          </a:prstGeom>
          <a:noFill/>
        </p:spPr>
        <p:txBody>
          <a:bodyPr wrap="none" rtlCol="0">
            <a:spAutoFit/>
          </a:bodyPr>
          <a:lstStyle/>
          <a:p>
            <a:r>
              <a:rPr lang="en-US" altLang="zh-CN" sz="6400" dirty="0">
                <a:solidFill>
                  <a:srgbClr val="577188"/>
                </a:solidFill>
                <a:latin typeface="Malgun Gothic" panose="020B0503020000020004" charset="-127"/>
                <a:ea typeface="Malgun Gothic" panose="020B0503020000020004" charset="-127"/>
              </a:rPr>
              <a:t>ontents</a:t>
            </a:r>
            <a:endParaRPr lang="zh-CN" altLang="en-US" sz="6400" dirty="0">
              <a:solidFill>
                <a:srgbClr val="577188"/>
              </a:solidFill>
              <a:latin typeface="Malgun Gothic" panose="020B0503020000020004" charset="-127"/>
            </a:endParaRPr>
          </a:p>
        </p:txBody>
      </p:sp>
      <p:sp>
        <p:nvSpPr>
          <p:cNvPr id="16" name="文本框 15"/>
          <p:cNvSpPr txBox="1"/>
          <p:nvPr/>
        </p:nvSpPr>
        <p:spPr>
          <a:xfrm>
            <a:off x="11004816" y="2815796"/>
            <a:ext cx="2374368" cy="1405449"/>
          </a:xfrm>
          <a:prstGeom prst="rect">
            <a:avLst/>
          </a:prstGeom>
          <a:noFill/>
        </p:spPr>
        <p:txBody>
          <a:bodyPr wrap="none" rtlCol="0">
            <a:spAutoFit/>
          </a:bodyPr>
          <a:lstStyle/>
          <a:p>
            <a:r>
              <a:rPr lang="zh-CN" altLang="en-US" sz="8533">
                <a:solidFill>
                  <a:srgbClr val="577188"/>
                </a:solidFill>
                <a:latin typeface="站酷高端黑" panose="02010600030101010101" pitchFamily="2" charset="-122"/>
                <a:ea typeface="站酷高端黑" panose="02010600030101010101" pitchFamily="2" charset="-122"/>
              </a:rPr>
              <a:t>目录</a:t>
            </a:r>
          </a:p>
        </p:txBody>
      </p:sp>
      <p:sp>
        <p:nvSpPr>
          <p:cNvPr id="24" name="TextBox 6"/>
          <p:cNvSpPr txBox="1">
            <a:spLocks noChangeArrowheads="1"/>
          </p:cNvSpPr>
          <p:nvPr/>
        </p:nvSpPr>
        <p:spPr bwMode="auto">
          <a:xfrm>
            <a:off x="10320968" y="5917448"/>
            <a:ext cx="8090747" cy="1066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43840" tIns="121920" rIns="243840" bIns="121920" numCol="1" anchor="t" anchorCtr="0" compatLnSpc="1">
            <a:spAutoFit/>
          </a:bodyPr>
          <a:lstStyle/>
          <a:p>
            <a:pPr algn="l" defTabSz="2438430" fontAlgn="base">
              <a:spcBef>
                <a:spcPct val="0"/>
              </a:spcBef>
              <a:spcAft>
                <a:spcPct val="0"/>
              </a:spcAft>
            </a:pPr>
            <a:r>
              <a:rPr lang="en-US" altLang="zh-CN" sz="5333">
                <a:solidFill>
                  <a:schemeClr val="tx1">
                    <a:lumMod val="75000"/>
                    <a:lumOff val="25000"/>
                  </a:schemeClr>
                </a:solidFill>
                <a:latin typeface="微软雅黑" panose="020B0503020204020204" charset="-122"/>
                <a:ea typeface="微软雅黑" panose="020B0503020204020204" charset="-122"/>
                <a:cs typeface="+mn-ea"/>
                <a:sym typeface="+mn-ea"/>
              </a:rPr>
              <a:t> </a:t>
            </a:r>
            <a:r>
              <a:rPr lang="zh-CN" altLang="en-US" sz="5333">
                <a:solidFill>
                  <a:schemeClr val="tx1">
                    <a:lumMod val="75000"/>
                    <a:lumOff val="25000"/>
                  </a:schemeClr>
                </a:solidFill>
                <a:latin typeface="微软雅黑" panose="020B0503020204020204" charset="-122"/>
                <a:ea typeface="微软雅黑" panose="020B0503020204020204" charset="-122"/>
                <a:cs typeface="+mn-ea"/>
                <a:sym typeface="+mn-ea"/>
              </a:rPr>
              <a:t>区块链技术组成与特点</a:t>
            </a:r>
            <a:endParaRPr lang="zh-CN" altLang="en-US" sz="5333" dirty="0">
              <a:solidFill>
                <a:schemeClr val="tx1">
                  <a:lumMod val="75000"/>
                  <a:lumOff val="25000"/>
                </a:schemeClr>
              </a:solidFill>
              <a:latin typeface="微软雅黑" panose="020B0503020204020204" charset="-122"/>
              <a:ea typeface="微软雅黑" panose="020B0503020204020204" charset="-122"/>
              <a:cs typeface="+mn-ea"/>
              <a:sym typeface="+mn-ea"/>
            </a:endParaRPr>
          </a:p>
        </p:txBody>
      </p:sp>
      <p:grpSp>
        <p:nvGrpSpPr>
          <p:cNvPr id="3" name="组合 2"/>
          <p:cNvGrpSpPr/>
          <p:nvPr/>
        </p:nvGrpSpPr>
        <p:grpSpPr>
          <a:xfrm>
            <a:off x="9086773" y="5947494"/>
            <a:ext cx="1511981" cy="1069491"/>
            <a:chOff x="1489166" y="2322031"/>
            <a:chExt cx="566993" cy="401059"/>
          </a:xfrm>
        </p:grpSpPr>
        <p:sp>
          <p:nvSpPr>
            <p:cNvPr id="8" name="任意多边形 7"/>
            <p:cNvSpPr>
              <a:spLocks noChangeAspect="1"/>
            </p:cNvSpPr>
            <p:nvPr/>
          </p:nvSpPr>
          <p:spPr>
            <a:xfrm>
              <a:off x="1563012" y="2322031"/>
              <a:ext cx="432000" cy="388503"/>
            </a:xfrm>
            <a:custGeom>
              <a:avLst/>
              <a:gdLst>
                <a:gd name="connsiteX0" fmla="*/ 531453 w 2150426"/>
                <a:gd name="connsiteY0" fmla="*/ 1894557 h 1933898"/>
                <a:gd name="connsiteX1" fmla="*/ 523901 w 2150426"/>
                <a:gd name="connsiteY1" fmla="*/ 1888327 h 1933898"/>
                <a:gd name="connsiteX2" fmla="*/ 505804 w 2150426"/>
                <a:gd name="connsiteY2" fmla="*/ 1878396 h 1933898"/>
                <a:gd name="connsiteX3" fmla="*/ 445296 w 2150426"/>
                <a:gd name="connsiteY3" fmla="*/ 1809798 h 1933898"/>
                <a:gd name="connsiteX4" fmla="*/ 30326 w 2150426"/>
                <a:gd name="connsiteY4" fmla="*/ 1091048 h 1933898"/>
                <a:gd name="connsiteX5" fmla="*/ 1172 w 2150426"/>
                <a:gd name="connsiteY5" fmla="*/ 1004348 h 1933898"/>
                <a:gd name="connsiteX6" fmla="*/ 444 w 2150426"/>
                <a:gd name="connsiteY6" fmla="*/ 976700 h 1933898"/>
                <a:gd name="connsiteX7" fmla="*/ 0 w 2150426"/>
                <a:gd name="connsiteY7" fmla="*/ 974054 h 1933898"/>
                <a:gd name="connsiteX8" fmla="*/ 187 w 2150426"/>
                <a:gd name="connsiteY8" fmla="*/ 966943 h 1933898"/>
                <a:gd name="connsiteX9" fmla="*/ 0 w 2150426"/>
                <a:gd name="connsiteY9" fmla="*/ 959843 h 1933898"/>
                <a:gd name="connsiteX10" fmla="*/ 444 w 2150426"/>
                <a:gd name="connsiteY10" fmla="*/ 957201 h 1933898"/>
                <a:gd name="connsiteX11" fmla="*/ 1172 w 2150426"/>
                <a:gd name="connsiteY11" fmla="*/ 929549 h 1933898"/>
                <a:gd name="connsiteX12" fmla="*/ 30326 w 2150426"/>
                <a:gd name="connsiteY12" fmla="*/ 842849 h 1933898"/>
                <a:gd name="connsiteX13" fmla="*/ 445296 w 2150426"/>
                <a:gd name="connsiteY13" fmla="*/ 124100 h 1933898"/>
                <a:gd name="connsiteX14" fmla="*/ 505804 w 2150426"/>
                <a:gd name="connsiteY14" fmla="*/ 55501 h 1933898"/>
                <a:gd name="connsiteX15" fmla="*/ 529387 w 2150426"/>
                <a:gd name="connsiteY15" fmla="*/ 41045 h 1933898"/>
                <a:gd name="connsiteX16" fmla="*/ 531453 w 2150426"/>
                <a:gd name="connsiteY16" fmla="*/ 39340 h 1933898"/>
                <a:gd name="connsiteX17" fmla="*/ 537695 w 2150426"/>
                <a:gd name="connsiteY17" fmla="*/ 35952 h 1933898"/>
                <a:gd name="connsiteX18" fmla="*/ 543760 w 2150426"/>
                <a:gd name="connsiteY18" fmla="*/ 32234 h 1933898"/>
                <a:gd name="connsiteX19" fmla="*/ 546274 w 2150426"/>
                <a:gd name="connsiteY19" fmla="*/ 31296 h 1933898"/>
                <a:gd name="connsiteX20" fmla="*/ 570581 w 2150426"/>
                <a:gd name="connsiteY20" fmla="*/ 18102 h 1933898"/>
                <a:gd name="connsiteX21" fmla="*/ 660243 w 2150426"/>
                <a:gd name="connsiteY21" fmla="*/ 0 h 1933898"/>
                <a:gd name="connsiteX22" fmla="*/ 1490183 w 2150426"/>
                <a:gd name="connsiteY22" fmla="*/ 0 h 1933898"/>
                <a:gd name="connsiteX23" fmla="*/ 1579845 w 2150426"/>
                <a:gd name="connsiteY23" fmla="*/ 18102 h 1933898"/>
                <a:gd name="connsiteX24" fmla="*/ 1604154 w 2150426"/>
                <a:gd name="connsiteY24" fmla="*/ 31297 h 1933898"/>
                <a:gd name="connsiteX25" fmla="*/ 1606666 w 2150426"/>
                <a:gd name="connsiteY25" fmla="*/ 32234 h 1933898"/>
                <a:gd name="connsiteX26" fmla="*/ 1612726 w 2150426"/>
                <a:gd name="connsiteY26" fmla="*/ 35949 h 1933898"/>
                <a:gd name="connsiteX27" fmla="*/ 1618973 w 2150426"/>
                <a:gd name="connsiteY27" fmla="*/ 39340 h 1933898"/>
                <a:gd name="connsiteX28" fmla="*/ 1621041 w 2150426"/>
                <a:gd name="connsiteY28" fmla="*/ 41046 h 1933898"/>
                <a:gd name="connsiteX29" fmla="*/ 1644623 w 2150426"/>
                <a:gd name="connsiteY29" fmla="*/ 55501 h 1933898"/>
                <a:gd name="connsiteX30" fmla="*/ 1705130 w 2150426"/>
                <a:gd name="connsiteY30" fmla="*/ 124100 h 1933898"/>
                <a:gd name="connsiteX31" fmla="*/ 2120100 w 2150426"/>
                <a:gd name="connsiteY31" fmla="*/ 842849 h 1933898"/>
                <a:gd name="connsiteX32" fmla="*/ 2149255 w 2150426"/>
                <a:gd name="connsiteY32" fmla="*/ 929550 h 1933898"/>
                <a:gd name="connsiteX33" fmla="*/ 2149982 w 2150426"/>
                <a:gd name="connsiteY33" fmla="*/ 957198 h 1933898"/>
                <a:gd name="connsiteX34" fmla="*/ 2150426 w 2150426"/>
                <a:gd name="connsiteY34" fmla="*/ 959843 h 1933898"/>
                <a:gd name="connsiteX35" fmla="*/ 2150239 w 2150426"/>
                <a:gd name="connsiteY35" fmla="*/ 966953 h 1933898"/>
                <a:gd name="connsiteX36" fmla="*/ 2150426 w 2150426"/>
                <a:gd name="connsiteY36" fmla="*/ 974055 h 1933898"/>
                <a:gd name="connsiteX37" fmla="*/ 2149983 w 2150426"/>
                <a:gd name="connsiteY37" fmla="*/ 976697 h 1933898"/>
                <a:gd name="connsiteX38" fmla="*/ 2149255 w 2150426"/>
                <a:gd name="connsiteY38" fmla="*/ 1004348 h 1933898"/>
                <a:gd name="connsiteX39" fmla="*/ 2120101 w 2150426"/>
                <a:gd name="connsiteY39" fmla="*/ 1091049 h 1933898"/>
                <a:gd name="connsiteX40" fmla="*/ 1705131 w 2150426"/>
                <a:gd name="connsiteY40" fmla="*/ 1809798 h 1933898"/>
                <a:gd name="connsiteX41" fmla="*/ 1644623 w 2150426"/>
                <a:gd name="connsiteY41" fmla="*/ 1878396 h 1933898"/>
                <a:gd name="connsiteX42" fmla="*/ 1621040 w 2150426"/>
                <a:gd name="connsiteY42" fmla="*/ 1892852 h 1933898"/>
                <a:gd name="connsiteX43" fmla="*/ 1618973 w 2150426"/>
                <a:gd name="connsiteY43" fmla="*/ 1894557 h 1933898"/>
                <a:gd name="connsiteX44" fmla="*/ 1612730 w 2150426"/>
                <a:gd name="connsiteY44" fmla="*/ 1897947 h 1933898"/>
                <a:gd name="connsiteX45" fmla="*/ 1606666 w 2150426"/>
                <a:gd name="connsiteY45" fmla="*/ 1901663 h 1933898"/>
                <a:gd name="connsiteX46" fmla="*/ 1604153 w 2150426"/>
                <a:gd name="connsiteY46" fmla="*/ 1902602 h 1933898"/>
                <a:gd name="connsiteX47" fmla="*/ 1579845 w 2150426"/>
                <a:gd name="connsiteY47" fmla="*/ 1915796 h 1933898"/>
                <a:gd name="connsiteX48" fmla="*/ 1490183 w 2150426"/>
                <a:gd name="connsiteY48" fmla="*/ 1933897 h 1933898"/>
                <a:gd name="connsiteX49" fmla="*/ 660243 w 2150426"/>
                <a:gd name="connsiteY49" fmla="*/ 1933898 h 1933898"/>
                <a:gd name="connsiteX50" fmla="*/ 531453 w 2150426"/>
                <a:gd name="connsiteY50" fmla="*/ 1894557 h 1933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2150426" h="1933898">
                  <a:moveTo>
                    <a:pt x="531453" y="1894557"/>
                  </a:moveTo>
                  <a:lnTo>
                    <a:pt x="523901" y="1888327"/>
                  </a:lnTo>
                  <a:lnTo>
                    <a:pt x="505804" y="1878396"/>
                  </a:lnTo>
                  <a:cubicBezTo>
                    <a:pt x="481930" y="1860358"/>
                    <a:pt x="461198" y="1837341"/>
                    <a:pt x="445296" y="1809798"/>
                  </a:cubicBezTo>
                  <a:lnTo>
                    <a:pt x="30326" y="1091048"/>
                  </a:lnTo>
                  <a:cubicBezTo>
                    <a:pt x="14424" y="1063505"/>
                    <a:pt x="4856" y="1034042"/>
                    <a:pt x="1172" y="1004348"/>
                  </a:cubicBezTo>
                  <a:lnTo>
                    <a:pt x="444" y="976700"/>
                  </a:lnTo>
                  <a:lnTo>
                    <a:pt x="0" y="974054"/>
                  </a:lnTo>
                  <a:lnTo>
                    <a:pt x="187" y="966943"/>
                  </a:lnTo>
                  <a:lnTo>
                    <a:pt x="0" y="959843"/>
                  </a:lnTo>
                  <a:lnTo>
                    <a:pt x="444" y="957201"/>
                  </a:lnTo>
                  <a:lnTo>
                    <a:pt x="1172" y="929549"/>
                  </a:lnTo>
                  <a:cubicBezTo>
                    <a:pt x="4856" y="899855"/>
                    <a:pt x="14423" y="870392"/>
                    <a:pt x="30326" y="842849"/>
                  </a:cubicBezTo>
                  <a:lnTo>
                    <a:pt x="445296" y="124100"/>
                  </a:lnTo>
                  <a:cubicBezTo>
                    <a:pt x="461198" y="96556"/>
                    <a:pt x="481929" y="73539"/>
                    <a:pt x="505804" y="55501"/>
                  </a:cubicBezTo>
                  <a:lnTo>
                    <a:pt x="529387" y="41045"/>
                  </a:lnTo>
                  <a:lnTo>
                    <a:pt x="531453" y="39340"/>
                  </a:lnTo>
                  <a:lnTo>
                    <a:pt x="537695" y="35952"/>
                  </a:lnTo>
                  <a:lnTo>
                    <a:pt x="543760" y="32234"/>
                  </a:lnTo>
                  <a:lnTo>
                    <a:pt x="546274" y="31296"/>
                  </a:lnTo>
                  <a:lnTo>
                    <a:pt x="570581" y="18102"/>
                  </a:lnTo>
                  <a:cubicBezTo>
                    <a:pt x="598139" y="6446"/>
                    <a:pt x="628439" y="0"/>
                    <a:pt x="660243" y="0"/>
                  </a:cubicBezTo>
                  <a:lnTo>
                    <a:pt x="1490183" y="0"/>
                  </a:lnTo>
                  <a:cubicBezTo>
                    <a:pt x="1521987" y="0"/>
                    <a:pt x="1552286" y="6446"/>
                    <a:pt x="1579845" y="18102"/>
                  </a:cubicBezTo>
                  <a:lnTo>
                    <a:pt x="1604154" y="31297"/>
                  </a:lnTo>
                  <a:lnTo>
                    <a:pt x="1606666" y="32234"/>
                  </a:lnTo>
                  <a:lnTo>
                    <a:pt x="1612726" y="35949"/>
                  </a:lnTo>
                  <a:lnTo>
                    <a:pt x="1618973" y="39340"/>
                  </a:lnTo>
                  <a:lnTo>
                    <a:pt x="1621041" y="41046"/>
                  </a:lnTo>
                  <a:lnTo>
                    <a:pt x="1644623" y="55501"/>
                  </a:lnTo>
                  <a:cubicBezTo>
                    <a:pt x="1668496" y="73539"/>
                    <a:pt x="1689228" y="96557"/>
                    <a:pt x="1705130" y="124100"/>
                  </a:cubicBezTo>
                  <a:lnTo>
                    <a:pt x="2120100" y="842849"/>
                  </a:lnTo>
                  <a:cubicBezTo>
                    <a:pt x="2136003" y="870393"/>
                    <a:pt x="2145570" y="899855"/>
                    <a:pt x="2149255" y="929550"/>
                  </a:cubicBezTo>
                  <a:lnTo>
                    <a:pt x="2149982" y="957198"/>
                  </a:lnTo>
                  <a:lnTo>
                    <a:pt x="2150426" y="959843"/>
                  </a:lnTo>
                  <a:lnTo>
                    <a:pt x="2150239" y="966953"/>
                  </a:lnTo>
                  <a:lnTo>
                    <a:pt x="2150426" y="974055"/>
                  </a:lnTo>
                  <a:lnTo>
                    <a:pt x="2149983" y="976697"/>
                  </a:lnTo>
                  <a:lnTo>
                    <a:pt x="2149255" y="1004348"/>
                  </a:lnTo>
                  <a:cubicBezTo>
                    <a:pt x="2145570" y="1034043"/>
                    <a:pt x="2136003" y="1063505"/>
                    <a:pt x="2120101" y="1091049"/>
                  </a:cubicBezTo>
                  <a:lnTo>
                    <a:pt x="1705131" y="1809798"/>
                  </a:lnTo>
                  <a:cubicBezTo>
                    <a:pt x="1689228" y="1837341"/>
                    <a:pt x="1668497" y="1860358"/>
                    <a:pt x="1644623" y="1878396"/>
                  </a:cubicBezTo>
                  <a:lnTo>
                    <a:pt x="1621040" y="1892852"/>
                  </a:lnTo>
                  <a:lnTo>
                    <a:pt x="1618973" y="1894557"/>
                  </a:lnTo>
                  <a:lnTo>
                    <a:pt x="1612730" y="1897947"/>
                  </a:lnTo>
                  <a:lnTo>
                    <a:pt x="1606666" y="1901663"/>
                  </a:lnTo>
                  <a:lnTo>
                    <a:pt x="1604153" y="1902602"/>
                  </a:lnTo>
                  <a:lnTo>
                    <a:pt x="1579845" y="1915796"/>
                  </a:lnTo>
                  <a:cubicBezTo>
                    <a:pt x="1552287" y="1927452"/>
                    <a:pt x="1521988" y="1933897"/>
                    <a:pt x="1490183" y="1933897"/>
                  </a:cubicBezTo>
                  <a:lnTo>
                    <a:pt x="660243" y="1933898"/>
                  </a:lnTo>
                  <a:cubicBezTo>
                    <a:pt x="612537" y="1933898"/>
                    <a:pt x="568217" y="1919395"/>
                    <a:pt x="531453" y="1894557"/>
                  </a:cubicBezTo>
                  <a:close/>
                </a:path>
              </a:pathLst>
            </a:custGeom>
            <a:noFill/>
            <a:ln w="25400">
              <a:solidFill>
                <a:srgbClr val="5771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533"/>
            </a:p>
          </p:txBody>
        </p:sp>
        <p:sp>
          <p:nvSpPr>
            <p:cNvPr id="25" name="TextBox 6"/>
            <p:cNvSpPr txBox="1">
              <a:spLocks noChangeArrowheads="1"/>
            </p:cNvSpPr>
            <p:nvPr/>
          </p:nvSpPr>
          <p:spPr bwMode="auto">
            <a:xfrm>
              <a:off x="1489166" y="2323004"/>
              <a:ext cx="566993" cy="400086"/>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vert="horz" wrap="square" lIns="243840" tIns="121920" rIns="243840" bIns="121920" numCol="1" anchor="t" anchorCtr="0" compatLnSpc="1">
              <a:spAutoFit/>
            </a:bodyPr>
            <a:lstStyle/>
            <a:p>
              <a:pPr defTabSz="2438430" fontAlgn="base" hangingPunct="1">
                <a:spcBef>
                  <a:spcPct val="0"/>
                </a:spcBef>
                <a:spcAft>
                  <a:spcPct val="0"/>
                </a:spcAft>
              </a:pPr>
              <a:r>
                <a:rPr lang="en-US" altLang="zh-CN" sz="5333" dirty="0">
                  <a:solidFill>
                    <a:schemeClr val="tx1">
                      <a:lumMod val="50000"/>
                      <a:lumOff val="50000"/>
                    </a:schemeClr>
                  </a:solidFill>
                  <a:latin typeface="Impact" panose="020B0806030902050204" pitchFamily="34" charset="0"/>
                  <a:ea typeface="微软雅黑" panose="020B0503020204020204" charset="-122"/>
                  <a:cs typeface="Times New Roman" panose="02020603050405020304" pitchFamily="18" charset="0"/>
                </a:rPr>
                <a:t>01</a:t>
              </a:r>
              <a:endParaRPr lang="zh-CN" altLang="en-US" sz="4800" dirty="0">
                <a:solidFill>
                  <a:schemeClr val="tx1">
                    <a:lumMod val="50000"/>
                    <a:lumOff val="50000"/>
                  </a:schemeClr>
                </a:solidFill>
                <a:latin typeface="Impact" panose="020B0806030902050204" pitchFamily="34" charset="0"/>
                <a:ea typeface="宋体" panose="02010600030101010101" pitchFamily="2" charset="-122"/>
                <a:cs typeface="Times New Roman" panose="02020603050405020304" pitchFamily="18" charset="0"/>
              </a:endParaRPr>
            </a:p>
          </p:txBody>
        </p:sp>
      </p:grpSp>
      <p:sp>
        <p:nvSpPr>
          <p:cNvPr id="36" name="任意多边形: 形状 2"/>
          <p:cNvSpPr/>
          <p:nvPr/>
        </p:nvSpPr>
        <p:spPr>
          <a:xfrm>
            <a:off x="70112" y="11013950"/>
            <a:ext cx="24313888" cy="2545365"/>
          </a:xfrm>
          <a:custGeom>
            <a:avLst/>
            <a:gdLst>
              <a:gd name="connsiteX0" fmla="*/ 0 w 12032343"/>
              <a:gd name="connsiteY0" fmla="*/ 17481 h 1272682"/>
              <a:gd name="connsiteX1" fmla="*/ 1567543 w 12032343"/>
              <a:gd name="connsiteY1" fmla="*/ 902853 h 1272682"/>
              <a:gd name="connsiteX2" fmla="*/ 3599543 w 12032343"/>
              <a:gd name="connsiteY2" fmla="*/ 90053 h 1272682"/>
              <a:gd name="connsiteX3" fmla="*/ 5646057 w 12032343"/>
              <a:gd name="connsiteY3" fmla="*/ 1265710 h 1272682"/>
              <a:gd name="connsiteX4" fmla="*/ 7300686 w 12032343"/>
              <a:gd name="connsiteY4" fmla="*/ 598053 h 1272682"/>
              <a:gd name="connsiteX5" fmla="*/ 8563429 w 12032343"/>
              <a:gd name="connsiteY5" fmla="*/ 1033481 h 1272682"/>
              <a:gd name="connsiteX6" fmla="*/ 9608457 w 12032343"/>
              <a:gd name="connsiteY6" fmla="*/ 2967 h 1272682"/>
              <a:gd name="connsiteX7" fmla="*/ 10871200 w 12032343"/>
              <a:gd name="connsiteY7" fmla="*/ 699653 h 1272682"/>
              <a:gd name="connsiteX8" fmla="*/ 12032343 w 12032343"/>
              <a:gd name="connsiteY8" fmla="*/ 46510 h 1272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032343" h="1272682">
                <a:moveTo>
                  <a:pt x="0" y="17481"/>
                </a:moveTo>
                <a:cubicBezTo>
                  <a:pt x="483809" y="454119"/>
                  <a:pt x="967619" y="890758"/>
                  <a:pt x="1567543" y="902853"/>
                </a:cubicBezTo>
                <a:cubicBezTo>
                  <a:pt x="2167467" y="914948"/>
                  <a:pt x="2919791" y="29577"/>
                  <a:pt x="3599543" y="90053"/>
                </a:cubicBezTo>
                <a:cubicBezTo>
                  <a:pt x="4279295" y="150529"/>
                  <a:pt x="5029200" y="1181043"/>
                  <a:pt x="5646057" y="1265710"/>
                </a:cubicBezTo>
                <a:cubicBezTo>
                  <a:pt x="6262914" y="1350377"/>
                  <a:pt x="6814457" y="636758"/>
                  <a:pt x="7300686" y="598053"/>
                </a:cubicBezTo>
                <a:cubicBezTo>
                  <a:pt x="7786915" y="559348"/>
                  <a:pt x="8178801" y="1132662"/>
                  <a:pt x="8563429" y="1033481"/>
                </a:cubicBezTo>
                <a:cubicBezTo>
                  <a:pt x="8948057" y="934300"/>
                  <a:pt x="9223829" y="58605"/>
                  <a:pt x="9608457" y="2967"/>
                </a:cubicBezTo>
                <a:cubicBezTo>
                  <a:pt x="9993086" y="-52671"/>
                  <a:pt x="10467219" y="692396"/>
                  <a:pt x="10871200" y="699653"/>
                </a:cubicBezTo>
                <a:cubicBezTo>
                  <a:pt x="11275181" y="706910"/>
                  <a:pt x="11831562" y="152948"/>
                  <a:pt x="12032343" y="46510"/>
                </a:cubicBezTo>
              </a:path>
            </a:pathLst>
          </a:custGeom>
          <a:noFill/>
          <a:ln w="19050">
            <a:solidFill>
              <a:srgbClr val="5771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7" dirty="0">
              <a:latin typeface="微软雅黑" panose="020B0503020204020204" charset="-122"/>
              <a:ea typeface="微软雅黑" panose="020B0503020204020204" charset="-122"/>
            </a:endParaRPr>
          </a:p>
        </p:txBody>
      </p:sp>
      <p:sp>
        <p:nvSpPr>
          <p:cNvPr id="37" name="任意多边形: 形状 4"/>
          <p:cNvSpPr/>
          <p:nvPr/>
        </p:nvSpPr>
        <p:spPr>
          <a:xfrm flipH="1">
            <a:off x="70110" y="7752747"/>
            <a:ext cx="24342917" cy="5714757"/>
          </a:xfrm>
          <a:custGeom>
            <a:avLst/>
            <a:gdLst>
              <a:gd name="connsiteX0" fmla="*/ 0 w 12424228"/>
              <a:gd name="connsiteY0" fmla="*/ 0 h 2857379"/>
              <a:gd name="connsiteX1" fmla="*/ 2728685 w 12424228"/>
              <a:gd name="connsiteY1" fmla="*/ 2815772 h 2857379"/>
              <a:gd name="connsiteX2" fmla="*/ 5573485 w 12424228"/>
              <a:gd name="connsiteY2" fmla="*/ 1756229 h 2857379"/>
              <a:gd name="connsiteX3" fmla="*/ 7257143 w 12424228"/>
              <a:gd name="connsiteY3" fmla="*/ 2786743 h 2857379"/>
              <a:gd name="connsiteX4" fmla="*/ 8940800 w 12424228"/>
              <a:gd name="connsiteY4" fmla="*/ 1944915 h 2857379"/>
              <a:gd name="connsiteX5" fmla="*/ 10653485 w 12424228"/>
              <a:gd name="connsiteY5" fmla="*/ 2627086 h 2857379"/>
              <a:gd name="connsiteX6" fmla="*/ 11727543 w 12424228"/>
              <a:gd name="connsiteY6" fmla="*/ 1654629 h 2857379"/>
              <a:gd name="connsiteX7" fmla="*/ 12424228 w 12424228"/>
              <a:gd name="connsiteY7" fmla="*/ 1799772 h 2857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24228" h="2857379">
                <a:moveTo>
                  <a:pt x="0" y="0"/>
                </a:moveTo>
                <a:cubicBezTo>
                  <a:pt x="899885" y="1261533"/>
                  <a:pt x="1799771" y="2523067"/>
                  <a:pt x="2728685" y="2815772"/>
                </a:cubicBezTo>
                <a:cubicBezTo>
                  <a:pt x="3657599" y="3108477"/>
                  <a:pt x="4818742" y="1761067"/>
                  <a:pt x="5573485" y="1756229"/>
                </a:cubicBezTo>
                <a:cubicBezTo>
                  <a:pt x="6328228" y="1751391"/>
                  <a:pt x="6695924" y="2755295"/>
                  <a:pt x="7257143" y="2786743"/>
                </a:cubicBezTo>
                <a:cubicBezTo>
                  <a:pt x="7818362" y="2818191"/>
                  <a:pt x="8374743" y="1971525"/>
                  <a:pt x="8940800" y="1944915"/>
                </a:cubicBezTo>
                <a:cubicBezTo>
                  <a:pt x="9506857" y="1918306"/>
                  <a:pt x="10189028" y="2675467"/>
                  <a:pt x="10653485" y="2627086"/>
                </a:cubicBezTo>
                <a:cubicBezTo>
                  <a:pt x="11117942" y="2578705"/>
                  <a:pt x="11432419" y="1792515"/>
                  <a:pt x="11727543" y="1654629"/>
                </a:cubicBezTo>
                <a:cubicBezTo>
                  <a:pt x="12022667" y="1516743"/>
                  <a:pt x="12223447" y="1658257"/>
                  <a:pt x="12424228" y="1799772"/>
                </a:cubicBezTo>
              </a:path>
            </a:pathLst>
          </a:custGeom>
          <a:noFill/>
          <a:ln>
            <a:solidFill>
              <a:srgbClr val="5771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7" dirty="0">
              <a:latin typeface="微软雅黑" panose="020B0503020204020204" charset="-122"/>
              <a:ea typeface="微软雅黑" panose="020B0503020204020204" charset="-122"/>
            </a:endParaRPr>
          </a:p>
        </p:txBody>
      </p:sp>
      <p:sp>
        <p:nvSpPr>
          <p:cNvPr id="2" name="TextBox 6"/>
          <p:cNvSpPr txBox="1">
            <a:spLocks noChangeArrowheads="1"/>
          </p:cNvSpPr>
          <p:nvPr/>
        </p:nvSpPr>
        <p:spPr bwMode="auto">
          <a:xfrm>
            <a:off x="10320968" y="7595922"/>
            <a:ext cx="11473803" cy="1066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43840" tIns="121920" rIns="243840" bIns="121920" numCol="1" anchor="t" anchorCtr="0" compatLnSpc="1">
            <a:spAutoFit/>
          </a:bodyPr>
          <a:lstStyle/>
          <a:p>
            <a:pPr algn="l" defTabSz="2438430" fontAlgn="base">
              <a:spcBef>
                <a:spcPct val="0"/>
              </a:spcBef>
              <a:spcAft>
                <a:spcPct val="0"/>
              </a:spcAft>
            </a:pPr>
            <a:r>
              <a:rPr lang="zh-CN" altLang="en-US" sz="5333">
                <a:solidFill>
                  <a:schemeClr val="tx1">
                    <a:lumMod val="75000"/>
                    <a:lumOff val="25000"/>
                  </a:schemeClr>
                </a:solidFill>
                <a:latin typeface="微软雅黑" panose="020B0503020204020204" charset="-122"/>
                <a:ea typeface="微软雅黑" panose="020B0503020204020204" charset="-122"/>
                <a:cs typeface="+mn-ea"/>
                <a:sym typeface="+mn-ea"/>
              </a:rPr>
              <a:t> </a:t>
            </a:r>
            <a:r>
              <a:rPr lang="zh-CN" altLang="en-US" sz="5333">
                <a:solidFill>
                  <a:srgbClr val="425CA9"/>
                </a:solidFill>
                <a:latin typeface="微软雅黑" panose="020B0503020204020204" charset="-122"/>
                <a:ea typeface="微软雅黑" panose="020B0503020204020204" charset="-122"/>
                <a:cs typeface="+mn-ea"/>
                <a:sym typeface="+mn-ea"/>
              </a:rPr>
              <a:t>区块链的现状及价值探讨</a:t>
            </a:r>
            <a:endParaRPr lang="zh-CN" altLang="en-US" sz="5333" dirty="0">
              <a:solidFill>
                <a:srgbClr val="425CA9"/>
              </a:solidFill>
              <a:latin typeface="微软雅黑" panose="020B0503020204020204" charset="-122"/>
              <a:ea typeface="微软雅黑" panose="020B0503020204020204" charset="-122"/>
              <a:cs typeface="+mn-ea"/>
              <a:sym typeface="+mn-ea"/>
            </a:endParaRPr>
          </a:p>
        </p:txBody>
      </p:sp>
      <p:grpSp>
        <p:nvGrpSpPr>
          <p:cNvPr id="7" name="组合 6"/>
          <p:cNvGrpSpPr/>
          <p:nvPr/>
        </p:nvGrpSpPr>
        <p:grpSpPr>
          <a:xfrm>
            <a:off x="9088468" y="7626530"/>
            <a:ext cx="1511981" cy="1069491"/>
            <a:chOff x="1489166" y="3324906"/>
            <a:chExt cx="566993" cy="401059"/>
          </a:xfrm>
        </p:grpSpPr>
        <p:sp>
          <p:nvSpPr>
            <p:cNvPr id="9" name="任意多边形 8"/>
            <p:cNvSpPr>
              <a:spLocks noChangeAspect="1"/>
            </p:cNvSpPr>
            <p:nvPr/>
          </p:nvSpPr>
          <p:spPr>
            <a:xfrm>
              <a:off x="1563012" y="3324906"/>
              <a:ext cx="432000" cy="388503"/>
            </a:xfrm>
            <a:custGeom>
              <a:avLst/>
              <a:gdLst>
                <a:gd name="connsiteX0" fmla="*/ 531453 w 2150426"/>
                <a:gd name="connsiteY0" fmla="*/ 1894557 h 1933898"/>
                <a:gd name="connsiteX1" fmla="*/ 523901 w 2150426"/>
                <a:gd name="connsiteY1" fmla="*/ 1888327 h 1933898"/>
                <a:gd name="connsiteX2" fmla="*/ 505804 w 2150426"/>
                <a:gd name="connsiteY2" fmla="*/ 1878396 h 1933898"/>
                <a:gd name="connsiteX3" fmla="*/ 445296 w 2150426"/>
                <a:gd name="connsiteY3" fmla="*/ 1809798 h 1933898"/>
                <a:gd name="connsiteX4" fmla="*/ 30326 w 2150426"/>
                <a:gd name="connsiteY4" fmla="*/ 1091048 h 1933898"/>
                <a:gd name="connsiteX5" fmla="*/ 1172 w 2150426"/>
                <a:gd name="connsiteY5" fmla="*/ 1004348 h 1933898"/>
                <a:gd name="connsiteX6" fmla="*/ 444 w 2150426"/>
                <a:gd name="connsiteY6" fmla="*/ 976700 h 1933898"/>
                <a:gd name="connsiteX7" fmla="*/ 0 w 2150426"/>
                <a:gd name="connsiteY7" fmla="*/ 974054 h 1933898"/>
                <a:gd name="connsiteX8" fmla="*/ 187 w 2150426"/>
                <a:gd name="connsiteY8" fmla="*/ 966943 h 1933898"/>
                <a:gd name="connsiteX9" fmla="*/ 0 w 2150426"/>
                <a:gd name="connsiteY9" fmla="*/ 959843 h 1933898"/>
                <a:gd name="connsiteX10" fmla="*/ 444 w 2150426"/>
                <a:gd name="connsiteY10" fmla="*/ 957201 h 1933898"/>
                <a:gd name="connsiteX11" fmla="*/ 1172 w 2150426"/>
                <a:gd name="connsiteY11" fmla="*/ 929549 h 1933898"/>
                <a:gd name="connsiteX12" fmla="*/ 30326 w 2150426"/>
                <a:gd name="connsiteY12" fmla="*/ 842849 h 1933898"/>
                <a:gd name="connsiteX13" fmla="*/ 445296 w 2150426"/>
                <a:gd name="connsiteY13" fmla="*/ 124100 h 1933898"/>
                <a:gd name="connsiteX14" fmla="*/ 505804 w 2150426"/>
                <a:gd name="connsiteY14" fmla="*/ 55501 h 1933898"/>
                <a:gd name="connsiteX15" fmla="*/ 529387 w 2150426"/>
                <a:gd name="connsiteY15" fmla="*/ 41045 h 1933898"/>
                <a:gd name="connsiteX16" fmla="*/ 531453 w 2150426"/>
                <a:gd name="connsiteY16" fmla="*/ 39340 h 1933898"/>
                <a:gd name="connsiteX17" fmla="*/ 537695 w 2150426"/>
                <a:gd name="connsiteY17" fmla="*/ 35952 h 1933898"/>
                <a:gd name="connsiteX18" fmla="*/ 543760 w 2150426"/>
                <a:gd name="connsiteY18" fmla="*/ 32234 h 1933898"/>
                <a:gd name="connsiteX19" fmla="*/ 546274 w 2150426"/>
                <a:gd name="connsiteY19" fmla="*/ 31296 h 1933898"/>
                <a:gd name="connsiteX20" fmla="*/ 570581 w 2150426"/>
                <a:gd name="connsiteY20" fmla="*/ 18102 h 1933898"/>
                <a:gd name="connsiteX21" fmla="*/ 660243 w 2150426"/>
                <a:gd name="connsiteY21" fmla="*/ 0 h 1933898"/>
                <a:gd name="connsiteX22" fmla="*/ 1490183 w 2150426"/>
                <a:gd name="connsiteY22" fmla="*/ 0 h 1933898"/>
                <a:gd name="connsiteX23" fmla="*/ 1579845 w 2150426"/>
                <a:gd name="connsiteY23" fmla="*/ 18102 h 1933898"/>
                <a:gd name="connsiteX24" fmla="*/ 1604154 w 2150426"/>
                <a:gd name="connsiteY24" fmla="*/ 31297 h 1933898"/>
                <a:gd name="connsiteX25" fmla="*/ 1606666 w 2150426"/>
                <a:gd name="connsiteY25" fmla="*/ 32234 h 1933898"/>
                <a:gd name="connsiteX26" fmla="*/ 1612726 w 2150426"/>
                <a:gd name="connsiteY26" fmla="*/ 35949 h 1933898"/>
                <a:gd name="connsiteX27" fmla="*/ 1618973 w 2150426"/>
                <a:gd name="connsiteY27" fmla="*/ 39340 h 1933898"/>
                <a:gd name="connsiteX28" fmla="*/ 1621041 w 2150426"/>
                <a:gd name="connsiteY28" fmla="*/ 41046 h 1933898"/>
                <a:gd name="connsiteX29" fmla="*/ 1644623 w 2150426"/>
                <a:gd name="connsiteY29" fmla="*/ 55501 h 1933898"/>
                <a:gd name="connsiteX30" fmla="*/ 1705130 w 2150426"/>
                <a:gd name="connsiteY30" fmla="*/ 124100 h 1933898"/>
                <a:gd name="connsiteX31" fmla="*/ 2120100 w 2150426"/>
                <a:gd name="connsiteY31" fmla="*/ 842849 h 1933898"/>
                <a:gd name="connsiteX32" fmla="*/ 2149255 w 2150426"/>
                <a:gd name="connsiteY32" fmla="*/ 929550 h 1933898"/>
                <a:gd name="connsiteX33" fmla="*/ 2149982 w 2150426"/>
                <a:gd name="connsiteY33" fmla="*/ 957198 h 1933898"/>
                <a:gd name="connsiteX34" fmla="*/ 2150426 w 2150426"/>
                <a:gd name="connsiteY34" fmla="*/ 959843 h 1933898"/>
                <a:gd name="connsiteX35" fmla="*/ 2150239 w 2150426"/>
                <a:gd name="connsiteY35" fmla="*/ 966953 h 1933898"/>
                <a:gd name="connsiteX36" fmla="*/ 2150426 w 2150426"/>
                <a:gd name="connsiteY36" fmla="*/ 974055 h 1933898"/>
                <a:gd name="connsiteX37" fmla="*/ 2149983 w 2150426"/>
                <a:gd name="connsiteY37" fmla="*/ 976697 h 1933898"/>
                <a:gd name="connsiteX38" fmla="*/ 2149255 w 2150426"/>
                <a:gd name="connsiteY38" fmla="*/ 1004348 h 1933898"/>
                <a:gd name="connsiteX39" fmla="*/ 2120101 w 2150426"/>
                <a:gd name="connsiteY39" fmla="*/ 1091049 h 1933898"/>
                <a:gd name="connsiteX40" fmla="*/ 1705131 w 2150426"/>
                <a:gd name="connsiteY40" fmla="*/ 1809798 h 1933898"/>
                <a:gd name="connsiteX41" fmla="*/ 1644623 w 2150426"/>
                <a:gd name="connsiteY41" fmla="*/ 1878396 h 1933898"/>
                <a:gd name="connsiteX42" fmla="*/ 1621040 w 2150426"/>
                <a:gd name="connsiteY42" fmla="*/ 1892852 h 1933898"/>
                <a:gd name="connsiteX43" fmla="*/ 1618973 w 2150426"/>
                <a:gd name="connsiteY43" fmla="*/ 1894557 h 1933898"/>
                <a:gd name="connsiteX44" fmla="*/ 1612730 w 2150426"/>
                <a:gd name="connsiteY44" fmla="*/ 1897947 h 1933898"/>
                <a:gd name="connsiteX45" fmla="*/ 1606666 w 2150426"/>
                <a:gd name="connsiteY45" fmla="*/ 1901663 h 1933898"/>
                <a:gd name="connsiteX46" fmla="*/ 1604153 w 2150426"/>
                <a:gd name="connsiteY46" fmla="*/ 1902602 h 1933898"/>
                <a:gd name="connsiteX47" fmla="*/ 1579845 w 2150426"/>
                <a:gd name="connsiteY47" fmla="*/ 1915796 h 1933898"/>
                <a:gd name="connsiteX48" fmla="*/ 1490183 w 2150426"/>
                <a:gd name="connsiteY48" fmla="*/ 1933897 h 1933898"/>
                <a:gd name="connsiteX49" fmla="*/ 660243 w 2150426"/>
                <a:gd name="connsiteY49" fmla="*/ 1933898 h 1933898"/>
                <a:gd name="connsiteX50" fmla="*/ 531453 w 2150426"/>
                <a:gd name="connsiteY50" fmla="*/ 1894557 h 1933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2150426" h="1933898">
                  <a:moveTo>
                    <a:pt x="531453" y="1894557"/>
                  </a:moveTo>
                  <a:lnTo>
                    <a:pt x="523901" y="1888327"/>
                  </a:lnTo>
                  <a:lnTo>
                    <a:pt x="505804" y="1878396"/>
                  </a:lnTo>
                  <a:cubicBezTo>
                    <a:pt x="481930" y="1860358"/>
                    <a:pt x="461198" y="1837341"/>
                    <a:pt x="445296" y="1809798"/>
                  </a:cubicBezTo>
                  <a:lnTo>
                    <a:pt x="30326" y="1091048"/>
                  </a:lnTo>
                  <a:cubicBezTo>
                    <a:pt x="14424" y="1063505"/>
                    <a:pt x="4856" y="1034042"/>
                    <a:pt x="1172" y="1004348"/>
                  </a:cubicBezTo>
                  <a:lnTo>
                    <a:pt x="444" y="976700"/>
                  </a:lnTo>
                  <a:lnTo>
                    <a:pt x="0" y="974054"/>
                  </a:lnTo>
                  <a:lnTo>
                    <a:pt x="187" y="966943"/>
                  </a:lnTo>
                  <a:lnTo>
                    <a:pt x="0" y="959843"/>
                  </a:lnTo>
                  <a:lnTo>
                    <a:pt x="444" y="957201"/>
                  </a:lnTo>
                  <a:lnTo>
                    <a:pt x="1172" y="929549"/>
                  </a:lnTo>
                  <a:cubicBezTo>
                    <a:pt x="4856" y="899855"/>
                    <a:pt x="14423" y="870392"/>
                    <a:pt x="30326" y="842849"/>
                  </a:cubicBezTo>
                  <a:lnTo>
                    <a:pt x="445296" y="124100"/>
                  </a:lnTo>
                  <a:cubicBezTo>
                    <a:pt x="461198" y="96556"/>
                    <a:pt x="481929" y="73539"/>
                    <a:pt x="505804" y="55501"/>
                  </a:cubicBezTo>
                  <a:lnTo>
                    <a:pt x="529387" y="41045"/>
                  </a:lnTo>
                  <a:lnTo>
                    <a:pt x="531453" y="39340"/>
                  </a:lnTo>
                  <a:lnTo>
                    <a:pt x="537695" y="35952"/>
                  </a:lnTo>
                  <a:lnTo>
                    <a:pt x="543760" y="32234"/>
                  </a:lnTo>
                  <a:lnTo>
                    <a:pt x="546274" y="31296"/>
                  </a:lnTo>
                  <a:lnTo>
                    <a:pt x="570581" y="18102"/>
                  </a:lnTo>
                  <a:cubicBezTo>
                    <a:pt x="598139" y="6446"/>
                    <a:pt x="628439" y="0"/>
                    <a:pt x="660243" y="0"/>
                  </a:cubicBezTo>
                  <a:lnTo>
                    <a:pt x="1490183" y="0"/>
                  </a:lnTo>
                  <a:cubicBezTo>
                    <a:pt x="1521987" y="0"/>
                    <a:pt x="1552286" y="6446"/>
                    <a:pt x="1579845" y="18102"/>
                  </a:cubicBezTo>
                  <a:lnTo>
                    <a:pt x="1604154" y="31297"/>
                  </a:lnTo>
                  <a:lnTo>
                    <a:pt x="1606666" y="32234"/>
                  </a:lnTo>
                  <a:lnTo>
                    <a:pt x="1612726" y="35949"/>
                  </a:lnTo>
                  <a:lnTo>
                    <a:pt x="1618973" y="39340"/>
                  </a:lnTo>
                  <a:lnTo>
                    <a:pt x="1621041" y="41046"/>
                  </a:lnTo>
                  <a:lnTo>
                    <a:pt x="1644623" y="55501"/>
                  </a:lnTo>
                  <a:cubicBezTo>
                    <a:pt x="1668496" y="73539"/>
                    <a:pt x="1689228" y="96557"/>
                    <a:pt x="1705130" y="124100"/>
                  </a:cubicBezTo>
                  <a:lnTo>
                    <a:pt x="2120100" y="842849"/>
                  </a:lnTo>
                  <a:cubicBezTo>
                    <a:pt x="2136003" y="870393"/>
                    <a:pt x="2145570" y="899855"/>
                    <a:pt x="2149255" y="929550"/>
                  </a:cubicBezTo>
                  <a:lnTo>
                    <a:pt x="2149982" y="957198"/>
                  </a:lnTo>
                  <a:lnTo>
                    <a:pt x="2150426" y="959843"/>
                  </a:lnTo>
                  <a:lnTo>
                    <a:pt x="2150239" y="966953"/>
                  </a:lnTo>
                  <a:lnTo>
                    <a:pt x="2150426" y="974055"/>
                  </a:lnTo>
                  <a:lnTo>
                    <a:pt x="2149983" y="976697"/>
                  </a:lnTo>
                  <a:lnTo>
                    <a:pt x="2149255" y="1004348"/>
                  </a:lnTo>
                  <a:cubicBezTo>
                    <a:pt x="2145570" y="1034043"/>
                    <a:pt x="2136003" y="1063505"/>
                    <a:pt x="2120101" y="1091049"/>
                  </a:cubicBezTo>
                  <a:lnTo>
                    <a:pt x="1705131" y="1809798"/>
                  </a:lnTo>
                  <a:cubicBezTo>
                    <a:pt x="1689228" y="1837341"/>
                    <a:pt x="1668497" y="1860358"/>
                    <a:pt x="1644623" y="1878396"/>
                  </a:cubicBezTo>
                  <a:lnTo>
                    <a:pt x="1621040" y="1892852"/>
                  </a:lnTo>
                  <a:lnTo>
                    <a:pt x="1618973" y="1894557"/>
                  </a:lnTo>
                  <a:lnTo>
                    <a:pt x="1612730" y="1897947"/>
                  </a:lnTo>
                  <a:lnTo>
                    <a:pt x="1606666" y="1901663"/>
                  </a:lnTo>
                  <a:lnTo>
                    <a:pt x="1604153" y="1902602"/>
                  </a:lnTo>
                  <a:lnTo>
                    <a:pt x="1579845" y="1915796"/>
                  </a:lnTo>
                  <a:cubicBezTo>
                    <a:pt x="1552287" y="1927452"/>
                    <a:pt x="1521988" y="1933897"/>
                    <a:pt x="1490183" y="1933897"/>
                  </a:cubicBezTo>
                  <a:lnTo>
                    <a:pt x="660243" y="1933898"/>
                  </a:lnTo>
                  <a:cubicBezTo>
                    <a:pt x="612537" y="1933898"/>
                    <a:pt x="568217" y="1919395"/>
                    <a:pt x="531453" y="1894557"/>
                  </a:cubicBezTo>
                  <a:close/>
                </a:path>
              </a:pathLst>
            </a:custGeom>
            <a:noFill/>
            <a:ln w="25400">
              <a:solidFill>
                <a:srgbClr val="5771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533"/>
            </a:p>
          </p:txBody>
        </p:sp>
        <p:sp>
          <p:nvSpPr>
            <p:cNvPr id="10" name="TextBox 6"/>
            <p:cNvSpPr txBox="1">
              <a:spLocks noChangeArrowheads="1"/>
            </p:cNvSpPr>
            <p:nvPr/>
          </p:nvSpPr>
          <p:spPr bwMode="auto">
            <a:xfrm>
              <a:off x="1489166" y="3325879"/>
              <a:ext cx="566993" cy="400086"/>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vert="horz" wrap="square" lIns="243840" tIns="121920" rIns="243840" bIns="121920" numCol="1" anchor="t" anchorCtr="0" compatLnSpc="1">
              <a:spAutoFit/>
            </a:bodyPr>
            <a:lstStyle/>
            <a:p>
              <a:pPr defTabSz="2438430" fontAlgn="base" hangingPunct="1">
                <a:spcBef>
                  <a:spcPct val="0"/>
                </a:spcBef>
                <a:spcAft>
                  <a:spcPct val="0"/>
                </a:spcAft>
              </a:pPr>
              <a:r>
                <a:rPr lang="en-US" altLang="zh-CN" sz="5333" dirty="0">
                  <a:solidFill>
                    <a:srgbClr val="425CA9"/>
                  </a:solidFill>
                  <a:latin typeface="Impact" panose="020B0806030902050204" pitchFamily="34" charset="0"/>
                  <a:ea typeface="微软雅黑" panose="020B0503020204020204" charset="-122"/>
                  <a:cs typeface="Times New Roman" panose="02020603050405020304" pitchFamily="18" charset="0"/>
                </a:rPr>
                <a:t>02</a:t>
              </a:r>
              <a:endParaRPr lang="zh-CN" altLang="en-US" sz="4800" dirty="0">
                <a:solidFill>
                  <a:srgbClr val="425CA9"/>
                </a:solidFill>
                <a:latin typeface="Impact" panose="020B0806030902050204" pitchFamily="34" charset="0"/>
                <a:ea typeface="宋体" panose="02010600030101010101" pitchFamily="2" charset="-122"/>
                <a:cs typeface="Times New Roman" panose="02020603050405020304" pitchFamily="18" charset="0"/>
              </a:endParaRPr>
            </a:p>
          </p:txBody>
        </p:sp>
      </p:grpSp>
      <p:sp>
        <p:nvSpPr>
          <p:cNvPr id="17" name="TextBox 6"/>
          <p:cNvSpPr txBox="1">
            <a:spLocks noChangeArrowheads="1"/>
          </p:cNvSpPr>
          <p:nvPr/>
        </p:nvSpPr>
        <p:spPr bwMode="auto">
          <a:xfrm>
            <a:off x="10320968" y="9183556"/>
            <a:ext cx="11473803" cy="1066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43840" tIns="121920" rIns="243840" bIns="121920" numCol="1" anchor="t" anchorCtr="0" compatLnSpc="1">
            <a:spAutoFit/>
          </a:bodyPr>
          <a:lstStyle/>
          <a:p>
            <a:pPr algn="l" defTabSz="2438430" fontAlgn="base">
              <a:spcBef>
                <a:spcPct val="0"/>
              </a:spcBef>
              <a:spcAft>
                <a:spcPct val="0"/>
              </a:spcAft>
            </a:pPr>
            <a:r>
              <a:rPr lang="zh-CN" altLang="en-US" sz="5333">
                <a:solidFill>
                  <a:schemeClr val="tx1">
                    <a:lumMod val="75000"/>
                    <a:lumOff val="25000"/>
                  </a:schemeClr>
                </a:solidFill>
                <a:latin typeface="微软雅黑" panose="020B0503020204020204" charset="-122"/>
                <a:ea typeface="微软雅黑" panose="020B0503020204020204" charset="-122"/>
                <a:cs typeface="+mn-ea"/>
                <a:sym typeface="+mn-ea"/>
              </a:rPr>
              <a:t> 区块链的未来趋势</a:t>
            </a:r>
            <a:endParaRPr lang="zh-CN" altLang="en-US" sz="5333" dirty="0">
              <a:solidFill>
                <a:schemeClr val="tx1">
                  <a:lumMod val="75000"/>
                  <a:lumOff val="25000"/>
                </a:schemeClr>
              </a:solidFill>
              <a:latin typeface="微软雅黑" panose="020B0503020204020204" charset="-122"/>
              <a:ea typeface="微软雅黑" panose="020B0503020204020204" charset="-122"/>
              <a:cs typeface="+mn-ea"/>
              <a:sym typeface="+mn-ea"/>
            </a:endParaRPr>
          </a:p>
        </p:txBody>
      </p:sp>
      <p:grpSp>
        <p:nvGrpSpPr>
          <p:cNvPr id="18" name="组合 6"/>
          <p:cNvGrpSpPr/>
          <p:nvPr/>
        </p:nvGrpSpPr>
        <p:grpSpPr>
          <a:xfrm>
            <a:off x="9088468" y="9214164"/>
            <a:ext cx="1511981" cy="1069491"/>
            <a:chOff x="1489166" y="3324906"/>
            <a:chExt cx="566993" cy="401059"/>
          </a:xfrm>
        </p:grpSpPr>
        <p:sp>
          <p:nvSpPr>
            <p:cNvPr id="19" name="任意多边形 8"/>
            <p:cNvSpPr>
              <a:spLocks noChangeAspect="1"/>
            </p:cNvSpPr>
            <p:nvPr/>
          </p:nvSpPr>
          <p:spPr>
            <a:xfrm>
              <a:off x="1563012" y="3324906"/>
              <a:ext cx="432000" cy="388503"/>
            </a:xfrm>
            <a:custGeom>
              <a:avLst/>
              <a:gdLst>
                <a:gd name="connsiteX0" fmla="*/ 531453 w 2150426"/>
                <a:gd name="connsiteY0" fmla="*/ 1894557 h 1933898"/>
                <a:gd name="connsiteX1" fmla="*/ 523901 w 2150426"/>
                <a:gd name="connsiteY1" fmla="*/ 1888327 h 1933898"/>
                <a:gd name="connsiteX2" fmla="*/ 505804 w 2150426"/>
                <a:gd name="connsiteY2" fmla="*/ 1878396 h 1933898"/>
                <a:gd name="connsiteX3" fmla="*/ 445296 w 2150426"/>
                <a:gd name="connsiteY3" fmla="*/ 1809798 h 1933898"/>
                <a:gd name="connsiteX4" fmla="*/ 30326 w 2150426"/>
                <a:gd name="connsiteY4" fmla="*/ 1091048 h 1933898"/>
                <a:gd name="connsiteX5" fmla="*/ 1172 w 2150426"/>
                <a:gd name="connsiteY5" fmla="*/ 1004348 h 1933898"/>
                <a:gd name="connsiteX6" fmla="*/ 444 w 2150426"/>
                <a:gd name="connsiteY6" fmla="*/ 976700 h 1933898"/>
                <a:gd name="connsiteX7" fmla="*/ 0 w 2150426"/>
                <a:gd name="connsiteY7" fmla="*/ 974054 h 1933898"/>
                <a:gd name="connsiteX8" fmla="*/ 187 w 2150426"/>
                <a:gd name="connsiteY8" fmla="*/ 966943 h 1933898"/>
                <a:gd name="connsiteX9" fmla="*/ 0 w 2150426"/>
                <a:gd name="connsiteY9" fmla="*/ 959843 h 1933898"/>
                <a:gd name="connsiteX10" fmla="*/ 444 w 2150426"/>
                <a:gd name="connsiteY10" fmla="*/ 957201 h 1933898"/>
                <a:gd name="connsiteX11" fmla="*/ 1172 w 2150426"/>
                <a:gd name="connsiteY11" fmla="*/ 929549 h 1933898"/>
                <a:gd name="connsiteX12" fmla="*/ 30326 w 2150426"/>
                <a:gd name="connsiteY12" fmla="*/ 842849 h 1933898"/>
                <a:gd name="connsiteX13" fmla="*/ 445296 w 2150426"/>
                <a:gd name="connsiteY13" fmla="*/ 124100 h 1933898"/>
                <a:gd name="connsiteX14" fmla="*/ 505804 w 2150426"/>
                <a:gd name="connsiteY14" fmla="*/ 55501 h 1933898"/>
                <a:gd name="connsiteX15" fmla="*/ 529387 w 2150426"/>
                <a:gd name="connsiteY15" fmla="*/ 41045 h 1933898"/>
                <a:gd name="connsiteX16" fmla="*/ 531453 w 2150426"/>
                <a:gd name="connsiteY16" fmla="*/ 39340 h 1933898"/>
                <a:gd name="connsiteX17" fmla="*/ 537695 w 2150426"/>
                <a:gd name="connsiteY17" fmla="*/ 35952 h 1933898"/>
                <a:gd name="connsiteX18" fmla="*/ 543760 w 2150426"/>
                <a:gd name="connsiteY18" fmla="*/ 32234 h 1933898"/>
                <a:gd name="connsiteX19" fmla="*/ 546274 w 2150426"/>
                <a:gd name="connsiteY19" fmla="*/ 31296 h 1933898"/>
                <a:gd name="connsiteX20" fmla="*/ 570581 w 2150426"/>
                <a:gd name="connsiteY20" fmla="*/ 18102 h 1933898"/>
                <a:gd name="connsiteX21" fmla="*/ 660243 w 2150426"/>
                <a:gd name="connsiteY21" fmla="*/ 0 h 1933898"/>
                <a:gd name="connsiteX22" fmla="*/ 1490183 w 2150426"/>
                <a:gd name="connsiteY22" fmla="*/ 0 h 1933898"/>
                <a:gd name="connsiteX23" fmla="*/ 1579845 w 2150426"/>
                <a:gd name="connsiteY23" fmla="*/ 18102 h 1933898"/>
                <a:gd name="connsiteX24" fmla="*/ 1604154 w 2150426"/>
                <a:gd name="connsiteY24" fmla="*/ 31297 h 1933898"/>
                <a:gd name="connsiteX25" fmla="*/ 1606666 w 2150426"/>
                <a:gd name="connsiteY25" fmla="*/ 32234 h 1933898"/>
                <a:gd name="connsiteX26" fmla="*/ 1612726 w 2150426"/>
                <a:gd name="connsiteY26" fmla="*/ 35949 h 1933898"/>
                <a:gd name="connsiteX27" fmla="*/ 1618973 w 2150426"/>
                <a:gd name="connsiteY27" fmla="*/ 39340 h 1933898"/>
                <a:gd name="connsiteX28" fmla="*/ 1621041 w 2150426"/>
                <a:gd name="connsiteY28" fmla="*/ 41046 h 1933898"/>
                <a:gd name="connsiteX29" fmla="*/ 1644623 w 2150426"/>
                <a:gd name="connsiteY29" fmla="*/ 55501 h 1933898"/>
                <a:gd name="connsiteX30" fmla="*/ 1705130 w 2150426"/>
                <a:gd name="connsiteY30" fmla="*/ 124100 h 1933898"/>
                <a:gd name="connsiteX31" fmla="*/ 2120100 w 2150426"/>
                <a:gd name="connsiteY31" fmla="*/ 842849 h 1933898"/>
                <a:gd name="connsiteX32" fmla="*/ 2149255 w 2150426"/>
                <a:gd name="connsiteY32" fmla="*/ 929550 h 1933898"/>
                <a:gd name="connsiteX33" fmla="*/ 2149982 w 2150426"/>
                <a:gd name="connsiteY33" fmla="*/ 957198 h 1933898"/>
                <a:gd name="connsiteX34" fmla="*/ 2150426 w 2150426"/>
                <a:gd name="connsiteY34" fmla="*/ 959843 h 1933898"/>
                <a:gd name="connsiteX35" fmla="*/ 2150239 w 2150426"/>
                <a:gd name="connsiteY35" fmla="*/ 966953 h 1933898"/>
                <a:gd name="connsiteX36" fmla="*/ 2150426 w 2150426"/>
                <a:gd name="connsiteY36" fmla="*/ 974055 h 1933898"/>
                <a:gd name="connsiteX37" fmla="*/ 2149983 w 2150426"/>
                <a:gd name="connsiteY37" fmla="*/ 976697 h 1933898"/>
                <a:gd name="connsiteX38" fmla="*/ 2149255 w 2150426"/>
                <a:gd name="connsiteY38" fmla="*/ 1004348 h 1933898"/>
                <a:gd name="connsiteX39" fmla="*/ 2120101 w 2150426"/>
                <a:gd name="connsiteY39" fmla="*/ 1091049 h 1933898"/>
                <a:gd name="connsiteX40" fmla="*/ 1705131 w 2150426"/>
                <a:gd name="connsiteY40" fmla="*/ 1809798 h 1933898"/>
                <a:gd name="connsiteX41" fmla="*/ 1644623 w 2150426"/>
                <a:gd name="connsiteY41" fmla="*/ 1878396 h 1933898"/>
                <a:gd name="connsiteX42" fmla="*/ 1621040 w 2150426"/>
                <a:gd name="connsiteY42" fmla="*/ 1892852 h 1933898"/>
                <a:gd name="connsiteX43" fmla="*/ 1618973 w 2150426"/>
                <a:gd name="connsiteY43" fmla="*/ 1894557 h 1933898"/>
                <a:gd name="connsiteX44" fmla="*/ 1612730 w 2150426"/>
                <a:gd name="connsiteY44" fmla="*/ 1897947 h 1933898"/>
                <a:gd name="connsiteX45" fmla="*/ 1606666 w 2150426"/>
                <a:gd name="connsiteY45" fmla="*/ 1901663 h 1933898"/>
                <a:gd name="connsiteX46" fmla="*/ 1604153 w 2150426"/>
                <a:gd name="connsiteY46" fmla="*/ 1902602 h 1933898"/>
                <a:gd name="connsiteX47" fmla="*/ 1579845 w 2150426"/>
                <a:gd name="connsiteY47" fmla="*/ 1915796 h 1933898"/>
                <a:gd name="connsiteX48" fmla="*/ 1490183 w 2150426"/>
                <a:gd name="connsiteY48" fmla="*/ 1933897 h 1933898"/>
                <a:gd name="connsiteX49" fmla="*/ 660243 w 2150426"/>
                <a:gd name="connsiteY49" fmla="*/ 1933898 h 1933898"/>
                <a:gd name="connsiteX50" fmla="*/ 531453 w 2150426"/>
                <a:gd name="connsiteY50" fmla="*/ 1894557 h 1933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2150426" h="1933898">
                  <a:moveTo>
                    <a:pt x="531453" y="1894557"/>
                  </a:moveTo>
                  <a:lnTo>
                    <a:pt x="523901" y="1888327"/>
                  </a:lnTo>
                  <a:lnTo>
                    <a:pt x="505804" y="1878396"/>
                  </a:lnTo>
                  <a:cubicBezTo>
                    <a:pt x="481930" y="1860358"/>
                    <a:pt x="461198" y="1837341"/>
                    <a:pt x="445296" y="1809798"/>
                  </a:cubicBezTo>
                  <a:lnTo>
                    <a:pt x="30326" y="1091048"/>
                  </a:lnTo>
                  <a:cubicBezTo>
                    <a:pt x="14424" y="1063505"/>
                    <a:pt x="4856" y="1034042"/>
                    <a:pt x="1172" y="1004348"/>
                  </a:cubicBezTo>
                  <a:lnTo>
                    <a:pt x="444" y="976700"/>
                  </a:lnTo>
                  <a:lnTo>
                    <a:pt x="0" y="974054"/>
                  </a:lnTo>
                  <a:lnTo>
                    <a:pt x="187" y="966943"/>
                  </a:lnTo>
                  <a:lnTo>
                    <a:pt x="0" y="959843"/>
                  </a:lnTo>
                  <a:lnTo>
                    <a:pt x="444" y="957201"/>
                  </a:lnTo>
                  <a:lnTo>
                    <a:pt x="1172" y="929549"/>
                  </a:lnTo>
                  <a:cubicBezTo>
                    <a:pt x="4856" y="899855"/>
                    <a:pt x="14423" y="870392"/>
                    <a:pt x="30326" y="842849"/>
                  </a:cubicBezTo>
                  <a:lnTo>
                    <a:pt x="445296" y="124100"/>
                  </a:lnTo>
                  <a:cubicBezTo>
                    <a:pt x="461198" y="96556"/>
                    <a:pt x="481929" y="73539"/>
                    <a:pt x="505804" y="55501"/>
                  </a:cubicBezTo>
                  <a:lnTo>
                    <a:pt x="529387" y="41045"/>
                  </a:lnTo>
                  <a:lnTo>
                    <a:pt x="531453" y="39340"/>
                  </a:lnTo>
                  <a:lnTo>
                    <a:pt x="537695" y="35952"/>
                  </a:lnTo>
                  <a:lnTo>
                    <a:pt x="543760" y="32234"/>
                  </a:lnTo>
                  <a:lnTo>
                    <a:pt x="546274" y="31296"/>
                  </a:lnTo>
                  <a:lnTo>
                    <a:pt x="570581" y="18102"/>
                  </a:lnTo>
                  <a:cubicBezTo>
                    <a:pt x="598139" y="6446"/>
                    <a:pt x="628439" y="0"/>
                    <a:pt x="660243" y="0"/>
                  </a:cubicBezTo>
                  <a:lnTo>
                    <a:pt x="1490183" y="0"/>
                  </a:lnTo>
                  <a:cubicBezTo>
                    <a:pt x="1521987" y="0"/>
                    <a:pt x="1552286" y="6446"/>
                    <a:pt x="1579845" y="18102"/>
                  </a:cubicBezTo>
                  <a:lnTo>
                    <a:pt x="1604154" y="31297"/>
                  </a:lnTo>
                  <a:lnTo>
                    <a:pt x="1606666" y="32234"/>
                  </a:lnTo>
                  <a:lnTo>
                    <a:pt x="1612726" y="35949"/>
                  </a:lnTo>
                  <a:lnTo>
                    <a:pt x="1618973" y="39340"/>
                  </a:lnTo>
                  <a:lnTo>
                    <a:pt x="1621041" y="41046"/>
                  </a:lnTo>
                  <a:lnTo>
                    <a:pt x="1644623" y="55501"/>
                  </a:lnTo>
                  <a:cubicBezTo>
                    <a:pt x="1668496" y="73539"/>
                    <a:pt x="1689228" y="96557"/>
                    <a:pt x="1705130" y="124100"/>
                  </a:cubicBezTo>
                  <a:lnTo>
                    <a:pt x="2120100" y="842849"/>
                  </a:lnTo>
                  <a:cubicBezTo>
                    <a:pt x="2136003" y="870393"/>
                    <a:pt x="2145570" y="899855"/>
                    <a:pt x="2149255" y="929550"/>
                  </a:cubicBezTo>
                  <a:lnTo>
                    <a:pt x="2149982" y="957198"/>
                  </a:lnTo>
                  <a:lnTo>
                    <a:pt x="2150426" y="959843"/>
                  </a:lnTo>
                  <a:lnTo>
                    <a:pt x="2150239" y="966953"/>
                  </a:lnTo>
                  <a:lnTo>
                    <a:pt x="2150426" y="974055"/>
                  </a:lnTo>
                  <a:lnTo>
                    <a:pt x="2149983" y="976697"/>
                  </a:lnTo>
                  <a:lnTo>
                    <a:pt x="2149255" y="1004348"/>
                  </a:lnTo>
                  <a:cubicBezTo>
                    <a:pt x="2145570" y="1034043"/>
                    <a:pt x="2136003" y="1063505"/>
                    <a:pt x="2120101" y="1091049"/>
                  </a:cubicBezTo>
                  <a:lnTo>
                    <a:pt x="1705131" y="1809798"/>
                  </a:lnTo>
                  <a:cubicBezTo>
                    <a:pt x="1689228" y="1837341"/>
                    <a:pt x="1668497" y="1860358"/>
                    <a:pt x="1644623" y="1878396"/>
                  </a:cubicBezTo>
                  <a:lnTo>
                    <a:pt x="1621040" y="1892852"/>
                  </a:lnTo>
                  <a:lnTo>
                    <a:pt x="1618973" y="1894557"/>
                  </a:lnTo>
                  <a:lnTo>
                    <a:pt x="1612730" y="1897947"/>
                  </a:lnTo>
                  <a:lnTo>
                    <a:pt x="1606666" y="1901663"/>
                  </a:lnTo>
                  <a:lnTo>
                    <a:pt x="1604153" y="1902602"/>
                  </a:lnTo>
                  <a:lnTo>
                    <a:pt x="1579845" y="1915796"/>
                  </a:lnTo>
                  <a:cubicBezTo>
                    <a:pt x="1552287" y="1927452"/>
                    <a:pt x="1521988" y="1933897"/>
                    <a:pt x="1490183" y="1933897"/>
                  </a:cubicBezTo>
                  <a:lnTo>
                    <a:pt x="660243" y="1933898"/>
                  </a:lnTo>
                  <a:cubicBezTo>
                    <a:pt x="612537" y="1933898"/>
                    <a:pt x="568217" y="1919395"/>
                    <a:pt x="531453" y="1894557"/>
                  </a:cubicBezTo>
                  <a:close/>
                </a:path>
              </a:pathLst>
            </a:custGeom>
            <a:noFill/>
            <a:ln w="25400">
              <a:solidFill>
                <a:srgbClr val="5771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533"/>
            </a:p>
          </p:txBody>
        </p:sp>
        <p:sp>
          <p:nvSpPr>
            <p:cNvPr id="20" name="TextBox 6"/>
            <p:cNvSpPr txBox="1">
              <a:spLocks noChangeArrowheads="1"/>
            </p:cNvSpPr>
            <p:nvPr/>
          </p:nvSpPr>
          <p:spPr bwMode="auto">
            <a:xfrm>
              <a:off x="1489166" y="3325879"/>
              <a:ext cx="566993" cy="400086"/>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vert="horz" wrap="square" lIns="243840" tIns="121920" rIns="243840" bIns="121920" numCol="1" anchor="t" anchorCtr="0" compatLnSpc="1">
              <a:spAutoFit/>
            </a:bodyPr>
            <a:lstStyle/>
            <a:p>
              <a:pPr defTabSz="2438430" fontAlgn="base" hangingPunct="1">
                <a:spcBef>
                  <a:spcPct val="0"/>
                </a:spcBef>
                <a:spcAft>
                  <a:spcPct val="0"/>
                </a:spcAft>
              </a:pPr>
              <a:r>
                <a:rPr lang="en-US" altLang="zh-CN" sz="5333">
                  <a:solidFill>
                    <a:schemeClr val="tx1">
                      <a:lumMod val="50000"/>
                      <a:lumOff val="50000"/>
                    </a:schemeClr>
                  </a:solidFill>
                  <a:latin typeface="Impact" panose="020B0806030902050204" pitchFamily="34" charset="0"/>
                  <a:ea typeface="微软雅黑" panose="020B0503020204020204" charset="-122"/>
                  <a:cs typeface="Times New Roman" panose="02020603050405020304" pitchFamily="18" charset="0"/>
                </a:rPr>
                <a:t>03</a:t>
              </a:r>
              <a:endParaRPr lang="zh-CN" altLang="en-US" sz="4800" dirty="0">
                <a:solidFill>
                  <a:schemeClr val="tx1">
                    <a:lumMod val="50000"/>
                    <a:lumOff val="50000"/>
                  </a:schemeClr>
                </a:solidFill>
                <a:latin typeface="Impact" panose="020B0806030902050204" pitchFamily="34" charset="0"/>
                <a:ea typeface="宋体" panose="02010600030101010101" pitchFamily="2" charset="-122"/>
                <a:cs typeface="Times New Roman" panose="02020603050405020304" pitchFamily="18" charset="0"/>
              </a:endParaRPr>
            </a:p>
          </p:txBody>
        </p:sp>
      </p:grpSp>
    </p:spTree>
    <p:extLst>
      <p:ext uri="{BB962C8B-B14F-4D97-AF65-F5344CB8AC3E}">
        <p14:creationId xmlns:p14="http://schemas.microsoft.com/office/powerpoint/2010/main" val="1705925843"/>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4E2376B0-D24A-45CB-A950-6AF7C7DEB5D6}"/>
              </a:ext>
            </a:extLst>
          </p:cNvPr>
          <p:cNvPicPr>
            <a:picLocks noChangeAspect="1"/>
          </p:cNvPicPr>
          <p:nvPr/>
        </p:nvPicPr>
        <p:blipFill>
          <a:blip r:embed="rId3"/>
          <a:stretch>
            <a:fillRect/>
          </a:stretch>
        </p:blipFill>
        <p:spPr>
          <a:xfrm>
            <a:off x="937531" y="2817860"/>
            <a:ext cx="10382250" cy="6620054"/>
          </a:xfrm>
          <a:prstGeom prst="rect">
            <a:avLst/>
          </a:prstGeom>
        </p:spPr>
      </p:pic>
      <p:sp>
        <p:nvSpPr>
          <p:cNvPr id="59" name="Text Placeholder 59">
            <a:extLst>
              <a:ext uri="{FF2B5EF4-FFF2-40B4-BE49-F238E27FC236}">
                <a16:creationId xmlns:a16="http://schemas.microsoft.com/office/drawing/2014/main" id="{BEB71889-328F-4C3F-AFE1-DF6F2C368C67}"/>
              </a:ext>
            </a:extLst>
          </p:cNvPr>
          <p:cNvSpPr txBox="1"/>
          <p:nvPr/>
        </p:nvSpPr>
        <p:spPr>
          <a:xfrm>
            <a:off x="12764589" y="1446260"/>
            <a:ext cx="5118211" cy="2496277"/>
          </a:xfrm>
          <a:prstGeom prst="rect">
            <a:avLst/>
          </a:prstGeom>
        </p:spPr>
        <p:txBody>
          <a:bodyPr anchor="t">
            <a:noAutofit/>
          </a:bodyPr>
          <a:lstStyle>
            <a:lvl1pPr marL="0" indent="0" algn="l" defTabSz="914400" rtl="0" eaLnBrk="1" latinLnBrk="0" hangingPunct="1">
              <a:spcBef>
                <a:spcPct val="20000"/>
              </a:spcBef>
              <a:buFont typeface="Arial" panose="020B0604020202020204" pitchFamily="34" charset="0"/>
              <a:buNone/>
              <a:defRPr sz="1800" b="0" kern="1200">
                <a:solidFill>
                  <a:schemeClr val="tx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ltLang="zh-CN" sz="3600">
                <a:latin typeface="Microsoft JhengHei Light" panose="020B0304030504040204" pitchFamily="34" charset="-120"/>
                <a:ea typeface="Microsoft JhengHei Light" panose="020B0304030504040204" pitchFamily="34" charset="-120"/>
              </a:rPr>
              <a:t>2019</a:t>
            </a:r>
            <a:r>
              <a:rPr lang="zh-CN" altLang="en-US" sz="3600">
                <a:latin typeface="Microsoft JhengHei Light" panose="020B0304030504040204" pitchFamily="34" charset="-120"/>
                <a:ea typeface="Microsoft JhengHei Light" panose="020B0304030504040204" pitchFamily="34" charset="-120"/>
              </a:rPr>
              <a:t>年上半年，共有</a:t>
            </a:r>
            <a:r>
              <a:rPr lang="en-US" altLang="zh-CN" sz="3600">
                <a:latin typeface="Microsoft JhengHei Light" panose="020B0304030504040204" pitchFamily="34" charset="-120"/>
                <a:ea typeface="Microsoft JhengHei Light" panose="020B0304030504040204" pitchFamily="34" charset="-120"/>
              </a:rPr>
              <a:t>283</a:t>
            </a:r>
            <a:r>
              <a:rPr lang="zh-CN" altLang="en-US" sz="3600">
                <a:latin typeface="Microsoft JhengHei Light" panose="020B0304030504040204" pitchFamily="34" charset="-120"/>
                <a:ea typeface="Microsoft JhengHei Light" panose="020B0304030504040204" pitchFamily="34" charset="-120"/>
              </a:rPr>
              <a:t>家投资方参与区块链项目投资，包括</a:t>
            </a:r>
            <a:r>
              <a:rPr lang="en-US" altLang="zh-CN" sz="3600">
                <a:latin typeface="Microsoft JhengHei Light" panose="020B0304030504040204" pitchFamily="34" charset="-120"/>
                <a:ea typeface="Microsoft JhengHei Light" panose="020B0304030504040204" pitchFamily="34" charset="-120"/>
              </a:rPr>
              <a:t>IDG</a:t>
            </a:r>
            <a:r>
              <a:rPr lang="zh-CN" altLang="en-US" sz="3600">
                <a:latin typeface="Microsoft JhengHei Light" panose="020B0304030504040204" pitchFamily="34" charset="-120"/>
                <a:ea typeface="Microsoft JhengHei Light" panose="020B0304030504040204" pitchFamily="34" charset="-120"/>
              </a:rPr>
              <a:t>、富达国际旗下的</a:t>
            </a:r>
            <a:r>
              <a:rPr lang="en-US" altLang="zh-CN" sz="3600">
                <a:latin typeface="Microsoft JhengHei Light" panose="020B0304030504040204" pitchFamily="34" charset="-120"/>
                <a:ea typeface="Microsoft JhengHei Light" panose="020B0304030504040204" pitchFamily="34" charset="-120"/>
              </a:rPr>
              <a:t>Eight Roads</a:t>
            </a:r>
            <a:r>
              <a:rPr lang="zh-CN" altLang="en-US" sz="3600">
                <a:latin typeface="Microsoft JhengHei Light" panose="020B0304030504040204" pitchFamily="34" charset="-120"/>
                <a:ea typeface="Microsoft JhengHei Light" panose="020B0304030504040204" pitchFamily="34" charset="-120"/>
              </a:rPr>
              <a:t>、日本软银、红杉印度、腾讯、蚂蚁金服、</a:t>
            </a:r>
            <a:r>
              <a:rPr lang="en-US" altLang="zh-CN" sz="3600">
                <a:latin typeface="Microsoft JhengHei Light" panose="020B0304030504040204" pitchFamily="34" charset="-120"/>
                <a:ea typeface="Microsoft JhengHei Light" panose="020B0304030504040204" pitchFamily="34" charset="-120"/>
              </a:rPr>
              <a:t>PayPal</a:t>
            </a:r>
            <a:r>
              <a:rPr lang="zh-CN" altLang="en-US" sz="3600">
                <a:latin typeface="Microsoft JhengHei Light" panose="020B0304030504040204" pitchFamily="34" charset="-120"/>
                <a:ea typeface="Microsoft JhengHei Light" panose="020B0304030504040204" pitchFamily="34" charset="-120"/>
              </a:rPr>
              <a:t>、顺为资本等知名机构和企业。</a:t>
            </a:r>
            <a:endParaRPr lang="en-US" sz="3600" dirty="0">
              <a:latin typeface="Microsoft JhengHei Light" panose="020B0304030504040204" pitchFamily="34" charset="-120"/>
              <a:ea typeface="Microsoft JhengHei Light" panose="020B0304030504040204" pitchFamily="34" charset="-120"/>
            </a:endParaRPr>
          </a:p>
        </p:txBody>
      </p:sp>
      <p:sp>
        <p:nvSpPr>
          <p:cNvPr id="60" name="Text Placeholder 59">
            <a:extLst>
              <a:ext uri="{FF2B5EF4-FFF2-40B4-BE49-F238E27FC236}">
                <a16:creationId xmlns:a16="http://schemas.microsoft.com/office/drawing/2014/main" id="{B8A9ABCC-FAB2-4C10-B90E-B28611870461}"/>
              </a:ext>
            </a:extLst>
          </p:cNvPr>
          <p:cNvSpPr txBox="1"/>
          <p:nvPr/>
        </p:nvSpPr>
        <p:spPr>
          <a:xfrm>
            <a:off x="12764589" y="7498717"/>
            <a:ext cx="5118211" cy="2496277"/>
          </a:xfrm>
          <a:prstGeom prst="rect">
            <a:avLst/>
          </a:prstGeom>
        </p:spPr>
        <p:txBody>
          <a:bodyPr anchor="t">
            <a:noAutofit/>
          </a:bodyPr>
          <a:lstStyle>
            <a:lvl1pPr marL="0" indent="0" algn="l" defTabSz="914400" rtl="0" eaLnBrk="1" latinLnBrk="0" hangingPunct="1">
              <a:spcBef>
                <a:spcPct val="20000"/>
              </a:spcBef>
              <a:buFont typeface="Arial" panose="020B0604020202020204" pitchFamily="34" charset="0"/>
              <a:buNone/>
              <a:defRPr sz="1800" b="0" kern="1200">
                <a:solidFill>
                  <a:schemeClr val="tx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3600">
                <a:latin typeface="Microsoft JhengHei Light" panose="020B0304030504040204" pitchFamily="34" charset="-120"/>
                <a:ea typeface="Microsoft JhengHei Light" panose="020B0304030504040204" pitchFamily="34" charset="-120"/>
              </a:rPr>
              <a:t>上半年，</a:t>
            </a:r>
            <a:r>
              <a:rPr lang="en-US" altLang="zh-CN" sz="3600">
                <a:latin typeface="Microsoft JhengHei Light" panose="020B0304030504040204" pitchFamily="34" charset="-120"/>
                <a:ea typeface="Microsoft JhengHei Light" panose="020B0304030504040204" pitchFamily="34" charset="-120"/>
              </a:rPr>
              <a:t>145</a:t>
            </a:r>
            <a:r>
              <a:rPr lang="zh-CN" altLang="en-US" sz="3600">
                <a:latin typeface="Microsoft JhengHei Light" panose="020B0304030504040204" pitchFamily="34" charset="-120"/>
                <a:ea typeface="Microsoft JhengHei Light" panose="020B0304030504040204" pitchFamily="34" charset="-120"/>
              </a:rPr>
              <a:t>个项目披露总投资额高达</a:t>
            </a:r>
            <a:r>
              <a:rPr lang="en-US" altLang="zh-CN" sz="3600">
                <a:latin typeface="Microsoft JhengHei Light" panose="020B0304030504040204" pitchFamily="34" charset="-120"/>
                <a:ea typeface="Microsoft JhengHei Light" panose="020B0304030504040204" pitchFamily="34" charset="-120"/>
              </a:rPr>
              <a:t>7.188</a:t>
            </a:r>
            <a:r>
              <a:rPr lang="zh-CN" altLang="en-US" sz="3600">
                <a:latin typeface="Microsoft JhengHei Light" panose="020B0304030504040204" pitchFamily="34" charset="-120"/>
                <a:ea typeface="Microsoft JhengHei Light" panose="020B0304030504040204" pitchFamily="34" charset="-120"/>
              </a:rPr>
              <a:t>亿美元，共</a:t>
            </a:r>
            <a:r>
              <a:rPr lang="en-US" altLang="zh-CN" sz="3600">
                <a:latin typeface="Microsoft JhengHei Light" panose="020B0304030504040204" pitchFamily="34" charset="-120"/>
                <a:ea typeface="Microsoft JhengHei Light" panose="020B0304030504040204" pitchFamily="34" charset="-120"/>
              </a:rPr>
              <a:t>283</a:t>
            </a:r>
            <a:r>
              <a:rPr lang="zh-CN" altLang="en-US" sz="3600">
                <a:latin typeface="Microsoft JhengHei Light" panose="020B0304030504040204" pitchFamily="34" charset="-120"/>
                <a:ea typeface="Microsoft JhengHei Light" panose="020B0304030504040204" pitchFamily="34" charset="-120"/>
              </a:rPr>
              <a:t>家投资方，项目平均融资金额为</a:t>
            </a:r>
            <a:r>
              <a:rPr lang="en-US" altLang="zh-CN" sz="3600">
                <a:latin typeface="Microsoft JhengHei Light" panose="020B0304030504040204" pitchFamily="34" charset="-120"/>
                <a:ea typeface="Microsoft JhengHei Light" panose="020B0304030504040204" pitchFamily="34" charset="-120"/>
              </a:rPr>
              <a:t>500</a:t>
            </a:r>
            <a:r>
              <a:rPr lang="zh-CN" altLang="en-US" sz="3600">
                <a:latin typeface="Microsoft JhengHei Light" panose="020B0304030504040204" pitchFamily="34" charset="-120"/>
                <a:ea typeface="Microsoft JhengHei Light" panose="020B0304030504040204" pitchFamily="34" charset="-120"/>
              </a:rPr>
              <a:t>万美元。</a:t>
            </a:r>
            <a:endParaRPr lang="en-US" sz="3600" dirty="0">
              <a:latin typeface="Microsoft JhengHei Light" panose="020B0304030504040204" pitchFamily="34" charset="-120"/>
              <a:ea typeface="Microsoft JhengHei Light" panose="020B0304030504040204" pitchFamily="34" charset="-120"/>
            </a:endParaRPr>
          </a:p>
        </p:txBody>
      </p:sp>
    </p:spTree>
    <p:extLst>
      <p:ext uri="{BB962C8B-B14F-4D97-AF65-F5344CB8AC3E}">
        <p14:creationId xmlns:p14="http://schemas.microsoft.com/office/powerpoint/2010/main" val="3112840114"/>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wipe(left)">
                                      <p:cBhvr>
                                        <p:cTn id="7" dur="500"/>
                                        <p:tgtEl>
                                          <p:spTgt spid="59"/>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0"/>
                                        </p:tgtEl>
                                        <p:attrNameLst>
                                          <p:attrName>style.visibility</p:attrName>
                                        </p:attrNameLst>
                                      </p:cBhvr>
                                      <p:to>
                                        <p:strVal val="visible"/>
                                      </p:to>
                                    </p:set>
                                    <p:animEffect transition="in" filter="wipe(left)">
                                      <p:cBhvr>
                                        <p:cTn id="11"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P spid="6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ext Placeholder 59">
            <a:extLst>
              <a:ext uri="{FF2B5EF4-FFF2-40B4-BE49-F238E27FC236}">
                <a16:creationId xmlns:a16="http://schemas.microsoft.com/office/drawing/2014/main" id="{B8A9ABCC-FAB2-4C10-B90E-B28611870461}"/>
              </a:ext>
            </a:extLst>
          </p:cNvPr>
          <p:cNvSpPr txBox="1"/>
          <p:nvPr/>
        </p:nvSpPr>
        <p:spPr>
          <a:xfrm>
            <a:off x="12764589" y="7498717"/>
            <a:ext cx="5118211" cy="2496277"/>
          </a:xfrm>
          <a:prstGeom prst="rect">
            <a:avLst/>
          </a:prstGeom>
        </p:spPr>
        <p:txBody>
          <a:bodyPr anchor="t">
            <a:noAutofit/>
          </a:bodyPr>
          <a:lstStyle>
            <a:lvl1pPr marL="0" indent="0" algn="l" defTabSz="914400" rtl="0" eaLnBrk="1" latinLnBrk="0" hangingPunct="1">
              <a:spcBef>
                <a:spcPct val="20000"/>
              </a:spcBef>
              <a:buFont typeface="Arial" panose="020B0604020202020204" pitchFamily="34" charset="0"/>
              <a:buNone/>
              <a:defRPr sz="1800" b="0" kern="1200">
                <a:solidFill>
                  <a:schemeClr val="tx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3600">
                <a:latin typeface="Microsoft JhengHei Light" panose="020B0304030504040204" pitchFamily="34" charset="-120"/>
                <a:ea typeface="Microsoft JhengHei Light" panose="020B0304030504040204" pitchFamily="34" charset="-120"/>
              </a:rPr>
              <a:t>上半年，投资较多的项目为加密货币类</a:t>
            </a:r>
            <a:r>
              <a:rPr lang="en-US" altLang="zh-CN" sz="3600">
                <a:latin typeface="Microsoft JhengHei Light" panose="020B0304030504040204" pitchFamily="34" charset="-120"/>
                <a:ea typeface="Microsoft JhengHei Light" panose="020B0304030504040204" pitchFamily="34" charset="-120"/>
              </a:rPr>
              <a:t>(</a:t>
            </a:r>
            <a:r>
              <a:rPr lang="zh-CN" altLang="en-US" sz="3600">
                <a:latin typeface="Microsoft JhengHei Light" panose="020B0304030504040204" pitchFamily="34" charset="-120"/>
                <a:ea typeface="Microsoft JhengHei Light" panose="020B0304030504040204" pitchFamily="34" charset="-120"/>
              </a:rPr>
              <a:t>包括交易所</a:t>
            </a:r>
            <a:r>
              <a:rPr lang="en-US" altLang="zh-CN" sz="3600">
                <a:latin typeface="Microsoft JhengHei Light" panose="020B0304030504040204" pitchFamily="34" charset="-120"/>
                <a:ea typeface="Microsoft JhengHei Light" panose="020B0304030504040204" pitchFamily="34" charset="-120"/>
              </a:rPr>
              <a:t>)</a:t>
            </a:r>
            <a:r>
              <a:rPr lang="zh-CN" altLang="en-US" sz="3600">
                <a:latin typeface="Microsoft JhengHei Light" panose="020B0304030504040204" pitchFamily="34" charset="-120"/>
                <a:ea typeface="Microsoft JhengHei Light" panose="020B0304030504040204" pitchFamily="34" charset="-120"/>
              </a:rPr>
              <a:t>、底层技术和行业应用。</a:t>
            </a:r>
            <a:endParaRPr lang="en-US" sz="3600" dirty="0">
              <a:latin typeface="Microsoft JhengHei Light" panose="020B0304030504040204" pitchFamily="34" charset="-120"/>
              <a:ea typeface="Microsoft JhengHei Light" panose="020B0304030504040204" pitchFamily="34" charset="-120"/>
            </a:endParaRPr>
          </a:p>
        </p:txBody>
      </p:sp>
      <p:pic>
        <p:nvPicPr>
          <p:cNvPr id="2" name="图片 1">
            <a:extLst>
              <a:ext uri="{FF2B5EF4-FFF2-40B4-BE49-F238E27FC236}">
                <a16:creationId xmlns:a16="http://schemas.microsoft.com/office/drawing/2014/main" id="{2FA0C64F-A417-4C6A-B33B-D8EBF077556A}"/>
              </a:ext>
            </a:extLst>
          </p:cNvPr>
          <p:cNvPicPr>
            <a:picLocks noChangeAspect="1"/>
          </p:cNvPicPr>
          <p:nvPr/>
        </p:nvPicPr>
        <p:blipFill>
          <a:blip r:embed="rId3"/>
          <a:stretch>
            <a:fillRect/>
          </a:stretch>
        </p:blipFill>
        <p:spPr>
          <a:xfrm>
            <a:off x="611641" y="1530804"/>
            <a:ext cx="10772775" cy="9696450"/>
          </a:xfrm>
          <a:prstGeom prst="rect">
            <a:avLst/>
          </a:prstGeom>
        </p:spPr>
      </p:pic>
    </p:spTree>
    <p:extLst>
      <p:ext uri="{BB962C8B-B14F-4D97-AF65-F5344CB8AC3E}">
        <p14:creationId xmlns:p14="http://schemas.microsoft.com/office/powerpoint/2010/main" val="1561989370"/>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wipe(left)">
                                      <p:cBhvr>
                                        <p:cTn id="7"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ext Placeholder 59">
            <a:extLst>
              <a:ext uri="{FF2B5EF4-FFF2-40B4-BE49-F238E27FC236}">
                <a16:creationId xmlns:a16="http://schemas.microsoft.com/office/drawing/2014/main" id="{B8A9ABCC-FAB2-4C10-B90E-B28611870461}"/>
              </a:ext>
            </a:extLst>
          </p:cNvPr>
          <p:cNvSpPr txBox="1"/>
          <p:nvPr/>
        </p:nvSpPr>
        <p:spPr>
          <a:xfrm>
            <a:off x="12764589" y="7498717"/>
            <a:ext cx="5118211" cy="2496277"/>
          </a:xfrm>
          <a:prstGeom prst="rect">
            <a:avLst/>
          </a:prstGeom>
        </p:spPr>
        <p:txBody>
          <a:bodyPr anchor="t">
            <a:noAutofit/>
          </a:bodyPr>
          <a:lstStyle>
            <a:lvl1pPr marL="0" indent="0" algn="l" defTabSz="914400" rtl="0" eaLnBrk="1" latinLnBrk="0" hangingPunct="1">
              <a:spcBef>
                <a:spcPct val="20000"/>
              </a:spcBef>
              <a:buFont typeface="Arial" panose="020B0604020202020204" pitchFamily="34" charset="0"/>
              <a:buNone/>
              <a:defRPr sz="1800" b="0" kern="1200">
                <a:solidFill>
                  <a:schemeClr val="tx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3600">
                <a:latin typeface="Microsoft JhengHei Light" panose="020B0304030504040204" pitchFamily="34" charset="-120"/>
                <a:ea typeface="Microsoft JhengHei Light" panose="020B0304030504040204" pitchFamily="34" charset="-120"/>
              </a:rPr>
              <a:t>但是从投资金额来看，底层技术和行业应用是最多的。</a:t>
            </a:r>
            <a:endParaRPr lang="en-US" sz="3600" dirty="0">
              <a:latin typeface="Microsoft JhengHei Light" panose="020B0304030504040204" pitchFamily="34" charset="-120"/>
              <a:ea typeface="Microsoft JhengHei Light" panose="020B0304030504040204" pitchFamily="34" charset="-120"/>
            </a:endParaRPr>
          </a:p>
        </p:txBody>
      </p:sp>
      <p:pic>
        <p:nvPicPr>
          <p:cNvPr id="3" name="图片 2">
            <a:extLst>
              <a:ext uri="{FF2B5EF4-FFF2-40B4-BE49-F238E27FC236}">
                <a16:creationId xmlns:a16="http://schemas.microsoft.com/office/drawing/2014/main" id="{DB1C9BF6-A65C-4564-A8F9-C8173A55A7B7}"/>
              </a:ext>
            </a:extLst>
          </p:cNvPr>
          <p:cNvPicPr>
            <a:picLocks noChangeAspect="1"/>
          </p:cNvPicPr>
          <p:nvPr/>
        </p:nvPicPr>
        <p:blipFill>
          <a:blip r:embed="rId3"/>
          <a:stretch>
            <a:fillRect/>
          </a:stretch>
        </p:blipFill>
        <p:spPr>
          <a:xfrm>
            <a:off x="415697" y="2867705"/>
            <a:ext cx="11382375" cy="7610475"/>
          </a:xfrm>
          <a:prstGeom prst="rect">
            <a:avLst/>
          </a:prstGeom>
        </p:spPr>
      </p:pic>
    </p:spTree>
    <p:extLst>
      <p:ext uri="{BB962C8B-B14F-4D97-AF65-F5344CB8AC3E}">
        <p14:creationId xmlns:p14="http://schemas.microsoft.com/office/powerpoint/2010/main" val="1532666872"/>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wipe(left)">
                                      <p:cBhvr>
                                        <p:cTn id="7"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F52E863A-2B70-4F78-990A-11BD0CC76776}"/>
              </a:ext>
            </a:extLst>
          </p:cNvPr>
          <p:cNvPicPr>
            <a:picLocks noChangeAspect="1"/>
          </p:cNvPicPr>
          <p:nvPr/>
        </p:nvPicPr>
        <p:blipFill>
          <a:blip r:embed="rId3"/>
          <a:stretch>
            <a:fillRect/>
          </a:stretch>
        </p:blipFill>
        <p:spPr>
          <a:xfrm>
            <a:off x="649740" y="1314449"/>
            <a:ext cx="20602575" cy="9767207"/>
          </a:xfrm>
          <a:prstGeom prst="rect">
            <a:avLst/>
          </a:prstGeom>
        </p:spPr>
      </p:pic>
    </p:spTree>
    <p:extLst>
      <p:ext uri="{BB962C8B-B14F-4D97-AF65-F5344CB8AC3E}">
        <p14:creationId xmlns:p14="http://schemas.microsoft.com/office/powerpoint/2010/main" val="1674953751"/>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C47885BE-2145-4817-89C3-D2A084D96CB9}"/>
              </a:ext>
            </a:extLst>
          </p:cNvPr>
          <p:cNvPicPr>
            <a:picLocks noChangeAspect="1"/>
          </p:cNvPicPr>
          <p:nvPr/>
        </p:nvPicPr>
        <p:blipFill>
          <a:blip r:embed="rId3"/>
          <a:stretch>
            <a:fillRect/>
          </a:stretch>
        </p:blipFill>
        <p:spPr>
          <a:xfrm>
            <a:off x="2684689" y="1244373"/>
            <a:ext cx="18535650" cy="10487025"/>
          </a:xfrm>
          <a:prstGeom prst="rect">
            <a:avLst/>
          </a:prstGeom>
        </p:spPr>
      </p:pic>
    </p:spTree>
    <p:extLst>
      <p:ext uri="{BB962C8B-B14F-4D97-AF65-F5344CB8AC3E}">
        <p14:creationId xmlns:p14="http://schemas.microsoft.com/office/powerpoint/2010/main" val="197570197"/>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5E1DCE45-FC90-4325-90AC-DB215DB1AD03}"/>
              </a:ext>
            </a:extLst>
          </p:cNvPr>
          <p:cNvPicPr>
            <a:picLocks noChangeAspect="1"/>
          </p:cNvPicPr>
          <p:nvPr/>
        </p:nvPicPr>
        <p:blipFill>
          <a:blip r:embed="rId3"/>
          <a:stretch>
            <a:fillRect/>
          </a:stretch>
        </p:blipFill>
        <p:spPr>
          <a:xfrm>
            <a:off x="2166937" y="940934"/>
            <a:ext cx="19897725" cy="11420475"/>
          </a:xfrm>
          <a:prstGeom prst="rect">
            <a:avLst/>
          </a:prstGeom>
        </p:spPr>
      </p:pic>
    </p:spTree>
    <p:extLst>
      <p:ext uri="{BB962C8B-B14F-4D97-AF65-F5344CB8AC3E}">
        <p14:creationId xmlns:p14="http://schemas.microsoft.com/office/powerpoint/2010/main" val="2283569927"/>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4E0DF890-9C84-4F41-BC02-B809A64BF18D}"/>
              </a:ext>
            </a:extLst>
          </p:cNvPr>
          <p:cNvPicPr>
            <a:picLocks noChangeAspect="1"/>
          </p:cNvPicPr>
          <p:nvPr/>
        </p:nvPicPr>
        <p:blipFill>
          <a:blip r:embed="rId3"/>
          <a:stretch>
            <a:fillRect/>
          </a:stretch>
        </p:blipFill>
        <p:spPr>
          <a:xfrm>
            <a:off x="1662793" y="779008"/>
            <a:ext cx="17487900" cy="11591925"/>
          </a:xfrm>
          <a:prstGeom prst="rect">
            <a:avLst/>
          </a:prstGeom>
        </p:spPr>
      </p:pic>
    </p:spTree>
    <p:extLst>
      <p:ext uri="{BB962C8B-B14F-4D97-AF65-F5344CB8AC3E}">
        <p14:creationId xmlns:p14="http://schemas.microsoft.com/office/powerpoint/2010/main" val="3675994579"/>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4F881C10-41EA-4B91-89C1-E8E4C49F0296}"/>
              </a:ext>
            </a:extLst>
          </p:cNvPr>
          <p:cNvPicPr>
            <a:picLocks noChangeAspect="1"/>
          </p:cNvPicPr>
          <p:nvPr/>
        </p:nvPicPr>
        <p:blipFill>
          <a:blip r:embed="rId3"/>
          <a:stretch>
            <a:fillRect/>
          </a:stretch>
        </p:blipFill>
        <p:spPr>
          <a:xfrm>
            <a:off x="3299732" y="831396"/>
            <a:ext cx="17087850" cy="11334750"/>
          </a:xfrm>
          <a:prstGeom prst="rect">
            <a:avLst/>
          </a:prstGeom>
        </p:spPr>
      </p:pic>
    </p:spTree>
    <p:extLst>
      <p:ext uri="{BB962C8B-B14F-4D97-AF65-F5344CB8AC3E}">
        <p14:creationId xmlns:p14="http://schemas.microsoft.com/office/powerpoint/2010/main" val="4183740010"/>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83A1555F-2C2A-4B45-8CF8-4FE7AAEFB97F}"/>
              </a:ext>
            </a:extLst>
          </p:cNvPr>
          <p:cNvPicPr>
            <a:picLocks noChangeAspect="1"/>
          </p:cNvPicPr>
          <p:nvPr/>
        </p:nvPicPr>
        <p:blipFill>
          <a:blip r:embed="rId3"/>
          <a:stretch>
            <a:fillRect/>
          </a:stretch>
        </p:blipFill>
        <p:spPr>
          <a:xfrm>
            <a:off x="837520" y="1059316"/>
            <a:ext cx="19573195" cy="8835798"/>
          </a:xfrm>
          <a:prstGeom prst="rect">
            <a:avLst/>
          </a:prstGeom>
        </p:spPr>
      </p:pic>
    </p:spTree>
    <p:extLst>
      <p:ext uri="{BB962C8B-B14F-4D97-AF65-F5344CB8AC3E}">
        <p14:creationId xmlns:p14="http://schemas.microsoft.com/office/powerpoint/2010/main" val="2182385450"/>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39470906-00B5-4B65-9E1B-74322F68627C}"/>
              </a:ext>
            </a:extLst>
          </p:cNvPr>
          <p:cNvPicPr>
            <a:picLocks noChangeAspect="1"/>
          </p:cNvPicPr>
          <p:nvPr/>
        </p:nvPicPr>
        <p:blipFill>
          <a:blip r:embed="rId3"/>
          <a:stretch>
            <a:fillRect/>
          </a:stretch>
        </p:blipFill>
        <p:spPr>
          <a:xfrm>
            <a:off x="1924050" y="1004887"/>
            <a:ext cx="19926300" cy="11706225"/>
          </a:xfrm>
          <a:prstGeom prst="rect">
            <a:avLst/>
          </a:prstGeom>
        </p:spPr>
      </p:pic>
    </p:spTree>
    <p:extLst>
      <p:ext uri="{BB962C8B-B14F-4D97-AF65-F5344CB8AC3E}">
        <p14:creationId xmlns:p14="http://schemas.microsoft.com/office/powerpoint/2010/main" val="1472549944"/>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C9DD2653-DF52-4F08-9D27-177D15CC5B0A}"/>
              </a:ext>
            </a:extLst>
          </p:cNvPr>
          <p:cNvPicPr>
            <a:picLocks noChangeAspect="1"/>
          </p:cNvPicPr>
          <p:nvPr/>
        </p:nvPicPr>
        <p:blipFill>
          <a:blip r:embed="rId3"/>
          <a:stretch>
            <a:fillRect/>
          </a:stretch>
        </p:blipFill>
        <p:spPr>
          <a:xfrm>
            <a:off x="2113869" y="1640340"/>
            <a:ext cx="18697575" cy="9782175"/>
          </a:xfrm>
          <a:prstGeom prst="rect">
            <a:avLst/>
          </a:prstGeom>
        </p:spPr>
      </p:pic>
    </p:spTree>
    <p:extLst>
      <p:ext uri="{BB962C8B-B14F-4D97-AF65-F5344CB8AC3E}">
        <p14:creationId xmlns:p14="http://schemas.microsoft.com/office/powerpoint/2010/main" val="2867602069"/>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63ED8591-276A-4E44-B4C9-85CFC78956C7}"/>
              </a:ext>
            </a:extLst>
          </p:cNvPr>
          <p:cNvPicPr>
            <a:picLocks noChangeAspect="1"/>
          </p:cNvPicPr>
          <p:nvPr/>
        </p:nvPicPr>
        <p:blipFill>
          <a:blip r:embed="rId3"/>
          <a:stretch>
            <a:fillRect/>
          </a:stretch>
        </p:blipFill>
        <p:spPr>
          <a:xfrm>
            <a:off x="2605768" y="1145040"/>
            <a:ext cx="18649950" cy="10315575"/>
          </a:xfrm>
          <a:prstGeom prst="rect">
            <a:avLst/>
          </a:prstGeom>
        </p:spPr>
      </p:pic>
    </p:spTree>
    <p:extLst>
      <p:ext uri="{BB962C8B-B14F-4D97-AF65-F5344CB8AC3E}">
        <p14:creationId xmlns:p14="http://schemas.microsoft.com/office/powerpoint/2010/main" val="361840350"/>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684D11C3-7A62-469E-85FB-C00F1E4DF680}"/>
              </a:ext>
            </a:extLst>
          </p:cNvPr>
          <p:cNvPicPr>
            <a:picLocks noChangeAspect="1"/>
          </p:cNvPicPr>
          <p:nvPr/>
        </p:nvPicPr>
        <p:blipFill>
          <a:blip r:embed="rId3"/>
          <a:stretch>
            <a:fillRect/>
          </a:stretch>
        </p:blipFill>
        <p:spPr>
          <a:xfrm>
            <a:off x="3740604" y="1363436"/>
            <a:ext cx="16706850" cy="10096500"/>
          </a:xfrm>
          <a:prstGeom prst="rect">
            <a:avLst/>
          </a:prstGeom>
        </p:spPr>
      </p:pic>
    </p:spTree>
    <p:extLst>
      <p:ext uri="{BB962C8B-B14F-4D97-AF65-F5344CB8AC3E}">
        <p14:creationId xmlns:p14="http://schemas.microsoft.com/office/powerpoint/2010/main" val="4047201669"/>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E889FC24-E6F8-4D69-947D-D244FB131D95}"/>
              </a:ext>
            </a:extLst>
          </p:cNvPr>
          <p:cNvPicPr>
            <a:picLocks noChangeAspect="1"/>
          </p:cNvPicPr>
          <p:nvPr/>
        </p:nvPicPr>
        <p:blipFill>
          <a:blip r:embed="rId3"/>
          <a:stretch>
            <a:fillRect/>
          </a:stretch>
        </p:blipFill>
        <p:spPr>
          <a:xfrm>
            <a:off x="3160940" y="1268185"/>
            <a:ext cx="18497550" cy="10287000"/>
          </a:xfrm>
          <a:prstGeom prst="rect">
            <a:avLst/>
          </a:prstGeom>
        </p:spPr>
      </p:pic>
    </p:spTree>
    <p:extLst>
      <p:ext uri="{BB962C8B-B14F-4D97-AF65-F5344CB8AC3E}">
        <p14:creationId xmlns:p14="http://schemas.microsoft.com/office/powerpoint/2010/main" val="3996854132"/>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768235" y="4636861"/>
            <a:ext cx="6937707" cy="2132171"/>
            <a:chOff x="2608284" y="1427253"/>
            <a:chExt cx="2601640" cy="799564"/>
          </a:xfrm>
        </p:grpSpPr>
        <p:sp>
          <p:nvSpPr>
            <p:cNvPr id="83" name="Freeform: Shape 5"/>
            <p:cNvSpPr/>
            <p:nvPr/>
          </p:nvSpPr>
          <p:spPr>
            <a:xfrm>
              <a:off x="2608284" y="1428020"/>
              <a:ext cx="2586112" cy="798797"/>
            </a:xfrm>
            <a:custGeom>
              <a:avLst/>
              <a:gdLst/>
              <a:ahLst/>
              <a:cxnLst>
                <a:cxn ang="0">
                  <a:pos x="wd2" y="hd2"/>
                </a:cxn>
                <a:cxn ang="5400000">
                  <a:pos x="wd2" y="hd2"/>
                </a:cxn>
                <a:cxn ang="10800000">
                  <a:pos x="wd2" y="hd2"/>
                </a:cxn>
                <a:cxn ang="16200000">
                  <a:pos x="wd2" y="hd2"/>
                </a:cxn>
              </a:cxnLst>
              <a:rect l="0" t="0" r="r" b="b"/>
              <a:pathLst>
                <a:path w="21583" h="21597" extrusionOk="0">
                  <a:moveTo>
                    <a:pt x="7083" y="21596"/>
                  </a:moveTo>
                  <a:cubicBezTo>
                    <a:pt x="7458" y="21563"/>
                    <a:pt x="7662" y="20972"/>
                    <a:pt x="7771" y="20625"/>
                  </a:cubicBezTo>
                  <a:cubicBezTo>
                    <a:pt x="8393" y="18654"/>
                    <a:pt x="10350" y="12510"/>
                    <a:pt x="10350" y="12510"/>
                  </a:cubicBezTo>
                  <a:cubicBezTo>
                    <a:pt x="10529" y="12034"/>
                    <a:pt x="10787" y="11464"/>
                    <a:pt x="11163" y="11461"/>
                  </a:cubicBezTo>
                  <a:cubicBezTo>
                    <a:pt x="11675" y="11456"/>
                    <a:pt x="19622" y="11261"/>
                    <a:pt x="19622" y="11261"/>
                  </a:cubicBezTo>
                  <a:cubicBezTo>
                    <a:pt x="19710" y="11260"/>
                    <a:pt x="19795" y="11140"/>
                    <a:pt x="19855" y="10929"/>
                  </a:cubicBezTo>
                  <a:lnTo>
                    <a:pt x="21534" y="5975"/>
                  </a:lnTo>
                  <a:cubicBezTo>
                    <a:pt x="21600" y="5781"/>
                    <a:pt x="21600" y="5445"/>
                    <a:pt x="21533" y="5251"/>
                  </a:cubicBezTo>
                  <a:lnTo>
                    <a:pt x="19846" y="327"/>
                  </a:lnTo>
                  <a:cubicBezTo>
                    <a:pt x="19786" y="117"/>
                    <a:pt x="19701" y="-1"/>
                    <a:pt x="19612" y="0"/>
                  </a:cubicBezTo>
                  <a:cubicBezTo>
                    <a:pt x="19612" y="0"/>
                    <a:pt x="11845" y="194"/>
                    <a:pt x="11489" y="197"/>
                  </a:cubicBezTo>
                  <a:cubicBezTo>
                    <a:pt x="10771" y="203"/>
                    <a:pt x="10299" y="2355"/>
                    <a:pt x="10008" y="4239"/>
                  </a:cubicBezTo>
                  <a:cubicBezTo>
                    <a:pt x="9670" y="6434"/>
                    <a:pt x="8041" y="15451"/>
                    <a:pt x="7515" y="18362"/>
                  </a:cubicBezTo>
                  <a:cubicBezTo>
                    <a:pt x="7351" y="19268"/>
                    <a:pt x="7046" y="19312"/>
                    <a:pt x="6926" y="19313"/>
                  </a:cubicBezTo>
                  <a:cubicBezTo>
                    <a:pt x="6854" y="19314"/>
                    <a:pt x="1355" y="19194"/>
                    <a:pt x="901" y="19198"/>
                  </a:cubicBezTo>
                  <a:lnTo>
                    <a:pt x="0" y="21183"/>
                  </a:lnTo>
                  <a:lnTo>
                    <a:pt x="408" y="21486"/>
                  </a:lnTo>
                  <a:cubicBezTo>
                    <a:pt x="937" y="21481"/>
                    <a:pt x="7050" y="21599"/>
                    <a:pt x="7083" y="21596"/>
                  </a:cubicBezTo>
                  <a:close/>
                </a:path>
              </a:pathLst>
            </a:custGeom>
            <a:solidFill>
              <a:schemeClr val="accent4">
                <a:lumMod val="40000"/>
                <a:lumOff val="60000"/>
              </a:schemeClr>
            </a:solidFill>
            <a:ln w="12700">
              <a:miter lim="400000"/>
            </a:ln>
          </p:spPr>
          <p:txBody>
            <a:bodyPr anchor="ctr"/>
            <a:lstStyle/>
            <a:p>
              <a:pPr algn="ctr"/>
              <a:endParaRPr sz="3733" dirty="0">
                <a:latin typeface="微软雅黑" panose="020B0503020204020204" charset="-122"/>
                <a:ea typeface="微软雅黑" panose="020B0503020204020204" charset="-122"/>
                <a:cs typeface="+mn-ea"/>
                <a:sym typeface="+mn-lt"/>
              </a:endParaRPr>
            </a:p>
          </p:txBody>
        </p:sp>
        <p:sp>
          <p:nvSpPr>
            <p:cNvPr id="100" name="Rectangle 22"/>
            <p:cNvSpPr/>
            <p:nvPr/>
          </p:nvSpPr>
          <p:spPr>
            <a:xfrm>
              <a:off x="4781338" y="1427253"/>
              <a:ext cx="428586" cy="420853"/>
            </a:xfrm>
            <a:prstGeom prst="rect">
              <a:avLst/>
            </a:prstGeom>
            <a:solidFill>
              <a:schemeClr val="accent4">
                <a:lumMod val="40000"/>
                <a:lumOff val="60000"/>
              </a:schemeClr>
            </a:solidFill>
            <a:ln w="12700" cap="flat">
              <a:noFill/>
              <a:miter lim="400000"/>
            </a:ln>
            <a:effectLst/>
          </p:spPr>
          <p:txBody>
            <a:bodyPr anchor="ctr"/>
            <a:lstStyle/>
            <a:p>
              <a:pPr algn="ctr"/>
              <a:endParaRPr sz="8533">
                <a:cs typeface="+mn-ea"/>
                <a:sym typeface="+mn-lt"/>
              </a:endParaRPr>
            </a:p>
          </p:txBody>
        </p:sp>
      </p:grpSp>
      <p:grpSp>
        <p:nvGrpSpPr>
          <p:cNvPr id="20" name="组合 19"/>
          <p:cNvGrpSpPr/>
          <p:nvPr/>
        </p:nvGrpSpPr>
        <p:grpSpPr>
          <a:xfrm>
            <a:off x="7892244" y="6122367"/>
            <a:ext cx="6813699" cy="1182925"/>
            <a:chOff x="2654787" y="1984317"/>
            <a:chExt cx="2555137" cy="443597"/>
          </a:xfrm>
        </p:grpSpPr>
        <p:grpSp>
          <p:nvGrpSpPr>
            <p:cNvPr id="3" name="组合 2"/>
            <p:cNvGrpSpPr/>
            <p:nvPr/>
          </p:nvGrpSpPr>
          <p:grpSpPr>
            <a:xfrm>
              <a:off x="2654787" y="1984317"/>
              <a:ext cx="2555137" cy="443597"/>
              <a:chOff x="2654787" y="1984317"/>
              <a:chExt cx="2555137" cy="443597"/>
            </a:xfrm>
          </p:grpSpPr>
          <p:sp>
            <p:nvSpPr>
              <p:cNvPr id="82" name="Freeform: Shape 4"/>
              <p:cNvSpPr/>
              <p:nvPr/>
            </p:nvSpPr>
            <p:spPr>
              <a:xfrm>
                <a:off x="2654787" y="1985307"/>
                <a:ext cx="2539799" cy="442607"/>
              </a:xfrm>
              <a:custGeom>
                <a:avLst/>
                <a:gdLst/>
                <a:ahLst/>
                <a:cxnLst>
                  <a:cxn ang="0">
                    <a:pos x="wd2" y="hd2"/>
                  </a:cxn>
                  <a:cxn ang="5400000">
                    <a:pos x="wd2" y="hd2"/>
                  </a:cxn>
                  <a:cxn ang="10800000">
                    <a:pos x="wd2" y="hd2"/>
                  </a:cxn>
                  <a:cxn ang="16200000">
                    <a:pos x="wd2" y="hd2"/>
                  </a:cxn>
                </a:cxnLst>
                <a:rect l="0" t="0" r="r" b="b"/>
                <a:pathLst>
                  <a:path w="21583" h="21599" extrusionOk="0">
                    <a:moveTo>
                      <a:pt x="10442" y="20553"/>
                    </a:moveTo>
                    <a:lnTo>
                      <a:pt x="19585" y="20326"/>
                    </a:lnTo>
                    <a:cubicBezTo>
                      <a:pt x="19676" y="20324"/>
                      <a:pt x="19762" y="20108"/>
                      <a:pt x="19823" y="19727"/>
                    </a:cubicBezTo>
                    <a:lnTo>
                      <a:pt x="21531" y="11027"/>
                    </a:lnTo>
                    <a:cubicBezTo>
                      <a:pt x="21599" y="10682"/>
                      <a:pt x="21600" y="10075"/>
                      <a:pt x="21533" y="9722"/>
                    </a:cubicBezTo>
                    <a:lnTo>
                      <a:pt x="19814" y="591"/>
                    </a:lnTo>
                    <a:cubicBezTo>
                      <a:pt x="19752" y="212"/>
                      <a:pt x="19666" y="-1"/>
                      <a:pt x="19576" y="0"/>
                    </a:cubicBezTo>
                    <a:cubicBezTo>
                      <a:pt x="19576" y="0"/>
                      <a:pt x="11326" y="216"/>
                      <a:pt x="10952" y="221"/>
                    </a:cubicBezTo>
                    <a:cubicBezTo>
                      <a:pt x="10599" y="228"/>
                      <a:pt x="10351" y="1062"/>
                      <a:pt x="10188" y="1914"/>
                    </a:cubicBezTo>
                    <a:cubicBezTo>
                      <a:pt x="10182" y="1949"/>
                      <a:pt x="10172" y="1999"/>
                      <a:pt x="10160" y="2058"/>
                    </a:cubicBezTo>
                    <a:cubicBezTo>
                      <a:pt x="10160" y="2058"/>
                      <a:pt x="8152" y="12462"/>
                      <a:pt x="7505" y="15682"/>
                    </a:cubicBezTo>
                    <a:cubicBezTo>
                      <a:pt x="7393" y="16240"/>
                      <a:pt x="7232" y="17190"/>
                      <a:pt x="6797" y="17197"/>
                    </a:cubicBezTo>
                    <a:cubicBezTo>
                      <a:pt x="6763" y="17198"/>
                      <a:pt x="6732" y="17195"/>
                      <a:pt x="6704" y="17195"/>
                    </a:cubicBezTo>
                    <a:cubicBezTo>
                      <a:pt x="6574" y="17198"/>
                      <a:pt x="5633" y="16910"/>
                      <a:pt x="4226" y="16931"/>
                    </a:cubicBezTo>
                    <a:cubicBezTo>
                      <a:pt x="2972" y="16950"/>
                      <a:pt x="254" y="16993"/>
                      <a:pt x="0" y="16997"/>
                    </a:cubicBezTo>
                    <a:lnTo>
                      <a:pt x="2" y="21417"/>
                    </a:lnTo>
                    <a:lnTo>
                      <a:pt x="7826" y="21599"/>
                    </a:lnTo>
                    <a:cubicBezTo>
                      <a:pt x="7826" y="21599"/>
                      <a:pt x="10225" y="20556"/>
                      <a:pt x="10442" y="20553"/>
                    </a:cubicBezTo>
                    <a:close/>
                  </a:path>
                </a:pathLst>
              </a:custGeom>
              <a:solidFill>
                <a:schemeClr val="accent5">
                  <a:alpha val="85000"/>
                </a:schemeClr>
              </a:solidFill>
              <a:ln w="12700">
                <a:miter lim="400000"/>
              </a:ln>
            </p:spPr>
            <p:txBody>
              <a:bodyPr anchor="ctr"/>
              <a:lstStyle/>
              <a:p>
                <a:pPr algn="ctr"/>
                <a:endParaRPr sz="8533" dirty="0">
                  <a:cs typeface="+mn-ea"/>
                  <a:sym typeface="+mn-lt"/>
                </a:endParaRPr>
              </a:p>
            </p:txBody>
          </p:sp>
          <p:sp>
            <p:nvSpPr>
              <p:cNvPr id="98" name="Rectangle 20"/>
              <p:cNvSpPr/>
              <p:nvPr/>
            </p:nvSpPr>
            <p:spPr>
              <a:xfrm>
                <a:off x="4781338" y="1984317"/>
                <a:ext cx="428586" cy="413885"/>
              </a:xfrm>
              <a:prstGeom prst="rect">
                <a:avLst/>
              </a:prstGeom>
              <a:solidFill>
                <a:schemeClr val="accent5"/>
              </a:solidFill>
              <a:ln w="12700" cap="flat">
                <a:noFill/>
                <a:miter lim="400000"/>
              </a:ln>
              <a:effectLst/>
            </p:spPr>
            <p:txBody>
              <a:bodyPr anchor="ctr"/>
              <a:lstStyle/>
              <a:p>
                <a:pPr algn="ctr"/>
                <a:endParaRPr sz="8533" dirty="0">
                  <a:cs typeface="+mn-ea"/>
                  <a:sym typeface="+mn-lt"/>
                </a:endParaRPr>
              </a:p>
            </p:txBody>
          </p:sp>
        </p:grpSp>
        <p:sp>
          <p:nvSpPr>
            <p:cNvPr id="97" name="Freeform: Shape 19"/>
            <p:cNvSpPr/>
            <p:nvPr/>
          </p:nvSpPr>
          <p:spPr>
            <a:xfrm>
              <a:off x="4896080" y="2098241"/>
              <a:ext cx="196145" cy="183068"/>
            </a:xfrm>
            <a:custGeom>
              <a:avLst/>
              <a:gdLst/>
              <a:ahLst/>
              <a:cxnLst>
                <a:cxn ang="0">
                  <a:pos x="wd2" y="hd2"/>
                </a:cxn>
                <a:cxn ang="5400000">
                  <a:pos x="wd2" y="hd2"/>
                </a:cxn>
                <a:cxn ang="10800000">
                  <a:pos x="wd2" y="hd2"/>
                </a:cxn>
                <a:cxn ang="16200000">
                  <a:pos x="wd2" y="hd2"/>
                </a:cxn>
              </a:cxnLst>
              <a:rect l="0" t="0" r="r" b="b"/>
              <a:pathLst>
                <a:path w="21533" h="21600" extrusionOk="0">
                  <a:moveTo>
                    <a:pt x="19357" y="12343"/>
                  </a:moveTo>
                  <a:lnTo>
                    <a:pt x="17854" y="12343"/>
                  </a:lnTo>
                  <a:cubicBezTo>
                    <a:pt x="17102" y="11379"/>
                    <a:pt x="16048" y="10836"/>
                    <a:pt x="14882" y="10800"/>
                  </a:cubicBezTo>
                  <a:cubicBezTo>
                    <a:pt x="15465" y="9896"/>
                    <a:pt x="15790" y="8811"/>
                    <a:pt x="15790" y="7714"/>
                  </a:cubicBezTo>
                  <a:cubicBezTo>
                    <a:pt x="15790" y="7449"/>
                    <a:pt x="15768" y="7184"/>
                    <a:pt x="15734" y="6919"/>
                  </a:cubicBezTo>
                  <a:cubicBezTo>
                    <a:pt x="16216" y="7100"/>
                    <a:pt x="16710" y="7196"/>
                    <a:pt x="17226" y="7196"/>
                  </a:cubicBezTo>
                  <a:cubicBezTo>
                    <a:pt x="18740" y="7196"/>
                    <a:pt x="19906" y="6171"/>
                    <a:pt x="20142" y="6171"/>
                  </a:cubicBezTo>
                  <a:cubicBezTo>
                    <a:pt x="21566" y="6171"/>
                    <a:pt x="21532" y="9450"/>
                    <a:pt x="21532" y="10426"/>
                  </a:cubicBezTo>
                  <a:cubicBezTo>
                    <a:pt x="21532" y="11764"/>
                    <a:pt x="20478" y="12343"/>
                    <a:pt x="19357" y="12343"/>
                  </a:cubicBezTo>
                  <a:close/>
                  <a:moveTo>
                    <a:pt x="17226" y="6171"/>
                  </a:moveTo>
                  <a:cubicBezTo>
                    <a:pt x="15645" y="6171"/>
                    <a:pt x="14355" y="4785"/>
                    <a:pt x="14355" y="3086"/>
                  </a:cubicBezTo>
                  <a:cubicBezTo>
                    <a:pt x="14355" y="1386"/>
                    <a:pt x="15645" y="0"/>
                    <a:pt x="17226" y="0"/>
                  </a:cubicBezTo>
                  <a:cubicBezTo>
                    <a:pt x="18807" y="0"/>
                    <a:pt x="20097" y="1386"/>
                    <a:pt x="20097" y="3086"/>
                  </a:cubicBezTo>
                  <a:cubicBezTo>
                    <a:pt x="20097" y="4785"/>
                    <a:pt x="18807" y="6171"/>
                    <a:pt x="17226" y="6171"/>
                  </a:cubicBezTo>
                  <a:close/>
                  <a:moveTo>
                    <a:pt x="10766" y="12343"/>
                  </a:moveTo>
                  <a:cubicBezTo>
                    <a:pt x="8388" y="12343"/>
                    <a:pt x="6459" y="10270"/>
                    <a:pt x="6459" y="7714"/>
                  </a:cubicBezTo>
                  <a:cubicBezTo>
                    <a:pt x="6459" y="5159"/>
                    <a:pt x="8388" y="3086"/>
                    <a:pt x="10766" y="3086"/>
                  </a:cubicBezTo>
                  <a:cubicBezTo>
                    <a:pt x="13144" y="3086"/>
                    <a:pt x="15073" y="5159"/>
                    <a:pt x="15073" y="7714"/>
                  </a:cubicBezTo>
                  <a:cubicBezTo>
                    <a:pt x="15073" y="10270"/>
                    <a:pt x="13144" y="12343"/>
                    <a:pt x="10766" y="12343"/>
                  </a:cubicBezTo>
                  <a:close/>
                  <a:moveTo>
                    <a:pt x="15667" y="21600"/>
                  </a:moveTo>
                  <a:lnTo>
                    <a:pt x="5865" y="21600"/>
                  </a:lnTo>
                  <a:cubicBezTo>
                    <a:pt x="4071" y="21600"/>
                    <a:pt x="2871" y="20431"/>
                    <a:pt x="2871" y="18478"/>
                  </a:cubicBezTo>
                  <a:cubicBezTo>
                    <a:pt x="2871" y="15754"/>
                    <a:pt x="3465" y="11571"/>
                    <a:pt x="6751" y="11571"/>
                  </a:cubicBezTo>
                  <a:cubicBezTo>
                    <a:pt x="7132" y="11571"/>
                    <a:pt x="8523" y="13247"/>
                    <a:pt x="10766" y="13247"/>
                  </a:cubicBezTo>
                  <a:cubicBezTo>
                    <a:pt x="13009" y="13247"/>
                    <a:pt x="14400" y="11571"/>
                    <a:pt x="14781" y="11571"/>
                  </a:cubicBezTo>
                  <a:cubicBezTo>
                    <a:pt x="18067" y="11571"/>
                    <a:pt x="18661" y="15754"/>
                    <a:pt x="18661" y="18478"/>
                  </a:cubicBezTo>
                  <a:cubicBezTo>
                    <a:pt x="18661" y="20431"/>
                    <a:pt x="17461" y="21600"/>
                    <a:pt x="15667" y="21600"/>
                  </a:cubicBezTo>
                  <a:close/>
                  <a:moveTo>
                    <a:pt x="4306" y="6171"/>
                  </a:moveTo>
                  <a:cubicBezTo>
                    <a:pt x="2725" y="6171"/>
                    <a:pt x="1435" y="4785"/>
                    <a:pt x="1435" y="3086"/>
                  </a:cubicBezTo>
                  <a:cubicBezTo>
                    <a:pt x="1435" y="1386"/>
                    <a:pt x="2725" y="0"/>
                    <a:pt x="4306" y="0"/>
                  </a:cubicBezTo>
                  <a:cubicBezTo>
                    <a:pt x="5887" y="0"/>
                    <a:pt x="7177" y="1386"/>
                    <a:pt x="7177" y="3086"/>
                  </a:cubicBezTo>
                  <a:cubicBezTo>
                    <a:pt x="7177" y="4785"/>
                    <a:pt x="5887" y="6171"/>
                    <a:pt x="4306" y="6171"/>
                  </a:cubicBezTo>
                  <a:close/>
                  <a:moveTo>
                    <a:pt x="3678" y="12343"/>
                  </a:moveTo>
                  <a:lnTo>
                    <a:pt x="2175" y="12343"/>
                  </a:lnTo>
                  <a:cubicBezTo>
                    <a:pt x="1054" y="12343"/>
                    <a:pt x="0" y="11764"/>
                    <a:pt x="0" y="10426"/>
                  </a:cubicBezTo>
                  <a:cubicBezTo>
                    <a:pt x="0" y="9450"/>
                    <a:pt x="-34" y="6171"/>
                    <a:pt x="1390" y="6171"/>
                  </a:cubicBezTo>
                  <a:cubicBezTo>
                    <a:pt x="1626" y="6171"/>
                    <a:pt x="2792" y="7196"/>
                    <a:pt x="4306" y="7196"/>
                  </a:cubicBezTo>
                  <a:cubicBezTo>
                    <a:pt x="4822" y="7196"/>
                    <a:pt x="5316" y="7100"/>
                    <a:pt x="5798" y="6919"/>
                  </a:cubicBezTo>
                  <a:cubicBezTo>
                    <a:pt x="5764" y="7184"/>
                    <a:pt x="5742" y="7449"/>
                    <a:pt x="5742" y="7714"/>
                  </a:cubicBezTo>
                  <a:cubicBezTo>
                    <a:pt x="5742" y="8811"/>
                    <a:pt x="6067" y="9896"/>
                    <a:pt x="6650" y="10800"/>
                  </a:cubicBezTo>
                  <a:cubicBezTo>
                    <a:pt x="5484" y="10836"/>
                    <a:pt x="4430" y="11379"/>
                    <a:pt x="3678" y="12343"/>
                  </a:cubicBezTo>
                  <a:close/>
                </a:path>
              </a:pathLst>
            </a:custGeom>
            <a:solidFill>
              <a:srgbClr val="FFFFFF"/>
            </a:solidFill>
            <a:ln w="12700" cap="flat">
              <a:noFill/>
              <a:miter lim="400000"/>
            </a:ln>
            <a:effectLst/>
          </p:spPr>
          <p:txBody>
            <a:bodyPr anchor="ctr"/>
            <a:lstStyle/>
            <a:p>
              <a:pPr algn="ctr"/>
              <a:endParaRPr sz="8533">
                <a:cs typeface="+mn-ea"/>
                <a:sym typeface="+mn-lt"/>
              </a:endParaRPr>
            </a:p>
          </p:txBody>
        </p:sp>
      </p:grpSp>
      <p:grpSp>
        <p:nvGrpSpPr>
          <p:cNvPr id="5" name="组合 4"/>
          <p:cNvGrpSpPr/>
          <p:nvPr/>
        </p:nvGrpSpPr>
        <p:grpSpPr>
          <a:xfrm>
            <a:off x="7768235" y="8125822"/>
            <a:ext cx="6937707" cy="2133701"/>
            <a:chOff x="2608284" y="2735613"/>
            <a:chExt cx="2601640" cy="800138"/>
          </a:xfrm>
        </p:grpSpPr>
        <p:sp>
          <p:nvSpPr>
            <p:cNvPr id="81" name="Freeform: Shape 3"/>
            <p:cNvSpPr/>
            <p:nvPr/>
          </p:nvSpPr>
          <p:spPr>
            <a:xfrm>
              <a:off x="2608284" y="2735613"/>
              <a:ext cx="2586112" cy="798781"/>
            </a:xfrm>
            <a:custGeom>
              <a:avLst/>
              <a:gdLst/>
              <a:ahLst/>
              <a:cxnLst>
                <a:cxn ang="0">
                  <a:pos x="wd2" y="hd2"/>
                </a:cxn>
                <a:cxn ang="5400000">
                  <a:pos x="wd2" y="hd2"/>
                </a:cxn>
                <a:cxn ang="10800000">
                  <a:pos x="wd2" y="hd2"/>
                </a:cxn>
                <a:cxn ang="16200000">
                  <a:pos x="wd2" y="hd2"/>
                </a:cxn>
              </a:cxnLst>
              <a:rect l="0" t="0" r="r" b="b"/>
              <a:pathLst>
                <a:path w="21583" h="21597" extrusionOk="0">
                  <a:moveTo>
                    <a:pt x="7083" y="0"/>
                  </a:moveTo>
                  <a:cubicBezTo>
                    <a:pt x="7458" y="33"/>
                    <a:pt x="7662" y="624"/>
                    <a:pt x="7771" y="971"/>
                  </a:cubicBezTo>
                  <a:cubicBezTo>
                    <a:pt x="8393" y="2943"/>
                    <a:pt x="10350" y="9086"/>
                    <a:pt x="10350" y="9086"/>
                  </a:cubicBezTo>
                  <a:cubicBezTo>
                    <a:pt x="10529" y="9562"/>
                    <a:pt x="10787" y="10133"/>
                    <a:pt x="11163" y="10135"/>
                  </a:cubicBezTo>
                  <a:cubicBezTo>
                    <a:pt x="11675" y="10140"/>
                    <a:pt x="19622" y="10335"/>
                    <a:pt x="19622" y="10335"/>
                  </a:cubicBezTo>
                  <a:cubicBezTo>
                    <a:pt x="19710" y="10336"/>
                    <a:pt x="19795" y="10456"/>
                    <a:pt x="19855" y="10667"/>
                  </a:cubicBezTo>
                  <a:lnTo>
                    <a:pt x="21534" y="15621"/>
                  </a:lnTo>
                  <a:cubicBezTo>
                    <a:pt x="21600" y="15815"/>
                    <a:pt x="21600" y="16151"/>
                    <a:pt x="21533" y="16345"/>
                  </a:cubicBezTo>
                  <a:lnTo>
                    <a:pt x="19846" y="21269"/>
                  </a:lnTo>
                  <a:cubicBezTo>
                    <a:pt x="19786" y="21479"/>
                    <a:pt x="19701" y="21597"/>
                    <a:pt x="19612" y="21596"/>
                  </a:cubicBezTo>
                  <a:cubicBezTo>
                    <a:pt x="19612" y="21596"/>
                    <a:pt x="11845" y="21402"/>
                    <a:pt x="11489" y="21399"/>
                  </a:cubicBezTo>
                  <a:cubicBezTo>
                    <a:pt x="10771" y="21393"/>
                    <a:pt x="10299" y="19241"/>
                    <a:pt x="10008" y="17357"/>
                  </a:cubicBezTo>
                  <a:cubicBezTo>
                    <a:pt x="9670" y="15162"/>
                    <a:pt x="8041" y="6145"/>
                    <a:pt x="7515" y="3234"/>
                  </a:cubicBezTo>
                  <a:cubicBezTo>
                    <a:pt x="7351" y="2328"/>
                    <a:pt x="7046" y="2284"/>
                    <a:pt x="6926" y="2283"/>
                  </a:cubicBezTo>
                  <a:cubicBezTo>
                    <a:pt x="6854" y="2282"/>
                    <a:pt x="1355" y="2402"/>
                    <a:pt x="901" y="2398"/>
                  </a:cubicBezTo>
                  <a:lnTo>
                    <a:pt x="0" y="413"/>
                  </a:lnTo>
                  <a:lnTo>
                    <a:pt x="408" y="110"/>
                  </a:lnTo>
                  <a:cubicBezTo>
                    <a:pt x="937" y="115"/>
                    <a:pt x="7050" y="-3"/>
                    <a:pt x="7083" y="0"/>
                  </a:cubicBezTo>
                  <a:close/>
                </a:path>
              </a:pathLst>
            </a:custGeom>
            <a:solidFill>
              <a:schemeClr val="accent4">
                <a:alpha val="85000"/>
              </a:schemeClr>
            </a:solidFill>
            <a:ln w="12700">
              <a:miter lim="400000"/>
            </a:ln>
          </p:spPr>
          <p:txBody>
            <a:bodyPr anchor="ctr"/>
            <a:lstStyle/>
            <a:p>
              <a:pPr algn="ctr"/>
              <a:endParaRPr sz="8533">
                <a:cs typeface="+mn-ea"/>
                <a:sym typeface="+mn-lt"/>
              </a:endParaRPr>
            </a:p>
          </p:txBody>
        </p:sp>
        <p:sp>
          <p:nvSpPr>
            <p:cNvPr id="94" name="Rectangle 16"/>
            <p:cNvSpPr/>
            <p:nvPr/>
          </p:nvSpPr>
          <p:spPr>
            <a:xfrm>
              <a:off x="4781338" y="3114898"/>
              <a:ext cx="428586" cy="420853"/>
            </a:xfrm>
            <a:prstGeom prst="rect">
              <a:avLst/>
            </a:prstGeom>
            <a:solidFill>
              <a:schemeClr val="accent4"/>
            </a:solidFill>
            <a:ln w="12700" cap="flat">
              <a:noFill/>
              <a:miter lim="400000"/>
            </a:ln>
            <a:effectLst/>
          </p:spPr>
          <p:txBody>
            <a:bodyPr anchor="ctr"/>
            <a:lstStyle/>
            <a:p>
              <a:pPr algn="ctr"/>
              <a:endParaRPr sz="8533">
                <a:cs typeface="+mn-ea"/>
                <a:sym typeface="+mn-lt"/>
              </a:endParaRPr>
            </a:p>
          </p:txBody>
        </p:sp>
      </p:grpSp>
      <p:grpSp>
        <p:nvGrpSpPr>
          <p:cNvPr id="109" name="Group 31"/>
          <p:cNvGrpSpPr/>
          <p:nvPr/>
        </p:nvGrpSpPr>
        <p:grpSpPr>
          <a:xfrm>
            <a:off x="15772181" y="4302948"/>
            <a:ext cx="5580736" cy="1611032"/>
            <a:chOff x="5403632" y="1965512"/>
            <a:chExt cx="2790369" cy="805521"/>
          </a:xfrm>
        </p:grpSpPr>
        <p:grpSp>
          <p:nvGrpSpPr>
            <p:cNvPr id="131" name="Group 53"/>
            <p:cNvGrpSpPr/>
            <p:nvPr/>
          </p:nvGrpSpPr>
          <p:grpSpPr>
            <a:xfrm>
              <a:off x="5403632" y="2028913"/>
              <a:ext cx="399214" cy="399214"/>
              <a:chOff x="0" y="0"/>
              <a:chExt cx="767929" cy="767929"/>
            </a:xfrm>
          </p:grpSpPr>
          <p:sp>
            <p:nvSpPr>
              <p:cNvPr id="135" name="Freeform: Shape 57"/>
              <p:cNvSpPr/>
              <p:nvPr/>
            </p:nvSpPr>
            <p:spPr>
              <a:xfrm>
                <a:off x="0" y="0"/>
                <a:ext cx="767929" cy="76792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4">
                  <a:lumMod val="40000"/>
                  <a:lumOff val="60000"/>
                </a:schemeClr>
              </a:solidFill>
              <a:ln w="12700" cap="flat">
                <a:noFill/>
                <a:miter lim="400000"/>
              </a:ln>
              <a:effectLst/>
            </p:spPr>
            <p:txBody>
              <a:bodyPr anchor="ctr"/>
              <a:lstStyle/>
              <a:p>
                <a:pPr algn="ctr"/>
                <a:endParaRPr sz="8533">
                  <a:latin typeface="微软雅黑 Light" panose="020B0502040204020203" pitchFamily="34" charset="-122"/>
                  <a:ea typeface="微软雅黑 Light" panose="020B0502040204020203" pitchFamily="34" charset="-122"/>
                  <a:cs typeface="+mn-ea"/>
                  <a:sym typeface="+mn-lt"/>
                </a:endParaRPr>
              </a:p>
            </p:txBody>
          </p:sp>
          <p:sp>
            <p:nvSpPr>
              <p:cNvPr id="136" name="Freeform: Shape 58"/>
              <p:cNvSpPr/>
              <p:nvPr/>
            </p:nvSpPr>
            <p:spPr>
              <a:xfrm>
                <a:off x="234638" y="227334"/>
                <a:ext cx="298653" cy="313261"/>
              </a:xfrm>
              <a:custGeom>
                <a:avLst/>
                <a:gdLst/>
                <a:ahLst/>
                <a:cxnLst>
                  <a:cxn ang="0">
                    <a:pos x="wd2" y="hd2"/>
                  </a:cxn>
                  <a:cxn ang="5400000">
                    <a:pos x="wd2" y="hd2"/>
                  </a:cxn>
                  <a:cxn ang="10800000">
                    <a:pos x="wd2" y="hd2"/>
                  </a:cxn>
                  <a:cxn ang="16200000">
                    <a:pos x="wd2" y="hd2"/>
                  </a:cxn>
                </a:cxnLst>
                <a:rect l="0" t="0" r="r" b="b"/>
                <a:pathLst>
                  <a:path w="21004" h="21302" extrusionOk="0">
                    <a:moveTo>
                      <a:pt x="7816" y="21302"/>
                    </a:moveTo>
                    <a:cubicBezTo>
                      <a:pt x="7132" y="21302"/>
                      <a:pt x="6483" y="20993"/>
                      <a:pt x="6068" y="20461"/>
                    </a:cubicBezTo>
                    <a:lnTo>
                      <a:pt x="445" y="13277"/>
                    </a:lnTo>
                    <a:cubicBezTo>
                      <a:pt x="-287" y="12344"/>
                      <a:pt x="-97" y="11016"/>
                      <a:pt x="870" y="10308"/>
                    </a:cubicBezTo>
                    <a:cubicBezTo>
                      <a:pt x="1838" y="9597"/>
                      <a:pt x="3211" y="9785"/>
                      <a:pt x="3943" y="10719"/>
                    </a:cubicBezTo>
                    <a:lnTo>
                      <a:pt x="7643" y="15442"/>
                    </a:lnTo>
                    <a:lnTo>
                      <a:pt x="16946" y="999"/>
                    </a:lnTo>
                    <a:cubicBezTo>
                      <a:pt x="17586" y="6"/>
                      <a:pt x="18940" y="-298"/>
                      <a:pt x="19969" y="321"/>
                    </a:cubicBezTo>
                    <a:cubicBezTo>
                      <a:pt x="20997" y="939"/>
                      <a:pt x="21313" y="2248"/>
                      <a:pt x="20671" y="3243"/>
                    </a:cubicBezTo>
                    <a:lnTo>
                      <a:pt x="9680" y="20301"/>
                    </a:lnTo>
                    <a:cubicBezTo>
                      <a:pt x="9299" y="20896"/>
                      <a:pt x="8639" y="21267"/>
                      <a:pt x="7917" y="21299"/>
                    </a:cubicBezTo>
                    <a:cubicBezTo>
                      <a:pt x="7882" y="21302"/>
                      <a:pt x="7851" y="21302"/>
                      <a:pt x="7816" y="21302"/>
                    </a:cubicBezTo>
                    <a:close/>
                  </a:path>
                </a:pathLst>
              </a:custGeom>
              <a:solidFill>
                <a:srgbClr val="FFFFFF"/>
              </a:solidFill>
              <a:ln w="12700" cap="flat">
                <a:noFill/>
                <a:miter lim="400000"/>
              </a:ln>
              <a:effectLst/>
            </p:spPr>
            <p:txBody>
              <a:bodyPr anchor="ctr"/>
              <a:lstStyle/>
              <a:p>
                <a:pPr algn="ctr"/>
                <a:endParaRPr sz="8533">
                  <a:latin typeface="微软雅黑 Light" panose="020B0502040204020203" pitchFamily="34" charset="-122"/>
                  <a:ea typeface="微软雅黑 Light" panose="020B0502040204020203" pitchFamily="34" charset="-122"/>
                  <a:cs typeface="+mn-ea"/>
                  <a:sym typeface="+mn-lt"/>
                </a:endParaRPr>
              </a:p>
            </p:txBody>
          </p:sp>
        </p:grpSp>
        <p:grpSp>
          <p:nvGrpSpPr>
            <p:cNvPr id="132" name="Group 54"/>
            <p:cNvGrpSpPr/>
            <p:nvPr/>
          </p:nvGrpSpPr>
          <p:grpSpPr>
            <a:xfrm>
              <a:off x="5802845" y="1965512"/>
              <a:ext cx="2391156" cy="805521"/>
              <a:chOff x="6729846" y="3902606"/>
              <a:chExt cx="2391156" cy="805521"/>
            </a:xfrm>
          </p:grpSpPr>
          <p:sp>
            <p:nvSpPr>
              <p:cNvPr id="133" name="Rectangle 55"/>
              <p:cNvSpPr/>
              <p:nvPr/>
            </p:nvSpPr>
            <p:spPr>
              <a:xfrm>
                <a:off x="6729846" y="3902606"/>
                <a:ext cx="1368030" cy="257053"/>
              </a:xfrm>
              <a:prstGeom prst="rect">
                <a:avLst/>
              </a:prstGeom>
            </p:spPr>
            <p:txBody>
              <a:bodyPr wrap="none" lIns="384000" tIns="0" rIns="384000" bIns="0" anchor="ctr">
                <a:normAutofit fontScale="95000" lnSpcReduction="10000"/>
              </a:bodyPr>
              <a:lstStyle/>
              <a:p>
                <a:r>
                  <a:rPr lang="zh-CN" altLang="en-US" sz="3733" dirty="0">
                    <a:solidFill>
                      <a:schemeClr val="accent4">
                        <a:lumMod val="60000"/>
                        <a:lumOff val="40000"/>
                      </a:schemeClr>
                    </a:solidFill>
                    <a:latin typeface="微软雅黑" panose="020B0503020204020204" charset="-122"/>
                    <a:ea typeface="微软雅黑" panose="020B0503020204020204" charset="-122"/>
                    <a:cs typeface="+mn-ea"/>
                    <a:sym typeface="+mn-lt"/>
                  </a:rPr>
                  <a:t>渠道孤立</a:t>
                </a:r>
              </a:p>
            </p:txBody>
          </p:sp>
          <p:sp>
            <p:nvSpPr>
              <p:cNvPr id="134" name="Rectangle 56"/>
              <p:cNvSpPr/>
              <p:nvPr/>
            </p:nvSpPr>
            <p:spPr>
              <a:xfrm>
                <a:off x="6747907" y="4223059"/>
                <a:ext cx="2373095" cy="485068"/>
              </a:xfrm>
              <a:prstGeom prst="rect">
                <a:avLst/>
              </a:prstGeom>
            </p:spPr>
            <p:txBody>
              <a:bodyPr wrap="square" lIns="384000" tIns="0" rIns="384000" bIns="0" anchor="t">
                <a:normAutofit/>
              </a:bodyPr>
              <a:lstStyle/>
              <a:p>
                <a:pPr algn="l">
                  <a:lnSpc>
                    <a:spcPct val="120000"/>
                  </a:lnSpc>
                </a:pPr>
                <a:r>
                  <a:rPr lang="zh-CN" altLang="en-US" sz="2400" dirty="0">
                    <a:latin typeface="微软雅黑 Light" panose="020B0502040204020203" pitchFamily="34" charset="-122"/>
                    <a:ea typeface="微软雅黑 Light" panose="020B0502040204020203" pitchFamily="34" charset="-122"/>
                    <a:cs typeface="+mn-ea"/>
                    <a:sym typeface="+mn-lt"/>
                  </a:rPr>
                  <a:t>数据分散在各自企业，融合数据获取成本高</a:t>
                </a:r>
              </a:p>
            </p:txBody>
          </p:sp>
        </p:grpSp>
      </p:grpSp>
      <p:grpSp>
        <p:nvGrpSpPr>
          <p:cNvPr id="110" name="Group 32"/>
          <p:cNvGrpSpPr/>
          <p:nvPr/>
        </p:nvGrpSpPr>
        <p:grpSpPr>
          <a:xfrm>
            <a:off x="15772185" y="6115328"/>
            <a:ext cx="5689544" cy="1660785"/>
            <a:chOff x="5403632" y="3019752"/>
            <a:chExt cx="2844772" cy="830392"/>
          </a:xfrm>
        </p:grpSpPr>
        <p:grpSp>
          <p:nvGrpSpPr>
            <p:cNvPr id="125" name="Group 47"/>
            <p:cNvGrpSpPr/>
            <p:nvPr/>
          </p:nvGrpSpPr>
          <p:grpSpPr>
            <a:xfrm>
              <a:off x="5403632" y="3066578"/>
              <a:ext cx="399214" cy="399214"/>
              <a:chOff x="0" y="0"/>
              <a:chExt cx="767929" cy="767929"/>
            </a:xfrm>
          </p:grpSpPr>
          <p:sp>
            <p:nvSpPr>
              <p:cNvPr id="129" name="Freeform: Shape 51"/>
              <p:cNvSpPr/>
              <p:nvPr/>
            </p:nvSpPr>
            <p:spPr>
              <a:xfrm>
                <a:off x="0" y="0"/>
                <a:ext cx="767929" cy="76792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5"/>
              </a:solidFill>
              <a:ln w="12700" cap="flat">
                <a:noFill/>
                <a:miter lim="400000"/>
              </a:ln>
              <a:effectLst/>
            </p:spPr>
            <p:txBody>
              <a:bodyPr anchor="ctr"/>
              <a:lstStyle/>
              <a:p>
                <a:pPr algn="ctr"/>
                <a:endParaRPr sz="8533">
                  <a:latin typeface="微软雅黑 Light" panose="020B0502040204020203" pitchFamily="34" charset="-122"/>
                  <a:ea typeface="微软雅黑 Light" panose="020B0502040204020203" pitchFamily="34" charset="-122"/>
                  <a:cs typeface="+mn-ea"/>
                  <a:sym typeface="+mn-lt"/>
                </a:endParaRPr>
              </a:p>
            </p:txBody>
          </p:sp>
          <p:sp>
            <p:nvSpPr>
              <p:cNvPr id="130" name="Freeform: Shape 52"/>
              <p:cNvSpPr/>
              <p:nvPr/>
            </p:nvSpPr>
            <p:spPr>
              <a:xfrm>
                <a:off x="234638" y="227334"/>
                <a:ext cx="298653" cy="313261"/>
              </a:xfrm>
              <a:custGeom>
                <a:avLst/>
                <a:gdLst/>
                <a:ahLst/>
                <a:cxnLst>
                  <a:cxn ang="0">
                    <a:pos x="wd2" y="hd2"/>
                  </a:cxn>
                  <a:cxn ang="5400000">
                    <a:pos x="wd2" y="hd2"/>
                  </a:cxn>
                  <a:cxn ang="10800000">
                    <a:pos x="wd2" y="hd2"/>
                  </a:cxn>
                  <a:cxn ang="16200000">
                    <a:pos x="wd2" y="hd2"/>
                  </a:cxn>
                </a:cxnLst>
                <a:rect l="0" t="0" r="r" b="b"/>
                <a:pathLst>
                  <a:path w="21004" h="21302" extrusionOk="0">
                    <a:moveTo>
                      <a:pt x="7816" y="21302"/>
                    </a:moveTo>
                    <a:cubicBezTo>
                      <a:pt x="7132" y="21302"/>
                      <a:pt x="6483" y="20993"/>
                      <a:pt x="6068" y="20461"/>
                    </a:cubicBezTo>
                    <a:lnTo>
                      <a:pt x="445" y="13277"/>
                    </a:lnTo>
                    <a:cubicBezTo>
                      <a:pt x="-287" y="12344"/>
                      <a:pt x="-97" y="11016"/>
                      <a:pt x="870" y="10308"/>
                    </a:cubicBezTo>
                    <a:cubicBezTo>
                      <a:pt x="1838" y="9597"/>
                      <a:pt x="3211" y="9785"/>
                      <a:pt x="3943" y="10719"/>
                    </a:cubicBezTo>
                    <a:lnTo>
                      <a:pt x="7643" y="15442"/>
                    </a:lnTo>
                    <a:lnTo>
                      <a:pt x="16946" y="999"/>
                    </a:lnTo>
                    <a:cubicBezTo>
                      <a:pt x="17586" y="6"/>
                      <a:pt x="18940" y="-298"/>
                      <a:pt x="19969" y="321"/>
                    </a:cubicBezTo>
                    <a:cubicBezTo>
                      <a:pt x="20997" y="939"/>
                      <a:pt x="21313" y="2248"/>
                      <a:pt x="20671" y="3243"/>
                    </a:cubicBezTo>
                    <a:lnTo>
                      <a:pt x="9680" y="20301"/>
                    </a:lnTo>
                    <a:cubicBezTo>
                      <a:pt x="9299" y="20896"/>
                      <a:pt x="8639" y="21267"/>
                      <a:pt x="7917" y="21299"/>
                    </a:cubicBezTo>
                    <a:cubicBezTo>
                      <a:pt x="7882" y="21302"/>
                      <a:pt x="7851" y="21302"/>
                      <a:pt x="7816" y="21302"/>
                    </a:cubicBezTo>
                    <a:close/>
                  </a:path>
                </a:pathLst>
              </a:custGeom>
              <a:solidFill>
                <a:srgbClr val="FFFFFF"/>
              </a:solidFill>
              <a:ln w="12700" cap="flat">
                <a:noFill/>
                <a:miter lim="400000"/>
              </a:ln>
              <a:effectLst/>
            </p:spPr>
            <p:txBody>
              <a:bodyPr anchor="ctr"/>
              <a:lstStyle/>
              <a:p>
                <a:pPr algn="ctr"/>
                <a:endParaRPr sz="8533">
                  <a:latin typeface="微软雅黑 Light" panose="020B0502040204020203" pitchFamily="34" charset="-122"/>
                  <a:ea typeface="微软雅黑 Light" panose="020B0502040204020203" pitchFamily="34" charset="-122"/>
                  <a:cs typeface="+mn-ea"/>
                  <a:sym typeface="+mn-lt"/>
                </a:endParaRPr>
              </a:p>
            </p:txBody>
          </p:sp>
        </p:grpSp>
        <p:grpSp>
          <p:nvGrpSpPr>
            <p:cNvPr id="126" name="Group 48"/>
            <p:cNvGrpSpPr/>
            <p:nvPr/>
          </p:nvGrpSpPr>
          <p:grpSpPr>
            <a:xfrm>
              <a:off x="5813873" y="3019752"/>
              <a:ext cx="2434531" cy="830392"/>
              <a:chOff x="6729846" y="3967027"/>
              <a:chExt cx="2434531" cy="830392"/>
            </a:xfrm>
          </p:grpSpPr>
          <p:sp>
            <p:nvSpPr>
              <p:cNvPr id="127" name="Rectangle 49"/>
              <p:cNvSpPr/>
              <p:nvPr/>
            </p:nvSpPr>
            <p:spPr>
              <a:xfrm>
                <a:off x="7033797" y="3967027"/>
                <a:ext cx="1368030" cy="215444"/>
              </a:xfrm>
              <a:prstGeom prst="rect">
                <a:avLst/>
              </a:prstGeom>
            </p:spPr>
            <p:txBody>
              <a:bodyPr wrap="none" lIns="384000" tIns="0" rIns="384000" bIns="0" anchor="ctr"/>
              <a:lstStyle/>
              <a:p>
                <a:r>
                  <a:rPr lang="zh-CN" altLang="en-US" sz="3467" dirty="0">
                    <a:solidFill>
                      <a:schemeClr val="accent5"/>
                    </a:solidFill>
                    <a:latin typeface="微软雅黑" panose="020B0503020204020204" charset="-122"/>
                    <a:ea typeface="微软雅黑" panose="020B0503020204020204" charset="-122"/>
                    <a:cs typeface="+mn-ea"/>
                    <a:sym typeface="+mn-lt"/>
                  </a:rPr>
                  <a:t>合作非完全信用</a:t>
                </a:r>
              </a:p>
            </p:txBody>
          </p:sp>
          <p:sp>
            <p:nvSpPr>
              <p:cNvPr id="128" name="Rectangle 50"/>
              <p:cNvSpPr/>
              <p:nvPr/>
            </p:nvSpPr>
            <p:spPr>
              <a:xfrm>
                <a:off x="6729846" y="4214026"/>
                <a:ext cx="2434531" cy="583393"/>
              </a:xfrm>
              <a:prstGeom prst="rect">
                <a:avLst/>
              </a:prstGeom>
            </p:spPr>
            <p:txBody>
              <a:bodyPr wrap="square" lIns="384000" tIns="0" rIns="384000" bIns="0" anchor="t">
                <a:normAutofit/>
              </a:bodyPr>
              <a:lstStyle/>
              <a:p>
                <a:pPr algn="l">
                  <a:lnSpc>
                    <a:spcPct val="120000"/>
                  </a:lnSpc>
                </a:pPr>
                <a:r>
                  <a:rPr lang="zh-CN" altLang="en-US" sz="2400" dirty="0">
                    <a:latin typeface="微软雅黑 Light" panose="020B0502040204020203" pitchFamily="34" charset="-122"/>
                    <a:ea typeface="微软雅黑 Light" panose="020B0502040204020203" pitchFamily="34" charset="-122"/>
                    <a:cs typeface="+mn-ea"/>
                    <a:sym typeface="+mn-lt"/>
                  </a:rPr>
                  <a:t>担心数据资产泄漏与数据滥用</a:t>
                </a:r>
                <a:r>
                  <a:rPr lang="en-US" altLang="zh-CN" sz="2400" dirty="0">
                    <a:latin typeface="微软雅黑 Light" panose="020B0502040204020203" pitchFamily="34" charset="-122"/>
                    <a:ea typeface="微软雅黑 Light" panose="020B0502040204020203" pitchFamily="34" charset="-122"/>
                    <a:cs typeface="+mn-ea"/>
                    <a:sym typeface="+mn-lt"/>
                  </a:rPr>
                  <a:t>,</a:t>
                </a:r>
                <a:r>
                  <a:rPr lang="zh-CN" altLang="en-US" sz="2400" dirty="0">
                    <a:latin typeface="微软雅黑 Light" panose="020B0502040204020203" pitchFamily="34" charset="-122"/>
                    <a:ea typeface="微软雅黑 Light" panose="020B0502040204020203" pitchFamily="34" charset="-122"/>
                    <a:cs typeface="+mn-ea"/>
                    <a:sym typeface="+mn-lt"/>
                  </a:rPr>
                  <a:t>使用过程不透明</a:t>
                </a:r>
              </a:p>
            </p:txBody>
          </p:sp>
        </p:grpSp>
      </p:grpSp>
      <p:grpSp>
        <p:nvGrpSpPr>
          <p:cNvPr id="111" name="Group 33"/>
          <p:cNvGrpSpPr/>
          <p:nvPr/>
        </p:nvGrpSpPr>
        <p:grpSpPr>
          <a:xfrm>
            <a:off x="15772183" y="7828649"/>
            <a:ext cx="5876733" cy="1709331"/>
            <a:chOff x="5403632" y="4279235"/>
            <a:chExt cx="2938368" cy="854665"/>
          </a:xfrm>
        </p:grpSpPr>
        <p:grpSp>
          <p:nvGrpSpPr>
            <p:cNvPr id="119" name="Group 41"/>
            <p:cNvGrpSpPr/>
            <p:nvPr/>
          </p:nvGrpSpPr>
          <p:grpSpPr>
            <a:xfrm>
              <a:off x="5403632" y="4279235"/>
              <a:ext cx="399214" cy="399214"/>
              <a:chOff x="0" y="0"/>
              <a:chExt cx="767929" cy="767929"/>
            </a:xfrm>
          </p:grpSpPr>
          <p:sp>
            <p:nvSpPr>
              <p:cNvPr id="123" name="Freeform: Shape 45"/>
              <p:cNvSpPr/>
              <p:nvPr/>
            </p:nvSpPr>
            <p:spPr>
              <a:xfrm>
                <a:off x="0" y="0"/>
                <a:ext cx="767929" cy="76792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tx2">
                  <a:lumMod val="60000"/>
                  <a:lumOff val="40000"/>
                </a:schemeClr>
              </a:solidFill>
              <a:ln w="12700" cap="flat">
                <a:noFill/>
                <a:miter lim="400000"/>
              </a:ln>
              <a:effectLst/>
            </p:spPr>
            <p:txBody>
              <a:bodyPr anchor="ctr"/>
              <a:lstStyle/>
              <a:p>
                <a:pPr algn="ctr"/>
                <a:endParaRPr sz="8533">
                  <a:latin typeface="微软雅黑 Light" panose="020B0502040204020203" pitchFamily="34" charset="-122"/>
                  <a:ea typeface="微软雅黑 Light" panose="020B0502040204020203" pitchFamily="34" charset="-122"/>
                  <a:cs typeface="+mn-ea"/>
                  <a:sym typeface="+mn-lt"/>
                </a:endParaRPr>
              </a:p>
            </p:txBody>
          </p:sp>
          <p:sp>
            <p:nvSpPr>
              <p:cNvPr id="124" name="Freeform: Shape 46"/>
              <p:cNvSpPr/>
              <p:nvPr/>
            </p:nvSpPr>
            <p:spPr>
              <a:xfrm>
                <a:off x="234638" y="227334"/>
                <a:ext cx="298653" cy="313261"/>
              </a:xfrm>
              <a:custGeom>
                <a:avLst/>
                <a:gdLst/>
                <a:ahLst/>
                <a:cxnLst>
                  <a:cxn ang="0">
                    <a:pos x="wd2" y="hd2"/>
                  </a:cxn>
                  <a:cxn ang="5400000">
                    <a:pos x="wd2" y="hd2"/>
                  </a:cxn>
                  <a:cxn ang="10800000">
                    <a:pos x="wd2" y="hd2"/>
                  </a:cxn>
                  <a:cxn ang="16200000">
                    <a:pos x="wd2" y="hd2"/>
                  </a:cxn>
                </a:cxnLst>
                <a:rect l="0" t="0" r="r" b="b"/>
                <a:pathLst>
                  <a:path w="21004" h="21302" extrusionOk="0">
                    <a:moveTo>
                      <a:pt x="7816" y="21302"/>
                    </a:moveTo>
                    <a:cubicBezTo>
                      <a:pt x="7132" y="21302"/>
                      <a:pt x="6483" y="20993"/>
                      <a:pt x="6068" y="20461"/>
                    </a:cubicBezTo>
                    <a:lnTo>
                      <a:pt x="445" y="13277"/>
                    </a:lnTo>
                    <a:cubicBezTo>
                      <a:pt x="-287" y="12344"/>
                      <a:pt x="-97" y="11016"/>
                      <a:pt x="870" y="10308"/>
                    </a:cubicBezTo>
                    <a:cubicBezTo>
                      <a:pt x="1838" y="9597"/>
                      <a:pt x="3211" y="9785"/>
                      <a:pt x="3943" y="10719"/>
                    </a:cubicBezTo>
                    <a:lnTo>
                      <a:pt x="7643" y="15442"/>
                    </a:lnTo>
                    <a:lnTo>
                      <a:pt x="16946" y="999"/>
                    </a:lnTo>
                    <a:cubicBezTo>
                      <a:pt x="17586" y="6"/>
                      <a:pt x="18940" y="-298"/>
                      <a:pt x="19969" y="321"/>
                    </a:cubicBezTo>
                    <a:cubicBezTo>
                      <a:pt x="20997" y="939"/>
                      <a:pt x="21313" y="2248"/>
                      <a:pt x="20671" y="3243"/>
                    </a:cubicBezTo>
                    <a:lnTo>
                      <a:pt x="9680" y="20301"/>
                    </a:lnTo>
                    <a:cubicBezTo>
                      <a:pt x="9299" y="20896"/>
                      <a:pt x="8639" y="21267"/>
                      <a:pt x="7917" y="21299"/>
                    </a:cubicBezTo>
                    <a:cubicBezTo>
                      <a:pt x="7882" y="21302"/>
                      <a:pt x="7851" y="21302"/>
                      <a:pt x="7816" y="21302"/>
                    </a:cubicBezTo>
                    <a:close/>
                  </a:path>
                </a:pathLst>
              </a:custGeom>
              <a:solidFill>
                <a:srgbClr val="FFFFFF"/>
              </a:solidFill>
              <a:ln w="12700" cap="flat">
                <a:noFill/>
                <a:miter lim="400000"/>
              </a:ln>
              <a:effectLst/>
            </p:spPr>
            <p:txBody>
              <a:bodyPr anchor="ctr"/>
              <a:lstStyle/>
              <a:p>
                <a:pPr algn="ctr"/>
                <a:endParaRPr sz="8533">
                  <a:latin typeface="微软雅黑 Light" panose="020B0502040204020203" pitchFamily="34" charset="-122"/>
                  <a:ea typeface="微软雅黑 Light" panose="020B0502040204020203" pitchFamily="34" charset="-122"/>
                  <a:cs typeface="+mn-ea"/>
                  <a:sym typeface="+mn-lt"/>
                </a:endParaRPr>
              </a:p>
            </p:txBody>
          </p:sp>
        </p:grpSp>
        <p:grpSp>
          <p:nvGrpSpPr>
            <p:cNvPr id="120" name="Group 42"/>
            <p:cNvGrpSpPr/>
            <p:nvPr/>
          </p:nvGrpSpPr>
          <p:grpSpPr>
            <a:xfrm>
              <a:off x="5802846" y="4288081"/>
              <a:ext cx="2539154" cy="845819"/>
              <a:chOff x="6729847" y="3944213"/>
              <a:chExt cx="2539154" cy="845819"/>
            </a:xfrm>
          </p:grpSpPr>
          <p:sp>
            <p:nvSpPr>
              <p:cNvPr id="121" name="Rectangle 43"/>
              <p:cNvSpPr/>
              <p:nvPr/>
            </p:nvSpPr>
            <p:spPr>
              <a:xfrm>
                <a:off x="6729847" y="3944213"/>
                <a:ext cx="1368030" cy="215444"/>
              </a:xfrm>
              <a:prstGeom prst="rect">
                <a:avLst/>
              </a:prstGeom>
            </p:spPr>
            <p:txBody>
              <a:bodyPr wrap="none" lIns="384000" tIns="0" rIns="384000" bIns="0" anchor="ctr"/>
              <a:lstStyle/>
              <a:p>
                <a:pPr algn="l"/>
                <a:r>
                  <a:rPr lang="zh-CN" altLang="en-US" sz="3467" dirty="0">
                    <a:solidFill>
                      <a:schemeClr val="tx2">
                        <a:lumMod val="60000"/>
                        <a:lumOff val="40000"/>
                      </a:schemeClr>
                    </a:solidFill>
                    <a:latin typeface="微软雅黑" panose="020B0503020204020204" charset="-122"/>
                    <a:ea typeface="微软雅黑" panose="020B0503020204020204" charset="-122"/>
                    <a:cs typeface="+mn-ea"/>
                    <a:sym typeface="+mn-lt"/>
                  </a:rPr>
                  <a:t>合规要求高</a:t>
                </a:r>
              </a:p>
            </p:txBody>
          </p:sp>
          <p:sp>
            <p:nvSpPr>
              <p:cNvPr id="122" name="Rectangle 44"/>
              <p:cNvSpPr/>
              <p:nvPr/>
            </p:nvSpPr>
            <p:spPr>
              <a:xfrm>
                <a:off x="6747627" y="4222766"/>
                <a:ext cx="2521374" cy="567266"/>
              </a:xfrm>
              <a:prstGeom prst="rect">
                <a:avLst/>
              </a:prstGeom>
            </p:spPr>
            <p:txBody>
              <a:bodyPr wrap="square" lIns="384000" tIns="0" rIns="384000" bIns="0" anchor="t">
                <a:noAutofit/>
              </a:bodyPr>
              <a:lstStyle/>
              <a:p>
                <a:pPr>
                  <a:lnSpc>
                    <a:spcPct val="120000"/>
                  </a:lnSpc>
                </a:pPr>
                <a:r>
                  <a:rPr lang="zh-CN" altLang="en-US" sz="2400" dirty="0">
                    <a:latin typeface="微软雅黑 Light" panose="020B0502040204020203" pitchFamily="34" charset="-122"/>
                    <a:ea typeface="微软雅黑 Light" panose="020B0502040204020203" pitchFamily="34" charset="-122"/>
                    <a:cs typeface="+mn-ea"/>
                    <a:sym typeface="+mn-lt"/>
                  </a:rPr>
                  <a:t>没有低成本的方案降低监管风险</a:t>
                </a:r>
              </a:p>
            </p:txBody>
          </p:sp>
        </p:grpSp>
      </p:grpSp>
      <p:grpSp>
        <p:nvGrpSpPr>
          <p:cNvPr id="112" name="Group 34"/>
          <p:cNvGrpSpPr/>
          <p:nvPr/>
        </p:nvGrpSpPr>
        <p:grpSpPr>
          <a:xfrm>
            <a:off x="15772289" y="9302468"/>
            <a:ext cx="6278483" cy="1820381"/>
            <a:chOff x="5403632" y="4279235"/>
            <a:chExt cx="3139241" cy="910190"/>
          </a:xfrm>
        </p:grpSpPr>
        <p:grpSp>
          <p:nvGrpSpPr>
            <p:cNvPr id="113" name="Group 35"/>
            <p:cNvGrpSpPr/>
            <p:nvPr/>
          </p:nvGrpSpPr>
          <p:grpSpPr>
            <a:xfrm>
              <a:off x="5403632" y="4279235"/>
              <a:ext cx="399214" cy="399214"/>
              <a:chOff x="0" y="0"/>
              <a:chExt cx="767929" cy="767929"/>
            </a:xfrm>
          </p:grpSpPr>
          <p:sp>
            <p:nvSpPr>
              <p:cNvPr id="117" name="Freeform: Shape 39"/>
              <p:cNvSpPr/>
              <p:nvPr/>
            </p:nvSpPr>
            <p:spPr>
              <a:xfrm>
                <a:off x="0" y="0"/>
                <a:ext cx="767929" cy="76792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4"/>
              </a:solidFill>
              <a:ln w="12700" cap="flat">
                <a:noFill/>
                <a:miter lim="400000"/>
              </a:ln>
              <a:effectLst/>
            </p:spPr>
            <p:txBody>
              <a:bodyPr anchor="ctr"/>
              <a:lstStyle/>
              <a:p>
                <a:pPr algn="ctr"/>
                <a:endParaRPr sz="8533">
                  <a:latin typeface="微软雅黑 Light" panose="020B0502040204020203" pitchFamily="34" charset="-122"/>
                  <a:ea typeface="微软雅黑 Light" panose="020B0502040204020203" pitchFamily="34" charset="-122"/>
                  <a:cs typeface="+mn-ea"/>
                  <a:sym typeface="+mn-lt"/>
                </a:endParaRPr>
              </a:p>
            </p:txBody>
          </p:sp>
          <p:sp>
            <p:nvSpPr>
              <p:cNvPr id="118" name="Freeform: Shape 40"/>
              <p:cNvSpPr/>
              <p:nvPr/>
            </p:nvSpPr>
            <p:spPr>
              <a:xfrm>
                <a:off x="234638" y="227334"/>
                <a:ext cx="298653" cy="313261"/>
              </a:xfrm>
              <a:custGeom>
                <a:avLst/>
                <a:gdLst/>
                <a:ahLst/>
                <a:cxnLst>
                  <a:cxn ang="0">
                    <a:pos x="wd2" y="hd2"/>
                  </a:cxn>
                  <a:cxn ang="5400000">
                    <a:pos x="wd2" y="hd2"/>
                  </a:cxn>
                  <a:cxn ang="10800000">
                    <a:pos x="wd2" y="hd2"/>
                  </a:cxn>
                  <a:cxn ang="16200000">
                    <a:pos x="wd2" y="hd2"/>
                  </a:cxn>
                </a:cxnLst>
                <a:rect l="0" t="0" r="r" b="b"/>
                <a:pathLst>
                  <a:path w="21004" h="21302" extrusionOk="0">
                    <a:moveTo>
                      <a:pt x="7816" y="21302"/>
                    </a:moveTo>
                    <a:cubicBezTo>
                      <a:pt x="7132" y="21302"/>
                      <a:pt x="6483" y="20993"/>
                      <a:pt x="6068" y="20461"/>
                    </a:cubicBezTo>
                    <a:lnTo>
                      <a:pt x="445" y="13277"/>
                    </a:lnTo>
                    <a:cubicBezTo>
                      <a:pt x="-287" y="12344"/>
                      <a:pt x="-97" y="11016"/>
                      <a:pt x="870" y="10308"/>
                    </a:cubicBezTo>
                    <a:cubicBezTo>
                      <a:pt x="1838" y="9597"/>
                      <a:pt x="3211" y="9785"/>
                      <a:pt x="3943" y="10719"/>
                    </a:cubicBezTo>
                    <a:lnTo>
                      <a:pt x="7643" y="15442"/>
                    </a:lnTo>
                    <a:lnTo>
                      <a:pt x="16946" y="999"/>
                    </a:lnTo>
                    <a:cubicBezTo>
                      <a:pt x="17586" y="6"/>
                      <a:pt x="18940" y="-298"/>
                      <a:pt x="19969" y="321"/>
                    </a:cubicBezTo>
                    <a:cubicBezTo>
                      <a:pt x="20997" y="939"/>
                      <a:pt x="21313" y="2248"/>
                      <a:pt x="20671" y="3243"/>
                    </a:cubicBezTo>
                    <a:lnTo>
                      <a:pt x="9680" y="20301"/>
                    </a:lnTo>
                    <a:cubicBezTo>
                      <a:pt x="9299" y="20896"/>
                      <a:pt x="8639" y="21267"/>
                      <a:pt x="7917" y="21299"/>
                    </a:cubicBezTo>
                    <a:cubicBezTo>
                      <a:pt x="7882" y="21302"/>
                      <a:pt x="7851" y="21302"/>
                      <a:pt x="7816" y="21302"/>
                    </a:cubicBezTo>
                    <a:close/>
                  </a:path>
                </a:pathLst>
              </a:custGeom>
              <a:solidFill>
                <a:srgbClr val="FFFFFF"/>
              </a:solidFill>
              <a:ln w="12700" cap="flat">
                <a:noFill/>
                <a:miter lim="400000"/>
              </a:ln>
              <a:effectLst/>
            </p:spPr>
            <p:txBody>
              <a:bodyPr anchor="ctr"/>
              <a:lstStyle/>
              <a:p>
                <a:pPr algn="ctr"/>
                <a:endParaRPr sz="8533">
                  <a:latin typeface="微软雅黑 Light" panose="020B0502040204020203" pitchFamily="34" charset="-122"/>
                  <a:ea typeface="微软雅黑 Light" panose="020B0502040204020203" pitchFamily="34" charset="-122"/>
                  <a:cs typeface="+mn-ea"/>
                  <a:sym typeface="+mn-lt"/>
                </a:endParaRPr>
              </a:p>
            </p:txBody>
          </p:sp>
        </p:grpSp>
        <p:grpSp>
          <p:nvGrpSpPr>
            <p:cNvPr id="114" name="Group 36"/>
            <p:cNvGrpSpPr/>
            <p:nvPr/>
          </p:nvGrpSpPr>
          <p:grpSpPr>
            <a:xfrm>
              <a:off x="5802845" y="4279236"/>
              <a:ext cx="2740028" cy="910189"/>
              <a:chOff x="6729846" y="3935368"/>
              <a:chExt cx="2740028" cy="910189"/>
            </a:xfrm>
          </p:grpSpPr>
          <p:sp>
            <p:nvSpPr>
              <p:cNvPr id="115" name="Rectangle 37"/>
              <p:cNvSpPr/>
              <p:nvPr/>
            </p:nvSpPr>
            <p:spPr>
              <a:xfrm>
                <a:off x="6729846" y="3935368"/>
                <a:ext cx="1965056" cy="224291"/>
              </a:xfrm>
              <a:prstGeom prst="rect">
                <a:avLst/>
              </a:prstGeom>
            </p:spPr>
            <p:txBody>
              <a:bodyPr wrap="none" lIns="384000" tIns="0" rIns="384000" bIns="0" anchor="ctr">
                <a:noAutofit/>
              </a:bodyPr>
              <a:lstStyle/>
              <a:p>
                <a:pPr algn="l"/>
                <a:r>
                  <a:rPr lang="zh-CN" altLang="en-US" sz="3467" dirty="0">
                    <a:solidFill>
                      <a:schemeClr val="accent4"/>
                    </a:solidFill>
                    <a:latin typeface="微软雅黑" panose="020B0503020204020204" charset="-122"/>
                    <a:ea typeface="微软雅黑" panose="020B0503020204020204" charset="-122"/>
                    <a:cs typeface="+mn-ea"/>
                    <a:sym typeface="+mn-lt"/>
                  </a:rPr>
                  <a:t>数据变现困难</a:t>
                </a:r>
              </a:p>
            </p:txBody>
          </p:sp>
          <p:sp>
            <p:nvSpPr>
              <p:cNvPr id="116" name="Rectangle 38"/>
              <p:cNvSpPr/>
              <p:nvPr/>
            </p:nvSpPr>
            <p:spPr>
              <a:xfrm>
                <a:off x="6729846" y="4150811"/>
                <a:ext cx="2740028" cy="694746"/>
              </a:xfrm>
              <a:prstGeom prst="rect">
                <a:avLst/>
              </a:prstGeom>
            </p:spPr>
            <p:txBody>
              <a:bodyPr wrap="square" lIns="384000" tIns="0" rIns="384000" bIns="0" anchor="t">
                <a:normAutofit/>
              </a:bodyPr>
              <a:lstStyle/>
              <a:p>
                <a:pPr algn="l">
                  <a:lnSpc>
                    <a:spcPct val="150000"/>
                  </a:lnSpc>
                </a:pPr>
                <a:r>
                  <a:rPr lang="zh-CN" altLang="zh-CN" sz="2400" dirty="0">
                    <a:latin typeface="微软雅黑 Light" panose="020B0502040204020203" pitchFamily="34" charset="-122"/>
                    <a:ea typeface="微软雅黑 Light" panose="020B0502040204020203" pitchFamily="34" charset="-122"/>
                    <a:cs typeface="+mn-ea"/>
                    <a:sym typeface="+mn-lt"/>
                  </a:rPr>
                  <a:t>基于以上顾虑导致没有合理的渠道进行数据变现</a:t>
                </a:r>
              </a:p>
            </p:txBody>
          </p:sp>
        </p:grpSp>
      </p:grpSp>
      <p:pic>
        <p:nvPicPr>
          <p:cNvPr id="7" name="图片 6"/>
          <p:cNvPicPr>
            <a:picLocks noChangeAspect="1"/>
          </p:cNvPicPr>
          <p:nvPr/>
        </p:nvPicPr>
        <p:blipFill>
          <a:blip r:embed="rId3"/>
          <a:stretch>
            <a:fillRect/>
          </a:stretch>
        </p:blipFill>
        <p:spPr>
          <a:xfrm>
            <a:off x="13855529" y="4893921"/>
            <a:ext cx="550051" cy="550051"/>
          </a:xfrm>
          <a:prstGeom prst="rect">
            <a:avLst/>
          </a:prstGeom>
        </p:spPr>
      </p:pic>
      <p:pic>
        <p:nvPicPr>
          <p:cNvPr id="11" name="图片 10"/>
          <p:cNvPicPr>
            <a:picLocks noChangeAspect="1"/>
          </p:cNvPicPr>
          <p:nvPr/>
        </p:nvPicPr>
        <p:blipFill>
          <a:blip r:embed="rId4"/>
          <a:stretch>
            <a:fillRect/>
          </a:stretch>
        </p:blipFill>
        <p:spPr>
          <a:xfrm>
            <a:off x="13665437" y="9301688"/>
            <a:ext cx="768000" cy="768000"/>
          </a:xfrm>
          <a:prstGeom prst="rect">
            <a:avLst/>
          </a:prstGeom>
        </p:spPr>
      </p:pic>
      <p:grpSp>
        <p:nvGrpSpPr>
          <p:cNvPr id="26" name="组合 25"/>
          <p:cNvGrpSpPr/>
          <p:nvPr/>
        </p:nvGrpSpPr>
        <p:grpSpPr>
          <a:xfrm>
            <a:off x="7892244" y="7582470"/>
            <a:ext cx="6813699" cy="1180309"/>
            <a:chOff x="2654787" y="2531856"/>
            <a:chExt cx="2555137" cy="442616"/>
          </a:xfrm>
        </p:grpSpPr>
        <p:sp>
          <p:nvSpPr>
            <p:cNvPr id="96" name="Rectangle 18"/>
            <p:cNvSpPr/>
            <p:nvPr/>
          </p:nvSpPr>
          <p:spPr>
            <a:xfrm>
              <a:off x="4781338" y="2550252"/>
              <a:ext cx="428586" cy="420853"/>
            </a:xfrm>
            <a:prstGeom prst="rect">
              <a:avLst/>
            </a:prstGeom>
            <a:solidFill>
              <a:schemeClr val="tx2">
                <a:lumMod val="60000"/>
                <a:lumOff val="40000"/>
              </a:schemeClr>
            </a:solidFill>
            <a:ln w="12700" cap="flat">
              <a:noFill/>
              <a:miter lim="400000"/>
            </a:ln>
            <a:effectLst/>
          </p:spPr>
          <p:txBody>
            <a:bodyPr anchor="ctr"/>
            <a:lstStyle/>
            <a:p>
              <a:pPr algn="ctr"/>
              <a:endParaRPr sz="8533">
                <a:cs typeface="+mn-ea"/>
                <a:sym typeface="+mn-lt"/>
              </a:endParaRPr>
            </a:p>
          </p:txBody>
        </p:sp>
        <p:grpSp>
          <p:nvGrpSpPr>
            <p:cNvPr id="25" name="组合 24"/>
            <p:cNvGrpSpPr/>
            <p:nvPr/>
          </p:nvGrpSpPr>
          <p:grpSpPr>
            <a:xfrm>
              <a:off x="2654787" y="2531856"/>
              <a:ext cx="2539799" cy="442616"/>
              <a:chOff x="2654787" y="2531856"/>
              <a:chExt cx="2539799" cy="442616"/>
            </a:xfrm>
          </p:grpSpPr>
          <p:sp>
            <p:nvSpPr>
              <p:cNvPr id="80" name="Freeform: Shape 2"/>
              <p:cNvSpPr/>
              <p:nvPr/>
            </p:nvSpPr>
            <p:spPr>
              <a:xfrm>
                <a:off x="2654787" y="2531856"/>
                <a:ext cx="2539799" cy="442616"/>
              </a:xfrm>
              <a:custGeom>
                <a:avLst/>
                <a:gdLst/>
                <a:ahLst/>
                <a:cxnLst>
                  <a:cxn ang="0">
                    <a:pos x="wd2" y="hd2"/>
                  </a:cxn>
                  <a:cxn ang="5400000">
                    <a:pos x="wd2" y="hd2"/>
                  </a:cxn>
                  <a:cxn ang="10800000">
                    <a:pos x="wd2" y="hd2"/>
                  </a:cxn>
                  <a:cxn ang="16200000">
                    <a:pos x="wd2" y="hd2"/>
                  </a:cxn>
                </a:cxnLst>
                <a:rect l="0" t="0" r="r" b="b"/>
                <a:pathLst>
                  <a:path w="21583" h="21599" extrusionOk="0">
                    <a:moveTo>
                      <a:pt x="10442" y="1046"/>
                    </a:moveTo>
                    <a:lnTo>
                      <a:pt x="19585" y="1274"/>
                    </a:lnTo>
                    <a:cubicBezTo>
                      <a:pt x="19676" y="1275"/>
                      <a:pt x="19762" y="1492"/>
                      <a:pt x="19823" y="1872"/>
                    </a:cubicBezTo>
                    <a:lnTo>
                      <a:pt x="21531" y="10572"/>
                    </a:lnTo>
                    <a:cubicBezTo>
                      <a:pt x="21599" y="10917"/>
                      <a:pt x="21600" y="11524"/>
                      <a:pt x="21533" y="11878"/>
                    </a:cubicBezTo>
                    <a:lnTo>
                      <a:pt x="19814" y="21008"/>
                    </a:lnTo>
                    <a:cubicBezTo>
                      <a:pt x="19752" y="21387"/>
                      <a:pt x="19666" y="21600"/>
                      <a:pt x="19576" y="21599"/>
                    </a:cubicBezTo>
                    <a:cubicBezTo>
                      <a:pt x="19576" y="21599"/>
                      <a:pt x="11326" y="21382"/>
                      <a:pt x="10952" y="21377"/>
                    </a:cubicBezTo>
                    <a:cubicBezTo>
                      <a:pt x="10599" y="21371"/>
                      <a:pt x="10351" y="20537"/>
                      <a:pt x="10188" y="19685"/>
                    </a:cubicBezTo>
                    <a:cubicBezTo>
                      <a:pt x="10182" y="19650"/>
                      <a:pt x="10172" y="19599"/>
                      <a:pt x="10160" y="19541"/>
                    </a:cubicBezTo>
                    <a:cubicBezTo>
                      <a:pt x="10160" y="19541"/>
                      <a:pt x="8152" y="9137"/>
                      <a:pt x="7505" y="5917"/>
                    </a:cubicBezTo>
                    <a:cubicBezTo>
                      <a:pt x="7393" y="5359"/>
                      <a:pt x="7232" y="4410"/>
                      <a:pt x="6797" y="4402"/>
                    </a:cubicBezTo>
                    <a:cubicBezTo>
                      <a:pt x="6763" y="4401"/>
                      <a:pt x="6732" y="4404"/>
                      <a:pt x="6704" y="4404"/>
                    </a:cubicBezTo>
                    <a:cubicBezTo>
                      <a:pt x="6574" y="4401"/>
                      <a:pt x="5633" y="4689"/>
                      <a:pt x="4226" y="4668"/>
                    </a:cubicBezTo>
                    <a:cubicBezTo>
                      <a:pt x="2972" y="4648"/>
                      <a:pt x="254" y="4606"/>
                      <a:pt x="0" y="4602"/>
                    </a:cubicBezTo>
                    <a:lnTo>
                      <a:pt x="2" y="182"/>
                    </a:lnTo>
                    <a:lnTo>
                      <a:pt x="7826" y="0"/>
                    </a:lnTo>
                    <a:cubicBezTo>
                      <a:pt x="7826" y="0"/>
                      <a:pt x="10225" y="1043"/>
                      <a:pt x="10442" y="1046"/>
                    </a:cubicBezTo>
                    <a:close/>
                  </a:path>
                </a:pathLst>
              </a:custGeom>
              <a:solidFill>
                <a:schemeClr val="tx2">
                  <a:lumMod val="60000"/>
                  <a:lumOff val="40000"/>
                </a:schemeClr>
              </a:solidFill>
              <a:ln w="12700">
                <a:miter lim="400000"/>
              </a:ln>
            </p:spPr>
            <p:txBody>
              <a:bodyPr anchor="ctr"/>
              <a:lstStyle/>
              <a:p>
                <a:pPr algn="ctr"/>
                <a:endParaRPr sz="8533">
                  <a:cs typeface="+mn-ea"/>
                  <a:sym typeface="+mn-lt"/>
                </a:endParaRPr>
              </a:p>
            </p:txBody>
          </p:sp>
          <p:pic>
            <p:nvPicPr>
              <p:cNvPr id="13" name="图片 12"/>
              <p:cNvPicPr>
                <a:picLocks noChangeAspect="1"/>
              </p:cNvPicPr>
              <p:nvPr/>
            </p:nvPicPr>
            <p:blipFill>
              <a:blip r:embed="rId5"/>
              <a:stretch>
                <a:fillRect/>
              </a:stretch>
            </p:blipFill>
            <p:spPr>
              <a:xfrm>
                <a:off x="4843257" y="2611111"/>
                <a:ext cx="288000" cy="288000"/>
              </a:xfrm>
              <a:prstGeom prst="rect">
                <a:avLst/>
              </a:prstGeom>
              <a:solidFill>
                <a:schemeClr val="tx2">
                  <a:lumMod val="60000"/>
                  <a:lumOff val="40000"/>
                </a:schemeClr>
              </a:solidFill>
            </p:spPr>
          </p:pic>
        </p:grpSp>
      </p:grpSp>
      <p:grpSp>
        <p:nvGrpSpPr>
          <p:cNvPr id="21" name="组合 20"/>
          <p:cNvGrpSpPr/>
          <p:nvPr/>
        </p:nvGrpSpPr>
        <p:grpSpPr>
          <a:xfrm>
            <a:off x="421801" y="4636863"/>
            <a:ext cx="9242755" cy="5384616"/>
            <a:chOff x="-654378" y="1383617"/>
            <a:chExt cx="3749630" cy="2185654"/>
          </a:xfrm>
        </p:grpSpPr>
        <p:grpSp>
          <p:nvGrpSpPr>
            <p:cNvPr id="84" name="Group 6"/>
            <p:cNvGrpSpPr/>
            <p:nvPr/>
          </p:nvGrpSpPr>
          <p:grpSpPr>
            <a:xfrm>
              <a:off x="-654378" y="1383617"/>
              <a:ext cx="3749630" cy="2185654"/>
              <a:chOff x="1717805" y="2273383"/>
              <a:chExt cx="4999506" cy="2914205"/>
            </a:xfrm>
            <a:solidFill>
              <a:schemeClr val="tx2"/>
            </a:solidFill>
          </p:grpSpPr>
          <p:sp>
            <p:nvSpPr>
              <p:cNvPr id="102" name="Freeform: Shape 24"/>
              <p:cNvSpPr/>
              <p:nvPr/>
            </p:nvSpPr>
            <p:spPr>
              <a:xfrm rot="7570713">
                <a:off x="1671237" y="3571972"/>
                <a:ext cx="450556" cy="357419"/>
              </a:xfrm>
              <a:custGeom>
                <a:avLst/>
                <a:gdLst/>
                <a:ahLst/>
                <a:cxnLst>
                  <a:cxn ang="0">
                    <a:pos x="wd2" y="hd2"/>
                  </a:cxn>
                  <a:cxn ang="5400000">
                    <a:pos x="wd2" y="hd2"/>
                  </a:cxn>
                  <a:cxn ang="10800000">
                    <a:pos x="wd2" y="hd2"/>
                  </a:cxn>
                  <a:cxn ang="16200000">
                    <a:pos x="wd2" y="hd2"/>
                  </a:cxn>
                </a:cxnLst>
                <a:rect l="0" t="0" r="r" b="b"/>
                <a:pathLst>
                  <a:path w="20472" h="19773" extrusionOk="0">
                    <a:moveTo>
                      <a:pt x="20408" y="216"/>
                    </a:moveTo>
                    <a:cubicBezTo>
                      <a:pt x="21036" y="1346"/>
                      <a:pt x="16992" y="6592"/>
                      <a:pt x="11374" y="11933"/>
                    </a:cubicBezTo>
                    <a:cubicBezTo>
                      <a:pt x="5756" y="17273"/>
                      <a:pt x="693" y="20686"/>
                      <a:pt x="65" y="19557"/>
                    </a:cubicBezTo>
                    <a:cubicBezTo>
                      <a:pt x="-564" y="18426"/>
                      <a:pt x="3481" y="13181"/>
                      <a:pt x="9099" y="7840"/>
                    </a:cubicBezTo>
                    <a:cubicBezTo>
                      <a:pt x="14716" y="2499"/>
                      <a:pt x="19779" y="-914"/>
                      <a:pt x="20408" y="216"/>
                    </a:cubicBezTo>
                    <a:close/>
                  </a:path>
                </a:pathLst>
              </a:custGeom>
              <a:grpFill/>
              <a:ln w="12700">
                <a:miter lim="400000"/>
              </a:ln>
            </p:spPr>
            <p:txBody>
              <a:bodyPr anchor="ctr"/>
              <a:lstStyle/>
              <a:p>
                <a:pPr algn="ctr"/>
                <a:endParaRPr sz="8533">
                  <a:cs typeface="+mn-ea"/>
                  <a:sym typeface="+mn-lt"/>
                </a:endParaRPr>
              </a:p>
            </p:txBody>
          </p:sp>
          <p:sp>
            <p:nvSpPr>
              <p:cNvPr id="103" name="Freeform: Shape 25"/>
              <p:cNvSpPr/>
              <p:nvPr/>
            </p:nvSpPr>
            <p:spPr>
              <a:xfrm rot="7570713">
                <a:off x="3143525" y="3362793"/>
                <a:ext cx="773497" cy="791751"/>
              </a:xfrm>
              <a:custGeom>
                <a:avLst/>
                <a:gdLst/>
                <a:ahLst/>
                <a:cxnLst>
                  <a:cxn ang="0">
                    <a:pos x="wd2" y="hd2"/>
                  </a:cxn>
                  <a:cxn ang="5400000">
                    <a:pos x="wd2" y="hd2"/>
                  </a:cxn>
                  <a:cxn ang="10800000">
                    <a:pos x="wd2" y="hd2"/>
                  </a:cxn>
                  <a:cxn ang="16200000">
                    <a:pos x="wd2" y="hd2"/>
                  </a:cxn>
                </a:cxnLst>
                <a:rect l="0" t="0" r="r" b="b"/>
                <a:pathLst>
                  <a:path w="21600" h="21600" extrusionOk="0">
                    <a:moveTo>
                      <a:pt x="21600" y="13275"/>
                    </a:moveTo>
                    <a:lnTo>
                      <a:pt x="9878" y="21600"/>
                    </a:lnTo>
                    <a:lnTo>
                      <a:pt x="0" y="8326"/>
                    </a:lnTo>
                    <a:lnTo>
                      <a:pt x="11723" y="0"/>
                    </a:lnTo>
                    <a:cubicBezTo>
                      <a:pt x="11723" y="0"/>
                      <a:pt x="21600" y="13275"/>
                      <a:pt x="21600" y="13275"/>
                    </a:cubicBezTo>
                    <a:close/>
                  </a:path>
                </a:pathLst>
              </a:custGeom>
              <a:grpFill/>
              <a:ln w="12700">
                <a:miter lim="400000"/>
              </a:ln>
            </p:spPr>
            <p:txBody>
              <a:bodyPr anchor="ctr"/>
              <a:lstStyle/>
              <a:p>
                <a:pPr algn="ctr"/>
                <a:endParaRPr sz="8533">
                  <a:cs typeface="+mn-ea"/>
                  <a:sym typeface="+mn-lt"/>
                </a:endParaRPr>
              </a:p>
            </p:txBody>
          </p:sp>
          <p:sp>
            <p:nvSpPr>
              <p:cNvPr id="105" name="Freeform: Shape 27"/>
              <p:cNvSpPr/>
              <p:nvPr/>
            </p:nvSpPr>
            <p:spPr>
              <a:xfrm rot="7570713">
                <a:off x="1961316" y="3005370"/>
                <a:ext cx="1343407" cy="1503063"/>
              </a:xfrm>
              <a:custGeom>
                <a:avLst/>
                <a:gdLst/>
                <a:ahLst/>
                <a:cxnLst>
                  <a:cxn ang="0">
                    <a:pos x="wd2" y="hd2"/>
                  </a:cxn>
                  <a:cxn ang="5400000">
                    <a:pos x="wd2" y="hd2"/>
                  </a:cxn>
                  <a:cxn ang="10800000">
                    <a:pos x="wd2" y="hd2"/>
                  </a:cxn>
                  <a:cxn ang="16200000">
                    <a:pos x="wd2" y="hd2"/>
                  </a:cxn>
                </a:cxnLst>
                <a:rect l="0" t="0" r="r" b="b"/>
                <a:pathLst>
                  <a:path w="21600" h="21600" extrusionOk="0">
                    <a:moveTo>
                      <a:pt x="21600" y="16880"/>
                    </a:moveTo>
                    <a:lnTo>
                      <a:pt x="14126" y="21600"/>
                    </a:lnTo>
                    <a:lnTo>
                      <a:pt x="0" y="4720"/>
                    </a:lnTo>
                    <a:lnTo>
                      <a:pt x="7474" y="0"/>
                    </a:lnTo>
                    <a:cubicBezTo>
                      <a:pt x="7474" y="0"/>
                      <a:pt x="21600" y="16880"/>
                      <a:pt x="21600" y="16880"/>
                    </a:cubicBezTo>
                    <a:close/>
                  </a:path>
                </a:pathLst>
              </a:custGeom>
              <a:grpFill/>
              <a:ln w="12700">
                <a:miter lim="400000"/>
              </a:ln>
            </p:spPr>
            <p:txBody>
              <a:bodyPr anchor="ctr"/>
              <a:lstStyle/>
              <a:p>
                <a:pPr algn="ctr"/>
                <a:endParaRPr sz="8533">
                  <a:cs typeface="+mn-ea"/>
                  <a:sym typeface="+mn-lt"/>
                </a:endParaRPr>
              </a:p>
            </p:txBody>
          </p:sp>
          <p:sp>
            <p:nvSpPr>
              <p:cNvPr id="106" name="Freeform: Shape 28"/>
              <p:cNvSpPr/>
              <p:nvPr/>
            </p:nvSpPr>
            <p:spPr>
              <a:xfrm rot="7570713">
                <a:off x="3803103" y="2273381"/>
                <a:ext cx="2914205" cy="2914210"/>
              </a:xfrm>
              <a:custGeom>
                <a:avLst/>
                <a:gdLst/>
                <a:ahLst/>
                <a:cxnLst>
                  <a:cxn ang="0">
                    <a:pos x="wd2" y="hd2"/>
                  </a:cxn>
                  <a:cxn ang="5400000">
                    <a:pos x="wd2" y="hd2"/>
                  </a:cxn>
                  <a:cxn ang="10800000">
                    <a:pos x="wd2" y="hd2"/>
                  </a:cxn>
                  <a:cxn ang="16200000">
                    <a:pos x="wd2" y="hd2"/>
                  </a:cxn>
                </a:cxnLst>
                <a:rect l="0" t="0" r="r" b="b"/>
                <a:pathLst>
                  <a:path w="19144" h="19144" extrusionOk="0">
                    <a:moveTo>
                      <a:pt x="6609" y="17709"/>
                    </a:moveTo>
                    <a:cubicBezTo>
                      <a:pt x="2115" y="16073"/>
                      <a:pt x="-202" y="11103"/>
                      <a:pt x="1435" y="6609"/>
                    </a:cubicBezTo>
                    <a:cubicBezTo>
                      <a:pt x="3071" y="2115"/>
                      <a:pt x="8041" y="-202"/>
                      <a:pt x="12535" y="1435"/>
                    </a:cubicBezTo>
                    <a:cubicBezTo>
                      <a:pt x="17029" y="3071"/>
                      <a:pt x="19346" y="8041"/>
                      <a:pt x="17709" y="12535"/>
                    </a:cubicBezTo>
                    <a:cubicBezTo>
                      <a:pt x="16073" y="17029"/>
                      <a:pt x="11103" y="19346"/>
                      <a:pt x="6609" y="17709"/>
                    </a:cubicBezTo>
                    <a:close/>
                    <a:moveTo>
                      <a:pt x="12846" y="580"/>
                    </a:moveTo>
                    <a:cubicBezTo>
                      <a:pt x="7880" y="-1228"/>
                      <a:pt x="2388" y="1332"/>
                      <a:pt x="580" y="6298"/>
                    </a:cubicBezTo>
                    <a:cubicBezTo>
                      <a:pt x="-1228" y="11264"/>
                      <a:pt x="1332" y="16755"/>
                      <a:pt x="6298" y="18564"/>
                    </a:cubicBezTo>
                    <a:cubicBezTo>
                      <a:pt x="11264" y="20372"/>
                      <a:pt x="16755" y="17812"/>
                      <a:pt x="18564" y="12846"/>
                    </a:cubicBezTo>
                    <a:cubicBezTo>
                      <a:pt x="20372" y="7880"/>
                      <a:pt x="17812" y="2389"/>
                      <a:pt x="12846" y="580"/>
                    </a:cubicBezTo>
                    <a:close/>
                  </a:path>
                </a:pathLst>
              </a:custGeom>
              <a:grpFill/>
              <a:ln w="12700">
                <a:miter lim="400000"/>
              </a:ln>
            </p:spPr>
            <p:txBody>
              <a:bodyPr anchor="ctr"/>
              <a:lstStyle/>
              <a:p>
                <a:pPr algn="ctr"/>
                <a:endParaRPr sz="8533">
                  <a:cs typeface="+mn-ea"/>
                  <a:sym typeface="+mn-lt"/>
                </a:endParaRPr>
              </a:p>
            </p:txBody>
          </p:sp>
          <p:sp>
            <p:nvSpPr>
              <p:cNvPr id="107" name="Oval 29"/>
              <p:cNvSpPr/>
              <p:nvPr/>
            </p:nvSpPr>
            <p:spPr>
              <a:xfrm rot="5475139">
                <a:off x="3928680" y="2402861"/>
                <a:ext cx="2658078" cy="2658078"/>
              </a:xfrm>
              <a:prstGeom prst="ellipse">
                <a:avLst/>
              </a:prstGeom>
              <a:grpFill/>
              <a:ln w="12700">
                <a:miter lim="400000"/>
              </a:ln>
            </p:spPr>
            <p:txBody>
              <a:bodyPr anchor="ctr"/>
              <a:lstStyle/>
              <a:p>
                <a:pPr algn="ctr"/>
                <a:endParaRPr sz="8533">
                  <a:cs typeface="+mn-ea"/>
                  <a:sym typeface="+mn-lt"/>
                </a:endParaRPr>
              </a:p>
            </p:txBody>
          </p:sp>
        </p:grpSp>
        <p:grpSp>
          <p:nvGrpSpPr>
            <p:cNvPr id="89" name="Group 11"/>
            <p:cNvGrpSpPr/>
            <p:nvPr/>
          </p:nvGrpSpPr>
          <p:grpSpPr>
            <a:xfrm>
              <a:off x="1000263" y="1487481"/>
              <a:ext cx="1993559" cy="1993559"/>
              <a:chOff x="3915273" y="2407155"/>
              <a:chExt cx="2658078" cy="2658078"/>
            </a:xfrm>
          </p:grpSpPr>
          <p:sp>
            <p:nvSpPr>
              <p:cNvPr id="90" name="Oval 12"/>
              <p:cNvSpPr/>
              <p:nvPr/>
            </p:nvSpPr>
            <p:spPr>
              <a:xfrm rot="5475139">
                <a:off x="3915273" y="2407155"/>
                <a:ext cx="2658078" cy="2658078"/>
              </a:xfrm>
              <a:prstGeom prst="ellipse">
                <a:avLst/>
              </a:prstGeom>
              <a:solidFill>
                <a:srgbClr val="E6E7EA"/>
              </a:solidFill>
              <a:ln w="12700">
                <a:miter lim="400000"/>
              </a:ln>
            </p:spPr>
            <p:txBody>
              <a:bodyPr anchor="ctr"/>
              <a:lstStyle/>
              <a:p>
                <a:pPr algn="ctr"/>
                <a:endParaRPr sz="8533">
                  <a:cs typeface="+mn-ea"/>
                  <a:sym typeface="+mn-lt"/>
                </a:endParaRPr>
              </a:p>
            </p:txBody>
          </p:sp>
          <p:sp>
            <p:nvSpPr>
              <p:cNvPr id="92" name="Freeform: Shape 14"/>
              <p:cNvSpPr/>
              <p:nvPr/>
            </p:nvSpPr>
            <p:spPr>
              <a:xfrm>
                <a:off x="4684583" y="3234751"/>
                <a:ext cx="1160386" cy="850950"/>
              </a:xfrm>
              <a:custGeom>
                <a:avLst/>
                <a:gdLst/>
                <a:ahLst/>
                <a:cxnLst>
                  <a:cxn ang="0">
                    <a:pos x="wd2" y="hd2"/>
                  </a:cxn>
                  <a:cxn ang="5400000">
                    <a:pos x="wd2" y="hd2"/>
                  </a:cxn>
                  <a:cxn ang="10800000">
                    <a:pos x="wd2" y="hd2"/>
                  </a:cxn>
                  <a:cxn ang="16200000">
                    <a:pos x="wd2" y="hd2"/>
                  </a:cxn>
                </a:cxnLst>
                <a:rect l="0" t="0" r="r" b="b"/>
                <a:pathLst>
                  <a:path w="21600" h="21600" extrusionOk="0">
                    <a:moveTo>
                      <a:pt x="17280" y="21600"/>
                    </a:moveTo>
                    <a:lnTo>
                      <a:pt x="5040" y="21600"/>
                    </a:lnTo>
                    <a:cubicBezTo>
                      <a:pt x="2261" y="21600"/>
                      <a:pt x="0" y="18516"/>
                      <a:pt x="0" y="14727"/>
                    </a:cubicBezTo>
                    <a:cubicBezTo>
                      <a:pt x="0" y="11981"/>
                      <a:pt x="1192" y="9603"/>
                      <a:pt x="2902" y="8514"/>
                    </a:cubicBezTo>
                    <a:cubicBezTo>
                      <a:pt x="2891" y="8299"/>
                      <a:pt x="2880" y="8069"/>
                      <a:pt x="2880" y="7855"/>
                    </a:cubicBezTo>
                    <a:cubicBezTo>
                      <a:pt x="2880" y="3513"/>
                      <a:pt x="5456" y="0"/>
                      <a:pt x="8640" y="0"/>
                    </a:cubicBezTo>
                    <a:cubicBezTo>
                      <a:pt x="11048" y="0"/>
                      <a:pt x="13106" y="2010"/>
                      <a:pt x="13973" y="4878"/>
                    </a:cubicBezTo>
                    <a:cubicBezTo>
                      <a:pt x="14468" y="4280"/>
                      <a:pt x="15120" y="3927"/>
                      <a:pt x="15840" y="3927"/>
                    </a:cubicBezTo>
                    <a:cubicBezTo>
                      <a:pt x="17426" y="3927"/>
                      <a:pt x="18720" y="5691"/>
                      <a:pt x="18720" y="7855"/>
                    </a:cubicBezTo>
                    <a:cubicBezTo>
                      <a:pt x="18720" y="8637"/>
                      <a:pt x="18551" y="9358"/>
                      <a:pt x="18259" y="9972"/>
                    </a:cubicBezTo>
                    <a:cubicBezTo>
                      <a:pt x="20171" y="10585"/>
                      <a:pt x="21600" y="12917"/>
                      <a:pt x="21600" y="15709"/>
                    </a:cubicBezTo>
                    <a:cubicBezTo>
                      <a:pt x="21600" y="18961"/>
                      <a:pt x="19665" y="21600"/>
                      <a:pt x="17280" y="21600"/>
                    </a:cubicBezTo>
                    <a:close/>
                  </a:path>
                </a:pathLst>
              </a:custGeom>
              <a:solidFill>
                <a:schemeClr val="accent1"/>
              </a:solidFill>
              <a:ln w="12700" cap="flat">
                <a:noFill/>
                <a:miter lim="400000"/>
              </a:ln>
              <a:effectLst/>
            </p:spPr>
            <p:txBody>
              <a:bodyPr anchor="ctr"/>
              <a:lstStyle/>
              <a:p>
                <a:pPr algn="ctr"/>
                <a:r>
                  <a:rPr lang="zh-CN" altLang="en-US" sz="8533" dirty="0">
                    <a:solidFill>
                      <a:schemeClr val="bg1"/>
                    </a:solidFill>
                    <a:latin typeface="微软雅黑" panose="020B0503020204020204" charset="-122"/>
                    <a:ea typeface="微软雅黑" panose="020B0503020204020204" charset="-122"/>
                    <a:cs typeface="+mn-ea"/>
                    <a:sym typeface="+mn-lt"/>
                  </a:rPr>
                  <a:t>痛点</a:t>
                </a:r>
                <a:endParaRPr sz="8533" dirty="0">
                  <a:solidFill>
                    <a:schemeClr val="bg1"/>
                  </a:solidFill>
                  <a:latin typeface="微软雅黑" panose="020B0503020204020204" charset="-122"/>
                  <a:ea typeface="微软雅黑" panose="020B0503020204020204" charset="-122"/>
                  <a:cs typeface="+mn-ea"/>
                  <a:sym typeface="+mn-lt"/>
                </a:endParaRPr>
              </a:p>
            </p:txBody>
          </p:sp>
        </p:grpSp>
      </p:grpSp>
    </p:spTree>
    <p:extLst>
      <p:ext uri="{BB962C8B-B14F-4D97-AF65-F5344CB8AC3E}">
        <p14:creationId xmlns:p14="http://schemas.microsoft.com/office/powerpoint/2010/main" val="864219748"/>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3"/>
          <a:stretch>
            <a:fillRect/>
          </a:stretch>
        </p:blipFill>
        <p:spPr>
          <a:xfrm>
            <a:off x="2494478" y="4067918"/>
            <a:ext cx="6362261" cy="6362261"/>
          </a:xfrm>
          <a:prstGeom prst="rect">
            <a:avLst/>
          </a:prstGeom>
        </p:spPr>
      </p:pic>
      <p:sp>
        <p:nvSpPr>
          <p:cNvPr id="7" name="文本框 6"/>
          <p:cNvSpPr txBox="1"/>
          <p:nvPr/>
        </p:nvSpPr>
        <p:spPr>
          <a:xfrm>
            <a:off x="8514927" y="3888372"/>
            <a:ext cx="14073293" cy="2677464"/>
          </a:xfrm>
          <a:prstGeom prst="rect">
            <a:avLst/>
          </a:prstGeom>
          <a:noFill/>
        </p:spPr>
        <p:txBody>
          <a:bodyPr wrap="square" rtlCol="0">
            <a:spAutoFit/>
          </a:bodyPr>
          <a:lstStyle/>
          <a:p>
            <a:pPr marL="762010" indent="-762010" algn="l">
              <a:lnSpc>
                <a:spcPct val="150000"/>
              </a:lnSpc>
              <a:buFont typeface="Arial" panose="020B0604020202020204" pitchFamily="34" charset="0"/>
              <a:buChar char="•"/>
            </a:pPr>
            <a:r>
              <a:rPr kumimoji="1" lang="zh-CN" altLang="en-US" sz="3733" b="0" dirty="0">
                <a:solidFill>
                  <a:schemeClr val="accent6"/>
                </a:solidFill>
                <a:latin typeface="微软雅黑" panose="020B0503020204020204" charset="-122"/>
                <a:ea typeface="微软雅黑" panose="020B0503020204020204" charset="-122"/>
              </a:rPr>
              <a:t>数据非常敏感，怎么保障数据安全？</a:t>
            </a:r>
          </a:p>
          <a:p>
            <a:pPr marL="762010" indent="-762010" algn="l">
              <a:lnSpc>
                <a:spcPct val="150000"/>
              </a:lnSpc>
              <a:buFont typeface="Arial" panose="020B0604020202020204" pitchFamily="34" charset="0"/>
              <a:buChar char="•"/>
            </a:pPr>
            <a:r>
              <a:rPr kumimoji="1" lang="zh-CN" altLang="en-US" sz="3733" b="0" dirty="0">
                <a:solidFill>
                  <a:schemeClr val="accent6"/>
                </a:solidFill>
                <a:latin typeface="微软雅黑" panose="020B0503020204020204" charset="-122"/>
                <a:ea typeface="微软雅黑" panose="020B0503020204020204" charset="-122"/>
              </a:rPr>
              <a:t>有没有可能 不直接看原始数据优化模型？</a:t>
            </a:r>
          </a:p>
          <a:p>
            <a:pPr marL="762010" indent="-762010" algn="l">
              <a:lnSpc>
                <a:spcPct val="150000"/>
              </a:lnSpc>
              <a:buFont typeface="Arial" panose="020B0604020202020204" pitchFamily="34" charset="0"/>
              <a:buChar char="•"/>
            </a:pPr>
            <a:r>
              <a:rPr kumimoji="1" lang="zh-CN" altLang="en-US" sz="3733" b="0" dirty="0">
                <a:solidFill>
                  <a:schemeClr val="accent6"/>
                </a:solidFill>
                <a:latin typeface="微软雅黑" panose="020B0503020204020204" charset="-122"/>
                <a:ea typeface="微软雅黑" panose="020B0503020204020204" charset="-122"/>
              </a:rPr>
              <a:t>数据处理过程是否透明？</a:t>
            </a:r>
          </a:p>
        </p:txBody>
      </p:sp>
      <p:sp>
        <p:nvSpPr>
          <p:cNvPr id="35" name="椭圆 34"/>
          <p:cNvSpPr/>
          <p:nvPr/>
        </p:nvSpPr>
        <p:spPr>
          <a:xfrm>
            <a:off x="2833042" y="12646450"/>
            <a:ext cx="377373" cy="377373"/>
          </a:xfrm>
          <a:prstGeom prst="ellipse">
            <a:avLst/>
          </a:prstGeom>
          <a:solidFill>
            <a:srgbClr val="577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7" dirty="0">
              <a:latin typeface="微软雅黑" panose="020B0503020204020204" charset="-122"/>
              <a:ea typeface="微软雅黑" panose="020B0503020204020204" charset="-122"/>
            </a:endParaRPr>
          </a:p>
        </p:txBody>
      </p:sp>
      <p:sp>
        <p:nvSpPr>
          <p:cNvPr id="3" name="椭圆 2"/>
          <p:cNvSpPr/>
          <p:nvPr/>
        </p:nvSpPr>
        <p:spPr>
          <a:xfrm>
            <a:off x="6022608" y="11287781"/>
            <a:ext cx="354795" cy="354795"/>
          </a:xfrm>
          <a:prstGeom prst="ellipse">
            <a:avLst/>
          </a:prstGeom>
          <a:solidFill>
            <a:srgbClr val="577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7" dirty="0">
              <a:latin typeface="微软雅黑" panose="020B0503020204020204" charset="-122"/>
              <a:ea typeface="微软雅黑" panose="020B0503020204020204" charset="-122"/>
            </a:endParaRPr>
          </a:p>
        </p:txBody>
      </p:sp>
      <p:sp>
        <p:nvSpPr>
          <p:cNvPr id="39" name="椭圆 38"/>
          <p:cNvSpPr/>
          <p:nvPr/>
        </p:nvSpPr>
        <p:spPr>
          <a:xfrm>
            <a:off x="9207312" y="12242990"/>
            <a:ext cx="278981" cy="278981"/>
          </a:xfrm>
          <a:prstGeom prst="ellipse">
            <a:avLst/>
          </a:prstGeom>
          <a:solidFill>
            <a:srgbClr val="577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7" dirty="0">
              <a:latin typeface="微软雅黑" panose="020B0503020204020204" charset="-122"/>
              <a:ea typeface="微软雅黑" panose="020B0503020204020204" charset="-122"/>
            </a:endParaRPr>
          </a:p>
        </p:txBody>
      </p:sp>
      <p:sp>
        <p:nvSpPr>
          <p:cNvPr id="61" name="椭圆 60"/>
          <p:cNvSpPr/>
          <p:nvPr/>
        </p:nvSpPr>
        <p:spPr>
          <a:xfrm>
            <a:off x="11520941" y="13171349"/>
            <a:ext cx="546768" cy="546768"/>
          </a:xfrm>
          <a:prstGeom prst="ellipse">
            <a:avLst/>
          </a:prstGeom>
          <a:solidFill>
            <a:srgbClr val="8FA4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7" dirty="0">
              <a:latin typeface="微软雅黑" panose="020B0503020204020204" charset="-122"/>
              <a:ea typeface="微软雅黑" panose="020B0503020204020204" charset="-122"/>
            </a:endParaRPr>
          </a:p>
        </p:txBody>
      </p:sp>
      <p:sp>
        <p:nvSpPr>
          <p:cNvPr id="62" name="椭圆 61"/>
          <p:cNvSpPr/>
          <p:nvPr/>
        </p:nvSpPr>
        <p:spPr>
          <a:xfrm>
            <a:off x="14413216" y="12114101"/>
            <a:ext cx="267787" cy="267787"/>
          </a:xfrm>
          <a:prstGeom prst="ellipse">
            <a:avLst/>
          </a:prstGeom>
          <a:solidFill>
            <a:srgbClr val="577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7" dirty="0">
              <a:latin typeface="微软雅黑" panose="020B0503020204020204" charset="-122"/>
              <a:ea typeface="微软雅黑" panose="020B0503020204020204" charset="-122"/>
            </a:endParaRPr>
          </a:p>
        </p:txBody>
      </p:sp>
      <p:sp>
        <p:nvSpPr>
          <p:cNvPr id="63" name="椭圆 62"/>
          <p:cNvSpPr/>
          <p:nvPr/>
        </p:nvSpPr>
        <p:spPr>
          <a:xfrm>
            <a:off x="17030709" y="12815752"/>
            <a:ext cx="546768" cy="546768"/>
          </a:xfrm>
          <a:prstGeom prst="ellipse">
            <a:avLst/>
          </a:prstGeom>
          <a:solidFill>
            <a:srgbClr val="577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7" dirty="0">
              <a:latin typeface="微软雅黑" panose="020B0503020204020204" charset="-122"/>
              <a:ea typeface="微软雅黑" panose="020B0503020204020204" charset="-122"/>
            </a:endParaRPr>
          </a:p>
        </p:txBody>
      </p:sp>
      <p:sp>
        <p:nvSpPr>
          <p:cNvPr id="64" name="椭圆 63"/>
          <p:cNvSpPr/>
          <p:nvPr/>
        </p:nvSpPr>
        <p:spPr>
          <a:xfrm>
            <a:off x="19037312" y="10833163"/>
            <a:ext cx="393691" cy="393691"/>
          </a:xfrm>
          <a:prstGeom prst="ellipse">
            <a:avLst/>
          </a:prstGeom>
          <a:solidFill>
            <a:srgbClr val="8FA4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7" dirty="0">
              <a:latin typeface="微软雅黑" panose="020B0503020204020204" charset="-122"/>
              <a:ea typeface="微软雅黑" panose="020B0503020204020204" charset="-122"/>
            </a:endParaRPr>
          </a:p>
        </p:txBody>
      </p:sp>
      <p:sp>
        <p:nvSpPr>
          <p:cNvPr id="65" name="椭圆 64"/>
          <p:cNvSpPr/>
          <p:nvPr/>
        </p:nvSpPr>
        <p:spPr>
          <a:xfrm>
            <a:off x="21655541" y="12100331"/>
            <a:ext cx="546768" cy="546768"/>
          </a:xfrm>
          <a:prstGeom prst="ellipse">
            <a:avLst/>
          </a:prstGeom>
          <a:solidFill>
            <a:srgbClr val="577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7" dirty="0">
              <a:latin typeface="微软雅黑" panose="020B0503020204020204" charset="-122"/>
              <a:ea typeface="微软雅黑" panose="020B0503020204020204" charset="-122"/>
            </a:endParaRPr>
          </a:p>
        </p:txBody>
      </p:sp>
      <p:sp>
        <p:nvSpPr>
          <p:cNvPr id="67" name="椭圆 66"/>
          <p:cNvSpPr/>
          <p:nvPr/>
        </p:nvSpPr>
        <p:spPr>
          <a:xfrm>
            <a:off x="3795605" y="12241600"/>
            <a:ext cx="731963" cy="731963"/>
          </a:xfrm>
          <a:prstGeom prst="ellipse">
            <a:avLst/>
          </a:prstGeom>
          <a:solidFill>
            <a:srgbClr val="8FA4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7" dirty="0">
              <a:latin typeface="微软雅黑" panose="020B0503020204020204" charset="-122"/>
              <a:ea typeface="微软雅黑" panose="020B0503020204020204" charset="-122"/>
            </a:endParaRPr>
          </a:p>
        </p:txBody>
      </p:sp>
      <p:sp>
        <p:nvSpPr>
          <p:cNvPr id="68" name="椭圆 67"/>
          <p:cNvSpPr/>
          <p:nvPr/>
        </p:nvSpPr>
        <p:spPr>
          <a:xfrm>
            <a:off x="10985504" y="11113029"/>
            <a:ext cx="354795" cy="354795"/>
          </a:xfrm>
          <a:prstGeom prst="ellipse">
            <a:avLst/>
          </a:prstGeom>
          <a:solidFill>
            <a:srgbClr val="8FA4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7" dirty="0">
              <a:latin typeface="微软雅黑" panose="020B0503020204020204" charset="-122"/>
              <a:ea typeface="微软雅黑" panose="020B0503020204020204" charset="-122"/>
            </a:endParaRPr>
          </a:p>
        </p:txBody>
      </p:sp>
      <p:sp>
        <p:nvSpPr>
          <p:cNvPr id="69" name="椭圆 68"/>
          <p:cNvSpPr/>
          <p:nvPr/>
        </p:nvSpPr>
        <p:spPr>
          <a:xfrm>
            <a:off x="14313107" y="13171349"/>
            <a:ext cx="354795" cy="354795"/>
          </a:xfrm>
          <a:prstGeom prst="ellipse">
            <a:avLst/>
          </a:prstGeom>
          <a:solidFill>
            <a:srgbClr val="577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7" dirty="0">
              <a:latin typeface="微软雅黑" panose="020B0503020204020204" charset="-122"/>
              <a:ea typeface="微软雅黑" panose="020B0503020204020204" charset="-122"/>
            </a:endParaRPr>
          </a:p>
        </p:txBody>
      </p:sp>
      <p:sp>
        <p:nvSpPr>
          <p:cNvPr id="70" name="椭圆 69"/>
          <p:cNvSpPr/>
          <p:nvPr/>
        </p:nvSpPr>
        <p:spPr>
          <a:xfrm>
            <a:off x="15689674" y="12440770"/>
            <a:ext cx="377373" cy="377373"/>
          </a:xfrm>
          <a:prstGeom prst="ellipse">
            <a:avLst/>
          </a:prstGeom>
          <a:solidFill>
            <a:srgbClr val="577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7" dirty="0">
              <a:latin typeface="微软雅黑" panose="020B0503020204020204" charset="-122"/>
              <a:ea typeface="微软雅黑" panose="020B0503020204020204" charset="-122"/>
            </a:endParaRPr>
          </a:p>
        </p:txBody>
      </p:sp>
      <p:sp>
        <p:nvSpPr>
          <p:cNvPr id="71" name="椭圆 70"/>
          <p:cNvSpPr/>
          <p:nvPr/>
        </p:nvSpPr>
        <p:spPr>
          <a:xfrm>
            <a:off x="23846972" y="10897836"/>
            <a:ext cx="377373" cy="377373"/>
          </a:xfrm>
          <a:prstGeom prst="ellipse">
            <a:avLst/>
          </a:prstGeom>
          <a:solidFill>
            <a:srgbClr val="577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7" dirty="0">
              <a:latin typeface="微软雅黑" panose="020B0503020204020204" charset="-122"/>
              <a:ea typeface="微软雅黑" panose="020B0503020204020204" charset="-122"/>
            </a:endParaRPr>
          </a:p>
        </p:txBody>
      </p:sp>
      <p:sp>
        <p:nvSpPr>
          <p:cNvPr id="4" name="任意多边形: 形状 4"/>
          <p:cNvSpPr/>
          <p:nvPr/>
        </p:nvSpPr>
        <p:spPr>
          <a:xfrm>
            <a:off x="70110" y="7752747"/>
            <a:ext cx="24342917" cy="5714757"/>
          </a:xfrm>
          <a:custGeom>
            <a:avLst/>
            <a:gdLst>
              <a:gd name="connsiteX0" fmla="*/ 0 w 12424228"/>
              <a:gd name="connsiteY0" fmla="*/ 0 h 2857379"/>
              <a:gd name="connsiteX1" fmla="*/ 2728685 w 12424228"/>
              <a:gd name="connsiteY1" fmla="*/ 2815772 h 2857379"/>
              <a:gd name="connsiteX2" fmla="*/ 5573485 w 12424228"/>
              <a:gd name="connsiteY2" fmla="*/ 1756229 h 2857379"/>
              <a:gd name="connsiteX3" fmla="*/ 7257143 w 12424228"/>
              <a:gd name="connsiteY3" fmla="*/ 2786743 h 2857379"/>
              <a:gd name="connsiteX4" fmla="*/ 8940800 w 12424228"/>
              <a:gd name="connsiteY4" fmla="*/ 1944915 h 2857379"/>
              <a:gd name="connsiteX5" fmla="*/ 10653485 w 12424228"/>
              <a:gd name="connsiteY5" fmla="*/ 2627086 h 2857379"/>
              <a:gd name="connsiteX6" fmla="*/ 11727543 w 12424228"/>
              <a:gd name="connsiteY6" fmla="*/ 1654629 h 2857379"/>
              <a:gd name="connsiteX7" fmla="*/ 12424228 w 12424228"/>
              <a:gd name="connsiteY7" fmla="*/ 1799772 h 2857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24228" h="2857379">
                <a:moveTo>
                  <a:pt x="0" y="0"/>
                </a:moveTo>
                <a:cubicBezTo>
                  <a:pt x="899885" y="1261533"/>
                  <a:pt x="1799771" y="2523067"/>
                  <a:pt x="2728685" y="2815772"/>
                </a:cubicBezTo>
                <a:cubicBezTo>
                  <a:pt x="3657599" y="3108477"/>
                  <a:pt x="4818742" y="1761067"/>
                  <a:pt x="5573485" y="1756229"/>
                </a:cubicBezTo>
                <a:cubicBezTo>
                  <a:pt x="6328228" y="1751391"/>
                  <a:pt x="6695924" y="2755295"/>
                  <a:pt x="7257143" y="2786743"/>
                </a:cubicBezTo>
                <a:cubicBezTo>
                  <a:pt x="7818362" y="2818191"/>
                  <a:pt x="8374743" y="1971525"/>
                  <a:pt x="8940800" y="1944915"/>
                </a:cubicBezTo>
                <a:cubicBezTo>
                  <a:pt x="9506857" y="1918306"/>
                  <a:pt x="10189028" y="2675467"/>
                  <a:pt x="10653485" y="2627086"/>
                </a:cubicBezTo>
                <a:cubicBezTo>
                  <a:pt x="11117942" y="2578705"/>
                  <a:pt x="11432419" y="1792515"/>
                  <a:pt x="11727543" y="1654629"/>
                </a:cubicBezTo>
                <a:cubicBezTo>
                  <a:pt x="12022667" y="1516743"/>
                  <a:pt x="12223447" y="1658257"/>
                  <a:pt x="12424228" y="1799772"/>
                </a:cubicBezTo>
              </a:path>
            </a:pathLst>
          </a:custGeom>
          <a:noFill/>
          <a:ln>
            <a:solidFill>
              <a:srgbClr val="5771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7" dirty="0">
              <a:latin typeface="微软雅黑" panose="020B0503020204020204" charset="-122"/>
              <a:ea typeface="微软雅黑" panose="020B0503020204020204" charset="-122"/>
            </a:endParaRPr>
          </a:p>
        </p:txBody>
      </p:sp>
      <p:sp>
        <p:nvSpPr>
          <p:cNvPr id="66" name="椭圆 65"/>
          <p:cNvSpPr/>
          <p:nvPr/>
        </p:nvSpPr>
        <p:spPr>
          <a:xfrm>
            <a:off x="1395943" y="9733138"/>
            <a:ext cx="377373" cy="377373"/>
          </a:xfrm>
          <a:prstGeom prst="ellipse">
            <a:avLst/>
          </a:prstGeom>
          <a:solidFill>
            <a:srgbClr val="577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7" dirty="0">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3246225132"/>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a:extLst>
              <a:ext uri="{FF2B5EF4-FFF2-40B4-BE49-F238E27FC236}">
                <a16:creationId xmlns:a16="http://schemas.microsoft.com/office/drawing/2014/main" id="{6EB0BBE1-7F15-424C-B1DC-257A5FF9E527}"/>
              </a:ext>
            </a:extLst>
          </p:cNvPr>
          <p:cNvPicPr>
            <a:picLocks noChangeAspect="1"/>
          </p:cNvPicPr>
          <p:nvPr/>
        </p:nvPicPr>
        <p:blipFill>
          <a:blip r:embed="rId3"/>
          <a:stretch>
            <a:fillRect/>
          </a:stretch>
        </p:blipFill>
        <p:spPr>
          <a:xfrm>
            <a:off x="463349" y="828299"/>
            <a:ext cx="23296645" cy="11093537"/>
          </a:xfrm>
          <a:prstGeom prst="rect">
            <a:avLst/>
          </a:prstGeom>
        </p:spPr>
      </p:pic>
    </p:spTree>
    <p:extLst>
      <p:ext uri="{BB962C8B-B14F-4D97-AF65-F5344CB8AC3E}">
        <p14:creationId xmlns:p14="http://schemas.microsoft.com/office/powerpoint/2010/main" val="670398910"/>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Slide Number"/>
          <p:cNvSpPr txBox="1">
            <a:spLocks noGrp="1"/>
          </p:cNvSpPr>
          <p:nvPr>
            <p:ph type="sldNum" sz="quarter" idx="2"/>
          </p:nvPr>
        </p:nvSpPr>
        <p:spPr>
          <a:xfrm>
            <a:off x="22684412" y="12214862"/>
            <a:ext cx="530909" cy="523214"/>
          </a:xfrm>
          <a:prstGeom prst="rect">
            <a:avLst/>
          </a:prstGeom>
          <a:extLst>
            <a:ext uri="{C572A759-6A51-4108-AA02-DFA0A04FC94B}">
              <ma14:wrappingTextBoxFlag xmlns="" xmlns:ma14="http://schemas.microsoft.com/office/mac/drawingml/2011/main" val="1"/>
            </a:ext>
          </a:extLst>
        </p:spPr>
        <p:txBody>
          <a:bodyPr wrap="none" lIns="91437" tIns="91437" rIns="91437" bIns="91437">
            <a:spAutoFit/>
          </a:bodyPr>
          <a:lstStyle/>
          <a:p>
            <a:fld id="{86CB4B4D-7CA3-9044-876B-883B54F8677D}" type="slidenum">
              <a:t>28</a:t>
            </a:fld>
            <a:endParaRPr/>
          </a:p>
        </p:txBody>
      </p:sp>
      <p:sp>
        <p:nvSpPr>
          <p:cNvPr id="8" name="TextBox 7">
            <a:extLst>
              <a:ext uri="{FF2B5EF4-FFF2-40B4-BE49-F238E27FC236}">
                <a16:creationId xmlns:a16="http://schemas.microsoft.com/office/drawing/2014/main" id="{4C87EA1E-B50C-EA40-96CD-DD22E78BF667}"/>
              </a:ext>
            </a:extLst>
          </p:cNvPr>
          <p:cNvSpPr txBox="1"/>
          <p:nvPr/>
        </p:nvSpPr>
        <p:spPr>
          <a:xfrm>
            <a:off x="254909" y="1526848"/>
            <a:ext cx="23525776" cy="12311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21917" tIns="121917" rIns="121917" bIns="121917" numCol="1" spcCol="38100" rtlCol="0" anchor="t">
            <a:spAutoFit/>
          </a:bodyPr>
          <a:lstStyle/>
          <a:p>
            <a:pPr algn="l" defTabSz="1219215"/>
            <a:r>
              <a:rPr lang="zh-CN" altLang="en-US" sz="6400"/>
              <a:t>除了最终结果，所有参与者都无法看到数据和计算过程</a:t>
            </a:r>
            <a:endParaRPr lang="en-US" sz="6400" b="0" dirty="0">
              <a:sym typeface="Calibri"/>
            </a:endParaRPr>
          </a:p>
        </p:txBody>
      </p:sp>
      <p:pic>
        <p:nvPicPr>
          <p:cNvPr id="2" name="Picture 1"/>
          <p:cNvPicPr>
            <a:picLocks noChangeAspect="1"/>
          </p:cNvPicPr>
          <p:nvPr/>
        </p:nvPicPr>
        <p:blipFill>
          <a:blip r:embed="rId3"/>
          <a:stretch>
            <a:fillRect/>
          </a:stretch>
        </p:blipFill>
        <p:spPr>
          <a:xfrm>
            <a:off x="254909" y="2860027"/>
            <a:ext cx="20081851" cy="9763443"/>
          </a:xfrm>
          <a:prstGeom prst="rect">
            <a:avLst/>
          </a:prstGeom>
        </p:spPr>
      </p:pic>
    </p:spTree>
    <p:extLst>
      <p:ext uri="{BB962C8B-B14F-4D97-AF65-F5344CB8AC3E}">
        <p14:creationId xmlns:p14="http://schemas.microsoft.com/office/powerpoint/2010/main" val="1041670243"/>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711200" y="3124202"/>
            <a:ext cx="23564427" cy="3689855"/>
          </a:xfrm>
        </p:spPr>
        <p:txBody>
          <a:bodyPr wrap="square"/>
          <a:lstStyle/>
          <a:p>
            <a:pPr marL="1219215" indent="-1219215" algn="l">
              <a:lnSpc>
                <a:spcPct val="160000"/>
              </a:lnSpc>
              <a:buSzPct val="100000"/>
              <a:buFont typeface="+mj-lt"/>
              <a:buAutoNum type="romanUcPeriod"/>
              <a:defRPr sz="4000" spc="0"/>
            </a:pPr>
            <a:r>
              <a:rPr sz="4800">
                <a:sym typeface="+mn-ea"/>
              </a:rPr>
              <a:t> 确定</a:t>
            </a:r>
            <a:r>
              <a:rPr lang="zh-CN" altLang="en-US" sz="4800">
                <a:sym typeface="+mn-ea"/>
              </a:rPr>
              <a:t>数据资产</a:t>
            </a:r>
            <a:r>
              <a:rPr sz="4800">
                <a:sym typeface="+mn-ea"/>
              </a:rPr>
              <a:t>的归属（确权</a:t>
            </a:r>
            <a:r>
              <a:rPr lang="zh-CN" altLang="en-US" sz="4800">
                <a:sym typeface="+mn-ea"/>
              </a:rPr>
              <a:t>，资产所有权、使用权与利益分配权</a:t>
            </a:r>
            <a:r>
              <a:rPr sz="4800">
                <a:sym typeface="+mn-ea"/>
              </a:rPr>
              <a:t>）</a:t>
            </a:r>
            <a:endParaRPr sz="3573">
              <a:sym typeface="+mn-ea"/>
            </a:endParaRPr>
          </a:p>
          <a:p>
            <a:pPr marL="1219215" indent="-1219215" algn="l">
              <a:lnSpc>
                <a:spcPct val="160000"/>
              </a:lnSpc>
              <a:buSzPct val="100000"/>
              <a:buFont typeface="+mj-lt"/>
              <a:buAutoNum type="romanUcPeriod"/>
              <a:defRPr sz="4000" spc="0"/>
            </a:pPr>
            <a:r>
              <a:rPr sz="4800">
                <a:sym typeface="+mn-ea"/>
              </a:rPr>
              <a:t> 确定参与方的地位（</a:t>
            </a:r>
            <a:r>
              <a:rPr lang="zh-CN" altLang="en-US" sz="4800">
                <a:sym typeface="+mn-ea"/>
              </a:rPr>
              <a:t>通过非对称密钥确定参与方身份</a:t>
            </a:r>
            <a:r>
              <a:rPr sz="4800">
                <a:sym typeface="+mn-ea"/>
              </a:rPr>
              <a:t>）</a:t>
            </a:r>
          </a:p>
          <a:p>
            <a:pPr marL="1219215" indent="-1219215" algn="l">
              <a:lnSpc>
                <a:spcPct val="160000"/>
              </a:lnSpc>
              <a:buSzPct val="100000"/>
              <a:buFont typeface="+mj-lt"/>
              <a:buAutoNum type="romanUcPeriod"/>
              <a:defRPr sz="4000" spc="0"/>
            </a:pPr>
            <a:r>
              <a:rPr sz="4800">
                <a:sym typeface="+mn-ea"/>
              </a:rPr>
              <a:t> 确定价值分配方式（激励机制</a:t>
            </a:r>
            <a:r>
              <a:rPr lang="zh-CN" altLang="en-US" sz="4800">
                <a:sym typeface="+mn-ea"/>
              </a:rPr>
              <a:t>，</a:t>
            </a:r>
            <a:r>
              <a:rPr sz="4800">
                <a:sym typeface="+mn-ea"/>
              </a:rPr>
              <a:t>通过全网共识记账确定</a:t>
            </a:r>
            <a:r>
              <a:rPr lang="zh-CN" altLang="en-US" sz="4800">
                <a:sym typeface="+mn-ea"/>
              </a:rPr>
              <a:t>产权</a:t>
            </a:r>
            <a:r>
              <a:rPr sz="4800">
                <a:sym typeface="+mn-ea"/>
              </a:rPr>
              <a:t>转移的唯一合法性）</a:t>
            </a:r>
            <a:endParaRPr lang="zh-CN" altLang="en-US" sz="4800">
              <a:sym typeface="+mn-ea"/>
            </a:endParaRPr>
          </a:p>
        </p:txBody>
      </p:sp>
      <p:sp>
        <p:nvSpPr>
          <p:cNvPr id="3" name="文本框 3">
            <a:extLst>
              <a:ext uri="{FF2B5EF4-FFF2-40B4-BE49-F238E27FC236}">
                <a16:creationId xmlns:a16="http://schemas.microsoft.com/office/drawing/2014/main" id="{4A9183A1-8B09-497A-A75D-06EF5296A133}"/>
              </a:ext>
            </a:extLst>
          </p:cNvPr>
          <p:cNvSpPr txBox="1"/>
          <p:nvPr/>
        </p:nvSpPr>
        <p:spPr>
          <a:xfrm rot="21307097">
            <a:off x="767237" y="7389940"/>
            <a:ext cx="22849525" cy="2372637"/>
          </a:xfrm>
          <a:prstGeom prst="rect">
            <a:avLst/>
          </a:prstGeom>
          <a:ln w="12700">
            <a:miter lim="400000"/>
          </a:ln>
          <a:extLst>
            <a:ext uri="{C572A759-6A51-4108-AA02-DFA0A04FC94B}">
              <ma14:wrappingTextBoxFlag xmlns="" xmlns:ma14="http://schemas.microsoft.com/office/mac/drawingml/2011/main" val="1"/>
            </a:ext>
          </a:extLst>
        </p:spPr>
        <p:txBody>
          <a:bodyPr lIns="121917" rIns="121917">
            <a:spAutoFit/>
          </a:bodyPr>
          <a:lstStyle/>
          <a:p>
            <a:pPr lvl="1" indent="609608" algn="l">
              <a:lnSpc>
                <a:spcPct val="120000"/>
              </a:lnSpc>
              <a:defRPr sz="2000">
                <a:latin typeface="Lantinghei SC Extralight"/>
                <a:ea typeface="Lantinghei SC Extralight"/>
                <a:cs typeface="Lantinghei SC Extralight"/>
                <a:sym typeface="Lantinghei SC Extralight"/>
              </a:defRPr>
            </a:pPr>
            <a:r>
              <a:rPr lang="zh-CN" altLang="en-US" sz="6400"/>
              <a:t>所有直接或间接依赖与第三方担保信任机构的活动</a:t>
            </a:r>
            <a:r>
              <a:rPr lang="en-US" altLang="zh-CN" sz="6400"/>
              <a:t>,</a:t>
            </a:r>
            <a:r>
              <a:rPr lang="zh-CN" altLang="en-US" sz="6400"/>
              <a:t>均可能从区块链技术中获益</a:t>
            </a:r>
            <a:endParaRPr lang="en-US" altLang="zh-CN" sz="6400"/>
          </a:p>
        </p:txBody>
      </p:sp>
    </p:spTree>
    <p:extLst>
      <p:ext uri="{BB962C8B-B14F-4D97-AF65-F5344CB8AC3E}">
        <p14:creationId xmlns:p14="http://schemas.microsoft.com/office/powerpoint/2010/main" val="2313507694"/>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4"/>
          <p:cNvSpPr txBox="1"/>
          <p:nvPr/>
        </p:nvSpPr>
        <p:spPr>
          <a:xfrm>
            <a:off x="1713673" y="1340428"/>
            <a:ext cx="4564070" cy="2062039"/>
          </a:xfrm>
          <a:prstGeom prst="rect">
            <a:avLst/>
          </a:prstGeom>
          <a:noFill/>
        </p:spPr>
        <p:txBody>
          <a:bodyPr wrap="none" rtlCol="0">
            <a:spAutoFit/>
          </a:bodyPr>
          <a:lstStyle>
            <a:defPPr>
              <a:defRPr lang="zh-CN"/>
            </a:defPPr>
            <a:lvl1pPr lvl="0" fontAlgn="base">
              <a:lnSpc>
                <a:spcPct val="150000"/>
              </a:lnSpc>
              <a:spcBef>
                <a:spcPct val="0"/>
              </a:spcBef>
              <a:spcAft>
                <a:spcPct val="0"/>
              </a:spcAft>
              <a:defRPr b="1">
                <a:solidFill>
                  <a:schemeClr val="tx1">
                    <a:lumMod val="75000"/>
                    <a:lumOff val="25000"/>
                  </a:schemeClr>
                </a:solidFill>
                <a:latin typeface="微软雅黑" panose="020B0503020204020204" charset="-122"/>
                <a:ea typeface="微软雅黑" panose="020B0503020204020204" charset="-122"/>
                <a:cs typeface="+mn-ea"/>
              </a:defRPr>
            </a:lvl1pPr>
          </a:lstStyle>
          <a:p>
            <a:pPr algn="l"/>
            <a:r>
              <a:rPr lang="zh-CN" altLang="en-US" sz="8533" b="0" dirty="0"/>
              <a:t>应用案例</a:t>
            </a:r>
            <a:endParaRPr lang="en-US" altLang="zh-CN" sz="8533" b="0" dirty="0"/>
          </a:p>
        </p:txBody>
      </p:sp>
      <p:sp>
        <p:nvSpPr>
          <p:cNvPr id="4" name="文本框 87"/>
          <p:cNvSpPr txBox="1"/>
          <p:nvPr/>
        </p:nvSpPr>
        <p:spPr>
          <a:xfrm>
            <a:off x="1713673" y="2996296"/>
            <a:ext cx="4019049" cy="852606"/>
          </a:xfrm>
          <a:prstGeom prst="rect">
            <a:avLst/>
          </a:prstGeom>
          <a:noFill/>
        </p:spPr>
        <p:txBody>
          <a:bodyPr wrap="none" rtlCol="0">
            <a:spAutoFit/>
          </a:bodyPr>
          <a:lstStyle/>
          <a:p>
            <a:pPr algn="l" fontAlgn="base">
              <a:lnSpc>
                <a:spcPct val="150000"/>
              </a:lnSpc>
              <a:spcBef>
                <a:spcPct val="0"/>
              </a:spcBef>
              <a:spcAft>
                <a:spcPct val="0"/>
              </a:spcAft>
            </a:pPr>
            <a:r>
              <a:rPr lang="zh-CN" altLang="en-US" sz="3733" dirty="0">
                <a:solidFill>
                  <a:schemeClr val="tx1">
                    <a:lumMod val="75000"/>
                    <a:lumOff val="25000"/>
                  </a:schemeClr>
                </a:solidFill>
                <a:latin typeface="微软雅黑" panose="020B0503020204020204" charset="-122"/>
                <a:ea typeface="微软雅黑" panose="020B0503020204020204" charset="-122"/>
                <a:cs typeface="+mn-ea"/>
                <a:sym typeface="+mn-lt"/>
              </a:rPr>
              <a:t>交易欺诈场景介绍</a:t>
            </a:r>
            <a:endParaRPr lang="en-US" altLang="zh-CN" sz="4267" dirty="0">
              <a:solidFill>
                <a:schemeClr val="tx1">
                  <a:lumMod val="75000"/>
                  <a:lumOff val="25000"/>
                </a:schemeClr>
              </a:solidFill>
              <a:latin typeface="微软雅黑" panose="020B0503020204020204" charset="-122"/>
              <a:ea typeface="微软雅黑" panose="020B0503020204020204" charset="-122"/>
              <a:cs typeface="+mn-ea"/>
            </a:endParaRPr>
          </a:p>
        </p:txBody>
      </p:sp>
      <p:grpSp>
        <p:nvGrpSpPr>
          <p:cNvPr id="6" name="组合 1"/>
          <p:cNvGrpSpPr/>
          <p:nvPr/>
        </p:nvGrpSpPr>
        <p:grpSpPr>
          <a:xfrm>
            <a:off x="1852847" y="4247049"/>
            <a:ext cx="21244221" cy="8146648"/>
            <a:chOff x="694817" y="1592643"/>
            <a:chExt cx="7966583" cy="3054993"/>
          </a:xfrm>
        </p:grpSpPr>
        <p:sp>
          <p:nvSpPr>
            <p:cNvPr id="7" name="Oval 33"/>
            <p:cNvSpPr>
              <a:spLocks noChangeAspect="1"/>
            </p:cNvSpPr>
            <p:nvPr/>
          </p:nvSpPr>
          <p:spPr>
            <a:xfrm>
              <a:off x="3957451" y="2871821"/>
              <a:ext cx="96920" cy="96920"/>
            </a:xfrm>
            <a:prstGeom prst="ellipse">
              <a:avLst/>
            </a:prstGeom>
            <a:solidFill>
              <a:schemeClr val="accent3">
                <a:lumMod val="10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sz="8533">
                <a:latin typeface="微软雅黑 Light" panose="020B0502040204020203" pitchFamily="34" charset="-122"/>
                <a:ea typeface="微软雅黑 Light" panose="020B0502040204020203" pitchFamily="34" charset="-122"/>
              </a:endParaRPr>
            </a:p>
          </p:txBody>
        </p:sp>
        <p:grpSp>
          <p:nvGrpSpPr>
            <p:cNvPr id="8" name="组合 6"/>
            <p:cNvGrpSpPr/>
            <p:nvPr/>
          </p:nvGrpSpPr>
          <p:grpSpPr>
            <a:xfrm>
              <a:off x="3799216" y="3060815"/>
              <a:ext cx="1586821" cy="1586821"/>
              <a:chOff x="3776862" y="3014567"/>
              <a:chExt cx="1586821" cy="1586821"/>
            </a:xfrm>
          </p:grpSpPr>
          <p:sp>
            <p:nvSpPr>
              <p:cNvPr id="55" name="Oval 4"/>
              <p:cNvSpPr/>
              <p:nvPr/>
            </p:nvSpPr>
            <p:spPr bwMode="auto">
              <a:xfrm>
                <a:off x="3776862" y="3014567"/>
                <a:ext cx="1586821" cy="1586821"/>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dirty="0">
                  <a:latin typeface="微软雅黑 Light" panose="020B0502040204020203" pitchFamily="34" charset="-122"/>
                  <a:ea typeface="微软雅黑 Light" panose="020B0502040204020203" pitchFamily="34" charset="-122"/>
                </a:endParaRPr>
              </a:p>
            </p:txBody>
          </p:sp>
          <p:sp>
            <p:nvSpPr>
              <p:cNvPr id="56" name="Freeform: Shape 5"/>
              <p:cNvSpPr/>
              <p:nvPr/>
            </p:nvSpPr>
            <p:spPr bwMode="auto">
              <a:xfrm>
                <a:off x="4176341" y="4473083"/>
                <a:ext cx="4855" cy="0"/>
              </a:xfrm>
              <a:custGeom>
                <a:avLst/>
                <a:gdLst>
                  <a:gd name="T0" fmla="*/ 1 w 1"/>
                  <a:gd name="T1" fmla="*/ 0 w 1"/>
                  <a:gd name="T2" fmla="*/ 1 w 1"/>
                </a:gdLst>
                <a:ahLst/>
                <a:cxnLst>
                  <a:cxn ang="0">
                    <a:pos x="T0" y="0"/>
                  </a:cxn>
                  <a:cxn ang="0">
                    <a:pos x="T1" y="0"/>
                  </a:cxn>
                  <a:cxn ang="0">
                    <a:pos x="T2" y="0"/>
                  </a:cxn>
                </a:cxnLst>
                <a:rect l="0" t="0" r="r" b="b"/>
                <a:pathLst>
                  <a:path w="1">
                    <a:moveTo>
                      <a:pt x="1" y="0"/>
                    </a:moveTo>
                    <a:cubicBezTo>
                      <a:pt x="1" y="0"/>
                      <a:pt x="0" y="0"/>
                      <a:pt x="0" y="0"/>
                    </a:cubicBezTo>
                    <a:cubicBezTo>
                      <a:pt x="0" y="0"/>
                      <a:pt x="1" y="0"/>
                      <a:pt x="1" y="0"/>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57" name="Freeform: Shape 6"/>
              <p:cNvSpPr/>
              <p:nvPr/>
            </p:nvSpPr>
            <p:spPr bwMode="auto">
              <a:xfrm>
                <a:off x="5073089" y="3236499"/>
                <a:ext cx="44387" cy="24274"/>
              </a:xfrm>
              <a:custGeom>
                <a:avLst/>
                <a:gdLst>
                  <a:gd name="T0" fmla="*/ 1 w 9"/>
                  <a:gd name="T1" fmla="*/ 1 h 5"/>
                  <a:gd name="T2" fmla="*/ 2 w 9"/>
                  <a:gd name="T3" fmla="*/ 4 h 5"/>
                  <a:gd name="T4" fmla="*/ 5 w 9"/>
                  <a:gd name="T5" fmla="*/ 4 h 5"/>
                  <a:gd name="T6" fmla="*/ 7 w 9"/>
                  <a:gd name="T7" fmla="*/ 4 h 5"/>
                  <a:gd name="T8" fmla="*/ 9 w 9"/>
                  <a:gd name="T9" fmla="*/ 5 h 5"/>
                  <a:gd name="T10" fmla="*/ 5 w 9"/>
                  <a:gd name="T11" fmla="*/ 1 h 5"/>
                  <a:gd name="T12" fmla="*/ 2 w 9"/>
                  <a:gd name="T13" fmla="*/ 0 h 5"/>
                  <a:gd name="T14" fmla="*/ 1 w 9"/>
                  <a:gd name="T15" fmla="*/ 1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5">
                    <a:moveTo>
                      <a:pt x="1" y="1"/>
                    </a:moveTo>
                    <a:cubicBezTo>
                      <a:pt x="2" y="2"/>
                      <a:pt x="2" y="2"/>
                      <a:pt x="2" y="4"/>
                    </a:cubicBezTo>
                    <a:cubicBezTo>
                      <a:pt x="3" y="5"/>
                      <a:pt x="4" y="4"/>
                      <a:pt x="5" y="4"/>
                    </a:cubicBezTo>
                    <a:cubicBezTo>
                      <a:pt x="5" y="3"/>
                      <a:pt x="5" y="3"/>
                      <a:pt x="7" y="4"/>
                    </a:cubicBezTo>
                    <a:cubicBezTo>
                      <a:pt x="8" y="5"/>
                      <a:pt x="8" y="5"/>
                      <a:pt x="9" y="5"/>
                    </a:cubicBezTo>
                    <a:cubicBezTo>
                      <a:pt x="7" y="4"/>
                      <a:pt x="6" y="2"/>
                      <a:pt x="5" y="1"/>
                    </a:cubicBezTo>
                    <a:cubicBezTo>
                      <a:pt x="4" y="1"/>
                      <a:pt x="3" y="1"/>
                      <a:pt x="2" y="0"/>
                    </a:cubicBezTo>
                    <a:cubicBezTo>
                      <a:pt x="1" y="0"/>
                      <a:pt x="0" y="0"/>
                      <a:pt x="1" y="1"/>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58" name="Freeform: Shape 7"/>
              <p:cNvSpPr/>
              <p:nvPr/>
            </p:nvSpPr>
            <p:spPr bwMode="auto">
              <a:xfrm>
                <a:off x="5048121" y="3271177"/>
                <a:ext cx="24968" cy="29129"/>
              </a:xfrm>
              <a:custGeom>
                <a:avLst/>
                <a:gdLst>
                  <a:gd name="T0" fmla="*/ 5 w 5"/>
                  <a:gd name="T1" fmla="*/ 5 h 6"/>
                  <a:gd name="T2" fmla="*/ 0 w 5"/>
                  <a:gd name="T3" fmla="*/ 3 h 6"/>
                  <a:gd name="T4" fmla="*/ 5 w 5"/>
                  <a:gd name="T5" fmla="*/ 5 h 6"/>
                </a:gdLst>
                <a:ahLst/>
                <a:cxnLst>
                  <a:cxn ang="0">
                    <a:pos x="T0" y="T1"/>
                  </a:cxn>
                  <a:cxn ang="0">
                    <a:pos x="T2" y="T3"/>
                  </a:cxn>
                  <a:cxn ang="0">
                    <a:pos x="T4" y="T5"/>
                  </a:cxn>
                </a:cxnLst>
                <a:rect l="0" t="0" r="r" b="b"/>
                <a:pathLst>
                  <a:path w="5" h="6">
                    <a:moveTo>
                      <a:pt x="5" y="5"/>
                    </a:moveTo>
                    <a:cubicBezTo>
                      <a:pt x="5" y="4"/>
                      <a:pt x="1" y="0"/>
                      <a:pt x="0" y="3"/>
                    </a:cubicBezTo>
                    <a:cubicBezTo>
                      <a:pt x="0" y="4"/>
                      <a:pt x="4" y="6"/>
                      <a:pt x="5" y="5"/>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59" name="Freeform: Shape 8"/>
              <p:cNvSpPr/>
              <p:nvPr/>
            </p:nvSpPr>
            <p:spPr bwMode="auto">
              <a:xfrm>
                <a:off x="3811539" y="3650543"/>
                <a:ext cx="29129" cy="58951"/>
              </a:xfrm>
              <a:custGeom>
                <a:avLst/>
                <a:gdLst>
                  <a:gd name="T0" fmla="*/ 2 w 6"/>
                  <a:gd name="T1" fmla="*/ 9 h 12"/>
                  <a:gd name="T2" fmla="*/ 5 w 6"/>
                  <a:gd name="T3" fmla="*/ 11 h 12"/>
                  <a:gd name="T4" fmla="*/ 3 w 6"/>
                  <a:gd name="T5" fmla="*/ 6 h 12"/>
                  <a:gd name="T6" fmla="*/ 1 w 6"/>
                  <a:gd name="T7" fmla="*/ 1 h 12"/>
                  <a:gd name="T8" fmla="*/ 1 w 6"/>
                  <a:gd name="T9" fmla="*/ 0 h 12"/>
                  <a:gd name="T10" fmla="*/ 0 w 6"/>
                  <a:gd name="T11" fmla="*/ 4 h 12"/>
                  <a:gd name="T12" fmla="*/ 1 w 6"/>
                  <a:gd name="T13" fmla="*/ 7 h 12"/>
                  <a:gd name="T14" fmla="*/ 2 w 6"/>
                  <a:gd name="T15" fmla="*/ 9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 h="12">
                    <a:moveTo>
                      <a:pt x="2" y="9"/>
                    </a:moveTo>
                    <a:cubicBezTo>
                      <a:pt x="3" y="9"/>
                      <a:pt x="4" y="12"/>
                      <a:pt x="5" y="11"/>
                    </a:cubicBezTo>
                    <a:cubicBezTo>
                      <a:pt x="6" y="9"/>
                      <a:pt x="3" y="7"/>
                      <a:pt x="3" y="6"/>
                    </a:cubicBezTo>
                    <a:cubicBezTo>
                      <a:pt x="2" y="5"/>
                      <a:pt x="3" y="3"/>
                      <a:pt x="1" y="1"/>
                    </a:cubicBezTo>
                    <a:cubicBezTo>
                      <a:pt x="1" y="1"/>
                      <a:pt x="1" y="0"/>
                      <a:pt x="1" y="0"/>
                    </a:cubicBezTo>
                    <a:cubicBezTo>
                      <a:pt x="0" y="2"/>
                      <a:pt x="0" y="3"/>
                      <a:pt x="0" y="4"/>
                    </a:cubicBezTo>
                    <a:cubicBezTo>
                      <a:pt x="1" y="5"/>
                      <a:pt x="1" y="6"/>
                      <a:pt x="1" y="7"/>
                    </a:cubicBezTo>
                    <a:cubicBezTo>
                      <a:pt x="1" y="8"/>
                      <a:pt x="2" y="8"/>
                      <a:pt x="2" y="9"/>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60" name="Freeform: Shape 9"/>
              <p:cNvSpPr/>
              <p:nvPr/>
            </p:nvSpPr>
            <p:spPr bwMode="auto">
              <a:xfrm>
                <a:off x="4057745" y="3211532"/>
                <a:ext cx="29822" cy="20113"/>
              </a:xfrm>
              <a:custGeom>
                <a:avLst/>
                <a:gdLst>
                  <a:gd name="T0" fmla="*/ 1 w 6"/>
                  <a:gd name="T1" fmla="*/ 4 h 4"/>
                  <a:gd name="T2" fmla="*/ 3 w 6"/>
                  <a:gd name="T3" fmla="*/ 3 h 4"/>
                  <a:gd name="T4" fmla="*/ 6 w 6"/>
                  <a:gd name="T5" fmla="*/ 1 h 4"/>
                  <a:gd name="T6" fmla="*/ 5 w 6"/>
                  <a:gd name="T7" fmla="*/ 0 h 4"/>
                  <a:gd name="T8" fmla="*/ 0 w 6"/>
                  <a:gd name="T9" fmla="*/ 4 h 4"/>
                  <a:gd name="T10" fmla="*/ 1 w 6"/>
                  <a:gd name="T11" fmla="*/ 4 h 4"/>
                </a:gdLst>
                <a:ahLst/>
                <a:cxnLst>
                  <a:cxn ang="0">
                    <a:pos x="T0" y="T1"/>
                  </a:cxn>
                  <a:cxn ang="0">
                    <a:pos x="T2" y="T3"/>
                  </a:cxn>
                  <a:cxn ang="0">
                    <a:pos x="T4" y="T5"/>
                  </a:cxn>
                  <a:cxn ang="0">
                    <a:pos x="T6" y="T7"/>
                  </a:cxn>
                  <a:cxn ang="0">
                    <a:pos x="T8" y="T9"/>
                  </a:cxn>
                  <a:cxn ang="0">
                    <a:pos x="T10" y="T11"/>
                  </a:cxn>
                </a:cxnLst>
                <a:rect l="0" t="0" r="r" b="b"/>
                <a:pathLst>
                  <a:path w="6" h="4">
                    <a:moveTo>
                      <a:pt x="1" y="4"/>
                    </a:moveTo>
                    <a:cubicBezTo>
                      <a:pt x="1" y="4"/>
                      <a:pt x="3" y="3"/>
                      <a:pt x="3" y="3"/>
                    </a:cubicBezTo>
                    <a:cubicBezTo>
                      <a:pt x="4" y="3"/>
                      <a:pt x="6" y="2"/>
                      <a:pt x="6" y="1"/>
                    </a:cubicBezTo>
                    <a:cubicBezTo>
                      <a:pt x="6" y="0"/>
                      <a:pt x="5" y="0"/>
                      <a:pt x="5" y="0"/>
                    </a:cubicBezTo>
                    <a:cubicBezTo>
                      <a:pt x="3" y="1"/>
                      <a:pt x="2" y="3"/>
                      <a:pt x="0" y="4"/>
                    </a:cubicBezTo>
                    <a:cubicBezTo>
                      <a:pt x="1" y="4"/>
                      <a:pt x="1" y="4"/>
                      <a:pt x="1" y="4"/>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61" name="Freeform: Shape 10"/>
              <p:cNvSpPr/>
              <p:nvPr/>
            </p:nvSpPr>
            <p:spPr bwMode="auto">
              <a:xfrm>
                <a:off x="4097277" y="3167145"/>
                <a:ext cx="167144" cy="98483"/>
              </a:xfrm>
              <a:custGeom>
                <a:avLst/>
                <a:gdLst>
                  <a:gd name="T0" fmla="*/ 0 w 34"/>
                  <a:gd name="T1" fmla="*/ 7 h 20"/>
                  <a:gd name="T2" fmla="*/ 2 w 34"/>
                  <a:gd name="T3" fmla="*/ 6 h 20"/>
                  <a:gd name="T4" fmla="*/ 3 w 34"/>
                  <a:gd name="T5" fmla="*/ 5 h 20"/>
                  <a:gd name="T6" fmla="*/ 4 w 34"/>
                  <a:gd name="T7" fmla="*/ 7 h 20"/>
                  <a:gd name="T8" fmla="*/ 6 w 34"/>
                  <a:gd name="T9" fmla="*/ 7 h 20"/>
                  <a:gd name="T10" fmla="*/ 5 w 34"/>
                  <a:gd name="T11" fmla="*/ 10 h 20"/>
                  <a:gd name="T12" fmla="*/ 4 w 34"/>
                  <a:gd name="T13" fmla="*/ 11 h 20"/>
                  <a:gd name="T14" fmla="*/ 7 w 34"/>
                  <a:gd name="T15" fmla="*/ 11 h 20"/>
                  <a:gd name="T16" fmla="*/ 9 w 34"/>
                  <a:gd name="T17" fmla="*/ 9 h 20"/>
                  <a:gd name="T18" fmla="*/ 11 w 34"/>
                  <a:gd name="T19" fmla="*/ 8 h 20"/>
                  <a:gd name="T20" fmla="*/ 11 w 34"/>
                  <a:gd name="T21" fmla="*/ 10 h 20"/>
                  <a:gd name="T22" fmla="*/ 8 w 34"/>
                  <a:gd name="T23" fmla="*/ 12 h 20"/>
                  <a:gd name="T24" fmla="*/ 5 w 34"/>
                  <a:gd name="T25" fmla="*/ 13 h 20"/>
                  <a:gd name="T26" fmla="*/ 2 w 34"/>
                  <a:gd name="T27" fmla="*/ 14 h 20"/>
                  <a:gd name="T28" fmla="*/ 2 w 34"/>
                  <a:gd name="T29" fmla="*/ 17 h 20"/>
                  <a:gd name="T30" fmla="*/ 4 w 34"/>
                  <a:gd name="T31" fmla="*/ 16 h 20"/>
                  <a:gd name="T32" fmla="*/ 10 w 34"/>
                  <a:gd name="T33" fmla="*/ 16 h 20"/>
                  <a:gd name="T34" fmla="*/ 13 w 34"/>
                  <a:gd name="T35" fmla="*/ 17 h 20"/>
                  <a:gd name="T36" fmla="*/ 15 w 34"/>
                  <a:gd name="T37" fmla="*/ 18 h 20"/>
                  <a:gd name="T38" fmla="*/ 17 w 34"/>
                  <a:gd name="T39" fmla="*/ 18 h 20"/>
                  <a:gd name="T40" fmla="*/ 19 w 34"/>
                  <a:gd name="T41" fmla="*/ 19 h 20"/>
                  <a:gd name="T42" fmla="*/ 22 w 34"/>
                  <a:gd name="T43" fmla="*/ 19 h 20"/>
                  <a:gd name="T44" fmla="*/ 24 w 34"/>
                  <a:gd name="T45" fmla="*/ 18 h 20"/>
                  <a:gd name="T46" fmla="*/ 26 w 34"/>
                  <a:gd name="T47" fmla="*/ 18 h 20"/>
                  <a:gd name="T48" fmla="*/ 26 w 34"/>
                  <a:gd name="T49" fmla="*/ 15 h 20"/>
                  <a:gd name="T50" fmla="*/ 22 w 34"/>
                  <a:gd name="T51" fmla="*/ 13 h 20"/>
                  <a:gd name="T52" fmla="*/ 22 w 34"/>
                  <a:gd name="T53" fmla="*/ 12 h 20"/>
                  <a:gd name="T54" fmla="*/ 26 w 34"/>
                  <a:gd name="T55" fmla="*/ 13 h 20"/>
                  <a:gd name="T56" fmla="*/ 29 w 34"/>
                  <a:gd name="T57" fmla="*/ 13 h 20"/>
                  <a:gd name="T58" fmla="*/ 32 w 34"/>
                  <a:gd name="T59" fmla="*/ 12 h 20"/>
                  <a:gd name="T60" fmla="*/ 34 w 34"/>
                  <a:gd name="T61" fmla="*/ 10 h 20"/>
                  <a:gd name="T62" fmla="*/ 28 w 34"/>
                  <a:gd name="T63" fmla="*/ 9 h 20"/>
                  <a:gd name="T64" fmla="*/ 25 w 34"/>
                  <a:gd name="T65" fmla="*/ 7 h 20"/>
                  <a:gd name="T66" fmla="*/ 22 w 34"/>
                  <a:gd name="T67" fmla="*/ 7 h 20"/>
                  <a:gd name="T68" fmla="*/ 22 w 34"/>
                  <a:gd name="T69" fmla="*/ 3 h 20"/>
                  <a:gd name="T70" fmla="*/ 14 w 34"/>
                  <a:gd name="T71" fmla="*/ 2 h 20"/>
                  <a:gd name="T72" fmla="*/ 8 w 34"/>
                  <a:gd name="T73" fmla="*/ 0 h 20"/>
                  <a:gd name="T74" fmla="*/ 0 w 34"/>
                  <a:gd name="T75" fmla="*/ 7 h 20"/>
                  <a:gd name="T76" fmla="*/ 0 w 34"/>
                  <a:gd name="T77" fmla="*/ 7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4" h="20">
                    <a:moveTo>
                      <a:pt x="0" y="7"/>
                    </a:moveTo>
                    <a:cubicBezTo>
                      <a:pt x="0" y="7"/>
                      <a:pt x="2" y="7"/>
                      <a:pt x="2" y="6"/>
                    </a:cubicBezTo>
                    <a:cubicBezTo>
                      <a:pt x="2" y="5"/>
                      <a:pt x="2" y="5"/>
                      <a:pt x="3" y="5"/>
                    </a:cubicBezTo>
                    <a:cubicBezTo>
                      <a:pt x="3" y="5"/>
                      <a:pt x="2" y="7"/>
                      <a:pt x="4" y="7"/>
                    </a:cubicBezTo>
                    <a:cubicBezTo>
                      <a:pt x="5" y="6"/>
                      <a:pt x="5" y="6"/>
                      <a:pt x="6" y="7"/>
                    </a:cubicBezTo>
                    <a:cubicBezTo>
                      <a:pt x="7" y="7"/>
                      <a:pt x="5" y="9"/>
                      <a:pt x="5" y="10"/>
                    </a:cubicBezTo>
                    <a:cubicBezTo>
                      <a:pt x="4" y="10"/>
                      <a:pt x="3" y="11"/>
                      <a:pt x="4" y="11"/>
                    </a:cubicBezTo>
                    <a:cubicBezTo>
                      <a:pt x="6" y="11"/>
                      <a:pt x="7" y="11"/>
                      <a:pt x="7" y="11"/>
                    </a:cubicBezTo>
                    <a:cubicBezTo>
                      <a:pt x="7" y="11"/>
                      <a:pt x="8" y="9"/>
                      <a:pt x="9" y="9"/>
                    </a:cubicBezTo>
                    <a:cubicBezTo>
                      <a:pt x="9" y="8"/>
                      <a:pt x="10" y="8"/>
                      <a:pt x="11" y="8"/>
                    </a:cubicBezTo>
                    <a:cubicBezTo>
                      <a:pt x="11" y="9"/>
                      <a:pt x="14" y="9"/>
                      <a:pt x="11" y="10"/>
                    </a:cubicBezTo>
                    <a:cubicBezTo>
                      <a:pt x="9" y="11"/>
                      <a:pt x="8" y="11"/>
                      <a:pt x="8" y="12"/>
                    </a:cubicBezTo>
                    <a:cubicBezTo>
                      <a:pt x="7" y="13"/>
                      <a:pt x="7" y="14"/>
                      <a:pt x="5" y="13"/>
                    </a:cubicBezTo>
                    <a:cubicBezTo>
                      <a:pt x="3" y="13"/>
                      <a:pt x="2" y="13"/>
                      <a:pt x="2" y="14"/>
                    </a:cubicBezTo>
                    <a:cubicBezTo>
                      <a:pt x="1" y="15"/>
                      <a:pt x="1" y="17"/>
                      <a:pt x="2" y="17"/>
                    </a:cubicBezTo>
                    <a:cubicBezTo>
                      <a:pt x="3" y="17"/>
                      <a:pt x="3" y="17"/>
                      <a:pt x="4" y="16"/>
                    </a:cubicBezTo>
                    <a:cubicBezTo>
                      <a:pt x="5" y="16"/>
                      <a:pt x="9" y="16"/>
                      <a:pt x="10" y="16"/>
                    </a:cubicBezTo>
                    <a:cubicBezTo>
                      <a:pt x="11" y="16"/>
                      <a:pt x="12" y="17"/>
                      <a:pt x="13" y="17"/>
                    </a:cubicBezTo>
                    <a:cubicBezTo>
                      <a:pt x="13" y="17"/>
                      <a:pt x="14" y="18"/>
                      <a:pt x="15" y="18"/>
                    </a:cubicBezTo>
                    <a:cubicBezTo>
                      <a:pt x="16" y="19"/>
                      <a:pt x="16" y="17"/>
                      <a:pt x="17" y="18"/>
                    </a:cubicBezTo>
                    <a:cubicBezTo>
                      <a:pt x="19" y="19"/>
                      <a:pt x="18" y="19"/>
                      <a:pt x="19" y="19"/>
                    </a:cubicBezTo>
                    <a:cubicBezTo>
                      <a:pt x="20" y="19"/>
                      <a:pt x="22" y="19"/>
                      <a:pt x="22" y="19"/>
                    </a:cubicBezTo>
                    <a:cubicBezTo>
                      <a:pt x="22" y="19"/>
                      <a:pt x="22" y="17"/>
                      <a:pt x="24" y="18"/>
                    </a:cubicBezTo>
                    <a:cubicBezTo>
                      <a:pt x="25" y="18"/>
                      <a:pt x="26" y="20"/>
                      <a:pt x="26" y="18"/>
                    </a:cubicBezTo>
                    <a:cubicBezTo>
                      <a:pt x="26" y="17"/>
                      <a:pt x="27" y="16"/>
                      <a:pt x="26" y="15"/>
                    </a:cubicBezTo>
                    <a:cubicBezTo>
                      <a:pt x="24" y="14"/>
                      <a:pt x="22" y="14"/>
                      <a:pt x="22" y="13"/>
                    </a:cubicBezTo>
                    <a:cubicBezTo>
                      <a:pt x="22" y="13"/>
                      <a:pt x="22" y="12"/>
                      <a:pt x="22" y="12"/>
                    </a:cubicBezTo>
                    <a:cubicBezTo>
                      <a:pt x="23" y="11"/>
                      <a:pt x="25" y="12"/>
                      <a:pt x="26" y="13"/>
                    </a:cubicBezTo>
                    <a:cubicBezTo>
                      <a:pt x="27" y="13"/>
                      <a:pt x="28" y="14"/>
                      <a:pt x="29" y="13"/>
                    </a:cubicBezTo>
                    <a:cubicBezTo>
                      <a:pt x="30" y="13"/>
                      <a:pt x="31" y="12"/>
                      <a:pt x="32" y="12"/>
                    </a:cubicBezTo>
                    <a:cubicBezTo>
                      <a:pt x="32" y="11"/>
                      <a:pt x="34" y="10"/>
                      <a:pt x="34" y="10"/>
                    </a:cubicBezTo>
                    <a:cubicBezTo>
                      <a:pt x="34" y="10"/>
                      <a:pt x="29" y="9"/>
                      <a:pt x="28" y="9"/>
                    </a:cubicBezTo>
                    <a:cubicBezTo>
                      <a:pt x="28" y="8"/>
                      <a:pt x="26" y="7"/>
                      <a:pt x="25" y="7"/>
                    </a:cubicBezTo>
                    <a:cubicBezTo>
                      <a:pt x="25" y="7"/>
                      <a:pt x="23" y="8"/>
                      <a:pt x="22" y="7"/>
                    </a:cubicBezTo>
                    <a:cubicBezTo>
                      <a:pt x="22" y="5"/>
                      <a:pt x="22" y="3"/>
                      <a:pt x="22" y="3"/>
                    </a:cubicBezTo>
                    <a:cubicBezTo>
                      <a:pt x="21" y="3"/>
                      <a:pt x="15" y="3"/>
                      <a:pt x="14" y="2"/>
                    </a:cubicBezTo>
                    <a:cubicBezTo>
                      <a:pt x="13" y="2"/>
                      <a:pt x="10" y="1"/>
                      <a:pt x="8" y="0"/>
                    </a:cubicBezTo>
                    <a:cubicBezTo>
                      <a:pt x="5" y="2"/>
                      <a:pt x="3" y="4"/>
                      <a:pt x="0" y="7"/>
                    </a:cubicBezTo>
                    <a:cubicBezTo>
                      <a:pt x="0" y="7"/>
                      <a:pt x="0" y="7"/>
                      <a:pt x="0" y="7"/>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62" name="Freeform: Shape 11"/>
              <p:cNvSpPr/>
              <p:nvPr/>
            </p:nvSpPr>
            <p:spPr bwMode="auto">
              <a:xfrm>
                <a:off x="3816393" y="3260773"/>
                <a:ext cx="690073" cy="1227567"/>
              </a:xfrm>
              <a:custGeom>
                <a:avLst/>
                <a:gdLst>
                  <a:gd name="T0" fmla="*/ 82 w 140"/>
                  <a:gd name="T1" fmla="*/ 249 h 249"/>
                  <a:gd name="T2" fmla="*/ 81 w 140"/>
                  <a:gd name="T3" fmla="*/ 242 h 249"/>
                  <a:gd name="T4" fmla="*/ 86 w 140"/>
                  <a:gd name="T5" fmla="*/ 233 h 249"/>
                  <a:gd name="T6" fmla="*/ 89 w 140"/>
                  <a:gd name="T7" fmla="*/ 227 h 249"/>
                  <a:gd name="T8" fmla="*/ 95 w 140"/>
                  <a:gd name="T9" fmla="*/ 217 h 249"/>
                  <a:gd name="T10" fmla="*/ 109 w 140"/>
                  <a:gd name="T11" fmla="*/ 211 h 249"/>
                  <a:gd name="T12" fmla="*/ 122 w 140"/>
                  <a:gd name="T13" fmla="*/ 197 h 249"/>
                  <a:gd name="T14" fmla="*/ 133 w 140"/>
                  <a:gd name="T15" fmla="*/ 175 h 249"/>
                  <a:gd name="T16" fmla="*/ 127 w 140"/>
                  <a:gd name="T17" fmla="*/ 151 h 249"/>
                  <a:gd name="T18" fmla="*/ 109 w 140"/>
                  <a:gd name="T19" fmla="*/ 150 h 249"/>
                  <a:gd name="T20" fmla="*/ 109 w 140"/>
                  <a:gd name="T21" fmla="*/ 141 h 249"/>
                  <a:gd name="T22" fmla="*/ 90 w 140"/>
                  <a:gd name="T23" fmla="*/ 124 h 249"/>
                  <a:gd name="T24" fmla="*/ 84 w 140"/>
                  <a:gd name="T25" fmla="*/ 119 h 249"/>
                  <a:gd name="T26" fmla="*/ 72 w 140"/>
                  <a:gd name="T27" fmla="*/ 118 h 249"/>
                  <a:gd name="T28" fmla="*/ 65 w 140"/>
                  <a:gd name="T29" fmla="*/ 113 h 249"/>
                  <a:gd name="T30" fmla="*/ 50 w 140"/>
                  <a:gd name="T31" fmla="*/ 119 h 249"/>
                  <a:gd name="T32" fmla="*/ 41 w 140"/>
                  <a:gd name="T33" fmla="*/ 104 h 249"/>
                  <a:gd name="T34" fmla="*/ 36 w 140"/>
                  <a:gd name="T35" fmla="*/ 92 h 249"/>
                  <a:gd name="T36" fmla="*/ 23 w 140"/>
                  <a:gd name="T37" fmla="*/ 98 h 249"/>
                  <a:gd name="T38" fmla="*/ 25 w 140"/>
                  <a:gd name="T39" fmla="*/ 74 h 249"/>
                  <a:gd name="T40" fmla="*/ 40 w 140"/>
                  <a:gd name="T41" fmla="*/ 71 h 249"/>
                  <a:gd name="T42" fmla="*/ 49 w 140"/>
                  <a:gd name="T43" fmla="*/ 78 h 249"/>
                  <a:gd name="T44" fmla="*/ 57 w 140"/>
                  <a:gd name="T45" fmla="*/ 53 h 249"/>
                  <a:gd name="T46" fmla="*/ 65 w 140"/>
                  <a:gd name="T47" fmla="*/ 46 h 249"/>
                  <a:gd name="T48" fmla="*/ 76 w 140"/>
                  <a:gd name="T49" fmla="*/ 37 h 249"/>
                  <a:gd name="T50" fmla="*/ 88 w 140"/>
                  <a:gd name="T51" fmla="*/ 32 h 249"/>
                  <a:gd name="T52" fmla="*/ 80 w 140"/>
                  <a:gd name="T53" fmla="*/ 30 h 249"/>
                  <a:gd name="T54" fmla="*/ 72 w 140"/>
                  <a:gd name="T55" fmla="*/ 26 h 249"/>
                  <a:gd name="T56" fmla="*/ 86 w 140"/>
                  <a:gd name="T57" fmla="*/ 25 h 249"/>
                  <a:gd name="T58" fmla="*/ 91 w 140"/>
                  <a:gd name="T59" fmla="*/ 28 h 249"/>
                  <a:gd name="T60" fmla="*/ 102 w 140"/>
                  <a:gd name="T61" fmla="*/ 30 h 249"/>
                  <a:gd name="T62" fmla="*/ 96 w 140"/>
                  <a:gd name="T63" fmla="*/ 23 h 249"/>
                  <a:gd name="T64" fmla="*/ 88 w 140"/>
                  <a:gd name="T65" fmla="*/ 12 h 249"/>
                  <a:gd name="T66" fmla="*/ 73 w 140"/>
                  <a:gd name="T67" fmla="*/ 6 h 249"/>
                  <a:gd name="T68" fmla="*/ 58 w 140"/>
                  <a:gd name="T69" fmla="*/ 4 h 249"/>
                  <a:gd name="T70" fmla="*/ 56 w 140"/>
                  <a:gd name="T71" fmla="*/ 15 h 249"/>
                  <a:gd name="T72" fmla="*/ 51 w 140"/>
                  <a:gd name="T73" fmla="*/ 21 h 249"/>
                  <a:gd name="T74" fmla="*/ 42 w 140"/>
                  <a:gd name="T75" fmla="*/ 15 h 249"/>
                  <a:gd name="T76" fmla="*/ 2 w 140"/>
                  <a:gd name="T77" fmla="*/ 80 h 249"/>
                  <a:gd name="T78" fmla="*/ 14 w 140"/>
                  <a:gd name="T79" fmla="*/ 101 h 249"/>
                  <a:gd name="T80" fmla="*/ 27 w 140"/>
                  <a:gd name="T81" fmla="*/ 107 h 249"/>
                  <a:gd name="T82" fmla="*/ 40 w 140"/>
                  <a:gd name="T83" fmla="*/ 120 h 249"/>
                  <a:gd name="T84" fmla="*/ 52 w 140"/>
                  <a:gd name="T85" fmla="*/ 123 h 249"/>
                  <a:gd name="T86" fmla="*/ 48 w 140"/>
                  <a:gd name="T87" fmla="*/ 144 h 249"/>
                  <a:gd name="T88" fmla="*/ 58 w 140"/>
                  <a:gd name="T89" fmla="*/ 174 h 249"/>
                  <a:gd name="T90" fmla="*/ 71 w 140"/>
                  <a:gd name="T91" fmla="*/ 198 h 249"/>
                  <a:gd name="T92" fmla="*/ 70 w 140"/>
                  <a:gd name="T93" fmla="*/ 217 h 249"/>
                  <a:gd name="T94" fmla="*/ 70 w 140"/>
                  <a:gd name="T95" fmla="*/ 231 h 249"/>
                  <a:gd name="T96" fmla="*/ 71 w 140"/>
                  <a:gd name="T97" fmla="*/ 241 h 249"/>
                  <a:gd name="T98" fmla="*/ 75 w 140"/>
                  <a:gd name="T99" fmla="*/ 247 h 249"/>
                  <a:gd name="T100" fmla="*/ 54 w 140"/>
                  <a:gd name="T101" fmla="*/ 42 h 249"/>
                  <a:gd name="T102" fmla="*/ 55 w 140"/>
                  <a:gd name="T103" fmla="*/ 38 h 249"/>
                  <a:gd name="T104" fmla="*/ 48 w 140"/>
                  <a:gd name="T105" fmla="*/ 42 h 249"/>
                  <a:gd name="T106" fmla="*/ 39 w 140"/>
                  <a:gd name="T107" fmla="*/ 46 h 249"/>
                  <a:gd name="T108" fmla="*/ 50 w 140"/>
                  <a:gd name="T109" fmla="*/ 34 h 249"/>
                  <a:gd name="T110" fmla="*/ 40 w 140"/>
                  <a:gd name="T111" fmla="*/ 32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40" h="249">
                    <a:moveTo>
                      <a:pt x="77" y="248"/>
                    </a:moveTo>
                    <a:cubicBezTo>
                      <a:pt x="78" y="248"/>
                      <a:pt x="79" y="248"/>
                      <a:pt x="78" y="246"/>
                    </a:cubicBezTo>
                    <a:cubicBezTo>
                      <a:pt x="78" y="245"/>
                      <a:pt x="81" y="246"/>
                      <a:pt x="80" y="247"/>
                    </a:cubicBezTo>
                    <a:cubicBezTo>
                      <a:pt x="78" y="248"/>
                      <a:pt x="78" y="248"/>
                      <a:pt x="78" y="248"/>
                    </a:cubicBezTo>
                    <a:cubicBezTo>
                      <a:pt x="79" y="248"/>
                      <a:pt x="81" y="249"/>
                      <a:pt x="82" y="249"/>
                    </a:cubicBezTo>
                    <a:cubicBezTo>
                      <a:pt x="83" y="249"/>
                      <a:pt x="86" y="249"/>
                      <a:pt x="86" y="249"/>
                    </a:cubicBezTo>
                    <a:cubicBezTo>
                      <a:pt x="86" y="249"/>
                      <a:pt x="89" y="248"/>
                      <a:pt x="90" y="248"/>
                    </a:cubicBezTo>
                    <a:cubicBezTo>
                      <a:pt x="90" y="248"/>
                      <a:pt x="87" y="248"/>
                      <a:pt x="86" y="248"/>
                    </a:cubicBezTo>
                    <a:cubicBezTo>
                      <a:pt x="84" y="247"/>
                      <a:pt x="82" y="246"/>
                      <a:pt x="81" y="245"/>
                    </a:cubicBezTo>
                    <a:cubicBezTo>
                      <a:pt x="81" y="244"/>
                      <a:pt x="80" y="243"/>
                      <a:pt x="81" y="242"/>
                    </a:cubicBezTo>
                    <a:cubicBezTo>
                      <a:pt x="82" y="242"/>
                      <a:pt x="84" y="240"/>
                      <a:pt x="85" y="240"/>
                    </a:cubicBezTo>
                    <a:cubicBezTo>
                      <a:pt x="85" y="240"/>
                      <a:pt x="86" y="238"/>
                      <a:pt x="85" y="238"/>
                    </a:cubicBezTo>
                    <a:cubicBezTo>
                      <a:pt x="85" y="237"/>
                      <a:pt x="83" y="237"/>
                      <a:pt x="82" y="237"/>
                    </a:cubicBezTo>
                    <a:cubicBezTo>
                      <a:pt x="82" y="237"/>
                      <a:pt x="82" y="236"/>
                      <a:pt x="83" y="235"/>
                    </a:cubicBezTo>
                    <a:cubicBezTo>
                      <a:pt x="85" y="234"/>
                      <a:pt x="85" y="233"/>
                      <a:pt x="86" y="233"/>
                    </a:cubicBezTo>
                    <a:cubicBezTo>
                      <a:pt x="86" y="232"/>
                      <a:pt x="87" y="232"/>
                      <a:pt x="88" y="231"/>
                    </a:cubicBezTo>
                    <a:cubicBezTo>
                      <a:pt x="88" y="230"/>
                      <a:pt x="87" y="230"/>
                      <a:pt x="86" y="230"/>
                    </a:cubicBezTo>
                    <a:cubicBezTo>
                      <a:pt x="85" y="230"/>
                      <a:pt x="85" y="229"/>
                      <a:pt x="84" y="228"/>
                    </a:cubicBezTo>
                    <a:cubicBezTo>
                      <a:pt x="84" y="227"/>
                      <a:pt x="87" y="228"/>
                      <a:pt x="89" y="229"/>
                    </a:cubicBezTo>
                    <a:cubicBezTo>
                      <a:pt x="90" y="229"/>
                      <a:pt x="89" y="228"/>
                      <a:pt x="89" y="227"/>
                    </a:cubicBezTo>
                    <a:cubicBezTo>
                      <a:pt x="89" y="226"/>
                      <a:pt x="89" y="225"/>
                      <a:pt x="90" y="225"/>
                    </a:cubicBezTo>
                    <a:cubicBezTo>
                      <a:pt x="91" y="226"/>
                      <a:pt x="96" y="225"/>
                      <a:pt x="96" y="225"/>
                    </a:cubicBezTo>
                    <a:cubicBezTo>
                      <a:pt x="97" y="225"/>
                      <a:pt x="98" y="223"/>
                      <a:pt x="99" y="222"/>
                    </a:cubicBezTo>
                    <a:cubicBezTo>
                      <a:pt x="99" y="221"/>
                      <a:pt x="100" y="221"/>
                      <a:pt x="99" y="220"/>
                    </a:cubicBezTo>
                    <a:cubicBezTo>
                      <a:pt x="98" y="220"/>
                      <a:pt x="95" y="218"/>
                      <a:pt x="95" y="217"/>
                    </a:cubicBezTo>
                    <a:cubicBezTo>
                      <a:pt x="95" y="217"/>
                      <a:pt x="96" y="214"/>
                      <a:pt x="96" y="213"/>
                    </a:cubicBezTo>
                    <a:cubicBezTo>
                      <a:pt x="96" y="213"/>
                      <a:pt x="96" y="218"/>
                      <a:pt x="99" y="219"/>
                    </a:cubicBezTo>
                    <a:cubicBezTo>
                      <a:pt x="101" y="219"/>
                      <a:pt x="102" y="220"/>
                      <a:pt x="104" y="218"/>
                    </a:cubicBezTo>
                    <a:cubicBezTo>
                      <a:pt x="106" y="216"/>
                      <a:pt x="107" y="215"/>
                      <a:pt x="108" y="214"/>
                    </a:cubicBezTo>
                    <a:cubicBezTo>
                      <a:pt x="108" y="212"/>
                      <a:pt x="108" y="211"/>
                      <a:pt x="109" y="211"/>
                    </a:cubicBezTo>
                    <a:cubicBezTo>
                      <a:pt x="110" y="210"/>
                      <a:pt x="110" y="211"/>
                      <a:pt x="111" y="208"/>
                    </a:cubicBezTo>
                    <a:cubicBezTo>
                      <a:pt x="112" y="206"/>
                      <a:pt x="113" y="208"/>
                      <a:pt x="114" y="206"/>
                    </a:cubicBezTo>
                    <a:cubicBezTo>
                      <a:pt x="115" y="204"/>
                      <a:pt x="112" y="202"/>
                      <a:pt x="114" y="201"/>
                    </a:cubicBezTo>
                    <a:cubicBezTo>
                      <a:pt x="116" y="199"/>
                      <a:pt x="119" y="198"/>
                      <a:pt x="119" y="198"/>
                    </a:cubicBezTo>
                    <a:cubicBezTo>
                      <a:pt x="119" y="198"/>
                      <a:pt x="120" y="197"/>
                      <a:pt x="122" y="197"/>
                    </a:cubicBezTo>
                    <a:cubicBezTo>
                      <a:pt x="124" y="196"/>
                      <a:pt x="126" y="197"/>
                      <a:pt x="127" y="196"/>
                    </a:cubicBezTo>
                    <a:cubicBezTo>
                      <a:pt x="127" y="194"/>
                      <a:pt x="128" y="192"/>
                      <a:pt x="129" y="191"/>
                    </a:cubicBezTo>
                    <a:cubicBezTo>
                      <a:pt x="130" y="190"/>
                      <a:pt x="131" y="188"/>
                      <a:pt x="131" y="187"/>
                    </a:cubicBezTo>
                    <a:cubicBezTo>
                      <a:pt x="130" y="186"/>
                      <a:pt x="132" y="182"/>
                      <a:pt x="132" y="181"/>
                    </a:cubicBezTo>
                    <a:cubicBezTo>
                      <a:pt x="132" y="180"/>
                      <a:pt x="130" y="177"/>
                      <a:pt x="133" y="175"/>
                    </a:cubicBezTo>
                    <a:cubicBezTo>
                      <a:pt x="135" y="172"/>
                      <a:pt x="138" y="169"/>
                      <a:pt x="138" y="168"/>
                    </a:cubicBezTo>
                    <a:cubicBezTo>
                      <a:pt x="138" y="167"/>
                      <a:pt x="140" y="163"/>
                      <a:pt x="140" y="161"/>
                    </a:cubicBezTo>
                    <a:cubicBezTo>
                      <a:pt x="140" y="159"/>
                      <a:pt x="138" y="156"/>
                      <a:pt x="137" y="156"/>
                    </a:cubicBezTo>
                    <a:cubicBezTo>
                      <a:pt x="136" y="155"/>
                      <a:pt x="133" y="155"/>
                      <a:pt x="132" y="153"/>
                    </a:cubicBezTo>
                    <a:cubicBezTo>
                      <a:pt x="131" y="152"/>
                      <a:pt x="128" y="150"/>
                      <a:pt x="127" y="151"/>
                    </a:cubicBezTo>
                    <a:cubicBezTo>
                      <a:pt x="126" y="151"/>
                      <a:pt x="124" y="151"/>
                      <a:pt x="122" y="150"/>
                    </a:cubicBezTo>
                    <a:cubicBezTo>
                      <a:pt x="121" y="149"/>
                      <a:pt x="119" y="148"/>
                      <a:pt x="118" y="147"/>
                    </a:cubicBezTo>
                    <a:cubicBezTo>
                      <a:pt x="117" y="146"/>
                      <a:pt x="115" y="146"/>
                      <a:pt x="114" y="146"/>
                    </a:cubicBezTo>
                    <a:cubicBezTo>
                      <a:pt x="113" y="146"/>
                      <a:pt x="113" y="145"/>
                      <a:pt x="111" y="147"/>
                    </a:cubicBezTo>
                    <a:cubicBezTo>
                      <a:pt x="110" y="150"/>
                      <a:pt x="111" y="151"/>
                      <a:pt x="109" y="150"/>
                    </a:cubicBezTo>
                    <a:cubicBezTo>
                      <a:pt x="106" y="150"/>
                      <a:pt x="109" y="150"/>
                      <a:pt x="110" y="147"/>
                    </a:cubicBezTo>
                    <a:cubicBezTo>
                      <a:pt x="112" y="145"/>
                      <a:pt x="110" y="143"/>
                      <a:pt x="108" y="144"/>
                    </a:cubicBezTo>
                    <a:cubicBezTo>
                      <a:pt x="107" y="144"/>
                      <a:pt x="108" y="146"/>
                      <a:pt x="105" y="146"/>
                    </a:cubicBezTo>
                    <a:cubicBezTo>
                      <a:pt x="102" y="147"/>
                      <a:pt x="102" y="145"/>
                      <a:pt x="104" y="144"/>
                    </a:cubicBezTo>
                    <a:cubicBezTo>
                      <a:pt x="106" y="144"/>
                      <a:pt x="109" y="142"/>
                      <a:pt x="109" y="141"/>
                    </a:cubicBezTo>
                    <a:cubicBezTo>
                      <a:pt x="109" y="141"/>
                      <a:pt x="109" y="138"/>
                      <a:pt x="107" y="138"/>
                    </a:cubicBezTo>
                    <a:cubicBezTo>
                      <a:pt x="106" y="138"/>
                      <a:pt x="106" y="136"/>
                      <a:pt x="104" y="134"/>
                    </a:cubicBezTo>
                    <a:cubicBezTo>
                      <a:pt x="102" y="131"/>
                      <a:pt x="99" y="128"/>
                      <a:pt x="97" y="128"/>
                    </a:cubicBezTo>
                    <a:cubicBezTo>
                      <a:pt x="95" y="129"/>
                      <a:pt x="94" y="131"/>
                      <a:pt x="92" y="128"/>
                    </a:cubicBezTo>
                    <a:cubicBezTo>
                      <a:pt x="91" y="126"/>
                      <a:pt x="90" y="126"/>
                      <a:pt x="90" y="124"/>
                    </a:cubicBezTo>
                    <a:cubicBezTo>
                      <a:pt x="89" y="123"/>
                      <a:pt x="87" y="124"/>
                      <a:pt x="87" y="124"/>
                    </a:cubicBezTo>
                    <a:cubicBezTo>
                      <a:pt x="86" y="123"/>
                      <a:pt x="86" y="123"/>
                      <a:pt x="86" y="123"/>
                    </a:cubicBezTo>
                    <a:cubicBezTo>
                      <a:pt x="86" y="123"/>
                      <a:pt x="84" y="124"/>
                      <a:pt x="85" y="122"/>
                    </a:cubicBezTo>
                    <a:cubicBezTo>
                      <a:pt x="86" y="120"/>
                      <a:pt x="87" y="116"/>
                      <a:pt x="86" y="117"/>
                    </a:cubicBezTo>
                    <a:cubicBezTo>
                      <a:pt x="86" y="117"/>
                      <a:pt x="85" y="120"/>
                      <a:pt x="84" y="119"/>
                    </a:cubicBezTo>
                    <a:cubicBezTo>
                      <a:pt x="83" y="119"/>
                      <a:pt x="84" y="119"/>
                      <a:pt x="82" y="118"/>
                    </a:cubicBezTo>
                    <a:cubicBezTo>
                      <a:pt x="80" y="116"/>
                      <a:pt x="78" y="117"/>
                      <a:pt x="78" y="118"/>
                    </a:cubicBezTo>
                    <a:cubicBezTo>
                      <a:pt x="78" y="119"/>
                      <a:pt x="77" y="120"/>
                      <a:pt x="77" y="120"/>
                    </a:cubicBezTo>
                    <a:cubicBezTo>
                      <a:pt x="77" y="120"/>
                      <a:pt x="77" y="120"/>
                      <a:pt x="76" y="118"/>
                    </a:cubicBezTo>
                    <a:cubicBezTo>
                      <a:pt x="76" y="117"/>
                      <a:pt x="73" y="117"/>
                      <a:pt x="72" y="118"/>
                    </a:cubicBezTo>
                    <a:cubicBezTo>
                      <a:pt x="71" y="119"/>
                      <a:pt x="70" y="115"/>
                      <a:pt x="69" y="115"/>
                    </a:cubicBezTo>
                    <a:cubicBezTo>
                      <a:pt x="69" y="115"/>
                      <a:pt x="67" y="116"/>
                      <a:pt x="66" y="118"/>
                    </a:cubicBezTo>
                    <a:cubicBezTo>
                      <a:pt x="65" y="120"/>
                      <a:pt x="66" y="122"/>
                      <a:pt x="65" y="122"/>
                    </a:cubicBezTo>
                    <a:cubicBezTo>
                      <a:pt x="64" y="122"/>
                      <a:pt x="64" y="118"/>
                      <a:pt x="64" y="117"/>
                    </a:cubicBezTo>
                    <a:cubicBezTo>
                      <a:pt x="65" y="116"/>
                      <a:pt x="66" y="114"/>
                      <a:pt x="65" y="113"/>
                    </a:cubicBezTo>
                    <a:cubicBezTo>
                      <a:pt x="64" y="113"/>
                      <a:pt x="62" y="116"/>
                      <a:pt x="61" y="116"/>
                    </a:cubicBezTo>
                    <a:cubicBezTo>
                      <a:pt x="60" y="116"/>
                      <a:pt x="59" y="117"/>
                      <a:pt x="58" y="119"/>
                    </a:cubicBezTo>
                    <a:cubicBezTo>
                      <a:pt x="57" y="120"/>
                      <a:pt x="56" y="121"/>
                      <a:pt x="55" y="122"/>
                    </a:cubicBezTo>
                    <a:cubicBezTo>
                      <a:pt x="55" y="123"/>
                      <a:pt x="53" y="122"/>
                      <a:pt x="53" y="121"/>
                    </a:cubicBezTo>
                    <a:cubicBezTo>
                      <a:pt x="54" y="121"/>
                      <a:pt x="51" y="119"/>
                      <a:pt x="50" y="119"/>
                    </a:cubicBezTo>
                    <a:cubicBezTo>
                      <a:pt x="50" y="120"/>
                      <a:pt x="49" y="121"/>
                      <a:pt x="47" y="121"/>
                    </a:cubicBezTo>
                    <a:cubicBezTo>
                      <a:pt x="46" y="122"/>
                      <a:pt x="45" y="120"/>
                      <a:pt x="44" y="120"/>
                    </a:cubicBezTo>
                    <a:cubicBezTo>
                      <a:pt x="44" y="119"/>
                      <a:pt x="43" y="119"/>
                      <a:pt x="43" y="116"/>
                    </a:cubicBezTo>
                    <a:cubicBezTo>
                      <a:pt x="43" y="113"/>
                      <a:pt x="43" y="111"/>
                      <a:pt x="44" y="109"/>
                    </a:cubicBezTo>
                    <a:cubicBezTo>
                      <a:pt x="44" y="107"/>
                      <a:pt x="42" y="104"/>
                      <a:pt x="41" y="104"/>
                    </a:cubicBezTo>
                    <a:cubicBezTo>
                      <a:pt x="40" y="105"/>
                      <a:pt x="39" y="106"/>
                      <a:pt x="38" y="106"/>
                    </a:cubicBezTo>
                    <a:cubicBezTo>
                      <a:pt x="37" y="106"/>
                      <a:pt x="37" y="105"/>
                      <a:pt x="35" y="105"/>
                    </a:cubicBezTo>
                    <a:cubicBezTo>
                      <a:pt x="34" y="105"/>
                      <a:pt x="35" y="105"/>
                      <a:pt x="35" y="103"/>
                    </a:cubicBezTo>
                    <a:cubicBezTo>
                      <a:pt x="36" y="101"/>
                      <a:pt x="35" y="99"/>
                      <a:pt x="36" y="97"/>
                    </a:cubicBezTo>
                    <a:cubicBezTo>
                      <a:pt x="38" y="96"/>
                      <a:pt x="37" y="92"/>
                      <a:pt x="36" y="92"/>
                    </a:cubicBezTo>
                    <a:cubicBezTo>
                      <a:pt x="35" y="92"/>
                      <a:pt x="34" y="92"/>
                      <a:pt x="32" y="92"/>
                    </a:cubicBezTo>
                    <a:cubicBezTo>
                      <a:pt x="31" y="92"/>
                      <a:pt x="30" y="94"/>
                      <a:pt x="31" y="95"/>
                    </a:cubicBezTo>
                    <a:cubicBezTo>
                      <a:pt x="31" y="97"/>
                      <a:pt x="30" y="98"/>
                      <a:pt x="29" y="98"/>
                    </a:cubicBezTo>
                    <a:cubicBezTo>
                      <a:pt x="29" y="98"/>
                      <a:pt x="28" y="97"/>
                      <a:pt x="27" y="99"/>
                    </a:cubicBezTo>
                    <a:cubicBezTo>
                      <a:pt x="25" y="100"/>
                      <a:pt x="25" y="100"/>
                      <a:pt x="23" y="98"/>
                    </a:cubicBezTo>
                    <a:cubicBezTo>
                      <a:pt x="22" y="96"/>
                      <a:pt x="20" y="94"/>
                      <a:pt x="20" y="92"/>
                    </a:cubicBezTo>
                    <a:cubicBezTo>
                      <a:pt x="20" y="89"/>
                      <a:pt x="20" y="86"/>
                      <a:pt x="20" y="85"/>
                    </a:cubicBezTo>
                    <a:cubicBezTo>
                      <a:pt x="21" y="83"/>
                      <a:pt x="21" y="81"/>
                      <a:pt x="20" y="80"/>
                    </a:cubicBezTo>
                    <a:cubicBezTo>
                      <a:pt x="19" y="80"/>
                      <a:pt x="21" y="78"/>
                      <a:pt x="22" y="77"/>
                    </a:cubicBezTo>
                    <a:cubicBezTo>
                      <a:pt x="23" y="77"/>
                      <a:pt x="25" y="75"/>
                      <a:pt x="25" y="74"/>
                    </a:cubicBezTo>
                    <a:cubicBezTo>
                      <a:pt x="25" y="74"/>
                      <a:pt x="26" y="74"/>
                      <a:pt x="28" y="74"/>
                    </a:cubicBezTo>
                    <a:cubicBezTo>
                      <a:pt x="30" y="74"/>
                      <a:pt x="30" y="74"/>
                      <a:pt x="31" y="75"/>
                    </a:cubicBezTo>
                    <a:cubicBezTo>
                      <a:pt x="33" y="76"/>
                      <a:pt x="33" y="74"/>
                      <a:pt x="33" y="74"/>
                    </a:cubicBezTo>
                    <a:cubicBezTo>
                      <a:pt x="33" y="73"/>
                      <a:pt x="34" y="72"/>
                      <a:pt x="36" y="73"/>
                    </a:cubicBezTo>
                    <a:cubicBezTo>
                      <a:pt x="37" y="73"/>
                      <a:pt x="40" y="71"/>
                      <a:pt x="40" y="71"/>
                    </a:cubicBezTo>
                    <a:cubicBezTo>
                      <a:pt x="40" y="72"/>
                      <a:pt x="41" y="74"/>
                      <a:pt x="42" y="74"/>
                    </a:cubicBezTo>
                    <a:cubicBezTo>
                      <a:pt x="43" y="73"/>
                      <a:pt x="43" y="71"/>
                      <a:pt x="44" y="74"/>
                    </a:cubicBezTo>
                    <a:cubicBezTo>
                      <a:pt x="44" y="76"/>
                      <a:pt x="45" y="80"/>
                      <a:pt x="46" y="80"/>
                    </a:cubicBezTo>
                    <a:cubicBezTo>
                      <a:pt x="47" y="81"/>
                      <a:pt x="46" y="83"/>
                      <a:pt x="48" y="83"/>
                    </a:cubicBezTo>
                    <a:cubicBezTo>
                      <a:pt x="49" y="83"/>
                      <a:pt x="50" y="79"/>
                      <a:pt x="49" y="78"/>
                    </a:cubicBezTo>
                    <a:cubicBezTo>
                      <a:pt x="49" y="77"/>
                      <a:pt x="48" y="73"/>
                      <a:pt x="47" y="72"/>
                    </a:cubicBezTo>
                    <a:cubicBezTo>
                      <a:pt x="47" y="71"/>
                      <a:pt x="48" y="68"/>
                      <a:pt x="50" y="67"/>
                    </a:cubicBezTo>
                    <a:cubicBezTo>
                      <a:pt x="51" y="66"/>
                      <a:pt x="54" y="62"/>
                      <a:pt x="55" y="61"/>
                    </a:cubicBezTo>
                    <a:cubicBezTo>
                      <a:pt x="56" y="60"/>
                      <a:pt x="60" y="59"/>
                      <a:pt x="59" y="58"/>
                    </a:cubicBezTo>
                    <a:cubicBezTo>
                      <a:pt x="58" y="56"/>
                      <a:pt x="57" y="55"/>
                      <a:pt x="57" y="53"/>
                    </a:cubicBezTo>
                    <a:cubicBezTo>
                      <a:pt x="57" y="52"/>
                      <a:pt x="58" y="53"/>
                      <a:pt x="58" y="53"/>
                    </a:cubicBezTo>
                    <a:cubicBezTo>
                      <a:pt x="59" y="54"/>
                      <a:pt x="61" y="52"/>
                      <a:pt x="60" y="51"/>
                    </a:cubicBezTo>
                    <a:cubicBezTo>
                      <a:pt x="60" y="50"/>
                      <a:pt x="60" y="49"/>
                      <a:pt x="61" y="49"/>
                    </a:cubicBezTo>
                    <a:cubicBezTo>
                      <a:pt x="62" y="49"/>
                      <a:pt x="63" y="48"/>
                      <a:pt x="62" y="47"/>
                    </a:cubicBezTo>
                    <a:cubicBezTo>
                      <a:pt x="62" y="46"/>
                      <a:pt x="64" y="45"/>
                      <a:pt x="65" y="46"/>
                    </a:cubicBezTo>
                    <a:cubicBezTo>
                      <a:pt x="66" y="46"/>
                      <a:pt x="69" y="46"/>
                      <a:pt x="70" y="45"/>
                    </a:cubicBezTo>
                    <a:cubicBezTo>
                      <a:pt x="70" y="45"/>
                      <a:pt x="68" y="43"/>
                      <a:pt x="68" y="42"/>
                    </a:cubicBezTo>
                    <a:cubicBezTo>
                      <a:pt x="68" y="40"/>
                      <a:pt x="70" y="39"/>
                      <a:pt x="72" y="38"/>
                    </a:cubicBezTo>
                    <a:cubicBezTo>
                      <a:pt x="73" y="38"/>
                      <a:pt x="74" y="38"/>
                      <a:pt x="74" y="38"/>
                    </a:cubicBezTo>
                    <a:cubicBezTo>
                      <a:pt x="75" y="37"/>
                      <a:pt x="76" y="35"/>
                      <a:pt x="76" y="37"/>
                    </a:cubicBezTo>
                    <a:cubicBezTo>
                      <a:pt x="76" y="38"/>
                      <a:pt x="76" y="40"/>
                      <a:pt x="77" y="40"/>
                    </a:cubicBezTo>
                    <a:cubicBezTo>
                      <a:pt x="79" y="40"/>
                      <a:pt x="80" y="38"/>
                      <a:pt x="81" y="38"/>
                    </a:cubicBezTo>
                    <a:cubicBezTo>
                      <a:pt x="81" y="38"/>
                      <a:pt x="85" y="37"/>
                      <a:pt x="85" y="37"/>
                    </a:cubicBezTo>
                    <a:cubicBezTo>
                      <a:pt x="86" y="37"/>
                      <a:pt x="90" y="36"/>
                      <a:pt x="90" y="35"/>
                    </a:cubicBezTo>
                    <a:cubicBezTo>
                      <a:pt x="89" y="34"/>
                      <a:pt x="89" y="32"/>
                      <a:pt x="88" y="32"/>
                    </a:cubicBezTo>
                    <a:cubicBezTo>
                      <a:pt x="88" y="31"/>
                      <a:pt x="87" y="32"/>
                      <a:pt x="86" y="33"/>
                    </a:cubicBezTo>
                    <a:cubicBezTo>
                      <a:pt x="86" y="34"/>
                      <a:pt x="85" y="34"/>
                      <a:pt x="84" y="33"/>
                    </a:cubicBezTo>
                    <a:cubicBezTo>
                      <a:pt x="84" y="32"/>
                      <a:pt x="85" y="30"/>
                      <a:pt x="83" y="31"/>
                    </a:cubicBezTo>
                    <a:cubicBezTo>
                      <a:pt x="82" y="32"/>
                      <a:pt x="82" y="32"/>
                      <a:pt x="81" y="32"/>
                    </a:cubicBezTo>
                    <a:cubicBezTo>
                      <a:pt x="81" y="32"/>
                      <a:pt x="80" y="30"/>
                      <a:pt x="80" y="30"/>
                    </a:cubicBezTo>
                    <a:cubicBezTo>
                      <a:pt x="80" y="30"/>
                      <a:pt x="82" y="29"/>
                      <a:pt x="81" y="28"/>
                    </a:cubicBezTo>
                    <a:cubicBezTo>
                      <a:pt x="80" y="26"/>
                      <a:pt x="78" y="27"/>
                      <a:pt x="77" y="28"/>
                    </a:cubicBezTo>
                    <a:cubicBezTo>
                      <a:pt x="75" y="29"/>
                      <a:pt x="75" y="29"/>
                      <a:pt x="73" y="29"/>
                    </a:cubicBezTo>
                    <a:cubicBezTo>
                      <a:pt x="71" y="30"/>
                      <a:pt x="70" y="30"/>
                      <a:pt x="70" y="30"/>
                    </a:cubicBezTo>
                    <a:cubicBezTo>
                      <a:pt x="70" y="30"/>
                      <a:pt x="71" y="28"/>
                      <a:pt x="72" y="26"/>
                    </a:cubicBezTo>
                    <a:cubicBezTo>
                      <a:pt x="73" y="25"/>
                      <a:pt x="77" y="25"/>
                      <a:pt x="78" y="24"/>
                    </a:cubicBezTo>
                    <a:cubicBezTo>
                      <a:pt x="79" y="23"/>
                      <a:pt x="81" y="25"/>
                      <a:pt x="81" y="25"/>
                    </a:cubicBezTo>
                    <a:cubicBezTo>
                      <a:pt x="81" y="25"/>
                      <a:pt x="83" y="23"/>
                      <a:pt x="83" y="24"/>
                    </a:cubicBezTo>
                    <a:cubicBezTo>
                      <a:pt x="83" y="25"/>
                      <a:pt x="82" y="27"/>
                      <a:pt x="83" y="27"/>
                    </a:cubicBezTo>
                    <a:cubicBezTo>
                      <a:pt x="84" y="27"/>
                      <a:pt x="87" y="26"/>
                      <a:pt x="86" y="25"/>
                    </a:cubicBezTo>
                    <a:cubicBezTo>
                      <a:pt x="85" y="25"/>
                      <a:pt x="87" y="24"/>
                      <a:pt x="88" y="23"/>
                    </a:cubicBezTo>
                    <a:cubicBezTo>
                      <a:pt x="89" y="22"/>
                      <a:pt x="91" y="23"/>
                      <a:pt x="92" y="23"/>
                    </a:cubicBezTo>
                    <a:cubicBezTo>
                      <a:pt x="92" y="23"/>
                      <a:pt x="93" y="21"/>
                      <a:pt x="94" y="21"/>
                    </a:cubicBezTo>
                    <a:cubicBezTo>
                      <a:pt x="95" y="21"/>
                      <a:pt x="96" y="22"/>
                      <a:pt x="94" y="24"/>
                    </a:cubicBezTo>
                    <a:cubicBezTo>
                      <a:pt x="92" y="25"/>
                      <a:pt x="92" y="28"/>
                      <a:pt x="91" y="28"/>
                    </a:cubicBezTo>
                    <a:cubicBezTo>
                      <a:pt x="90" y="29"/>
                      <a:pt x="91" y="30"/>
                      <a:pt x="92" y="30"/>
                    </a:cubicBezTo>
                    <a:cubicBezTo>
                      <a:pt x="93" y="30"/>
                      <a:pt x="95" y="30"/>
                      <a:pt x="96" y="30"/>
                    </a:cubicBezTo>
                    <a:cubicBezTo>
                      <a:pt x="97" y="29"/>
                      <a:pt x="98" y="30"/>
                      <a:pt x="98" y="30"/>
                    </a:cubicBezTo>
                    <a:cubicBezTo>
                      <a:pt x="98" y="31"/>
                      <a:pt x="99" y="30"/>
                      <a:pt x="99" y="30"/>
                    </a:cubicBezTo>
                    <a:cubicBezTo>
                      <a:pt x="99" y="30"/>
                      <a:pt x="102" y="29"/>
                      <a:pt x="102" y="30"/>
                    </a:cubicBezTo>
                    <a:cubicBezTo>
                      <a:pt x="103" y="31"/>
                      <a:pt x="103" y="29"/>
                      <a:pt x="103" y="29"/>
                    </a:cubicBezTo>
                    <a:cubicBezTo>
                      <a:pt x="102" y="28"/>
                      <a:pt x="102" y="27"/>
                      <a:pt x="101" y="26"/>
                    </a:cubicBezTo>
                    <a:cubicBezTo>
                      <a:pt x="101" y="24"/>
                      <a:pt x="100" y="24"/>
                      <a:pt x="99" y="25"/>
                    </a:cubicBezTo>
                    <a:cubicBezTo>
                      <a:pt x="98" y="25"/>
                      <a:pt x="97" y="24"/>
                      <a:pt x="96" y="24"/>
                    </a:cubicBezTo>
                    <a:cubicBezTo>
                      <a:pt x="96" y="23"/>
                      <a:pt x="95" y="24"/>
                      <a:pt x="96" y="23"/>
                    </a:cubicBezTo>
                    <a:cubicBezTo>
                      <a:pt x="96" y="22"/>
                      <a:pt x="97" y="21"/>
                      <a:pt x="97" y="20"/>
                    </a:cubicBezTo>
                    <a:cubicBezTo>
                      <a:pt x="98" y="19"/>
                      <a:pt x="100" y="17"/>
                      <a:pt x="98" y="17"/>
                    </a:cubicBezTo>
                    <a:cubicBezTo>
                      <a:pt x="96" y="16"/>
                      <a:pt x="95" y="16"/>
                      <a:pt x="95" y="15"/>
                    </a:cubicBezTo>
                    <a:cubicBezTo>
                      <a:pt x="95" y="14"/>
                      <a:pt x="92" y="12"/>
                      <a:pt x="92" y="12"/>
                    </a:cubicBezTo>
                    <a:cubicBezTo>
                      <a:pt x="91" y="12"/>
                      <a:pt x="88" y="13"/>
                      <a:pt x="88" y="12"/>
                    </a:cubicBezTo>
                    <a:cubicBezTo>
                      <a:pt x="88" y="11"/>
                      <a:pt x="87" y="8"/>
                      <a:pt x="86" y="8"/>
                    </a:cubicBezTo>
                    <a:cubicBezTo>
                      <a:pt x="86" y="7"/>
                      <a:pt x="83" y="3"/>
                      <a:pt x="82" y="3"/>
                    </a:cubicBezTo>
                    <a:cubicBezTo>
                      <a:pt x="82" y="3"/>
                      <a:pt x="81" y="3"/>
                      <a:pt x="80" y="5"/>
                    </a:cubicBezTo>
                    <a:cubicBezTo>
                      <a:pt x="78" y="7"/>
                      <a:pt x="77" y="7"/>
                      <a:pt x="76" y="7"/>
                    </a:cubicBezTo>
                    <a:cubicBezTo>
                      <a:pt x="75" y="7"/>
                      <a:pt x="73" y="7"/>
                      <a:pt x="73" y="6"/>
                    </a:cubicBezTo>
                    <a:cubicBezTo>
                      <a:pt x="72" y="5"/>
                      <a:pt x="75" y="4"/>
                      <a:pt x="74" y="3"/>
                    </a:cubicBezTo>
                    <a:cubicBezTo>
                      <a:pt x="74" y="2"/>
                      <a:pt x="72" y="2"/>
                      <a:pt x="70" y="2"/>
                    </a:cubicBezTo>
                    <a:cubicBezTo>
                      <a:pt x="69" y="2"/>
                      <a:pt x="68" y="0"/>
                      <a:pt x="65" y="0"/>
                    </a:cubicBezTo>
                    <a:cubicBezTo>
                      <a:pt x="63" y="0"/>
                      <a:pt x="60" y="1"/>
                      <a:pt x="60" y="1"/>
                    </a:cubicBezTo>
                    <a:cubicBezTo>
                      <a:pt x="59" y="1"/>
                      <a:pt x="59" y="2"/>
                      <a:pt x="58" y="4"/>
                    </a:cubicBezTo>
                    <a:cubicBezTo>
                      <a:pt x="58" y="6"/>
                      <a:pt x="59" y="6"/>
                      <a:pt x="58" y="7"/>
                    </a:cubicBezTo>
                    <a:cubicBezTo>
                      <a:pt x="56" y="7"/>
                      <a:pt x="56" y="7"/>
                      <a:pt x="57" y="8"/>
                    </a:cubicBezTo>
                    <a:cubicBezTo>
                      <a:pt x="58" y="9"/>
                      <a:pt x="60" y="11"/>
                      <a:pt x="60" y="11"/>
                    </a:cubicBezTo>
                    <a:cubicBezTo>
                      <a:pt x="60" y="11"/>
                      <a:pt x="59" y="13"/>
                      <a:pt x="58" y="14"/>
                    </a:cubicBezTo>
                    <a:cubicBezTo>
                      <a:pt x="57" y="15"/>
                      <a:pt x="56" y="16"/>
                      <a:pt x="56" y="15"/>
                    </a:cubicBezTo>
                    <a:cubicBezTo>
                      <a:pt x="55" y="14"/>
                      <a:pt x="53" y="14"/>
                      <a:pt x="54" y="15"/>
                    </a:cubicBezTo>
                    <a:cubicBezTo>
                      <a:pt x="54" y="16"/>
                      <a:pt x="55" y="16"/>
                      <a:pt x="55" y="17"/>
                    </a:cubicBezTo>
                    <a:cubicBezTo>
                      <a:pt x="55" y="19"/>
                      <a:pt x="56" y="21"/>
                      <a:pt x="55" y="22"/>
                    </a:cubicBezTo>
                    <a:cubicBezTo>
                      <a:pt x="54" y="23"/>
                      <a:pt x="53" y="22"/>
                      <a:pt x="52" y="23"/>
                    </a:cubicBezTo>
                    <a:cubicBezTo>
                      <a:pt x="51" y="23"/>
                      <a:pt x="51" y="21"/>
                      <a:pt x="51" y="21"/>
                    </a:cubicBezTo>
                    <a:cubicBezTo>
                      <a:pt x="52" y="21"/>
                      <a:pt x="51" y="18"/>
                      <a:pt x="51" y="18"/>
                    </a:cubicBezTo>
                    <a:cubicBezTo>
                      <a:pt x="51" y="18"/>
                      <a:pt x="49" y="21"/>
                      <a:pt x="50" y="19"/>
                    </a:cubicBezTo>
                    <a:cubicBezTo>
                      <a:pt x="50" y="18"/>
                      <a:pt x="49" y="18"/>
                      <a:pt x="49" y="17"/>
                    </a:cubicBezTo>
                    <a:cubicBezTo>
                      <a:pt x="49" y="15"/>
                      <a:pt x="48" y="14"/>
                      <a:pt x="47" y="14"/>
                    </a:cubicBezTo>
                    <a:cubicBezTo>
                      <a:pt x="46" y="15"/>
                      <a:pt x="44" y="15"/>
                      <a:pt x="42" y="15"/>
                    </a:cubicBezTo>
                    <a:cubicBezTo>
                      <a:pt x="39" y="14"/>
                      <a:pt x="39" y="14"/>
                      <a:pt x="37" y="13"/>
                    </a:cubicBezTo>
                    <a:cubicBezTo>
                      <a:pt x="35" y="12"/>
                      <a:pt x="34" y="13"/>
                      <a:pt x="33" y="13"/>
                    </a:cubicBezTo>
                    <a:cubicBezTo>
                      <a:pt x="32" y="14"/>
                      <a:pt x="32" y="12"/>
                      <a:pt x="32" y="12"/>
                    </a:cubicBezTo>
                    <a:cubicBezTo>
                      <a:pt x="17" y="30"/>
                      <a:pt x="6" y="53"/>
                      <a:pt x="0" y="77"/>
                    </a:cubicBezTo>
                    <a:cubicBezTo>
                      <a:pt x="1" y="78"/>
                      <a:pt x="2" y="80"/>
                      <a:pt x="2" y="80"/>
                    </a:cubicBezTo>
                    <a:cubicBezTo>
                      <a:pt x="3" y="82"/>
                      <a:pt x="5" y="87"/>
                      <a:pt x="6" y="87"/>
                    </a:cubicBezTo>
                    <a:cubicBezTo>
                      <a:pt x="6" y="87"/>
                      <a:pt x="8" y="90"/>
                      <a:pt x="8" y="90"/>
                    </a:cubicBezTo>
                    <a:cubicBezTo>
                      <a:pt x="8" y="90"/>
                      <a:pt x="9" y="92"/>
                      <a:pt x="8" y="93"/>
                    </a:cubicBezTo>
                    <a:cubicBezTo>
                      <a:pt x="8" y="94"/>
                      <a:pt x="9" y="96"/>
                      <a:pt x="10" y="97"/>
                    </a:cubicBezTo>
                    <a:cubicBezTo>
                      <a:pt x="10" y="98"/>
                      <a:pt x="14" y="98"/>
                      <a:pt x="14" y="101"/>
                    </a:cubicBezTo>
                    <a:cubicBezTo>
                      <a:pt x="14" y="101"/>
                      <a:pt x="15" y="105"/>
                      <a:pt x="16" y="105"/>
                    </a:cubicBezTo>
                    <a:cubicBezTo>
                      <a:pt x="18" y="105"/>
                      <a:pt x="20" y="104"/>
                      <a:pt x="20" y="105"/>
                    </a:cubicBezTo>
                    <a:cubicBezTo>
                      <a:pt x="20" y="105"/>
                      <a:pt x="22" y="108"/>
                      <a:pt x="22" y="106"/>
                    </a:cubicBezTo>
                    <a:cubicBezTo>
                      <a:pt x="23" y="105"/>
                      <a:pt x="23" y="104"/>
                      <a:pt x="24" y="104"/>
                    </a:cubicBezTo>
                    <a:cubicBezTo>
                      <a:pt x="26" y="104"/>
                      <a:pt x="26" y="106"/>
                      <a:pt x="27" y="107"/>
                    </a:cubicBezTo>
                    <a:cubicBezTo>
                      <a:pt x="28" y="108"/>
                      <a:pt x="30" y="110"/>
                      <a:pt x="31" y="110"/>
                    </a:cubicBezTo>
                    <a:cubicBezTo>
                      <a:pt x="31" y="110"/>
                      <a:pt x="33" y="112"/>
                      <a:pt x="33" y="111"/>
                    </a:cubicBezTo>
                    <a:cubicBezTo>
                      <a:pt x="34" y="111"/>
                      <a:pt x="35" y="112"/>
                      <a:pt x="36" y="112"/>
                    </a:cubicBezTo>
                    <a:cubicBezTo>
                      <a:pt x="36" y="112"/>
                      <a:pt x="38" y="114"/>
                      <a:pt x="38" y="116"/>
                    </a:cubicBezTo>
                    <a:cubicBezTo>
                      <a:pt x="37" y="119"/>
                      <a:pt x="40" y="119"/>
                      <a:pt x="40" y="120"/>
                    </a:cubicBezTo>
                    <a:cubicBezTo>
                      <a:pt x="41" y="120"/>
                      <a:pt x="43" y="122"/>
                      <a:pt x="43" y="123"/>
                    </a:cubicBezTo>
                    <a:cubicBezTo>
                      <a:pt x="44" y="124"/>
                      <a:pt x="46" y="124"/>
                      <a:pt x="46" y="125"/>
                    </a:cubicBezTo>
                    <a:cubicBezTo>
                      <a:pt x="47" y="125"/>
                      <a:pt x="47" y="126"/>
                      <a:pt x="48" y="125"/>
                    </a:cubicBezTo>
                    <a:cubicBezTo>
                      <a:pt x="50" y="125"/>
                      <a:pt x="49" y="123"/>
                      <a:pt x="49" y="123"/>
                    </a:cubicBezTo>
                    <a:cubicBezTo>
                      <a:pt x="49" y="123"/>
                      <a:pt x="51" y="122"/>
                      <a:pt x="52" y="123"/>
                    </a:cubicBezTo>
                    <a:cubicBezTo>
                      <a:pt x="52" y="124"/>
                      <a:pt x="53" y="127"/>
                      <a:pt x="53" y="127"/>
                    </a:cubicBezTo>
                    <a:cubicBezTo>
                      <a:pt x="54" y="127"/>
                      <a:pt x="55" y="130"/>
                      <a:pt x="54" y="133"/>
                    </a:cubicBezTo>
                    <a:cubicBezTo>
                      <a:pt x="54" y="135"/>
                      <a:pt x="54" y="137"/>
                      <a:pt x="53" y="137"/>
                    </a:cubicBezTo>
                    <a:cubicBezTo>
                      <a:pt x="53" y="137"/>
                      <a:pt x="51" y="139"/>
                      <a:pt x="50" y="139"/>
                    </a:cubicBezTo>
                    <a:cubicBezTo>
                      <a:pt x="49" y="140"/>
                      <a:pt x="48" y="143"/>
                      <a:pt x="48" y="144"/>
                    </a:cubicBezTo>
                    <a:cubicBezTo>
                      <a:pt x="48" y="145"/>
                      <a:pt x="49" y="148"/>
                      <a:pt x="49" y="150"/>
                    </a:cubicBezTo>
                    <a:cubicBezTo>
                      <a:pt x="49" y="151"/>
                      <a:pt x="48" y="152"/>
                      <a:pt x="48" y="154"/>
                    </a:cubicBezTo>
                    <a:cubicBezTo>
                      <a:pt x="49" y="157"/>
                      <a:pt x="52" y="157"/>
                      <a:pt x="52" y="159"/>
                    </a:cubicBezTo>
                    <a:cubicBezTo>
                      <a:pt x="52" y="161"/>
                      <a:pt x="55" y="166"/>
                      <a:pt x="55" y="167"/>
                    </a:cubicBezTo>
                    <a:cubicBezTo>
                      <a:pt x="56" y="169"/>
                      <a:pt x="58" y="172"/>
                      <a:pt x="58" y="174"/>
                    </a:cubicBezTo>
                    <a:cubicBezTo>
                      <a:pt x="58" y="177"/>
                      <a:pt x="63" y="179"/>
                      <a:pt x="64" y="179"/>
                    </a:cubicBezTo>
                    <a:cubicBezTo>
                      <a:pt x="64" y="179"/>
                      <a:pt x="66" y="181"/>
                      <a:pt x="67" y="181"/>
                    </a:cubicBezTo>
                    <a:cubicBezTo>
                      <a:pt x="68" y="182"/>
                      <a:pt x="69" y="183"/>
                      <a:pt x="70" y="185"/>
                    </a:cubicBezTo>
                    <a:cubicBezTo>
                      <a:pt x="71" y="186"/>
                      <a:pt x="71" y="188"/>
                      <a:pt x="71" y="189"/>
                    </a:cubicBezTo>
                    <a:cubicBezTo>
                      <a:pt x="71" y="189"/>
                      <a:pt x="71" y="195"/>
                      <a:pt x="71" y="198"/>
                    </a:cubicBezTo>
                    <a:cubicBezTo>
                      <a:pt x="71" y="201"/>
                      <a:pt x="73" y="204"/>
                      <a:pt x="72" y="205"/>
                    </a:cubicBezTo>
                    <a:cubicBezTo>
                      <a:pt x="71" y="205"/>
                      <a:pt x="69" y="206"/>
                      <a:pt x="70" y="207"/>
                    </a:cubicBezTo>
                    <a:cubicBezTo>
                      <a:pt x="71" y="208"/>
                      <a:pt x="70" y="208"/>
                      <a:pt x="70" y="209"/>
                    </a:cubicBezTo>
                    <a:cubicBezTo>
                      <a:pt x="70" y="209"/>
                      <a:pt x="71" y="212"/>
                      <a:pt x="71" y="213"/>
                    </a:cubicBezTo>
                    <a:cubicBezTo>
                      <a:pt x="70" y="214"/>
                      <a:pt x="70" y="216"/>
                      <a:pt x="70" y="217"/>
                    </a:cubicBezTo>
                    <a:cubicBezTo>
                      <a:pt x="69" y="217"/>
                      <a:pt x="68" y="218"/>
                      <a:pt x="69" y="220"/>
                    </a:cubicBezTo>
                    <a:cubicBezTo>
                      <a:pt x="69" y="221"/>
                      <a:pt x="68" y="221"/>
                      <a:pt x="68" y="222"/>
                    </a:cubicBezTo>
                    <a:cubicBezTo>
                      <a:pt x="68" y="223"/>
                      <a:pt x="70" y="223"/>
                      <a:pt x="70" y="224"/>
                    </a:cubicBezTo>
                    <a:cubicBezTo>
                      <a:pt x="69" y="226"/>
                      <a:pt x="69" y="226"/>
                      <a:pt x="69" y="227"/>
                    </a:cubicBezTo>
                    <a:cubicBezTo>
                      <a:pt x="69" y="229"/>
                      <a:pt x="70" y="230"/>
                      <a:pt x="70" y="231"/>
                    </a:cubicBezTo>
                    <a:cubicBezTo>
                      <a:pt x="70" y="231"/>
                      <a:pt x="70" y="232"/>
                      <a:pt x="69" y="233"/>
                    </a:cubicBezTo>
                    <a:cubicBezTo>
                      <a:pt x="68" y="234"/>
                      <a:pt x="68" y="235"/>
                      <a:pt x="68" y="236"/>
                    </a:cubicBezTo>
                    <a:cubicBezTo>
                      <a:pt x="68" y="236"/>
                      <a:pt x="69" y="237"/>
                      <a:pt x="69" y="238"/>
                    </a:cubicBezTo>
                    <a:cubicBezTo>
                      <a:pt x="69" y="238"/>
                      <a:pt x="68" y="239"/>
                      <a:pt x="69" y="240"/>
                    </a:cubicBezTo>
                    <a:cubicBezTo>
                      <a:pt x="69" y="241"/>
                      <a:pt x="70" y="241"/>
                      <a:pt x="71" y="241"/>
                    </a:cubicBezTo>
                    <a:cubicBezTo>
                      <a:pt x="71" y="242"/>
                      <a:pt x="69" y="242"/>
                      <a:pt x="70" y="243"/>
                    </a:cubicBezTo>
                    <a:cubicBezTo>
                      <a:pt x="71" y="244"/>
                      <a:pt x="72" y="243"/>
                      <a:pt x="72" y="245"/>
                    </a:cubicBezTo>
                    <a:cubicBezTo>
                      <a:pt x="72" y="245"/>
                      <a:pt x="73" y="246"/>
                      <a:pt x="73" y="246"/>
                    </a:cubicBezTo>
                    <a:cubicBezTo>
                      <a:pt x="73" y="246"/>
                      <a:pt x="74" y="246"/>
                      <a:pt x="74" y="246"/>
                    </a:cubicBezTo>
                    <a:cubicBezTo>
                      <a:pt x="74" y="247"/>
                      <a:pt x="75" y="247"/>
                      <a:pt x="75" y="247"/>
                    </a:cubicBezTo>
                    <a:cubicBezTo>
                      <a:pt x="75" y="247"/>
                      <a:pt x="77" y="248"/>
                      <a:pt x="77" y="248"/>
                    </a:cubicBezTo>
                    <a:close/>
                    <a:moveTo>
                      <a:pt x="55" y="38"/>
                    </a:moveTo>
                    <a:cubicBezTo>
                      <a:pt x="55" y="38"/>
                      <a:pt x="58" y="37"/>
                      <a:pt x="59" y="38"/>
                    </a:cubicBezTo>
                    <a:cubicBezTo>
                      <a:pt x="60" y="39"/>
                      <a:pt x="58" y="39"/>
                      <a:pt x="57" y="40"/>
                    </a:cubicBezTo>
                    <a:cubicBezTo>
                      <a:pt x="55" y="41"/>
                      <a:pt x="55" y="41"/>
                      <a:pt x="54" y="42"/>
                    </a:cubicBezTo>
                    <a:cubicBezTo>
                      <a:pt x="53" y="43"/>
                      <a:pt x="51" y="43"/>
                      <a:pt x="50" y="44"/>
                    </a:cubicBezTo>
                    <a:cubicBezTo>
                      <a:pt x="49" y="45"/>
                      <a:pt x="48" y="46"/>
                      <a:pt x="47" y="45"/>
                    </a:cubicBezTo>
                    <a:cubicBezTo>
                      <a:pt x="47" y="44"/>
                      <a:pt x="48" y="45"/>
                      <a:pt x="48" y="44"/>
                    </a:cubicBezTo>
                    <a:cubicBezTo>
                      <a:pt x="48" y="44"/>
                      <a:pt x="51" y="42"/>
                      <a:pt x="51" y="42"/>
                    </a:cubicBezTo>
                    <a:cubicBezTo>
                      <a:pt x="51" y="42"/>
                      <a:pt x="54" y="37"/>
                      <a:pt x="55" y="38"/>
                    </a:cubicBezTo>
                    <a:close/>
                    <a:moveTo>
                      <a:pt x="50" y="34"/>
                    </a:moveTo>
                    <a:cubicBezTo>
                      <a:pt x="51" y="34"/>
                      <a:pt x="53" y="37"/>
                      <a:pt x="52" y="37"/>
                    </a:cubicBezTo>
                    <a:cubicBezTo>
                      <a:pt x="51" y="38"/>
                      <a:pt x="50" y="37"/>
                      <a:pt x="50" y="35"/>
                    </a:cubicBezTo>
                    <a:cubicBezTo>
                      <a:pt x="50" y="34"/>
                      <a:pt x="49" y="38"/>
                      <a:pt x="49" y="39"/>
                    </a:cubicBezTo>
                    <a:cubicBezTo>
                      <a:pt x="50" y="40"/>
                      <a:pt x="48" y="42"/>
                      <a:pt x="48" y="42"/>
                    </a:cubicBezTo>
                    <a:cubicBezTo>
                      <a:pt x="47" y="42"/>
                      <a:pt x="47" y="40"/>
                      <a:pt x="47" y="38"/>
                    </a:cubicBezTo>
                    <a:cubicBezTo>
                      <a:pt x="47" y="37"/>
                      <a:pt x="46" y="35"/>
                      <a:pt x="45" y="35"/>
                    </a:cubicBezTo>
                    <a:cubicBezTo>
                      <a:pt x="43" y="36"/>
                      <a:pt x="42" y="38"/>
                      <a:pt x="41" y="38"/>
                    </a:cubicBezTo>
                    <a:cubicBezTo>
                      <a:pt x="41" y="39"/>
                      <a:pt x="41" y="42"/>
                      <a:pt x="41" y="43"/>
                    </a:cubicBezTo>
                    <a:cubicBezTo>
                      <a:pt x="41" y="43"/>
                      <a:pt x="41" y="46"/>
                      <a:pt x="39" y="46"/>
                    </a:cubicBezTo>
                    <a:cubicBezTo>
                      <a:pt x="38" y="46"/>
                      <a:pt x="38" y="43"/>
                      <a:pt x="39" y="42"/>
                    </a:cubicBezTo>
                    <a:cubicBezTo>
                      <a:pt x="39" y="40"/>
                      <a:pt x="38" y="38"/>
                      <a:pt x="39" y="36"/>
                    </a:cubicBezTo>
                    <a:cubicBezTo>
                      <a:pt x="40" y="35"/>
                      <a:pt x="42" y="34"/>
                      <a:pt x="43" y="34"/>
                    </a:cubicBezTo>
                    <a:cubicBezTo>
                      <a:pt x="44" y="33"/>
                      <a:pt x="46" y="34"/>
                      <a:pt x="47" y="34"/>
                    </a:cubicBezTo>
                    <a:cubicBezTo>
                      <a:pt x="47" y="34"/>
                      <a:pt x="49" y="34"/>
                      <a:pt x="50" y="34"/>
                    </a:cubicBezTo>
                    <a:close/>
                    <a:moveTo>
                      <a:pt x="36" y="30"/>
                    </a:moveTo>
                    <a:cubicBezTo>
                      <a:pt x="38" y="29"/>
                      <a:pt x="40" y="26"/>
                      <a:pt x="41" y="27"/>
                    </a:cubicBezTo>
                    <a:cubicBezTo>
                      <a:pt x="44" y="29"/>
                      <a:pt x="44" y="29"/>
                      <a:pt x="44" y="29"/>
                    </a:cubicBezTo>
                    <a:cubicBezTo>
                      <a:pt x="45" y="30"/>
                      <a:pt x="44" y="32"/>
                      <a:pt x="43" y="32"/>
                    </a:cubicBezTo>
                    <a:cubicBezTo>
                      <a:pt x="43" y="32"/>
                      <a:pt x="41" y="32"/>
                      <a:pt x="40" y="32"/>
                    </a:cubicBezTo>
                    <a:cubicBezTo>
                      <a:pt x="39" y="32"/>
                      <a:pt x="39" y="31"/>
                      <a:pt x="38" y="31"/>
                    </a:cubicBezTo>
                    <a:cubicBezTo>
                      <a:pt x="38" y="31"/>
                      <a:pt x="36" y="32"/>
                      <a:pt x="36" y="33"/>
                    </a:cubicBezTo>
                    <a:cubicBezTo>
                      <a:pt x="35" y="33"/>
                      <a:pt x="33" y="33"/>
                      <a:pt x="33" y="32"/>
                    </a:cubicBezTo>
                    <a:cubicBezTo>
                      <a:pt x="33" y="31"/>
                      <a:pt x="34" y="31"/>
                      <a:pt x="36" y="30"/>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63" name="Freeform: Shape 12"/>
              <p:cNvSpPr/>
              <p:nvPr/>
            </p:nvSpPr>
            <p:spPr bwMode="auto">
              <a:xfrm>
                <a:off x="4027923" y="3236499"/>
                <a:ext cx="64499" cy="24274"/>
              </a:xfrm>
              <a:custGeom>
                <a:avLst/>
                <a:gdLst>
                  <a:gd name="T0" fmla="*/ 2 w 13"/>
                  <a:gd name="T1" fmla="*/ 4 h 5"/>
                  <a:gd name="T2" fmla="*/ 2 w 13"/>
                  <a:gd name="T3" fmla="*/ 5 h 5"/>
                  <a:gd name="T4" fmla="*/ 5 w 13"/>
                  <a:gd name="T5" fmla="*/ 4 h 5"/>
                  <a:gd name="T6" fmla="*/ 8 w 13"/>
                  <a:gd name="T7" fmla="*/ 3 h 5"/>
                  <a:gd name="T8" fmla="*/ 10 w 13"/>
                  <a:gd name="T9" fmla="*/ 5 h 5"/>
                  <a:gd name="T10" fmla="*/ 11 w 13"/>
                  <a:gd name="T11" fmla="*/ 3 h 5"/>
                  <a:gd name="T12" fmla="*/ 7 w 13"/>
                  <a:gd name="T13" fmla="*/ 1 h 5"/>
                  <a:gd name="T14" fmla="*/ 5 w 13"/>
                  <a:gd name="T15" fmla="*/ 0 h 5"/>
                  <a:gd name="T16" fmla="*/ 4 w 13"/>
                  <a:gd name="T17" fmla="*/ 1 h 5"/>
                  <a:gd name="T18" fmla="*/ 2 w 13"/>
                  <a:gd name="T19" fmla="*/ 3 h 5"/>
                  <a:gd name="T20" fmla="*/ 2 w 13"/>
                  <a:gd name="T21" fmla="*/ 4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5">
                    <a:moveTo>
                      <a:pt x="2" y="4"/>
                    </a:moveTo>
                    <a:cubicBezTo>
                      <a:pt x="0" y="5"/>
                      <a:pt x="1" y="5"/>
                      <a:pt x="2" y="5"/>
                    </a:cubicBezTo>
                    <a:cubicBezTo>
                      <a:pt x="3" y="5"/>
                      <a:pt x="5" y="4"/>
                      <a:pt x="5" y="4"/>
                    </a:cubicBezTo>
                    <a:cubicBezTo>
                      <a:pt x="5" y="4"/>
                      <a:pt x="8" y="2"/>
                      <a:pt x="8" y="3"/>
                    </a:cubicBezTo>
                    <a:cubicBezTo>
                      <a:pt x="9" y="4"/>
                      <a:pt x="8" y="5"/>
                      <a:pt x="10" y="5"/>
                    </a:cubicBezTo>
                    <a:cubicBezTo>
                      <a:pt x="11" y="5"/>
                      <a:pt x="13" y="4"/>
                      <a:pt x="11" y="3"/>
                    </a:cubicBezTo>
                    <a:cubicBezTo>
                      <a:pt x="9" y="2"/>
                      <a:pt x="8" y="2"/>
                      <a:pt x="7" y="1"/>
                    </a:cubicBezTo>
                    <a:cubicBezTo>
                      <a:pt x="6" y="0"/>
                      <a:pt x="6" y="0"/>
                      <a:pt x="5" y="0"/>
                    </a:cubicBezTo>
                    <a:cubicBezTo>
                      <a:pt x="5" y="1"/>
                      <a:pt x="5" y="1"/>
                      <a:pt x="4" y="1"/>
                    </a:cubicBezTo>
                    <a:cubicBezTo>
                      <a:pt x="4" y="1"/>
                      <a:pt x="3" y="2"/>
                      <a:pt x="2" y="3"/>
                    </a:cubicBezTo>
                    <a:cubicBezTo>
                      <a:pt x="2" y="3"/>
                      <a:pt x="2" y="3"/>
                      <a:pt x="2" y="4"/>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64" name="Freeform: Shape 13"/>
              <p:cNvSpPr/>
              <p:nvPr/>
            </p:nvSpPr>
            <p:spPr bwMode="auto">
              <a:xfrm>
                <a:off x="4052891" y="3260773"/>
                <a:ext cx="14564" cy="10403"/>
              </a:xfrm>
              <a:custGeom>
                <a:avLst/>
                <a:gdLst>
                  <a:gd name="T0" fmla="*/ 0 w 3"/>
                  <a:gd name="T1" fmla="*/ 1 h 2"/>
                  <a:gd name="T2" fmla="*/ 3 w 3"/>
                  <a:gd name="T3" fmla="*/ 2 h 2"/>
                  <a:gd name="T4" fmla="*/ 0 w 3"/>
                  <a:gd name="T5" fmla="*/ 1 h 2"/>
                </a:gdLst>
                <a:ahLst/>
                <a:cxnLst>
                  <a:cxn ang="0">
                    <a:pos x="T0" y="T1"/>
                  </a:cxn>
                  <a:cxn ang="0">
                    <a:pos x="T2" y="T3"/>
                  </a:cxn>
                  <a:cxn ang="0">
                    <a:pos x="T4" y="T5"/>
                  </a:cxn>
                </a:cxnLst>
                <a:rect l="0" t="0" r="r" b="b"/>
                <a:pathLst>
                  <a:path w="3" h="2">
                    <a:moveTo>
                      <a:pt x="0" y="1"/>
                    </a:moveTo>
                    <a:cubicBezTo>
                      <a:pt x="0" y="2"/>
                      <a:pt x="2" y="2"/>
                      <a:pt x="3" y="2"/>
                    </a:cubicBezTo>
                    <a:cubicBezTo>
                      <a:pt x="3" y="1"/>
                      <a:pt x="2" y="0"/>
                      <a:pt x="0" y="1"/>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65" name="Freeform: Shape 14"/>
              <p:cNvSpPr/>
              <p:nvPr/>
            </p:nvSpPr>
            <p:spPr bwMode="auto">
              <a:xfrm>
                <a:off x="4072310" y="3265628"/>
                <a:ext cx="20113" cy="15258"/>
              </a:xfrm>
              <a:custGeom>
                <a:avLst/>
                <a:gdLst>
                  <a:gd name="T0" fmla="*/ 2 w 4"/>
                  <a:gd name="T1" fmla="*/ 1 h 3"/>
                  <a:gd name="T2" fmla="*/ 3 w 4"/>
                  <a:gd name="T3" fmla="*/ 2 h 3"/>
                  <a:gd name="T4" fmla="*/ 2 w 4"/>
                  <a:gd name="T5" fmla="*/ 1 h 3"/>
                </a:gdLst>
                <a:ahLst/>
                <a:cxnLst>
                  <a:cxn ang="0">
                    <a:pos x="T0" y="T1"/>
                  </a:cxn>
                  <a:cxn ang="0">
                    <a:pos x="T2" y="T3"/>
                  </a:cxn>
                  <a:cxn ang="0">
                    <a:pos x="T4" y="T5"/>
                  </a:cxn>
                </a:cxnLst>
                <a:rect l="0" t="0" r="r" b="b"/>
                <a:pathLst>
                  <a:path w="4" h="3">
                    <a:moveTo>
                      <a:pt x="2" y="1"/>
                    </a:moveTo>
                    <a:cubicBezTo>
                      <a:pt x="0" y="1"/>
                      <a:pt x="2" y="3"/>
                      <a:pt x="3" y="2"/>
                    </a:cubicBezTo>
                    <a:cubicBezTo>
                      <a:pt x="4" y="1"/>
                      <a:pt x="4" y="0"/>
                      <a:pt x="2" y="1"/>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66" name="Freeform: Shape 15"/>
              <p:cNvSpPr/>
              <p:nvPr/>
            </p:nvSpPr>
            <p:spPr bwMode="auto">
              <a:xfrm>
                <a:off x="4600094" y="3211532"/>
                <a:ext cx="93628" cy="34677"/>
              </a:xfrm>
              <a:custGeom>
                <a:avLst/>
                <a:gdLst>
                  <a:gd name="T0" fmla="*/ 7 w 19"/>
                  <a:gd name="T1" fmla="*/ 5 h 7"/>
                  <a:gd name="T2" fmla="*/ 10 w 19"/>
                  <a:gd name="T3" fmla="*/ 7 h 7"/>
                  <a:gd name="T4" fmla="*/ 14 w 19"/>
                  <a:gd name="T5" fmla="*/ 5 h 7"/>
                  <a:gd name="T6" fmla="*/ 17 w 19"/>
                  <a:gd name="T7" fmla="*/ 4 h 7"/>
                  <a:gd name="T8" fmla="*/ 18 w 19"/>
                  <a:gd name="T9" fmla="*/ 2 h 7"/>
                  <a:gd name="T10" fmla="*/ 14 w 19"/>
                  <a:gd name="T11" fmla="*/ 0 h 7"/>
                  <a:gd name="T12" fmla="*/ 10 w 19"/>
                  <a:gd name="T13" fmla="*/ 1 h 7"/>
                  <a:gd name="T14" fmla="*/ 6 w 19"/>
                  <a:gd name="T15" fmla="*/ 1 h 7"/>
                  <a:gd name="T16" fmla="*/ 1 w 19"/>
                  <a:gd name="T17" fmla="*/ 0 h 7"/>
                  <a:gd name="T18" fmla="*/ 1 w 19"/>
                  <a:gd name="T19" fmla="*/ 2 h 7"/>
                  <a:gd name="T20" fmla="*/ 3 w 19"/>
                  <a:gd name="T21" fmla="*/ 5 h 7"/>
                  <a:gd name="T22" fmla="*/ 7 w 19"/>
                  <a:gd name="T23"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 h="7">
                    <a:moveTo>
                      <a:pt x="7" y="5"/>
                    </a:moveTo>
                    <a:cubicBezTo>
                      <a:pt x="7" y="6"/>
                      <a:pt x="8" y="7"/>
                      <a:pt x="10" y="7"/>
                    </a:cubicBezTo>
                    <a:cubicBezTo>
                      <a:pt x="12" y="6"/>
                      <a:pt x="13" y="6"/>
                      <a:pt x="14" y="5"/>
                    </a:cubicBezTo>
                    <a:cubicBezTo>
                      <a:pt x="14" y="4"/>
                      <a:pt x="17" y="4"/>
                      <a:pt x="17" y="4"/>
                    </a:cubicBezTo>
                    <a:cubicBezTo>
                      <a:pt x="17" y="4"/>
                      <a:pt x="19" y="3"/>
                      <a:pt x="18" y="2"/>
                    </a:cubicBezTo>
                    <a:cubicBezTo>
                      <a:pt x="17" y="1"/>
                      <a:pt x="15" y="1"/>
                      <a:pt x="14" y="0"/>
                    </a:cubicBezTo>
                    <a:cubicBezTo>
                      <a:pt x="13" y="0"/>
                      <a:pt x="13" y="1"/>
                      <a:pt x="10" y="1"/>
                    </a:cubicBezTo>
                    <a:cubicBezTo>
                      <a:pt x="8" y="1"/>
                      <a:pt x="7" y="2"/>
                      <a:pt x="6" y="1"/>
                    </a:cubicBezTo>
                    <a:cubicBezTo>
                      <a:pt x="5" y="0"/>
                      <a:pt x="1" y="0"/>
                      <a:pt x="1" y="0"/>
                    </a:cubicBezTo>
                    <a:cubicBezTo>
                      <a:pt x="1" y="1"/>
                      <a:pt x="0" y="1"/>
                      <a:pt x="1" y="2"/>
                    </a:cubicBezTo>
                    <a:cubicBezTo>
                      <a:pt x="2" y="4"/>
                      <a:pt x="2" y="5"/>
                      <a:pt x="3" y="5"/>
                    </a:cubicBezTo>
                    <a:cubicBezTo>
                      <a:pt x="4" y="5"/>
                      <a:pt x="6" y="5"/>
                      <a:pt x="7" y="5"/>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67" name="Freeform: Shape 16"/>
              <p:cNvSpPr/>
              <p:nvPr/>
            </p:nvSpPr>
            <p:spPr bwMode="auto">
              <a:xfrm>
                <a:off x="4195760" y="3039534"/>
                <a:ext cx="463285" cy="236497"/>
              </a:xfrm>
              <a:custGeom>
                <a:avLst/>
                <a:gdLst>
                  <a:gd name="T0" fmla="*/ 3 w 94"/>
                  <a:gd name="T1" fmla="*/ 20 h 48"/>
                  <a:gd name="T2" fmla="*/ 5 w 94"/>
                  <a:gd name="T3" fmla="*/ 20 h 48"/>
                  <a:gd name="T4" fmla="*/ 16 w 94"/>
                  <a:gd name="T5" fmla="*/ 20 h 48"/>
                  <a:gd name="T6" fmla="*/ 22 w 94"/>
                  <a:gd name="T7" fmla="*/ 28 h 48"/>
                  <a:gd name="T8" fmla="*/ 27 w 94"/>
                  <a:gd name="T9" fmla="*/ 27 h 48"/>
                  <a:gd name="T10" fmla="*/ 28 w 94"/>
                  <a:gd name="T11" fmla="*/ 31 h 48"/>
                  <a:gd name="T12" fmla="*/ 27 w 94"/>
                  <a:gd name="T13" fmla="*/ 34 h 48"/>
                  <a:gd name="T14" fmla="*/ 25 w 94"/>
                  <a:gd name="T15" fmla="*/ 34 h 48"/>
                  <a:gd name="T16" fmla="*/ 25 w 94"/>
                  <a:gd name="T17" fmla="*/ 38 h 48"/>
                  <a:gd name="T18" fmla="*/ 27 w 94"/>
                  <a:gd name="T19" fmla="*/ 40 h 48"/>
                  <a:gd name="T20" fmla="*/ 34 w 94"/>
                  <a:gd name="T21" fmla="*/ 46 h 48"/>
                  <a:gd name="T22" fmla="*/ 39 w 94"/>
                  <a:gd name="T23" fmla="*/ 48 h 48"/>
                  <a:gd name="T24" fmla="*/ 43 w 94"/>
                  <a:gd name="T25" fmla="*/ 43 h 48"/>
                  <a:gd name="T26" fmla="*/ 46 w 94"/>
                  <a:gd name="T27" fmla="*/ 40 h 48"/>
                  <a:gd name="T28" fmla="*/ 52 w 94"/>
                  <a:gd name="T29" fmla="*/ 36 h 48"/>
                  <a:gd name="T30" fmla="*/ 61 w 94"/>
                  <a:gd name="T31" fmla="*/ 32 h 48"/>
                  <a:gd name="T32" fmla="*/ 73 w 94"/>
                  <a:gd name="T33" fmla="*/ 30 h 48"/>
                  <a:gd name="T34" fmla="*/ 72 w 94"/>
                  <a:gd name="T35" fmla="*/ 28 h 48"/>
                  <a:gd name="T36" fmla="*/ 75 w 94"/>
                  <a:gd name="T37" fmla="*/ 27 h 48"/>
                  <a:gd name="T38" fmla="*/ 79 w 94"/>
                  <a:gd name="T39" fmla="*/ 27 h 48"/>
                  <a:gd name="T40" fmla="*/ 78 w 94"/>
                  <a:gd name="T41" fmla="*/ 22 h 48"/>
                  <a:gd name="T42" fmla="*/ 85 w 94"/>
                  <a:gd name="T43" fmla="*/ 18 h 48"/>
                  <a:gd name="T44" fmla="*/ 83 w 94"/>
                  <a:gd name="T45" fmla="*/ 16 h 48"/>
                  <a:gd name="T46" fmla="*/ 91 w 94"/>
                  <a:gd name="T47" fmla="*/ 9 h 48"/>
                  <a:gd name="T48" fmla="*/ 87 w 94"/>
                  <a:gd name="T49" fmla="*/ 7 h 48"/>
                  <a:gd name="T50" fmla="*/ 78 w 94"/>
                  <a:gd name="T51" fmla="*/ 5 h 48"/>
                  <a:gd name="T52" fmla="*/ 73 w 94"/>
                  <a:gd name="T53" fmla="*/ 2 h 48"/>
                  <a:gd name="T54" fmla="*/ 65 w 94"/>
                  <a:gd name="T55" fmla="*/ 3 h 48"/>
                  <a:gd name="T56" fmla="*/ 53 w 94"/>
                  <a:gd name="T57" fmla="*/ 3 h 48"/>
                  <a:gd name="T58" fmla="*/ 66 w 94"/>
                  <a:gd name="T59" fmla="*/ 2 h 48"/>
                  <a:gd name="T60" fmla="*/ 58 w 94"/>
                  <a:gd name="T61" fmla="*/ 0 h 48"/>
                  <a:gd name="T62" fmla="*/ 36 w 94"/>
                  <a:gd name="T63" fmla="*/ 5 h 48"/>
                  <a:gd name="T64" fmla="*/ 32 w 94"/>
                  <a:gd name="T65" fmla="*/ 6 h 48"/>
                  <a:gd name="T66" fmla="*/ 27 w 94"/>
                  <a:gd name="T67" fmla="*/ 7 h 48"/>
                  <a:gd name="T68" fmla="*/ 1 w 94"/>
                  <a:gd name="T69" fmla="*/ 21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94" h="48">
                    <a:moveTo>
                      <a:pt x="1" y="21"/>
                    </a:moveTo>
                    <a:cubicBezTo>
                      <a:pt x="1" y="21"/>
                      <a:pt x="3" y="21"/>
                      <a:pt x="3" y="20"/>
                    </a:cubicBezTo>
                    <a:cubicBezTo>
                      <a:pt x="4" y="20"/>
                      <a:pt x="5" y="18"/>
                      <a:pt x="5" y="18"/>
                    </a:cubicBezTo>
                    <a:cubicBezTo>
                      <a:pt x="5" y="18"/>
                      <a:pt x="4" y="19"/>
                      <a:pt x="5" y="20"/>
                    </a:cubicBezTo>
                    <a:cubicBezTo>
                      <a:pt x="6" y="20"/>
                      <a:pt x="9" y="19"/>
                      <a:pt x="10" y="19"/>
                    </a:cubicBezTo>
                    <a:cubicBezTo>
                      <a:pt x="11" y="19"/>
                      <a:pt x="15" y="20"/>
                      <a:pt x="16" y="20"/>
                    </a:cubicBezTo>
                    <a:cubicBezTo>
                      <a:pt x="17" y="21"/>
                      <a:pt x="20" y="21"/>
                      <a:pt x="21" y="22"/>
                    </a:cubicBezTo>
                    <a:cubicBezTo>
                      <a:pt x="22" y="23"/>
                      <a:pt x="21" y="28"/>
                      <a:pt x="22" y="28"/>
                    </a:cubicBezTo>
                    <a:cubicBezTo>
                      <a:pt x="22" y="29"/>
                      <a:pt x="24" y="27"/>
                      <a:pt x="24" y="26"/>
                    </a:cubicBezTo>
                    <a:cubicBezTo>
                      <a:pt x="25" y="26"/>
                      <a:pt x="27" y="26"/>
                      <a:pt x="27" y="27"/>
                    </a:cubicBezTo>
                    <a:cubicBezTo>
                      <a:pt x="28" y="27"/>
                      <a:pt x="29" y="29"/>
                      <a:pt x="29" y="30"/>
                    </a:cubicBezTo>
                    <a:cubicBezTo>
                      <a:pt x="29" y="30"/>
                      <a:pt x="29" y="31"/>
                      <a:pt x="28" y="31"/>
                    </a:cubicBezTo>
                    <a:cubicBezTo>
                      <a:pt x="28" y="31"/>
                      <a:pt x="26" y="34"/>
                      <a:pt x="27" y="33"/>
                    </a:cubicBezTo>
                    <a:cubicBezTo>
                      <a:pt x="27" y="33"/>
                      <a:pt x="27" y="34"/>
                      <a:pt x="27" y="34"/>
                    </a:cubicBezTo>
                    <a:cubicBezTo>
                      <a:pt x="26" y="35"/>
                      <a:pt x="25" y="35"/>
                      <a:pt x="25" y="35"/>
                    </a:cubicBezTo>
                    <a:cubicBezTo>
                      <a:pt x="25" y="35"/>
                      <a:pt x="25" y="34"/>
                      <a:pt x="25" y="34"/>
                    </a:cubicBezTo>
                    <a:cubicBezTo>
                      <a:pt x="24" y="34"/>
                      <a:pt x="24" y="34"/>
                      <a:pt x="24" y="35"/>
                    </a:cubicBezTo>
                    <a:cubicBezTo>
                      <a:pt x="24" y="36"/>
                      <a:pt x="25" y="38"/>
                      <a:pt x="25" y="38"/>
                    </a:cubicBezTo>
                    <a:cubicBezTo>
                      <a:pt x="26" y="39"/>
                      <a:pt x="28" y="39"/>
                      <a:pt x="28" y="39"/>
                    </a:cubicBezTo>
                    <a:cubicBezTo>
                      <a:pt x="29" y="39"/>
                      <a:pt x="27" y="40"/>
                      <a:pt x="27" y="40"/>
                    </a:cubicBezTo>
                    <a:cubicBezTo>
                      <a:pt x="28" y="41"/>
                      <a:pt x="28" y="43"/>
                      <a:pt x="29" y="43"/>
                    </a:cubicBezTo>
                    <a:cubicBezTo>
                      <a:pt x="30" y="44"/>
                      <a:pt x="33" y="46"/>
                      <a:pt x="34" y="46"/>
                    </a:cubicBezTo>
                    <a:cubicBezTo>
                      <a:pt x="34" y="47"/>
                      <a:pt x="37" y="46"/>
                      <a:pt x="37" y="46"/>
                    </a:cubicBezTo>
                    <a:cubicBezTo>
                      <a:pt x="38" y="45"/>
                      <a:pt x="37" y="48"/>
                      <a:pt x="39" y="48"/>
                    </a:cubicBezTo>
                    <a:cubicBezTo>
                      <a:pt x="40" y="48"/>
                      <a:pt x="41" y="48"/>
                      <a:pt x="42" y="47"/>
                    </a:cubicBezTo>
                    <a:cubicBezTo>
                      <a:pt x="43" y="46"/>
                      <a:pt x="43" y="44"/>
                      <a:pt x="43" y="43"/>
                    </a:cubicBezTo>
                    <a:cubicBezTo>
                      <a:pt x="43" y="42"/>
                      <a:pt x="43" y="42"/>
                      <a:pt x="44" y="42"/>
                    </a:cubicBezTo>
                    <a:cubicBezTo>
                      <a:pt x="46" y="42"/>
                      <a:pt x="47" y="42"/>
                      <a:pt x="46" y="40"/>
                    </a:cubicBezTo>
                    <a:cubicBezTo>
                      <a:pt x="46" y="39"/>
                      <a:pt x="45" y="38"/>
                      <a:pt x="47" y="38"/>
                    </a:cubicBezTo>
                    <a:cubicBezTo>
                      <a:pt x="50" y="37"/>
                      <a:pt x="51" y="36"/>
                      <a:pt x="52" y="36"/>
                    </a:cubicBezTo>
                    <a:cubicBezTo>
                      <a:pt x="53" y="36"/>
                      <a:pt x="57" y="36"/>
                      <a:pt x="57" y="36"/>
                    </a:cubicBezTo>
                    <a:cubicBezTo>
                      <a:pt x="58" y="35"/>
                      <a:pt x="59" y="32"/>
                      <a:pt x="61" y="32"/>
                    </a:cubicBezTo>
                    <a:cubicBezTo>
                      <a:pt x="62" y="32"/>
                      <a:pt x="65" y="33"/>
                      <a:pt x="67" y="32"/>
                    </a:cubicBezTo>
                    <a:cubicBezTo>
                      <a:pt x="70" y="32"/>
                      <a:pt x="72" y="30"/>
                      <a:pt x="73" y="30"/>
                    </a:cubicBezTo>
                    <a:cubicBezTo>
                      <a:pt x="74" y="30"/>
                      <a:pt x="76" y="30"/>
                      <a:pt x="76" y="30"/>
                    </a:cubicBezTo>
                    <a:cubicBezTo>
                      <a:pt x="75" y="29"/>
                      <a:pt x="74" y="28"/>
                      <a:pt x="72" y="28"/>
                    </a:cubicBezTo>
                    <a:cubicBezTo>
                      <a:pt x="71" y="28"/>
                      <a:pt x="71" y="25"/>
                      <a:pt x="71" y="25"/>
                    </a:cubicBezTo>
                    <a:cubicBezTo>
                      <a:pt x="72" y="25"/>
                      <a:pt x="75" y="26"/>
                      <a:pt x="75" y="27"/>
                    </a:cubicBezTo>
                    <a:cubicBezTo>
                      <a:pt x="75" y="28"/>
                      <a:pt x="76" y="29"/>
                      <a:pt x="78" y="29"/>
                    </a:cubicBezTo>
                    <a:cubicBezTo>
                      <a:pt x="80" y="29"/>
                      <a:pt x="79" y="27"/>
                      <a:pt x="79" y="27"/>
                    </a:cubicBezTo>
                    <a:cubicBezTo>
                      <a:pt x="78" y="26"/>
                      <a:pt x="78" y="25"/>
                      <a:pt x="78" y="25"/>
                    </a:cubicBezTo>
                    <a:cubicBezTo>
                      <a:pt x="77" y="24"/>
                      <a:pt x="76" y="22"/>
                      <a:pt x="78" y="22"/>
                    </a:cubicBezTo>
                    <a:cubicBezTo>
                      <a:pt x="80" y="22"/>
                      <a:pt x="84" y="24"/>
                      <a:pt x="84" y="22"/>
                    </a:cubicBezTo>
                    <a:cubicBezTo>
                      <a:pt x="84" y="21"/>
                      <a:pt x="84" y="19"/>
                      <a:pt x="85" y="18"/>
                    </a:cubicBezTo>
                    <a:cubicBezTo>
                      <a:pt x="85" y="18"/>
                      <a:pt x="86" y="17"/>
                      <a:pt x="86" y="17"/>
                    </a:cubicBezTo>
                    <a:cubicBezTo>
                      <a:pt x="85" y="17"/>
                      <a:pt x="84" y="17"/>
                      <a:pt x="83" y="16"/>
                    </a:cubicBezTo>
                    <a:cubicBezTo>
                      <a:pt x="83" y="15"/>
                      <a:pt x="84" y="14"/>
                      <a:pt x="85" y="13"/>
                    </a:cubicBezTo>
                    <a:cubicBezTo>
                      <a:pt x="85" y="13"/>
                      <a:pt x="89" y="10"/>
                      <a:pt x="91" y="9"/>
                    </a:cubicBezTo>
                    <a:cubicBezTo>
                      <a:pt x="93" y="9"/>
                      <a:pt x="94" y="7"/>
                      <a:pt x="93" y="7"/>
                    </a:cubicBezTo>
                    <a:cubicBezTo>
                      <a:pt x="91" y="6"/>
                      <a:pt x="88" y="6"/>
                      <a:pt x="87" y="7"/>
                    </a:cubicBezTo>
                    <a:cubicBezTo>
                      <a:pt x="85" y="8"/>
                      <a:pt x="84" y="9"/>
                      <a:pt x="82" y="9"/>
                    </a:cubicBezTo>
                    <a:cubicBezTo>
                      <a:pt x="79" y="8"/>
                      <a:pt x="79" y="6"/>
                      <a:pt x="78" y="5"/>
                    </a:cubicBezTo>
                    <a:cubicBezTo>
                      <a:pt x="76" y="4"/>
                      <a:pt x="77" y="1"/>
                      <a:pt x="75" y="2"/>
                    </a:cubicBezTo>
                    <a:cubicBezTo>
                      <a:pt x="73" y="2"/>
                      <a:pt x="73" y="2"/>
                      <a:pt x="73" y="2"/>
                    </a:cubicBezTo>
                    <a:cubicBezTo>
                      <a:pt x="73" y="2"/>
                      <a:pt x="71" y="2"/>
                      <a:pt x="69" y="2"/>
                    </a:cubicBezTo>
                    <a:cubicBezTo>
                      <a:pt x="68" y="2"/>
                      <a:pt x="66" y="3"/>
                      <a:pt x="65" y="3"/>
                    </a:cubicBezTo>
                    <a:cubicBezTo>
                      <a:pt x="63" y="2"/>
                      <a:pt x="62" y="3"/>
                      <a:pt x="61" y="3"/>
                    </a:cubicBezTo>
                    <a:cubicBezTo>
                      <a:pt x="57" y="4"/>
                      <a:pt x="53" y="3"/>
                      <a:pt x="53" y="3"/>
                    </a:cubicBezTo>
                    <a:cubicBezTo>
                      <a:pt x="52" y="3"/>
                      <a:pt x="56" y="3"/>
                      <a:pt x="58" y="3"/>
                    </a:cubicBezTo>
                    <a:cubicBezTo>
                      <a:pt x="61" y="3"/>
                      <a:pt x="64" y="2"/>
                      <a:pt x="66" y="2"/>
                    </a:cubicBezTo>
                    <a:cubicBezTo>
                      <a:pt x="68" y="2"/>
                      <a:pt x="66" y="1"/>
                      <a:pt x="66" y="1"/>
                    </a:cubicBezTo>
                    <a:cubicBezTo>
                      <a:pt x="64" y="1"/>
                      <a:pt x="61" y="1"/>
                      <a:pt x="58" y="0"/>
                    </a:cubicBezTo>
                    <a:cubicBezTo>
                      <a:pt x="51" y="1"/>
                      <a:pt x="44" y="3"/>
                      <a:pt x="37" y="4"/>
                    </a:cubicBezTo>
                    <a:cubicBezTo>
                      <a:pt x="37" y="5"/>
                      <a:pt x="36" y="5"/>
                      <a:pt x="36" y="5"/>
                    </a:cubicBezTo>
                    <a:cubicBezTo>
                      <a:pt x="35" y="5"/>
                      <a:pt x="35" y="5"/>
                      <a:pt x="35" y="5"/>
                    </a:cubicBezTo>
                    <a:cubicBezTo>
                      <a:pt x="34" y="5"/>
                      <a:pt x="33" y="5"/>
                      <a:pt x="32" y="6"/>
                    </a:cubicBezTo>
                    <a:cubicBezTo>
                      <a:pt x="32" y="6"/>
                      <a:pt x="32" y="6"/>
                      <a:pt x="32" y="7"/>
                    </a:cubicBezTo>
                    <a:cubicBezTo>
                      <a:pt x="31" y="7"/>
                      <a:pt x="28" y="8"/>
                      <a:pt x="27" y="7"/>
                    </a:cubicBezTo>
                    <a:cubicBezTo>
                      <a:pt x="17" y="10"/>
                      <a:pt x="8" y="15"/>
                      <a:pt x="0" y="19"/>
                    </a:cubicBezTo>
                    <a:cubicBezTo>
                      <a:pt x="0" y="20"/>
                      <a:pt x="0" y="21"/>
                      <a:pt x="1" y="21"/>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68" name="Freeform: Shape 17"/>
              <p:cNvSpPr/>
              <p:nvPr/>
            </p:nvSpPr>
            <p:spPr bwMode="auto">
              <a:xfrm>
                <a:off x="4303953" y="3192113"/>
                <a:ext cx="10403" cy="14564"/>
              </a:xfrm>
              <a:custGeom>
                <a:avLst/>
                <a:gdLst>
                  <a:gd name="T0" fmla="*/ 1 w 2"/>
                  <a:gd name="T1" fmla="*/ 1 h 3"/>
                  <a:gd name="T2" fmla="*/ 1 w 2"/>
                  <a:gd name="T3" fmla="*/ 2 h 3"/>
                  <a:gd name="T4" fmla="*/ 2 w 2"/>
                  <a:gd name="T5" fmla="*/ 2 h 3"/>
                  <a:gd name="T6" fmla="*/ 1 w 2"/>
                  <a:gd name="T7" fmla="*/ 1 h 3"/>
                </a:gdLst>
                <a:ahLst/>
                <a:cxnLst>
                  <a:cxn ang="0">
                    <a:pos x="T0" y="T1"/>
                  </a:cxn>
                  <a:cxn ang="0">
                    <a:pos x="T2" y="T3"/>
                  </a:cxn>
                  <a:cxn ang="0">
                    <a:pos x="T4" y="T5"/>
                  </a:cxn>
                  <a:cxn ang="0">
                    <a:pos x="T6" y="T7"/>
                  </a:cxn>
                </a:cxnLst>
                <a:rect l="0" t="0" r="r" b="b"/>
                <a:pathLst>
                  <a:path w="2" h="3">
                    <a:moveTo>
                      <a:pt x="1" y="1"/>
                    </a:moveTo>
                    <a:cubicBezTo>
                      <a:pt x="0" y="3"/>
                      <a:pt x="1" y="2"/>
                      <a:pt x="1" y="2"/>
                    </a:cubicBezTo>
                    <a:cubicBezTo>
                      <a:pt x="2" y="2"/>
                      <a:pt x="2" y="2"/>
                      <a:pt x="2" y="2"/>
                    </a:cubicBezTo>
                    <a:cubicBezTo>
                      <a:pt x="2" y="1"/>
                      <a:pt x="1" y="0"/>
                      <a:pt x="1" y="1"/>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69" name="Freeform: Shape 18"/>
              <p:cNvSpPr/>
              <p:nvPr/>
            </p:nvSpPr>
            <p:spPr bwMode="auto">
              <a:xfrm>
                <a:off x="4023068" y="3694930"/>
                <a:ext cx="79064" cy="38838"/>
              </a:xfrm>
              <a:custGeom>
                <a:avLst/>
                <a:gdLst>
                  <a:gd name="T0" fmla="*/ 13 w 16"/>
                  <a:gd name="T1" fmla="*/ 4 h 8"/>
                  <a:gd name="T2" fmla="*/ 9 w 16"/>
                  <a:gd name="T3" fmla="*/ 1 h 8"/>
                  <a:gd name="T4" fmla="*/ 4 w 16"/>
                  <a:gd name="T5" fmla="*/ 0 h 8"/>
                  <a:gd name="T6" fmla="*/ 0 w 16"/>
                  <a:gd name="T7" fmla="*/ 1 h 8"/>
                  <a:gd name="T8" fmla="*/ 3 w 16"/>
                  <a:gd name="T9" fmla="*/ 3 h 8"/>
                  <a:gd name="T10" fmla="*/ 9 w 16"/>
                  <a:gd name="T11" fmla="*/ 3 h 8"/>
                  <a:gd name="T12" fmla="*/ 13 w 16"/>
                  <a:gd name="T13" fmla="*/ 7 h 8"/>
                  <a:gd name="T14" fmla="*/ 16 w 16"/>
                  <a:gd name="T15" fmla="*/ 7 h 8"/>
                  <a:gd name="T16" fmla="*/ 13 w 16"/>
                  <a:gd name="T17"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8">
                    <a:moveTo>
                      <a:pt x="13" y="4"/>
                    </a:moveTo>
                    <a:cubicBezTo>
                      <a:pt x="12" y="4"/>
                      <a:pt x="10" y="3"/>
                      <a:pt x="9" y="1"/>
                    </a:cubicBezTo>
                    <a:cubicBezTo>
                      <a:pt x="8" y="0"/>
                      <a:pt x="5" y="0"/>
                      <a:pt x="4" y="0"/>
                    </a:cubicBezTo>
                    <a:cubicBezTo>
                      <a:pt x="3" y="0"/>
                      <a:pt x="0" y="1"/>
                      <a:pt x="0" y="1"/>
                    </a:cubicBezTo>
                    <a:cubicBezTo>
                      <a:pt x="0" y="3"/>
                      <a:pt x="1" y="3"/>
                      <a:pt x="3" y="3"/>
                    </a:cubicBezTo>
                    <a:cubicBezTo>
                      <a:pt x="5" y="3"/>
                      <a:pt x="8" y="2"/>
                      <a:pt x="9" y="3"/>
                    </a:cubicBezTo>
                    <a:cubicBezTo>
                      <a:pt x="9" y="4"/>
                      <a:pt x="12" y="6"/>
                      <a:pt x="13" y="7"/>
                    </a:cubicBezTo>
                    <a:cubicBezTo>
                      <a:pt x="13" y="7"/>
                      <a:pt x="16" y="8"/>
                      <a:pt x="16" y="7"/>
                    </a:cubicBezTo>
                    <a:cubicBezTo>
                      <a:pt x="16" y="6"/>
                      <a:pt x="14" y="4"/>
                      <a:pt x="13" y="4"/>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70" name="Freeform: Shape 19"/>
              <p:cNvSpPr/>
              <p:nvPr/>
            </p:nvSpPr>
            <p:spPr bwMode="auto">
              <a:xfrm>
                <a:off x="4072310" y="3669962"/>
                <a:ext cx="15258" cy="14564"/>
              </a:xfrm>
              <a:custGeom>
                <a:avLst/>
                <a:gdLst>
                  <a:gd name="T0" fmla="*/ 2 w 3"/>
                  <a:gd name="T1" fmla="*/ 3 h 3"/>
                  <a:gd name="T2" fmla="*/ 1 w 3"/>
                  <a:gd name="T3" fmla="*/ 1 h 3"/>
                  <a:gd name="T4" fmla="*/ 2 w 3"/>
                  <a:gd name="T5" fmla="*/ 3 h 3"/>
                </a:gdLst>
                <a:ahLst/>
                <a:cxnLst>
                  <a:cxn ang="0">
                    <a:pos x="T0" y="T1"/>
                  </a:cxn>
                  <a:cxn ang="0">
                    <a:pos x="T2" y="T3"/>
                  </a:cxn>
                  <a:cxn ang="0">
                    <a:pos x="T4" y="T5"/>
                  </a:cxn>
                </a:cxnLst>
                <a:rect l="0" t="0" r="r" b="b"/>
                <a:pathLst>
                  <a:path w="3" h="3">
                    <a:moveTo>
                      <a:pt x="2" y="3"/>
                    </a:moveTo>
                    <a:cubicBezTo>
                      <a:pt x="3" y="2"/>
                      <a:pt x="2" y="0"/>
                      <a:pt x="1" y="1"/>
                    </a:cubicBezTo>
                    <a:cubicBezTo>
                      <a:pt x="0" y="1"/>
                      <a:pt x="0" y="3"/>
                      <a:pt x="2" y="3"/>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71" name="Freeform: Shape 20"/>
              <p:cNvSpPr/>
              <p:nvPr/>
            </p:nvSpPr>
            <p:spPr bwMode="auto">
              <a:xfrm>
                <a:off x="4072310" y="3753881"/>
                <a:ext cx="20113" cy="19419"/>
              </a:xfrm>
              <a:custGeom>
                <a:avLst/>
                <a:gdLst>
                  <a:gd name="T0" fmla="*/ 2 w 4"/>
                  <a:gd name="T1" fmla="*/ 0 h 4"/>
                  <a:gd name="T2" fmla="*/ 2 w 4"/>
                  <a:gd name="T3" fmla="*/ 3 h 4"/>
                  <a:gd name="T4" fmla="*/ 2 w 4"/>
                  <a:gd name="T5" fmla="*/ 0 h 4"/>
                </a:gdLst>
                <a:ahLst/>
                <a:cxnLst>
                  <a:cxn ang="0">
                    <a:pos x="T0" y="T1"/>
                  </a:cxn>
                  <a:cxn ang="0">
                    <a:pos x="T2" y="T3"/>
                  </a:cxn>
                  <a:cxn ang="0">
                    <a:pos x="T4" y="T5"/>
                  </a:cxn>
                </a:cxnLst>
                <a:rect l="0" t="0" r="r" b="b"/>
                <a:pathLst>
                  <a:path w="4" h="4">
                    <a:moveTo>
                      <a:pt x="2" y="0"/>
                    </a:moveTo>
                    <a:cubicBezTo>
                      <a:pt x="0" y="1"/>
                      <a:pt x="1" y="4"/>
                      <a:pt x="2" y="3"/>
                    </a:cubicBezTo>
                    <a:cubicBezTo>
                      <a:pt x="4" y="3"/>
                      <a:pt x="3" y="0"/>
                      <a:pt x="2" y="0"/>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72" name="Freeform: Shape 21"/>
              <p:cNvSpPr/>
              <p:nvPr/>
            </p:nvSpPr>
            <p:spPr bwMode="auto">
              <a:xfrm>
                <a:off x="4176341" y="3744171"/>
                <a:ext cx="19419" cy="19419"/>
              </a:xfrm>
              <a:custGeom>
                <a:avLst/>
                <a:gdLst>
                  <a:gd name="T0" fmla="*/ 2 w 4"/>
                  <a:gd name="T1" fmla="*/ 0 h 4"/>
                  <a:gd name="T2" fmla="*/ 2 w 4"/>
                  <a:gd name="T3" fmla="*/ 3 h 4"/>
                  <a:gd name="T4" fmla="*/ 2 w 4"/>
                  <a:gd name="T5" fmla="*/ 0 h 4"/>
                </a:gdLst>
                <a:ahLst/>
                <a:cxnLst>
                  <a:cxn ang="0">
                    <a:pos x="T0" y="T1"/>
                  </a:cxn>
                  <a:cxn ang="0">
                    <a:pos x="T2" y="T3"/>
                  </a:cxn>
                  <a:cxn ang="0">
                    <a:pos x="T4" y="T5"/>
                  </a:cxn>
                </a:cxnLst>
                <a:rect l="0" t="0" r="r" b="b"/>
                <a:pathLst>
                  <a:path w="4" h="4">
                    <a:moveTo>
                      <a:pt x="2" y="0"/>
                    </a:moveTo>
                    <a:cubicBezTo>
                      <a:pt x="0" y="0"/>
                      <a:pt x="1" y="4"/>
                      <a:pt x="2" y="3"/>
                    </a:cubicBezTo>
                    <a:cubicBezTo>
                      <a:pt x="4" y="3"/>
                      <a:pt x="3" y="0"/>
                      <a:pt x="2" y="0"/>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73" name="Freeform: Shape 22"/>
              <p:cNvSpPr/>
              <p:nvPr/>
            </p:nvSpPr>
            <p:spPr bwMode="auto">
              <a:xfrm>
                <a:off x="4111842" y="3728913"/>
                <a:ext cx="54096" cy="34677"/>
              </a:xfrm>
              <a:custGeom>
                <a:avLst/>
                <a:gdLst>
                  <a:gd name="T0" fmla="*/ 7 w 11"/>
                  <a:gd name="T1" fmla="*/ 0 h 7"/>
                  <a:gd name="T2" fmla="*/ 4 w 11"/>
                  <a:gd name="T3" fmla="*/ 1 h 7"/>
                  <a:gd name="T4" fmla="*/ 0 w 11"/>
                  <a:gd name="T5" fmla="*/ 4 h 7"/>
                  <a:gd name="T6" fmla="*/ 3 w 11"/>
                  <a:gd name="T7" fmla="*/ 4 h 7"/>
                  <a:gd name="T8" fmla="*/ 6 w 11"/>
                  <a:gd name="T9" fmla="*/ 6 h 7"/>
                  <a:gd name="T10" fmla="*/ 9 w 11"/>
                  <a:gd name="T11" fmla="*/ 5 h 7"/>
                  <a:gd name="T12" fmla="*/ 11 w 11"/>
                  <a:gd name="T13" fmla="*/ 5 h 7"/>
                  <a:gd name="T14" fmla="*/ 7 w 11"/>
                  <a:gd name="T15" fmla="*/ 0 h 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 h="7">
                    <a:moveTo>
                      <a:pt x="7" y="0"/>
                    </a:moveTo>
                    <a:cubicBezTo>
                      <a:pt x="6" y="0"/>
                      <a:pt x="5" y="0"/>
                      <a:pt x="4" y="1"/>
                    </a:cubicBezTo>
                    <a:cubicBezTo>
                      <a:pt x="3" y="1"/>
                      <a:pt x="0" y="4"/>
                      <a:pt x="0" y="4"/>
                    </a:cubicBezTo>
                    <a:cubicBezTo>
                      <a:pt x="0" y="4"/>
                      <a:pt x="2" y="4"/>
                      <a:pt x="3" y="4"/>
                    </a:cubicBezTo>
                    <a:cubicBezTo>
                      <a:pt x="4" y="4"/>
                      <a:pt x="5" y="5"/>
                      <a:pt x="6" y="6"/>
                    </a:cubicBezTo>
                    <a:cubicBezTo>
                      <a:pt x="7" y="6"/>
                      <a:pt x="8" y="5"/>
                      <a:pt x="9" y="5"/>
                    </a:cubicBezTo>
                    <a:cubicBezTo>
                      <a:pt x="10" y="5"/>
                      <a:pt x="10" y="7"/>
                      <a:pt x="11" y="5"/>
                    </a:cubicBezTo>
                    <a:cubicBezTo>
                      <a:pt x="11" y="2"/>
                      <a:pt x="9" y="1"/>
                      <a:pt x="7" y="0"/>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74" name="Freeform: Shape 23"/>
              <p:cNvSpPr/>
              <p:nvPr/>
            </p:nvSpPr>
            <p:spPr bwMode="auto">
              <a:xfrm>
                <a:off x="5157007" y="4079151"/>
                <a:ext cx="58951" cy="142870"/>
              </a:xfrm>
              <a:custGeom>
                <a:avLst/>
                <a:gdLst>
                  <a:gd name="T0" fmla="*/ 7 w 12"/>
                  <a:gd name="T1" fmla="*/ 5 h 29"/>
                  <a:gd name="T2" fmla="*/ 4 w 12"/>
                  <a:gd name="T3" fmla="*/ 8 h 29"/>
                  <a:gd name="T4" fmla="*/ 1 w 12"/>
                  <a:gd name="T5" fmla="*/ 13 h 29"/>
                  <a:gd name="T6" fmla="*/ 1 w 12"/>
                  <a:gd name="T7" fmla="*/ 19 h 29"/>
                  <a:gd name="T8" fmla="*/ 1 w 12"/>
                  <a:gd name="T9" fmla="*/ 26 h 29"/>
                  <a:gd name="T10" fmla="*/ 2 w 12"/>
                  <a:gd name="T11" fmla="*/ 29 h 29"/>
                  <a:gd name="T12" fmla="*/ 6 w 12"/>
                  <a:gd name="T13" fmla="*/ 25 h 29"/>
                  <a:gd name="T14" fmla="*/ 8 w 12"/>
                  <a:gd name="T15" fmla="*/ 18 h 29"/>
                  <a:gd name="T16" fmla="*/ 10 w 12"/>
                  <a:gd name="T17" fmla="*/ 11 h 29"/>
                  <a:gd name="T18" fmla="*/ 12 w 12"/>
                  <a:gd name="T19" fmla="*/ 5 h 29"/>
                  <a:gd name="T20" fmla="*/ 11 w 12"/>
                  <a:gd name="T21" fmla="*/ 0 h 29"/>
                  <a:gd name="T22" fmla="*/ 7 w 12"/>
                  <a:gd name="T23" fmla="*/ 5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29">
                    <a:moveTo>
                      <a:pt x="7" y="5"/>
                    </a:moveTo>
                    <a:cubicBezTo>
                      <a:pt x="6" y="7"/>
                      <a:pt x="5" y="9"/>
                      <a:pt x="4" y="8"/>
                    </a:cubicBezTo>
                    <a:cubicBezTo>
                      <a:pt x="4" y="8"/>
                      <a:pt x="1" y="10"/>
                      <a:pt x="1" y="13"/>
                    </a:cubicBezTo>
                    <a:cubicBezTo>
                      <a:pt x="2" y="15"/>
                      <a:pt x="2" y="18"/>
                      <a:pt x="1" y="19"/>
                    </a:cubicBezTo>
                    <a:cubicBezTo>
                      <a:pt x="0" y="21"/>
                      <a:pt x="1" y="24"/>
                      <a:pt x="1" y="26"/>
                    </a:cubicBezTo>
                    <a:cubicBezTo>
                      <a:pt x="0" y="28"/>
                      <a:pt x="1" y="29"/>
                      <a:pt x="2" y="29"/>
                    </a:cubicBezTo>
                    <a:cubicBezTo>
                      <a:pt x="4" y="28"/>
                      <a:pt x="5" y="27"/>
                      <a:pt x="6" y="25"/>
                    </a:cubicBezTo>
                    <a:cubicBezTo>
                      <a:pt x="7" y="23"/>
                      <a:pt x="7" y="20"/>
                      <a:pt x="8" y="18"/>
                    </a:cubicBezTo>
                    <a:cubicBezTo>
                      <a:pt x="9" y="16"/>
                      <a:pt x="10" y="12"/>
                      <a:pt x="10" y="11"/>
                    </a:cubicBezTo>
                    <a:cubicBezTo>
                      <a:pt x="11" y="10"/>
                      <a:pt x="12" y="6"/>
                      <a:pt x="12" y="5"/>
                    </a:cubicBezTo>
                    <a:cubicBezTo>
                      <a:pt x="12" y="3"/>
                      <a:pt x="11" y="0"/>
                      <a:pt x="11" y="0"/>
                    </a:cubicBezTo>
                    <a:cubicBezTo>
                      <a:pt x="9" y="0"/>
                      <a:pt x="9" y="3"/>
                      <a:pt x="7" y="5"/>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75" name="Freeform: Shape 24"/>
              <p:cNvSpPr/>
              <p:nvPr/>
            </p:nvSpPr>
            <p:spPr bwMode="auto">
              <a:xfrm>
                <a:off x="4860866" y="3482707"/>
                <a:ext cx="24968" cy="24968"/>
              </a:xfrm>
              <a:custGeom>
                <a:avLst/>
                <a:gdLst>
                  <a:gd name="T0" fmla="*/ 4 w 5"/>
                  <a:gd name="T1" fmla="*/ 3 h 5"/>
                  <a:gd name="T2" fmla="*/ 2 w 5"/>
                  <a:gd name="T3" fmla="*/ 0 h 5"/>
                  <a:gd name="T4" fmla="*/ 1 w 5"/>
                  <a:gd name="T5" fmla="*/ 4 h 5"/>
                  <a:gd name="T6" fmla="*/ 4 w 5"/>
                  <a:gd name="T7" fmla="*/ 3 h 5"/>
                </a:gdLst>
                <a:ahLst/>
                <a:cxnLst>
                  <a:cxn ang="0">
                    <a:pos x="T0" y="T1"/>
                  </a:cxn>
                  <a:cxn ang="0">
                    <a:pos x="T2" y="T3"/>
                  </a:cxn>
                  <a:cxn ang="0">
                    <a:pos x="T4" y="T5"/>
                  </a:cxn>
                  <a:cxn ang="0">
                    <a:pos x="T6" y="T7"/>
                  </a:cxn>
                </a:cxnLst>
                <a:rect l="0" t="0" r="r" b="b"/>
                <a:pathLst>
                  <a:path w="5" h="5">
                    <a:moveTo>
                      <a:pt x="4" y="3"/>
                    </a:moveTo>
                    <a:cubicBezTo>
                      <a:pt x="5" y="2"/>
                      <a:pt x="3" y="0"/>
                      <a:pt x="2" y="0"/>
                    </a:cubicBezTo>
                    <a:cubicBezTo>
                      <a:pt x="1" y="0"/>
                      <a:pt x="0" y="3"/>
                      <a:pt x="1" y="4"/>
                    </a:cubicBezTo>
                    <a:cubicBezTo>
                      <a:pt x="2" y="5"/>
                      <a:pt x="3" y="4"/>
                      <a:pt x="4" y="3"/>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76" name="Freeform: Shape 25"/>
              <p:cNvSpPr/>
              <p:nvPr/>
            </p:nvSpPr>
            <p:spPr bwMode="auto">
              <a:xfrm>
                <a:off x="4806770" y="3482707"/>
                <a:ext cx="14564" cy="14564"/>
              </a:xfrm>
              <a:custGeom>
                <a:avLst/>
                <a:gdLst>
                  <a:gd name="T0" fmla="*/ 2 w 3"/>
                  <a:gd name="T1" fmla="*/ 3 h 3"/>
                  <a:gd name="T2" fmla="*/ 1 w 3"/>
                  <a:gd name="T3" fmla="*/ 2 h 3"/>
                  <a:gd name="T4" fmla="*/ 2 w 3"/>
                  <a:gd name="T5" fmla="*/ 3 h 3"/>
                </a:gdLst>
                <a:ahLst/>
                <a:cxnLst>
                  <a:cxn ang="0">
                    <a:pos x="T0" y="T1"/>
                  </a:cxn>
                  <a:cxn ang="0">
                    <a:pos x="T2" y="T3"/>
                  </a:cxn>
                  <a:cxn ang="0">
                    <a:pos x="T4" y="T5"/>
                  </a:cxn>
                </a:cxnLst>
                <a:rect l="0" t="0" r="r" b="b"/>
                <a:pathLst>
                  <a:path w="3" h="3">
                    <a:moveTo>
                      <a:pt x="2" y="3"/>
                    </a:moveTo>
                    <a:cubicBezTo>
                      <a:pt x="3" y="2"/>
                      <a:pt x="2" y="0"/>
                      <a:pt x="1" y="2"/>
                    </a:cubicBezTo>
                    <a:cubicBezTo>
                      <a:pt x="0" y="3"/>
                      <a:pt x="2" y="3"/>
                      <a:pt x="2" y="3"/>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77" name="Freeform: Shape 26"/>
              <p:cNvSpPr/>
              <p:nvPr/>
            </p:nvSpPr>
            <p:spPr bwMode="auto">
              <a:xfrm>
                <a:off x="4905252" y="3512529"/>
                <a:ext cx="34677" cy="24274"/>
              </a:xfrm>
              <a:custGeom>
                <a:avLst/>
                <a:gdLst>
                  <a:gd name="T0" fmla="*/ 2 w 7"/>
                  <a:gd name="T1" fmla="*/ 3 h 5"/>
                  <a:gd name="T2" fmla="*/ 5 w 7"/>
                  <a:gd name="T3" fmla="*/ 5 h 5"/>
                  <a:gd name="T4" fmla="*/ 7 w 7"/>
                  <a:gd name="T5" fmla="*/ 3 h 5"/>
                  <a:gd name="T6" fmla="*/ 4 w 7"/>
                  <a:gd name="T7" fmla="*/ 1 h 5"/>
                  <a:gd name="T8" fmla="*/ 1 w 7"/>
                  <a:gd name="T9" fmla="*/ 1 h 5"/>
                  <a:gd name="T10" fmla="*/ 2 w 7"/>
                  <a:gd name="T11" fmla="*/ 3 h 5"/>
                </a:gdLst>
                <a:ahLst/>
                <a:cxnLst>
                  <a:cxn ang="0">
                    <a:pos x="T0" y="T1"/>
                  </a:cxn>
                  <a:cxn ang="0">
                    <a:pos x="T2" y="T3"/>
                  </a:cxn>
                  <a:cxn ang="0">
                    <a:pos x="T4" y="T5"/>
                  </a:cxn>
                  <a:cxn ang="0">
                    <a:pos x="T6" y="T7"/>
                  </a:cxn>
                  <a:cxn ang="0">
                    <a:pos x="T8" y="T9"/>
                  </a:cxn>
                  <a:cxn ang="0">
                    <a:pos x="T10" y="T11"/>
                  </a:cxn>
                </a:cxnLst>
                <a:rect l="0" t="0" r="r" b="b"/>
                <a:pathLst>
                  <a:path w="7" h="5">
                    <a:moveTo>
                      <a:pt x="2" y="3"/>
                    </a:moveTo>
                    <a:cubicBezTo>
                      <a:pt x="3" y="3"/>
                      <a:pt x="4" y="4"/>
                      <a:pt x="5" y="5"/>
                    </a:cubicBezTo>
                    <a:cubicBezTo>
                      <a:pt x="5" y="5"/>
                      <a:pt x="7" y="5"/>
                      <a:pt x="7" y="3"/>
                    </a:cubicBezTo>
                    <a:cubicBezTo>
                      <a:pt x="6" y="1"/>
                      <a:pt x="4" y="1"/>
                      <a:pt x="4" y="1"/>
                    </a:cubicBezTo>
                    <a:cubicBezTo>
                      <a:pt x="3" y="1"/>
                      <a:pt x="1" y="0"/>
                      <a:pt x="1" y="1"/>
                    </a:cubicBezTo>
                    <a:cubicBezTo>
                      <a:pt x="0" y="1"/>
                      <a:pt x="2" y="2"/>
                      <a:pt x="2" y="3"/>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78" name="Freeform: Shape 27"/>
              <p:cNvSpPr/>
              <p:nvPr/>
            </p:nvSpPr>
            <p:spPr bwMode="auto">
              <a:xfrm>
                <a:off x="4678465" y="3320418"/>
                <a:ext cx="44387" cy="44387"/>
              </a:xfrm>
              <a:custGeom>
                <a:avLst/>
                <a:gdLst>
                  <a:gd name="T0" fmla="*/ 1 w 9"/>
                  <a:gd name="T1" fmla="*/ 3 h 9"/>
                  <a:gd name="T2" fmla="*/ 1 w 9"/>
                  <a:gd name="T3" fmla="*/ 6 h 9"/>
                  <a:gd name="T4" fmla="*/ 2 w 9"/>
                  <a:gd name="T5" fmla="*/ 9 h 9"/>
                  <a:gd name="T6" fmla="*/ 6 w 9"/>
                  <a:gd name="T7" fmla="*/ 8 h 9"/>
                  <a:gd name="T8" fmla="*/ 9 w 9"/>
                  <a:gd name="T9" fmla="*/ 5 h 9"/>
                  <a:gd name="T10" fmla="*/ 8 w 9"/>
                  <a:gd name="T11" fmla="*/ 1 h 9"/>
                  <a:gd name="T12" fmla="*/ 5 w 9"/>
                  <a:gd name="T13" fmla="*/ 0 h 9"/>
                  <a:gd name="T14" fmla="*/ 3 w 9"/>
                  <a:gd name="T15" fmla="*/ 2 h 9"/>
                  <a:gd name="T16" fmla="*/ 1 w 9"/>
                  <a:gd name="T17" fmla="*/ 3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9">
                    <a:moveTo>
                      <a:pt x="1" y="3"/>
                    </a:moveTo>
                    <a:cubicBezTo>
                      <a:pt x="1" y="5"/>
                      <a:pt x="2" y="6"/>
                      <a:pt x="1" y="6"/>
                    </a:cubicBezTo>
                    <a:cubicBezTo>
                      <a:pt x="0" y="7"/>
                      <a:pt x="1" y="9"/>
                      <a:pt x="2" y="9"/>
                    </a:cubicBezTo>
                    <a:cubicBezTo>
                      <a:pt x="4" y="9"/>
                      <a:pt x="5" y="8"/>
                      <a:pt x="6" y="8"/>
                    </a:cubicBezTo>
                    <a:cubicBezTo>
                      <a:pt x="8" y="7"/>
                      <a:pt x="9" y="6"/>
                      <a:pt x="9" y="5"/>
                    </a:cubicBezTo>
                    <a:cubicBezTo>
                      <a:pt x="9" y="3"/>
                      <a:pt x="9" y="1"/>
                      <a:pt x="8" y="1"/>
                    </a:cubicBezTo>
                    <a:cubicBezTo>
                      <a:pt x="7" y="0"/>
                      <a:pt x="6" y="0"/>
                      <a:pt x="5" y="0"/>
                    </a:cubicBezTo>
                    <a:cubicBezTo>
                      <a:pt x="4" y="0"/>
                      <a:pt x="4" y="2"/>
                      <a:pt x="3" y="2"/>
                    </a:cubicBezTo>
                    <a:cubicBezTo>
                      <a:pt x="2" y="2"/>
                      <a:pt x="0" y="2"/>
                      <a:pt x="1" y="3"/>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79" name="Freeform: Shape 28"/>
              <p:cNvSpPr/>
              <p:nvPr/>
            </p:nvSpPr>
            <p:spPr bwMode="auto">
              <a:xfrm>
                <a:off x="4703432" y="3285741"/>
                <a:ext cx="98483" cy="93628"/>
              </a:xfrm>
              <a:custGeom>
                <a:avLst/>
                <a:gdLst>
                  <a:gd name="T0" fmla="*/ 5 w 20"/>
                  <a:gd name="T1" fmla="*/ 9 h 19"/>
                  <a:gd name="T2" fmla="*/ 9 w 20"/>
                  <a:gd name="T3" fmla="*/ 11 h 19"/>
                  <a:gd name="T4" fmla="*/ 4 w 20"/>
                  <a:gd name="T5" fmla="*/ 16 h 19"/>
                  <a:gd name="T6" fmla="*/ 8 w 20"/>
                  <a:gd name="T7" fmla="*/ 17 h 19"/>
                  <a:gd name="T8" fmla="*/ 8 w 20"/>
                  <a:gd name="T9" fmla="*/ 18 h 19"/>
                  <a:gd name="T10" fmla="*/ 11 w 20"/>
                  <a:gd name="T11" fmla="*/ 17 h 19"/>
                  <a:gd name="T12" fmla="*/ 16 w 20"/>
                  <a:gd name="T13" fmla="*/ 18 h 19"/>
                  <a:gd name="T14" fmla="*/ 19 w 20"/>
                  <a:gd name="T15" fmla="*/ 15 h 19"/>
                  <a:gd name="T16" fmla="*/ 16 w 20"/>
                  <a:gd name="T17" fmla="*/ 11 h 19"/>
                  <a:gd name="T18" fmla="*/ 12 w 20"/>
                  <a:gd name="T19" fmla="*/ 6 h 19"/>
                  <a:gd name="T20" fmla="*/ 14 w 20"/>
                  <a:gd name="T21" fmla="*/ 2 h 19"/>
                  <a:gd name="T22" fmla="*/ 8 w 20"/>
                  <a:gd name="T23" fmla="*/ 1 h 19"/>
                  <a:gd name="T24" fmla="*/ 4 w 20"/>
                  <a:gd name="T25" fmla="*/ 2 h 19"/>
                  <a:gd name="T26" fmla="*/ 2 w 20"/>
                  <a:gd name="T27" fmla="*/ 2 h 19"/>
                  <a:gd name="T28" fmla="*/ 2 w 20"/>
                  <a:gd name="T29" fmla="*/ 5 h 19"/>
                  <a:gd name="T30" fmla="*/ 5 w 20"/>
                  <a:gd name="T31" fmla="*/ 9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 h="19">
                    <a:moveTo>
                      <a:pt x="5" y="9"/>
                    </a:moveTo>
                    <a:cubicBezTo>
                      <a:pt x="7" y="9"/>
                      <a:pt x="11" y="10"/>
                      <a:pt x="9" y="11"/>
                    </a:cubicBezTo>
                    <a:cubicBezTo>
                      <a:pt x="8" y="11"/>
                      <a:pt x="4" y="15"/>
                      <a:pt x="4" y="16"/>
                    </a:cubicBezTo>
                    <a:cubicBezTo>
                      <a:pt x="4" y="17"/>
                      <a:pt x="8" y="17"/>
                      <a:pt x="8" y="17"/>
                    </a:cubicBezTo>
                    <a:cubicBezTo>
                      <a:pt x="8" y="17"/>
                      <a:pt x="7" y="18"/>
                      <a:pt x="8" y="18"/>
                    </a:cubicBezTo>
                    <a:cubicBezTo>
                      <a:pt x="9" y="19"/>
                      <a:pt x="10" y="17"/>
                      <a:pt x="11" y="17"/>
                    </a:cubicBezTo>
                    <a:cubicBezTo>
                      <a:pt x="12" y="17"/>
                      <a:pt x="15" y="18"/>
                      <a:pt x="16" y="18"/>
                    </a:cubicBezTo>
                    <a:cubicBezTo>
                      <a:pt x="18" y="18"/>
                      <a:pt x="20" y="16"/>
                      <a:pt x="19" y="15"/>
                    </a:cubicBezTo>
                    <a:cubicBezTo>
                      <a:pt x="19" y="14"/>
                      <a:pt x="17" y="12"/>
                      <a:pt x="16" y="11"/>
                    </a:cubicBezTo>
                    <a:cubicBezTo>
                      <a:pt x="14" y="10"/>
                      <a:pt x="13" y="7"/>
                      <a:pt x="12" y="6"/>
                    </a:cubicBezTo>
                    <a:cubicBezTo>
                      <a:pt x="10" y="5"/>
                      <a:pt x="15" y="3"/>
                      <a:pt x="14" y="2"/>
                    </a:cubicBezTo>
                    <a:cubicBezTo>
                      <a:pt x="13" y="1"/>
                      <a:pt x="9" y="1"/>
                      <a:pt x="8" y="1"/>
                    </a:cubicBezTo>
                    <a:cubicBezTo>
                      <a:pt x="6" y="0"/>
                      <a:pt x="5" y="1"/>
                      <a:pt x="4" y="2"/>
                    </a:cubicBezTo>
                    <a:cubicBezTo>
                      <a:pt x="4" y="3"/>
                      <a:pt x="3" y="1"/>
                      <a:pt x="2" y="2"/>
                    </a:cubicBezTo>
                    <a:cubicBezTo>
                      <a:pt x="0" y="2"/>
                      <a:pt x="1" y="4"/>
                      <a:pt x="2" y="5"/>
                    </a:cubicBezTo>
                    <a:cubicBezTo>
                      <a:pt x="2" y="6"/>
                      <a:pt x="4" y="8"/>
                      <a:pt x="5" y="9"/>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80" name="Freeform: Shape 29"/>
              <p:cNvSpPr/>
              <p:nvPr/>
            </p:nvSpPr>
            <p:spPr bwMode="auto">
              <a:xfrm>
                <a:off x="4609804" y="3172000"/>
                <a:ext cx="719202" cy="1158213"/>
              </a:xfrm>
              <a:custGeom>
                <a:avLst/>
                <a:gdLst>
                  <a:gd name="T0" fmla="*/ 43 w 146"/>
                  <a:gd name="T1" fmla="*/ 19 h 235"/>
                  <a:gd name="T2" fmla="*/ 57 w 146"/>
                  <a:gd name="T3" fmla="*/ 30 h 235"/>
                  <a:gd name="T4" fmla="*/ 65 w 146"/>
                  <a:gd name="T5" fmla="*/ 33 h 235"/>
                  <a:gd name="T6" fmla="*/ 72 w 146"/>
                  <a:gd name="T7" fmla="*/ 16 h 235"/>
                  <a:gd name="T8" fmla="*/ 76 w 146"/>
                  <a:gd name="T9" fmla="*/ 24 h 235"/>
                  <a:gd name="T10" fmla="*/ 76 w 146"/>
                  <a:gd name="T11" fmla="*/ 26 h 235"/>
                  <a:gd name="T12" fmla="*/ 67 w 146"/>
                  <a:gd name="T13" fmla="*/ 34 h 235"/>
                  <a:gd name="T14" fmla="*/ 57 w 146"/>
                  <a:gd name="T15" fmla="*/ 34 h 235"/>
                  <a:gd name="T16" fmla="*/ 50 w 146"/>
                  <a:gd name="T17" fmla="*/ 29 h 235"/>
                  <a:gd name="T18" fmla="*/ 38 w 146"/>
                  <a:gd name="T19" fmla="*/ 40 h 235"/>
                  <a:gd name="T20" fmla="*/ 33 w 146"/>
                  <a:gd name="T21" fmla="*/ 50 h 235"/>
                  <a:gd name="T22" fmla="*/ 17 w 146"/>
                  <a:gd name="T23" fmla="*/ 66 h 235"/>
                  <a:gd name="T24" fmla="*/ 27 w 146"/>
                  <a:gd name="T25" fmla="*/ 72 h 235"/>
                  <a:gd name="T26" fmla="*/ 42 w 146"/>
                  <a:gd name="T27" fmla="*/ 61 h 235"/>
                  <a:gd name="T28" fmla="*/ 60 w 146"/>
                  <a:gd name="T29" fmla="*/ 62 h 235"/>
                  <a:gd name="T30" fmla="*/ 71 w 146"/>
                  <a:gd name="T31" fmla="*/ 66 h 235"/>
                  <a:gd name="T32" fmla="*/ 69 w 146"/>
                  <a:gd name="T33" fmla="*/ 60 h 235"/>
                  <a:gd name="T34" fmla="*/ 83 w 146"/>
                  <a:gd name="T35" fmla="*/ 71 h 235"/>
                  <a:gd name="T36" fmla="*/ 90 w 146"/>
                  <a:gd name="T37" fmla="*/ 75 h 235"/>
                  <a:gd name="T38" fmla="*/ 100 w 146"/>
                  <a:gd name="T39" fmla="*/ 85 h 235"/>
                  <a:gd name="T40" fmla="*/ 87 w 146"/>
                  <a:gd name="T41" fmla="*/ 91 h 235"/>
                  <a:gd name="T42" fmla="*/ 70 w 146"/>
                  <a:gd name="T43" fmla="*/ 87 h 235"/>
                  <a:gd name="T44" fmla="*/ 59 w 146"/>
                  <a:gd name="T45" fmla="*/ 75 h 235"/>
                  <a:gd name="T46" fmla="*/ 24 w 146"/>
                  <a:gd name="T47" fmla="*/ 76 h 235"/>
                  <a:gd name="T48" fmla="*/ 3 w 146"/>
                  <a:gd name="T49" fmla="*/ 106 h 235"/>
                  <a:gd name="T50" fmla="*/ 4 w 146"/>
                  <a:gd name="T51" fmla="*/ 135 h 235"/>
                  <a:gd name="T52" fmla="*/ 27 w 146"/>
                  <a:gd name="T53" fmla="*/ 150 h 235"/>
                  <a:gd name="T54" fmla="*/ 53 w 146"/>
                  <a:gd name="T55" fmla="*/ 150 h 235"/>
                  <a:gd name="T56" fmla="*/ 61 w 146"/>
                  <a:gd name="T57" fmla="*/ 176 h 235"/>
                  <a:gd name="T58" fmla="*/ 61 w 146"/>
                  <a:gd name="T59" fmla="*/ 209 h 235"/>
                  <a:gd name="T60" fmla="*/ 66 w 146"/>
                  <a:gd name="T61" fmla="*/ 230 h 235"/>
                  <a:gd name="T62" fmla="*/ 90 w 146"/>
                  <a:gd name="T63" fmla="*/ 223 h 235"/>
                  <a:gd name="T64" fmla="*/ 100 w 146"/>
                  <a:gd name="T65" fmla="*/ 200 h 235"/>
                  <a:gd name="T66" fmla="*/ 107 w 146"/>
                  <a:gd name="T67" fmla="*/ 174 h 235"/>
                  <a:gd name="T68" fmla="*/ 125 w 146"/>
                  <a:gd name="T69" fmla="*/ 139 h 235"/>
                  <a:gd name="T70" fmla="*/ 112 w 146"/>
                  <a:gd name="T71" fmla="*/ 126 h 235"/>
                  <a:gd name="T72" fmla="*/ 99 w 146"/>
                  <a:gd name="T73" fmla="*/ 95 h 235"/>
                  <a:gd name="T74" fmla="*/ 112 w 146"/>
                  <a:gd name="T75" fmla="*/ 117 h 235"/>
                  <a:gd name="T76" fmla="*/ 129 w 146"/>
                  <a:gd name="T77" fmla="*/ 122 h 235"/>
                  <a:gd name="T78" fmla="*/ 132 w 146"/>
                  <a:gd name="T79" fmla="*/ 102 h 235"/>
                  <a:gd name="T80" fmla="*/ 122 w 146"/>
                  <a:gd name="T81" fmla="*/ 94 h 235"/>
                  <a:gd name="T82" fmla="*/ 135 w 146"/>
                  <a:gd name="T83" fmla="*/ 103 h 235"/>
                  <a:gd name="T84" fmla="*/ 103 w 146"/>
                  <a:gd name="T85" fmla="*/ 18 h 235"/>
                  <a:gd name="T86" fmla="*/ 96 w 146"/>
                  <a:gd name="T87" fmla="*/ 13 h 235"/>
                  <a:gd name="T88" fmla="*/ 99 w 146"/>
                  <a:gd name="T89" fmla="*/ 159 h 235"/>
                  <a:gd name="T90" fmla="*/ 122 w 146"/>
                  <a:gd name="T91" fmla="*/ 56 h 235"/>
                  <a:gd name="T92" fmla="*/ 123 w 146"/>
                  <a:gd name="T93" fmla="*/ 61 h 235"/>
                  <a:gd name="T94" fmla="*/ 129 w 146"/>
                  <a:gd name="T95" fmla="*/ 77 h 235"/>
                  <a:gd name="T96" fmla="*/ 121 w 146"/>
                  <a:gd name="T97" fmla="*/ 66 h 235"/>
                  <a:gd name="T98" fmla="*/ 94 w 146"/>
                  <a:gd name="T99" fmla="*/ 25 h 235"/>
                  <a:gd name="T100" fmla="*/ 101 w 146"/>
                  <a:gd name="T101" fmla="*/ 55 h 235"/>
                  <a:gd name="T102" fmla="*/ 110 w 146"/>
                  <a:gd name="T103" fmla="*/ 66 h 235"/>
                  <a:gd name="T104" fmla="*/ 88 w 146"/>
                  <a:gd name="T105" fmla="*/ 66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6" h="235">
                    <a:moveTo>
                      <a:pt x="74" y="1"/>
                    </a:moveTo>
                    <a:cubicBezTo>
                      <a:pt x="71" y="1"/>
                      <a:pt x="61" y="5"/>
                      <a:pt x="60" y="6"/>
                    </a:cubicBezTo>
                    <a:cubicBezTo>
                      <a:pt x="60" y="6"/>
                      <a:pt x="59" y="8"/>
                      <a:pt x="57" y="10"/>
                    </a:cubicBezTo>
                    <a:cubicBezTo>
                      <a:pt x="56" y="11"/>
                      <a:pt x="52" y="12"/>
                      <a:pt x="49" y="13"/>
                    </a:cubicBezTo>
                    <a:cubicBezTo>
                      <a:pt x="47" y="13"/>
                      <a:pt x="43" y="18"/>
                      <a:pt x="43" y="19"/>
                    </a:cubicBezTo>
                    <a:cubicBezTo>
                      <a:pt x="43" y="19"/>
                      <a:pt x="45" y="22"/>
                      <a:pt x="45" y="22"/>
                    </a:cubicBezTo>
                    <a:cubicBezTo>
                      <a:pt x="44" y="23"/>
                      <a:pt x="46" y="26"/>
                      <a:pt x="47" y="26"/>
                    </a:cubicBezTo>
                    <a:cubicBezTo>
                      <a:pt x="49" y="27"/>
                      <a:pt x="52" y="27"/>
                      <a:pt x="52" y="26"/>
                    </a:cubicBezTo>
                    <a:cubicBezTo>
                      <a:pt x="52" y="25"/>
                      <a:pt x="54" y="23"/>
                      <a:pt x="55" y="24"/>
                    </a:cubicBezTo>
                    <a:cubicBezTo>
                      <a:pt x="55" y="26"/>
                      <a:pt x="57" y="29"/>
                      <a:pt x="57" y="30"/>
                    </a:cubicBezTo>
                    <a:cubicBezTo>
                      <a:pt x="57" y="30"/>
                      <a:pt x="57" y="32"/>
                      <a:pt x="57" y="33"/>
                    </a:cubicBezTo>
                    <a:cubicBezTo>
                      <a:pt x="57" y="33"/>
                      <a:pt x="57" y="33"/>
                      <a:pt x="57" y="33"/>
                    </a:cubicBezTo>
                    <a:cubicBezTo>
                      <a:pt x="58" y="33"/>
                      <a:pt x="58" y="35"/>
                      <a:pt x="58" y="35"/>
                    </a:cubicBezTo>
                    <a:cubicBezTo>
                      <a:pt x="58" y="35"/>
                      <a:pt x="59" y="37"/>
                      <a:pt x="60" y="37"/>
                    </a:cubicBezTo>
                    <a:cubicBezTo>
                      <a:pt x="61" y="31"/>
                      <a:pt x="65" y="33"/>
                      <a:pt x="65" y="33"/>
                    </a:cubicBezTo>
                    <a:cubicBezTo>
                      <a:pt x="65" y="33"/>
                      <a:pt x="67" y="31"/>
                      <a:pt x="66" y="30"/>
                    </a:cubicBezTo>
                    <a:cubicBezTo>
                      <a:pt x="66" y="28"/>
                      <a:pt x="68" y="26"/>
                      <a:pt x="68" y="25"/>
                    </a:cubicBezTo>
                    <a:cubicBezTo>
                      <a:pt x="69" y="25"/>
                      <a:pt x="70" y="23"/>
                      <a:pt x="68" y="22"/>
                    </a:cubicBezTo>
                    <a:cubicBezTo>
                      <a:pt x="66" y="21"/>
                      <a:pt x="64" y="20"/>
                      <a:pt x="66" y="19"/>
                    </a:cubicBezTo>
                    <a:cubicBezTo>
                      <a:pt x="68" y="17"/>
                      <a:pt x="70" y="19"/>
                      <a:pt x="72" y="16"/>
                    </a:cubicBezTo>
                    <a:cubicBezTo>
                      <a:pt x="74" y="13"/>
                      <a:pt x="71" y="12"/>
                      <a:pt x="74" y="12"/>
                    </a:cubicBezTo>
                    <a:cubicBezTo>
                      <a:pt x="77" y="12"/>
                      <a:pt x="80" y="12"/>
                      <a:pt x="79" y="13"/>
                    </a:cubicBezTo>
                    <a:cubicBezTo>
                      <a:pt x="79" y="14"/>
                      <a:pt x="75" y="16"/>
                      <a:pt x="74" y="17"/>
                    </a:cubicBezTo>
                    <a:cubicBezTo>
                      <a:pt x="72" y="18"/>
                      <a:pt x="72" y="20"/>
                      <a:pt x="73" y="21"/>
                    </a:cubicBezTo>
                    <a:cubicBezTo>
                      <a:pt x="74" y="22"/>
                      <a:pt x="75" y="24"/>
                      <a:pt x="76" y="24"/>
                    </a:cubicBezTo>
                    <a:cubicBezTo>
                      <a:pt x="77" y="24"/>
                      <a:pt x="79" y="23"/>
                      <a:pt x="80" y="23"/>
                    </a:cubicBezTo>
                    <a:cubicBezTo>
                      <a:pt x="82" y="23"/>
                      <a:pt x="85" y="23"/>
                      <a:pt x="85" y="23"/>
                    </a:cubicBezTo>
                    <a:cubicBezTo>
                      <a:pt x="86" y="23"/>
                      <a:pt x="88" y="26"/>
                      <a:pt x="87" y="26"/>
                    </a:cubicBezTo>
                    <a:cubicBezTo>
                      <a:pt x="86" y="26"/>
                      <a:pt x="84" y="26"/>
                      <a:pt x="82" y="26"/>
                    </a:cubicBezTo>
                    <a:cubicBezTo>
                      <a:pt x="79" y="26"/>
                      <a:pt x="76" y="26"/>
                      <a:pt x="76" y="26"/>
                    </a:cubicBezTo>
                    <a:cubicBezTo>
                      <a:pt x="76" y="27"/>
                      <a:pt x="80" y="28"/>
                      <a:pt x="79" y="29"/>
                    </a:cubicBezTo>
                    <a:cubicBezTo>
                      <a:pt x="78" y="30"/>
                      <a:pt x="76" y="29"/>
                      <a:pt x="75" y="28"/>
                    </a:cubicBezTo>
                    <a:cubicBezTo>
                      <a:pt x="73" y="28"/>
                      <a:pt x="73" y="30"/>
                      <a:pt x="72" y="32"/>
                    </a:cubicBezTo>
                    <a:cubicBezTo>
                      <a:pt x="72" y="33"/>
                      <a:pt x="74" y="36"/>
                      <a:pt x="71" y="35"/>
                    </a:cubicBezTo>
                    <a:cubicBezTo>
                      <a:pt x="69" y="34"/>
                      <a:pt x="67" y="33"/>
                      <a:pt x="67" y="34"/>
                    </a:cubicBezTo>
                    <a:cubicBezTo>
                      <a:pt x="66" y="34"/>
                      <a:pt x="65" y="35"/>
                      <a:pt x="63" y="35"/>
                    </a:cubicBezTo>
                    <a:cubicBezTo>
                      <a:pt x="62" y="36"/>
                      <a:pt x="62" y="38"/>
                      <a:pt x="60" y="37"/>
                    </a:cubicBezTo>
                    <a:cubicBezTo>
                      <a:pt x="60" y="37"/>
                      <a:pt x="60" y="37"/>
                      <a:pt x="60" y="37"/>
                    </a:cubicBezTo>
                    <a:cubicBezTo>
                      <a:pt x="58" y="37"/>
                      <a:pt x="58" y="37"/>
                      <a:pt x="58" y="37"/>
                    </a:cubicBezTo>
                    <a:cubicBezTo>
                      <a:pt x="58" y="36"/>
                      <a:pt x="58" y="35"/>
                      <a:pt x="57" y="34"/>
                    </a:cubicBezTo>
                    <a:cubicBezTo>
                      <a:pt x="57" y="34"/>
                      <a:pt x="57" y="34"/>
                      <a:pt x="57" y="33"/>
                    </a:cubicBezTo>
                    <a:cubicBezTo>
                      <a:pt x="57" y="33"/>
                      <a:pt x="56" y="33"/>
                      <a:pt x="56" y="33"/>
                    </a:cubicBezTo>
                    <a:cubicBezTo>
                      <a:pt x="56" y="33"/>
                      <a:pt x="55" y="33"/>
                      <a:pt x="55" y="31"/>
                    </a:cubicBezTo>
                    <a:cubicBezTo>
                      <a:pt x="54" y="30"/>
                      <a:pt x="55" y="28"/>
                      <a:pt x="54" y="28"/>
                    </a:cubicBezTo>
                    <a:cubicBezTo>
                      <a:pt x="53" y="28"/>
                      <a:pt x="51" y="28"/>
                      <a:pt x="50" y="29"/>
                    </a:cubicBezTo>
                    <a:cubicBezTo>
                      <a:pt x="50" y="30"/>
                      <a:pt x="49" y="32"/>
                      <a:pt x="50" y="33"/>
                    </a:cubicBezTo>
                    <a:cubicBezTo>
                      <a:pt x="51" y="34"/>
                      <a:pt x="53" y="36"/>
                      <a:pt x="51" y="35"/>
                    </a:cubicBezTo>
                    <a:cubicBezTo>
                      <a:pt x="49" y="35"/>
                      <a:pt x="47" y="34"/>
                      <a:pt x="46" y="35"/>
                    </a:cubicBezTo>
                    <a:cubicBezTo>
                      <a:pt x="45" y="36"/>
                      <a:pt x="42" y="39"/>
                      <a:pt x="42" y="39"/>
                    </a:cubicBezTo>
                    <a:cubicBezTo>
                      <a:pt x="42" y="39"/>
                      <a:pt x="38" y="39"/>
                      <a:pt x="38" y="40"/>
                    </a:cubicBezTo>
                    <a:cubicBezTo>
                      <a:pt x="38" y="41"/>
                      <a:pt x="39" y="43"/>
                      <a:pt x="37" y="43"/>
                    </a:cubicBezTo>
                    <a:cubicBezTo>
                      <a:pt x="36" y="43"/>
                      <a:pt x="34" y="43"/>
                      <a:pt x="32" y="44"/>
                    </a:cubicBezTo>
                    <a:cubicBezTo>
                      <a:pt x="30" y="44"/>
                      <a:pt x="30" y="45"/>
                      <a:pt x="27" y="45"/>
                    </a:cubicBezTo>
                    <a:cubicBezTo>
                      <a:pt x="25" y="45"/>
                      <a:pt x="25" y="46"/>
                      <a:pt x="27" y="47"/>
                    </a:cubicBezTo>
                    <a:cubicBezTo>
                      <a:pt x="29" y="47"/>
                      <a:pt x="33" y="49"/>
                      <a:pt x="33" y="50"/>
                    </a:cubicBezTo>
                    <a:cubicBezTo>
                      <a:pt x="33" y="52"/>
                      <a:pt x="33" y="54"/>
                      <a:pt x="32" y="56"/>
                    </a:cubicBezTo>
                    <a:cubicBezTo>
                      <a:pt x="32" y="57"/>
                      <a:pt x="28" y="56"/>
                      <a:pt x="26" y="56"/>
                    </a:cubicBezTo>
                    <a:cubicBezTo>
                      <a:pt x="24" y="56"/>
                      <a:pt x="20" y="55"/>
                      <a:pt x="18" y="56"/>
                    </a:cubicBezTo>
                    <a:cubicBezTo>
                      <a:pt x="16" y="57"/>
                      <a:pt x="17" y="61"/>
                      <a:pt x="17" y="62"/>
                    </a:cubicBezTo>
                    <a:cubicBezTo>
                      <a:pt x="18" y="64"/>
                      <a:pt x="17" y="65"/>
                      <a:pt x="17" y="66"/>
                    </a:cubicBezTo>
                    <a:cubicBezTo>
                      <a:pt x="16" y="66"/>
                      <a:pt x="16" y="68"/>
                      <a:pt x="17" y="69"/>
                    </a:cubicBezTo>
                    <a:cubicBezTo>
                      <a:pt x="18" y="70"/>
                      <a:pt x="18" y="72"/>
                      <a:pt x="19" y="72"/>
                    </a:cubicBezTo>
                    <a:cubicBezTo>
                      <a:pt x="20" y="72"/>
                      <a:pt x="22" y="71"/>
                      <a:pt x="23" y="72"/>
                    </a:cubicBezTo>
                    <a:cubicBezTo>
                      <a:pt x="24" y="73"/>
                      <a:pt x="25" y="76"/>
                      <a:pt x="25" y="75"/>
                    </a:cubicBezTo>
                    <a:cubicBezTo>
                      <a:pt x="26" y="74"/>
                      <a:pt x="26" y="72"/>
                      <a:pt x="27" y="72"/>
                    </a:cubicBezTo>
                    <a:cubicBezTo>
                      <a:pt x="28" y="73"/>
                      <a:pt x="30" y="72"/>
                      <a:pt x="32" y="72"/>
                    </a:cubicBezTo>
                    <a:cubicBezTo>
                      <a:pt x="33" y="72"/>
                      <a:pt x="34" y="70"/>
                      <a:pt x="36" y="69"/>
                    </a:cubicBezTo>
                    <a:cubicBezTo>
                      <a:pt x="37" y="68"/>
                      <a:pt x="36" y="68"/>
                      <a:pt x="36" y="67"/>
                    </a:cubicBezTo>
                    <a:cubicBezTo>
                      <a:pt x="35" y="66"/>
                      <a:pt x="37" y="64"/>
                      <a:pt x="38" y="63"/>
                    </a:cubicBezTo>
                    <a:cubicBezTo>
                      <a:pt x="39" y="62"/>
                      <a:pt x="42" y="63"/>
                      <a:pt x="42" y="61"/>
                    </a:cubicBezTo>
                    <a:cubicBezTo>
                      <a:pt x="42" y="60"/>
                      <a:pt x="42" y="57"/>
                      <a:pt x="44" y="57"/>
                    </a:cubicBezTo>
                    <a:cubicBezTo>
                      <a:pt x="45" y="58"/>
                      <a:pt x="47" y="59"/>
                      <a:pt x="48" y="59"/>
                    </a:cubicBezTo>
                    <a:cubicBezTo>
                      <a:pt x="49" y="59"/>
                      <a:pt x="52" y="57"/>
                      <a:pt x="52" y="56"/>
                    </a:cubicBezTo>
                    <a:cubicBezTo>
                      <a:pt x="53" y="56"/>
                      <a:pt x="55" y="56"/>
                      <a:pt x="56" y="58"/>
                    </a:cubicBezTo>
                    <a:cubicBezTo>
                      <a:pt x="56" y="60"/>
                      <a:pt x="59" y="62"/>
                      <a:pt x="60" y="62"/>
                    </a:cubicBezTo>
                    <a:cubicBezTo>
                      <a:pt x="60" y="63"/>
                      <a:pt x="65" y="65"/>
                      <a:pt x="65" y="65"/>
                    </a:cubicBezTo>
                    <a:cubicBezTo>
                      <a:pt x="66" y="66"/>
                      <a:pt x="67" y="68"/>
                      <a:pt x="67" y="69"/>
                    </a:cubicBezTo>
                    <a:cubicBezTo>
                      <a:pt x="68" y="71"/>
                      <a:pt x="70" y="73"/>
                      <a:pt x="70" y="71"/>
                    </a:cubicBezTo>
                    <a:cubicBezTo>
                      <a:pt x="70" y="70"/>
                      <a:pt x="68" y="66"/>
                      <a:pt x="69" y="66"/>
                    </a:cubicBezTo>
                    <a:cubicBezTo>
                      <a:pt x="70" y="66"/>
                      <a:pt x="71" y="66"/>
                      <a:pt x="71" y="66"/>
                    </a:cubicBezTo>
                    <a:cubicBezTo>
                      <a:pt x="71" y="66"/>
                      <a:pt x="68" y="63"/>
                      <a:pt x="67" y="62"/>
                    </a:cubicBezTo>
                    <a:cubicBezTo>
                      <a:pt x="66" y="62"/>
                      <a:pt x="64" y="60"/>
                      <a:pt x="63" y="58"/>
                    </a:cubicBezTo>
                    <a:cubicBezTo>
                      <a:pt x="62" y="56"/>
                      <a:pt x="59" y="56"/>
                      <a:pt x="59" y="54"/>
                    </a:cubicBezTo>
                    <a:cubicBezTo>
                      <a:pt x="59" y="52"/>
                      <a:pt x="62" y="53"/>
                      <a:pt x="63" y="55"/>
                    </a:cubicBezTo>
                    <a:cubicBezTo>
                      <a:pt x="64" y="57"/>
                      <a:pt x="68" y="59"/>
                      <a:pt x="69" y="60"/>
                    </a:cubicBezTo>
                    <a:cubicBezTo>
                      <a:pt x="70" y="62"/>
                      <a:pt x="72" y="62"/>
                      <a:pt x="72" y="64"/>
                    </a:cubicBezTo>
                    <a:cubicBezTo>
                      <a:pt x="73" y="66"/>
                      <a:pt x="74" y="68"/>
                      <a:pt x="75" y="69"/>
                    </a:cubicBezTo>
                    <a:cubicBezTo>
                      <a:pt x="76" y="69"/>
                      <a:pt x="76" y="76"/>
                      <a:pt x="77" y="77"/>
                    </a:cubicBezTo>
                    <a:cubicBezTo>
                      <a:pt x="77" y="78"/>
                      <a:pt x="80" y="75"/>
                      <a:pt x="80" y="74"/>
                    </a:cubicBezTo>
                    <a:cubicBezTo>
                      <a:pt x="81" y="73"/>
                      <a:pt x="83" y="73"/>
                      <a:pt x="83" y="71"/>
                    </a:cubicBezTo>
                    <a:cubicBezTo>
                      <a:pt x="83" y="70"/>
                      <a:pt x="81" y="69"/>
                      <a:pt x="80" y="68"/>
                    </a:cubicBezTo>
                    <a:cubicBezTo>
                      <a:pt x="79" y="67"/>
                      <a:pt x="81" y="67"/>
                      <a:pt x="82" y="66"/>
                    </a:cubicBezTo>
                    <a:cubicBezTo>
                      <a:pt x="83" y="65"/>
                      <a:pt x="84" y="64"/>
                      <a:pt x="85" y="65"/>
                    </a:cubicBezTo>
                    <a:cubicBezTo>
                      <a:pt x="85" y="67"/>
                      <a:pt x="85" y="71"/>
                      <a:pt x="86" y="72"/>
                    </a:cubicBezTo>
                    <a:cubicBezTo>
                      <a:pt x="86" y="73"/>
                      <a:pt x="89" y="74"/>
                      <a:pt x="90" y="75"/>
                    </a:cubicBezTo>
                    <a:cubicBezTo>
                      <a:pt x="90" y="76"/>
                      <a:pt x="93" y="77"/>
                      <a:pt x="93" y="76"/>
                    </a:cubicBezTo>
                    <a:cubicBezTo>
                      <a:pt x="94" y="75"/>
                      <a:pt x="96" y="77"/>
                      <a:pt x="97" y="77"/>
                    </a:cubicBezTo>
                    <a:cubicBezTo>
                      <a:pt x="97" y="77"/>
                      <a:pt x="99" y="77"/>
                      <a:pt x="100" y="76"/>
                    </a:cubicBezTo>
                    <a:cubicBezTo>
                      <a:pt x="101" y="76"/>
                      <a:pt x="102" y="75"/>
                      <a:pt x="102" y="77"/>
                    </a:cubicBezTo>
                    <a:cubicBezTo>
                      <a:pt x="102" y="80"/>
                      <a:pt x="102" y="84"/>
                      <a:pt x="100" y="85"/>
                    </a:cubicBezTo>
                    <a:cubicBezTo>
                      <a:pt x="99" y="87"/>
                      <a:pt x="100" y="88"/>
                      <a:pt x="98" y="88"/>
                    </a:cubicBezTo>
                    <a:cubicBezTo>
                      <a:pt x="98" y="88"/>
                      <a:pt x="97" y="88"/>
                      <a:pt x="97" y="88"/>
                    </a:cubicBezTo>
                    <a:cubicBezTo>
                      <a:pt x="96" y="87"/>
                      <a:pt x="95" y="87"/>
                      <a:pt x="95" y="87"/>
                    </a:cubicBezTo>
                    <a:cubicBezTo>
                      <a:pt x="93" y="87"/>
                      <a:pt x="91" y="87"/>
                      <a:pt x="89" y="90"/>
                    </a:cubicBezTo>
                    <a:cubicBezTo>
                      <a:pt x="88" y="92"/>
                      <a:pt x="87" y="92"/>
                      <a:pt x="87" y="91"/>
                    </a:cubicBezTo>
                    <a:cubicBezTo>
                      <a:pt x="87" y="90"/>
                      <a:pt x="91" y="87"/>
                      <a:pt x="90" y="86"/>
                    </a:cubicBezTo>
                    <a:cubicBezTo>
                      <a:pt x="90" y="85"/>
                      <a:pt x="86" y="86"/>
                      <a:pt x="84" y="85"/>
                    </a:cubicBezTo>
                    <a:cubicBezTo>
                      <a:pt x="82" y="85"/>
                      <a:pt x="81" y="84"/>
                      <a:pt x="79" y="83"/>
                    </a:cubicBezTo>
                    <a:cubicBezTo>
                      <a:pt x="78" y="83"/>
                      <a:pt x="77" y="87"/>
                      <a:pt x="76" y="89"/>
                    </a:cubicBezTo>
                    <a:cubicBezTo>
                      <a:pt x="74" y="91"/>
                      <a:pt x="72" y="88"/>
                      <a:pt x="70" y="87"/>
                    </a:cubicBezTo>
                    <a:cubicBezTo>
                      <a:pt x="69" y="87"/>
                      <a:pt x="66" y="85"/>
                      <a:pt x="66" y="85"/>
                    </a:cubicBezTo>
                    <a:cubicBezTo>
                      <a:pt x="66" y="85"/>
                      <a:pt x="63" y="83"/>
                      <a:pt x="62" y="83"/>
                    </a:cubicBezTo>
                    <a:cubicBezTo>
                      <a:pt x="61" y="83"/>
                      <a:pt x="59" y="81"/>
                      <a:pt x="58" y="80"/>
                    </a:cubicBezTo>
                    <a:cubicBezTo>
                      <a:pt x="57" y="80"/>
                      <a:pt x="55" y="79"/>
                      <a:pt x="57" y="78"/>
                    </a:cubicBezTo>
                    <a:cubicBezTo>
                      <a:pt x="58" y="77"/>
                      <a:pt x="61" y="79"/>
                      <a:pt x="59" y="75"/>
                    </a:cubicBezTo>
                    <a:cubicBezTo>
                      <a:pt x="58" y="70"/>
                      <a:pt x="53" y="71"/>
                      <a:pt x="52" y="71"/>
                    </a:cubicBezTo>
                    <a:cubicBezTo>
                      <a:pt x="51" y="72"/>
                      <a:pt x="43" y="71"/>
                      <a:pt x="42" y="71"/>
                    </a:cubicBezTo>
                    <a:cubicBezTo>
                      <a:pt x="42" y="71"/>
                      <a:pt x="37" y="73"/>
                      <a:pt x="35" y="74"/>
                    </a:cubicBezTo>
                    <a:cubicBezTo>
                      <a:pt x="34" y="75"/>
                      <a:pt x="31" y="76"/>
                      <a:pt x="30" y="76"/>
                    </a:cubicBezTo>
                    <a:cubicBezTo>
                      <a:pt x="30" y="77"/>
                      <a:pt x="26" y="75"/>
                      <a:pt x="24" y="76"/>
                    </a:cubicBezTo>
                    <a:cubicBezTo>
                      <a:pt x="22" y="78"/>
                      <a:pt x="20" y="80"/>
                      <a:pt x="20" y="80"/>
                    </a:cubicBezTo>
                    <a:cubicBezTo>
                      <a:pt x="19" y="80"/>
                      <a:pt x="18" y="81"/>
                      <a:pt x="17" y="84"/>
                    </a:cubicBezTo>
                    <a:cubicBezTo>
                      <a:pt x="16" y="87"/>
                      <a:pt x="17" y="90"/>
                      <a:pt x="15" y="91"/>
                    </a:cubicBezTo>
                    <a:cubicBezTo>
                      <a:pt x="13" y="92"/>
                      <a:pt x="9" y="94"/>
                      <a:pt x="8" y="95"/>
                    </a:cubicBezTo>
                    <a:cubicBezTo>
                      <a:pt x="6" y="97"/>
                      <a:pt x="5" y="103"/>
                      <a:pt x="3" y="106"/>
                    </a:cubicBezTo>
                    <a:cubicBezTo>
                      <a:pt x="2" y="109"/>
                      <a:pt x="3" y="111"/>
                      <a:pt x="4" y="113"/>
                    </a:cubicBezTo>
                    <a:cubicBezTo>
                      <a:pt x="4" y="115"/>
                      <a:pt x="5" y="118"/>
                      <a:pt x="3" y="121"/>
                    </a:cubicBezTo>
                    <a:cubicBezTo>
                      <a:pt x="1" y="124"/>
                      <a:pt x="2" y="125"/>
                      <a:pt x="1" y="126"/>
                    </a:cubicBezTo>
                    <a:cubicBezTo>
                      <a:pt x="0" y="126"/>
                      <a:pt x="2" y="127"/>
                      <a:pt x="2" y="129"/>
                    </a:cubicBezTo>
                    <a:cubicBezTo>
                      <a:pt x="2" y="131"/>
                      <a:pt x="0" y="133"/>
                      <a:pt x="4" y="135"/>
                    </a:cubicBezTo>
                    <a:cubicBezTo>
                      <a:pt x="7" y="137"/>
                      <a:pt x="10" y="137"/>
                      <a:pt x="11" y="139"/>
                    </a:cubicBezTo>
                    <a:cubicBezTo>
                      <a:pt x="12" y="142"/>
                      <a:pt x="15" y="148"/>
                      <a:pt x="15" y="148"/>
                    </a:cubicBezTo>
                    <a:cubicBezTo>
                      <a:pt x="15" y="148"/>
                      <a:pt x="18" y="151"/>
                      <a:pt x="20" y="152"/>
                    </a:cubicBezTo>
                    <a:cubicBezTo>
                      <a:pt x="21" y="154"/>
                      <a:pt x="22" y="153"/>
                      <a:pt x="22" y="151"/>
                    </a:cubicBezTo>
                    <a:cubicBezTo>
                      <a:pt x="22" y="150"/>
                      <a:pt x="24" y="150"/>
                      <a:pt x="27" y="150"/>
                    </a:cubicBezTo>
                    <a:cubicBezTo>
                      <a:pt x="29" y="150"/>
                      <a:pt x="31" y="150"/>
                      <a:pt x="33" y="150"/>
                    </a:cubicBezTo>
                    <a:cubicBezTo>
                      <a:pt x="36" y="149"/>
                      <a:pt x="38" y="146"/>
                      <a:pt x="39" y="145"/>
                    </a:cubicBezTo>
                    <a:cubicBezTo>
                      <a:pt x="39" y="145"/>
                      <a:pt x="43" y="144"/>
                      <a:pt x="45" y="146"/>
                    </a:cubicBezTo>
                    <a:cubicBezTo>
                      <a:pt x="47" y="148"/>
                      <a:pt x="47" y="150"/>
                      <a:pt x="48" y="151"/>
                    </a:cubicBezTo>
                    <a:cubicBezTo>
                      <a:pt x="49" y="153"/>
                      <a:pt x="51" y="152"/>
                      <a:pt x="53" y="150"/>
                    </a:cubicBezTo>
                    <a:cubicBezTo>
                      <a:pt x="54" y="149"/>
                      <a:pt x="54" y="149"/>
                      <a:pt x="55" y="151"/>
                    </a:cubicBezTo>
                    <a:cubicBezTo>
                      <a:pt x="57" y="152"/>
                      <a:pt x="58" y="153"/>
                      <a:pt x="56" y="155"/>
                    </a:cubicBezTo>
                    <a:cubicBezTo>
                      <a:pt x="55" y="157"/>
                      <a:pt x="55" y="159"/>
                      <a:pt x="54" y="162"/>
                    </a:cubicBezTo>
                    <a:cubicBezTo>
                      <a:pt x="53" y="165"/>
                      <a:pt x="55" y="165"/>
                      <a:pt x="57" y="166"/>
                    </a:cubicBezTo>
                    <a:cubicBezTo>
                      <a:pt x="59" y="167"/>
                      <a:pt x="60" y="175"/>
                      <a:pt x="61" y="176"/>
                    </a:cubicBezTo>
                    <a:cubicBezTo>
                      <a:pt x="62" y="178"/>
                      <a:pt x="60" y="182"/>
                      <a:pt x="61" y="184"/>
                    </a:cubicBezTo>
                    <a:cubicBezTo>
                      <a:pt x="62" y="186"/>
                      <a:pt x="63" y="187"/>
                      <a:pt x="61" y="189"/>
                    </a:cubicBezTo>
                    <a:cubicBezTo>
                      <a:pt x="60" y="190"/>
                      <a:pt x="58" y="192"/>
                      <a:pt x="58" y="196"/>
                    </a:cubicBezTo>
                    <a:cubicBezTo>
                      <a:pt x="57" y="200"/>
                      <a:pt x="58" y="202"/>
                      <a:pt x="58" y="203"/>
                    </a:cubicBezTo>
                    <a:cubicBezTo>
                      <a:pt x="59" y="204"/>
                      <a:pt x="60" y="208"/>
                      <a:pt x="61" y="209"/>
                    </a:cubicBezTo>
                    <a:cubicBezTo>
                      <a:pt x="62" y="210"/>
                      <a:pt x="64" y="212"/>
                      <a:pt x="64" y="214"/>
                    </a:cubicBezTo>
                    <a:cubicBezTo>
                      <a:pt x="64" y="216"/>
                      <a:pt x="61" y="219"/>
                      <a:pt x="62" y="220"/>
                    </a:cubicBezTo>
                    <a:cubicBezTo>
                      <a:pt x="63" y="221"/>
                      <a:pt x="63" y="222"/>
                      <a:pt x="64" y="224"/>
                    </a:cubicBezTo>
                    <a:cubicBezTo>
                      <a:pt x="66" y="225"/>
                      <a:pt x="66" y="228"/>
                      <a:pt x="66" y="228"/>
                    </a:cubicBezTo>
                    <a:cubicBezTo>
                      <a:pt x="66" y="228"/>
                      <a:pt x="66" y="229"/>
                      <a:pt x="66" y="230"/>
                    </a:cubicBezTo>
                    <a:cubicBezTo>
                      <a:pt x="66" y="232"/>
                      <a:pt x="66" y="233"/>
                      <a:pt x="67" y="234"/>
                    </a:cubicBezTo>
                    <a:cubicBezTo>
                      <a:pt x="69" y="235"/>
                      <a:pt x="70" y="235"/>
                      <a:pt x="70" y="234"/>
                    </a:cubicBezTo>
                    <a:cubicBezTo>
                      <a:pt x="71" y="233"/>
                      <a:pt x="75" y="231"/>
                      <a:pt x="77" y="231"/>
                    </a:cubicBezTo>
                    <a:cubicBezTo>
                      <a:pt x="79" y="231"/>
                      <a:pt x="81" y="231"/>
                      <a:pt x="83" y="230"/>
                    </a:cubicBezTo>
                    <a:cubicBezTo>
                      <a:pt x="85" y="228"/>
                      <a:pt x="89" y="224"/>
                      <a:pt x="90" y="223"/>
                    </a:cubicBezTo>
                    <a:cubicBezTo>
                      <a:pt x="91" y="221"/>
                      <a:pt x="94" y="219"/>
                      <a:pt x="94" y="218"/>
                    </a:cubicBezTo>
                    <a:cubicBezTo>
                      <a:pt x="93" y="216"/>
                      <a:pt x="92" y="214"/>
                      <a:pt x="93" y="214"/>
                    </a:cubicBezTo>
                    <a:cubicBezTo>
                      <a:pt x="94" y="213"/>
                      <a:pt x="98" y="212"/>
                      <a:pt x="98" y="211"/>
                    </a:cubicBezTo>
                    <a:cubicBezTo>
                      <a:pt x="99" y="210"/>
                      <a:pt x="98" y="206"/>
                      <a:pt x="98" y="205"/>
                    </a:cubicBezTo>
                    <a:cubicBezTo>
                      <a:pt x="98" y="204"/>
                      <a:pt x="99" y="202"/>
                      <a:pt x="100" y="200"/>
                    </a:cubicBezTo>
                    <a:cubicBezTo>
                      <a:pt x="101" y="198"/>
                      <a:pt x="104" y="196"/>
                      <a:pt x="105" y="195"/>
                    </a:cubicBezTo>
                    <a:cubicBezTo>
                      <a:pt x="105" y="195"/>
                      <a:pt x="108" y="192"/>
                      <a:pt x="108" y="190"/>
                    </a:cubicBezTo>
                    <a:cubicBezTo>
                      <a:pt x="109" y="187"/>
                      <a:pt x="108" y="184"/>
                      <a:pt x="109" y="183"/>
                    </a:cubicBezTo>
                    <a:cubicBezTo>
                      <a:pt x="109" y="182"/>
                      <a:pt x="109" y="181"/>
                      <a:pt x="108" y="179"/>
                    </a:cubicBezTo>
                    <a:cubicBezTo>
                      <a:pt x="107" y="178"/>
                      <a:pt x="107" y="174"/>
                      <a:pt x="107" y="174"/>
                    </a:cubicBezTo>
                    <a:cubicBezTo>
                      <a:pt x="106" y="173"/>
                      <a:pt x="107" y="168"/>
                      <a:pt x="108" y="168"/>
                    </a:cubicBezTo>
                    <a:cubicBezTo>
                      <a:pt x="109" y="167"/>
                      <a:pt x="111" y="163"/>
                      <a:pt x="112" y="162"/>
                    </a:cubicBezTo>
                    <a:cubicBezTo>
                      <a:pt x="113" y="160"/>
                      <a:pt x="116" y="154"/>
                      <a:pt x="117" y="154"/>
                    </a:cubicBezTo>
                    <a:cubicBezTo>
                      <a:pt x="119" y="153"/>
                      <a:pt x="121" y="150"/>
                      <a:pt x="121" y="149"/>
                    </a:cubicBezTo>
                    <a:cubicBezTo>
                      <a:pt x="121" y="147"/>
                      <a:pt x="125" y="140"/>
                      <a:pt x="125" y="139"/>
                    </a:cubicBezTo>
                    <a:cubicBezTo>
                      <a:pt x="125" y="138"/>
                      <a:pt x="126" y="133"/>
                      <a:pt x="126" y="132"/>
                    </a:cubicBezTo>
                    <a:cubicBezTo>
                      <a:pt x="125" y="131"/>
                      <a:pt x="121" y="134"/>
                      <a:pt x="120" y="134"/>
                    </a:cubicBezTo>
                    <a:cubicBezTo>
                      <a:pt x="119" y="134"/>
                      <a:pt x="118" y="136"/>
                      <a:pt x="116" y="136"/>
                    </a:cubicBezTo>
                    <a:cubicBezTo>
                      <a:pt x="114" y="136"/>
                      <a:pt x="115" y="133"/>
                      <a:pt x="114" y="132"/>
                    </a:cubicBezTo>
                    <a:cubicBezTo>
                      <a:pt x="114" y="131"/>
                      <a:pt x="112" y="127"/>
                      <a:pt x="112" y="126"/>
                    </a:cubicBezTo>
                    <a:cubicBezTo>
                      <a:pt x="111" y="126"/>
                      <a:pt x="110" y="124"/>
                      <a:pt x="109" y="122"/>
                    </a:cubicBezTo>
                    <a:cubicBezTo>
                      <a:pt x="108" y="119"/>
                      <a:pt x="106" y="118"/>
                      <a:pt x="104" y="116"/>
                    </a:cubicBezTo>
                    <a:cubicBezTo>
                      <a:pt x="103" y="114"/>
                      <a:pt x="105" y="109"/>
                      <a:pt x="103" y="106"/>
                    </a:cubicBezTo>
                    <a:cubicBezTo>
                      <a:pt x="102" y="103"/>
                      <a:pt x="101" y="100"/>
                      <a:pt x="100" y="97"/>
                    </a:cubicBezTo>
                    <a:cubicBezTo>
                      <a:pt x="100" y="97"/>
                      <a:pt x="100" y="96"/>
                      <a:pt x="99" y="95"/>
                    </a:cubicBezTo>
                    <a:cubicBezTo>
                      <a:pt x="101" y="95"/>
                      <a:pt x="103" y="94"/>
                      <a:pt x="103" y="95"/>
                    </a:cubicBezTo>
                    <a:cubicBezTo>
                      <a:pt x="103" y="97"/>
                      <a:pt x="105" y="100"/>
                      <a:pt x="105" y="102"/>
                    </a:cubicBezTo>
                    <a:cubicBezTo>
                      <a:pt x="105" y="104"/>
                      <a:pt x="107" y="103"/>
                      <a:pt x="107" y="105"/>
                    </a:cubicBezTo>
                    <a:cubicBezTo>
                      <a:pt x="107" y="107"/>
                      <a:pt x="108" y="112"/>
                      <a:pt x="109" y="112"/>
                    </a:cubicBezTo>
                    <a:cubicBezTo>
                      <a:pt x="109" y="113"/>
                      <a:pt x="112" y="116"/>
                      <a:pt x="112" y="117"/>
                    </a:cubicBezTo>
                    <a:cubicBezTo>
                      <a:pt x="113" y="118"/>
                      <a:pt x="113" y="120"/>
                      <a:pt x="113" y="123"/>
                    </a:cubicBezTo>
                    <a:cubicBezTo>
                      <a:pt x="114" y="126"/>
                      <a:pt x="114" y="129"/>
                      <a:pt x="115" y="130"/>
                    </a:cubicBezTo>
                    <a:cubicBezTo>
                      <a:pt x="116" y="131"/>
                      <a:pt x="120" y="129"/>
                      <a:pt x="120" y="128"/>
                    </a:cubicBezTo>
                    <a:cubicBezTo>
                      <a:pt x="121" y="128"/>
                      <a:pt x="125" y="125"/>
                      <a:pt x="126" y="125"/>
                    </a:cubicBezTo>
                    <a:cubicBezTo>
                      <a:pt x="127" y="124"/>
                      <a:pt x="127" y="123"/>
                      <a:pt x="129" y="122"/>
                    </a:cubicBezTo>
                    <a:cubicBezTo>
                      <a:pt x="131" y="122"/>
                      <a:pt x="132" y="120"/>
                      <a:pt x="133" y="118"/>
                    </a:cubicBezTo>
                    <a:cubicBezTo>
                      <a:pt x="134" y="117"/>
                      <a:pt x="135" y="113"/>
                      <a:pt x="136" y="112"/>
                    </a:cubicBezTo>
                    <a:cubicBezTo>
                      <a:pt x="136" y="111"/>
                      <a:pt x="137" y="110"/>
                      <a:pt x="136" y="108"/>
                    </a:cubicBezTo>
                    <a:cubicBezTo>
                      <a:pt x="136" y="107"/>
                      <a:pt x="134" y="105"/>
                      <a:pt x="133" y="105"/>
                    </a:cubicBezTo>
                    <a:cubicBezTo>
                      <a:pt x="132" y="104"/>
                      <a:pt x="132" y="102"/>
                      <a:pt x="132" y="102"/>
                    </a:cubicBezTo>
                    <a:cubicBezTo>
                      <a:pt x="131" y="102"/>
                      <a:pt x="131" y="103"/>
                      <a:pt x="130" y="104"/>
                    </a:cubicBezTo>
                    <a:cubicBezTo>
                      <a:pt x="129" y="105"/>
                      <a:pt x="128" y="107"/>
                      <a:pt x="127" y="106"/>
                    </a:cubicBezTo>
                    <a:cubicBezTo>
                      <a:pt x="127" y="106"/>
                      <a:pt x="128" y="105"/>
                      <a:pt x="126" y="103"/>
                    </a:cubicBezTo>
                    <a:cubicBezTo>
                      <a:pt x="125" y="102"/>
                      <a:pt x="125" y="101"/>
                      <a:pt x="125" y="100"/>
                    </a:cubicBezTo>
                    <a:cubicBezTo>
                      <a:pt x="125" y="99"/>
                      <a:pt x="122" y="96"/>
                      <a:pt x="122" y="94"/>
                    </a:cubicBezTo>
                    <a:cubicBezTo>
                      <a:pt x="121" y="92"/>
                      <a:pt x="123" y="90"/>
                      <a:pt x="124" y="91"/>
                    </a:cubicBezTo>
                    <a:cubicBezTo>
                      <a:pt x="125" y="93"/>
                      <a:pt x="125" y="96"/>
                      <a:pt x="127" y="97"/>
                    </a:cubicBezTo>
                    <a:cubicBezTo>
                      <a:pt x="128" y="98"/>
                      <a:pt x="129" y="100"/>
                      <a:pt x="130" y="101"/>
                    </a:cubicBezTo>
                    <a:cubicBezTo>
                      <a:pt x="131" y="101"/>
                      <a:pt x="132" y="99"/>
                      <a:pt x="133" y="99"/>
                    </a:cubicBezTo>
                    <a:cubicBezTo>
                      <a:pt x="133" y="99"/>
                      <a:pt x="134" y="103"/>
                      <a:pt x="135" y="103"/>
                    </a:cubicBezTo>
                    <a:cubicBezTo>
                      <a:pt x="136" y="104"/>
                      <a:pt x="139" y="104"/>
                      <a:pt x="139" y="104"/>
                    </a:cubicBezTo>
                    <a:cubicBezTo>
                      <a:pt x="140" y="104"/>
                      <a:pt x="142" y="105"/>
                      <a:pt x="142" y="104"/>
                    </a:cubicBezTo>
                    <a:cubicBezTo>
                      <a:pt x="142" y="103"/>
                      <a:pt x="146" y="101"/>
                      <a:pt x="146" y="101"/>
                    </a:cubicBezTo>
                    <a:cubicBezTo>
                      <a:pt x="146" y="101"/>
                      <a:pt x="146" y="100"/>
                      <a:pt x="146" y="98"/>
                    </a:cubicBezTo>
                    <a:cubicBezTo>
                      <a:pt x="140" y="67"/>
                      <a:pt x="124" y="39"/>
                      <a:pt x="103" y="18"/>
                    </a:cubicBezTo>
                    <a:cubicBezTo>
                      <a:pt x="102" y="18"/>
                      <a:pt x="102" y="18"/>
                      <a:pt x="101" y="17"/>
                    </a:cubicBezTo>
                    <a:cubicBezTo>
                      <a:pt x="99" y="16"/>
                      <a:pt x="99" y="16"/>
                      <a:pt x="99" y="17"/>
                    </a:cubicBezTo>
                    <a:cubicBezTo>
                      <a:pt x="98" y="17"/>
                      <a:pt x="97" y="18"/>
                      <a:pt x="96" y="17"/>
                    </a:cubicBezTo>
                    <a:cubicBezTo>
                      <a:pt x="96" y="15"/>
                      <a:pt x="96" y="15"/>
                      <a:pt x="95" y="14"/>
                    </a:cubicBezTo>
                    <a:cubicBezTo>
                      <a:pt x="94" y="13"/>
                      <a:pt x="95" y="13"/>
                      <a:pt x="96" y="13"/>
                    </a:cubicBezTo>
                    <a:cubicBezTo>
                      <a:pt x="97" y="14"/>
                      <a:pt x="98" y="14"/>
                      <a:pt x="99" y="14"/>
                    </a:cubicBezTo>
                    <a:cubicBezTo>
                      <a:pt x="95" y="11"/>
                      <a:pt x="92" y="8"/>
                      <a:pt x="88" y="5"/>
                    </a:cubicBezTo>
                    <a:cubicBezTo>
                      <a:pt x="88" y="5"/>
                      <a:pt x="88" y="5"/>
                      <a:pt x="88" y="5"/>
                    </a:cubicBezTo>
                    <a:cubicBezTo>
                      <a:pt x="86" y="5"/>
                      <a:pt x="78" y="0"/>
                      <a:pt x="74" y="1"/>
                    </a:cubicBezTo>
                    <a:close/>
                    <a:moveTo>
                      <a:pt x="99" y="159"/>
                    </a:moveTo>
                    <a:cubicBezTo>
                      <a:pt x="100" y="160"/>
                      <a:pt x="98" y="165"/>
                      <a:pt x="96" y="165"/>
                    </a:cubicBezTo>
                    <a:cubicBezTo>
                      <a:pt x="95" y="165"/>
                      <a:pt x="96" y="160"/>
                      <a:pt x="96" y="159"/>
                    </a:cubicBezTo>
                    <a:cubicBezTo>
                      <a:pt x="97" y="158"/>
                      <a:pt x="99" y="158"/>
                      <a:pt x="99" y="159"/>
                    </a:cubicBezTo>
                    <a:close/>
                    <a:moveTo>
                      <a:pt x="118" y="56"/>
                    </a:moveTo>
                    <a:cubicBezTo>
                      <a:pt x="119" y="55"/>
                      <a:pt x="121" y="57"/>
                      <a:pt x="122" y="56"/>
                    </a:cubicBezTo>
                    <a:cubicBezTo>
                      <a:pt x="123" y="56"/>
                      <a:pt x="124" y="55"/>
                      <a:pt x="124" y="54"/>
                    </a:cubicBezTo>
                    <a:cubicBezTo>
                      <a:pt x="125" y="54"/>
                      <a:pt x="127" y="55"/>
                      <a:pt x="127" y="56"/>
                    </a:cubicBezTo>
                    <a:cubicBezTo>
                      <a:pt x="128" y="57"/>
                      <a:pt x="129" y="59"/>
                      <a:pt x="129" y="60"/>
                    </a:cubicBezTo>
                    <a:cubicBezTo>
                      <a:pt x="128" y="60"/>
                      <a:pt x="126" y="60"/>
                      <a:pt x="126" y="59"/>
                    </a:cubicBezTo>
                    <a:cubicBezTo>
                      <a:pt x="125" y="58"/>
                      <a:pt x="123" y="59"/>
                      <a:pt x="123" y="61"/>
                    </a:cubicBezTo>
                    <a:cubicBezTo>
                      <a:pt x="123" y="63"/>
                      <a:pt x="124" y="62"/>
                      <a:pt x="124" y="62"/>
                    </a:cubicBezTo>
                    <a:cubicBezTo>
                      <a:pt x="125" y="63"/>
                      <a:pt x="125" y="64"/>
                      <a:pt x="126" y="66"/>
                    </a:cubicBezTo>
                    <a:cubicBezTo>
                      <a:pt x="126" y="67"/>
                      <a:pt x="127" y="66"/>
                      <a:pt x="128" y="67"/>
                    </a:cubicBezTo>
                    <a:cubicBezTo>
                      <a:pt x="128" y="68"/>
                      <a:pt x="126" y="69"/>
                      <a:pt x="127" y="70"/>
                    </a:cubicBezTo>
                    <a:cubicBezTo>
                      <a:pt x="128" y="72"/>
                      <a:pt x="129" y="76"/>
                      <a:pt x="129" y="77"/>
                    </a:cubicBezTo>
                    <a:cubicBezTo>
                      <a:pt x="129" y="78"/>
                      <a:pt x="127" y="78"/>
                      <a:pt x="126" y="78"/>
                    </a:cubicBezTo>
                    <a:cubicBezTo>
                      <a:pt x="125" y="78"/>
                      <a:pt x="122" y="76"/>
                      <a:pt x="122" y="76"/>
                    </a:cubicBezTo>
                    <a:cubicBezTo>
                      <a:pt x="121" y="75"/>
                      <a:pt x="120" y="71"/>
                      <a:pt x="121" y="71"/>
                    </a:cubicBezTo>
                    <a:cubicBezTo>
                      <a:pt x="122" y="71"/>
                      <a:pt x="122" y="71"/>
                      <a:pt x="124" y="69"/>
                    </a:cubicBezTo>
                    <a:cubicBezTo>
                      <a:pt x="125" y="68"/>
                      <a:pt x="122" y="67"/>
                      <a:pt x="121" y="66"/>
                    </a:cubicBezTo>
                    <a:cubicBezTo>
                      <a:pt x="120" y="66"/>
                      <a:pt x="118" y="62"/>
                      <a:pt x="117" y="60"/>
                    </a:cubicBezTo>
                    <a:cubicBezTo>
                      <a:pt x="117" y="59"/>
                      <a:pt x="117" y="57"/>
                      <a:pt x="118" y="56"/>
                    </a:cubicBezTo>
                    <a:close/>
                    <a:moveTo>
                      <a:pt x="94" y="25"/>
                    </a:moveTo>
                    <a:cubicBezTo>
                      <a:pt x="93" y="26"/>
                      <a:pt x="89" y="24"/>
                      <a:pt x="89" y="23"/>
                    </a:cubicBezTo>
                    <a:cubicBezTo>
                      <a:pt x="90" y="20"/>
                      <a:pt x="94" y="24"/>
                      <a:pt x="94" y="25"/>
                    </a:cubicBezTo>
                    <a:close/>
                    <a:moveTo>
                      <a:pt x="91" y="54"/>
                    </a:moveTo>
                    <a:cubicBezTo>
                      <a:pt x="92" y="53"/>
                      <a:pt x="93" y="53"/>
                      <a:pt x="94" y="53"/>
                    </a:cubicBezTo>
                    <a:cubicBezTo>
                      <a:pt x="95" y="53"/>
                      <a:pt x="97" y="57"/>
                      <a:pt x="97" y="58"/>
                    </a:cubicBezTo>
                    <a:cubicBezTo>
                      <a:pt x="98" y="59"/>
                      <a:pt x="99" y="57"/>
                      <a:pt x="99" y="57"/>
                    </a:cubicBezTo>
                    <a:cubicBezTo>
                      <a:pt x="100" y="57"/>
                      <a:pt x="101" y="56"/>
                      <a:pt x="101" y="55"/>
                    </a:cubicBezTo>
                    <a:cubicBezTo>
                      <a:pt x="101" y="54"/>
                      <a:pt x="102" y="54"/>
                      <a:pt x="103" y="54"/>
                    </a:cubicBezTo>
                    <a:cubicBezTo>
                      <a:pt x="105" y="54"/>
                      <a:pt x="104" y="55"/>
                      <a:pt x="103" y="55"/>
                    </a:cubicBezTo>
                    <a:cubicBezTo>
                      <a:pt x="102" y="56"/>
                      <a:pt x="102" y="57"/>
                      <a:pt x="104" y="57"/>
                    </a:cubicBezTo>
                    <a:cubicBezTo>
                      <a:pt x="106" y="58"/>
                      <a:pt x="107" y="60"/>
                      <a:pt x="109" y="62"/>
                    </a:cubicBezTo>
                    <a:cubicBezTo>
                      <a:pt x="111" y="63"/>
                      <a:pt x="111" y="66"/>
                      <a:pt x="110" y="66"/>
                    </a:cubicBezTo>
                    <a:cubicBezTo>
                      <a:pt x="109" y="67"/>
                      <a:pt x="106" y="67"/>
                      <a:pt x="105" y="66"/>
                    </a:cubicBezTo>
                    <a:cubicBezTo>
                      <a:pt x="104" y="66"/>
                      <a:pt x="102" y="64"/>
                      <a:pt x="100" y="64"/>
                    </a:cubicBezTo>
                    <a:cubicBezTo>
                      <a:pt x="98" y="63"/>
                      <a:pt x="96" y="63"/>
                      <a:pt x="95" y="64"/>
                    </a:cubicBezTo>
                    <a:cubicBezTo>
                      <a:pt x="95" y="66"/>
                      <a:pt x="92" y="65"/>
                      <a:pt x="91" y="65"/>
                    </a:cubicBezTo>
                    <a:cubicBezTo>
                      <a:pt x="90" y="65"/>
                      <a:pt x="89" y="67"/>
                      <a:pt x="88" y="66"/>
                    </a:cubicBezTo>
                    <a:cubicBezTo>
                      <a:pt x="88" y="66"/>
                      <a:pt x="89" y="62"/>
                      <a:pt x="88" y="62"/>
                    </a:cubicBezTo>
                    <a:cubicBezTo>
                      <a:pt x="87" y="62"/>
                      <a:pt x="88" y="59"/>
                      <a:pt x="89" y="59"/>
                    </a:cubicBezTo>
                    <a:cubicBezTo>
                      <a:pt x="90" y="58"/>
                      <a:pt x="91" y="56"/>
                      <a:pt x="91" y="54"/>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81" name="Freeform: Shape 30"/>
              <p:cNvSpPr/>
              <p:nvPr/>
            </p:nvSpPr>
            <p:spPr bwMode="auto">
              <a:xfrm>
                <a:off x="4890688" y="3334982"/>
                <a:ext cx="14564" cy="19419"/>
              </a:xfrm>
              <a:custGeom>
                <a:avLst/>
                <a:gdLst>
                  <a:gd name="T0" fmla="*/ 1 w 3"/>
                  <a:gd name="T1" fmla="*/ 4 h 4"/>
                  <a:gd name="T2" fmla="*/ 3 w 3"/>
                  <a:gd name="T3" fmla="*/ 4 h 4"/>
                  <a:gd name="T4" fmla="*/ 1 w 3"/>
                  <a:gd name="T5" fmla="*/ 2 h 4"/>
                  <a:gd name="T6" fmla="*/ 0 w 3"/>
                  <a:gd name="T7" fmla="*/ 0 h 4"/>
                  <a:gd name="T8" fmla="*/ 0 w 3"/>
                  <a:gd name="T9" fmla="*/ 0 h 4"/>
                  <a:gd name="T10" fmla="*/ 0 w 3"/>
                  <a:gd name="T11" fmla="*/ 1 h 4"/>
                  <a:gd name="T12" fmla="*/ 1 w 3"/>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3" h="4">
                    <a:moveTo>
                      <a:pt x="1" y="4"/>
                    </a:moveTo>
                    <a:cubicBezTo>
                      <a:pt x="1" y="4"/>
                      <a:pt x="1" y="4"/>
                      <a:pt x="3" y="4"/>
                    </a:cubicBezTo>
                    <a:cubicBezTo>
                      <a:pt x="2" y="4"/>
                      <a:pt x="1" y="2"/>
                      <a:pt x="1" y="2"/>
                    </a:cubicBezTo>
                    <a:cubicBezTo>
                      <a:pt x="1" y="2"/>
                      <a:pt x="1" y="0"/>
                      <a:pt x="0" y="0"/>
                    </a:cubicBezTo>
                    <a:cubicBezTo>
                      <a:pt x="0" y="0"/>
                      <a:pt x="0" y="0"/>
                      <a:pt x="0" y="0"/>
                    </a:cubicBezTo>
                    <a:cubicBezTo>
                      <a:pt x="0" y="1"/>
                      <a:pt x="0" y="1"/>
                      <a:pt x="0" y="1"/>
                    </a:cubicBezTo>
                    <a:cubicBezTo>
                      <a:pt x="1" y="2"/>
                      <a:pt x="1" y="3"/>
                      <a:pt x="1" y="4"/>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grpSp>
        <p:sp>
          <p:nvSpPr>
            <p:cNvPr id="9" name="Oval 31"/>
            <p:cNvSpPr>
              <a:spLocks noChangeAspect="1"/>
            </p:cNvSpPr>
            <p:nvPr/>
          </p:nvSpPr>
          <p:spPr>
            <a:xfrm>
              <a:off x="3468928" y="4079151"/>
              <a:ext cx="96920" cy="96920"/>
            </a:xfrm>
            <a:prstGeom prst="ellipse">
              <a:avLst/>
            </a:prstGeom>
            <a:solidFill>
              <a:schemeClr val="accent1">
                <a:lumMod val="10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10" name="Oval 32"/>
            <p:cNvSpPr>
              <a:spLocks noChangeAspect="1"/>
            </p:cNvSpPr>
            <p:nvPr/>
          </p:nvSpPr>
          <p:spPr>
            <a:xfrm>
              <a:off x="3571973" y="3364805"/>
              <a:ext cx="96920" cy="96920"/>
            </a:xfrm>
            <a:prstGeom prst="ellipse">
              <a:avLst/>
            </a:prstGeom>
            <a:solidFill>
              <a:schemeClr val="accent2">
                <a:lumMod val="10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11" name="Oval 34"/>
            <p:cNvSpPr>
              <a:spLocks noChangeAspect="1"/>
            </p:cNvSpPr>
            <p:nvPr/>
          </p:nvSpPr>
          <p:spPr>
            <a:xfrm>
              <a:off x="5522896" y="3373368"/>
              <a:ext cx="96920" cy="96920"/>
            </a:xfrm>
            <a:prstGeom prst="ellipse">
              <a:avLst/>
            </a:prstGeom>
            <a:solidFill>
              <a:schemeClr val="accent4">
                <a:lumMod val="10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12" name="Oval 35"/>
            <p:cNvSpPr>
              <a:spLocks noChangeAspect="1"/>
            </p:cNvSpPr>
            <p:nvPr/>
          </p:nvSpPr>
          <p:spPr>
            <a:xfrm>
              <a:off x="5574697" y="4093575"/>
              <a:ext cx="96920" cy="96920"/>
            </a:xfrm>
            <a:prstGeom prst="ellipse">
              <a:avLst/>
            </a:prstGeom>
            <a:solidFill>
              <a:schemeClr val="accent5">
                <a:lumMod val="100000"/>
              </a:schemeClr>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a:solidFill>
                    <a:schemeClr val="accent6">
                      <a:lumMod val="100000"/>
                    </a:schemeClr>
                  </a:solidFill>
                  <a:prstDash val="solid"/>
                  <a:miter lim="800000"/>
                  <a:headEnd type="none" w="med" len="med"/>
                  <a:tailEnd type="none" w="med" len="med"/>
                </a14:hiddenLine>
              </a:ext>
            </a:extLst>
          </p:spPr>
          <p:style>
            <a:lnRef idx="1">
              <a:schemeClr val="accent1"/>
            </a:lnRef>
            <a:fillRef idx="3">
              <a:schemeClr val="accent1"/>
            </a:fillRef>
            <a:effectRef idx="2">
              <a:schemeClr val="accent1"/>
            </a:effectRef>
            <a:fontRef idx="minor">
              <a:schemeClr val="lt1"/>
            </a:fontRef>
          </p:style>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13" name="Oval 12"/>
            <p:cNvSpPr/>
            <p:nvPr/>
          </p:nvSpPr>
          <p:spPr bwMode="auto">
            <a:xfrm>
              <a:off x="5830683" y="3810689"/>
              <a:ext cx="616354" cy="615848"/>
            </a:xfrm>
            <a:prstGeom prst="ellipse">
              <a:avLst/>
            </a:prstGeom>
            <a:solidFill>
              <a:schemeClr val="accent5">
                <a:lumMod val="100000"/>
              </a:schemeClr>
            </a:solidFill>
            <a:ln w="12700" cap="flat" cmpd="sng" algn="ctr">
              <a:noFill/>
              <a:prstDash val="solid"/>
              <a:round/>
              <a:headEnd type="none" w="med" len="med"/>
              <a:tailEnd type="none" w="med" len="med"/>
            </a:ln>
            <a:extLst>
              <a:ext uri="{91240B29-F687-4F45-9708-019B960494DF}">
                <a14:hiddenLine xmlns:a14="http://schemas.microsoft.com/office/drawing/2010/main" w="12700">
                  <a:solidFill>
                    <a:schemeClr val="accent5">
                      <a:lumMod val="100000"/>
                    </a:schemeClr>
                  </a:solidFill>
                  <a:prstDash val="solid"/>
                  <a:round/>
                  <a:headEnd type="none" w="med" len="med"/>
                  <a:tailEnd type="none" w="med" len="me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grpSp>
          <p:nvGrpSpPr>
            <p:cNvPr id="14" name="Group 13"/>
            <p:cNvGrpSpPr/>
            <p:nvPr/>
          </p:nvGrpSpPr>
          <p:grpSpPr>
            <a:xfrm>
              <a:off x="5671229" y="2811830"/>
              <a:ext cx="616354" cy="617866"/>
              <a:chOff x="7204075" y="-1846263"/>
              <a:chExt cx="1939925" cy="1944688"/>
            </a:xfrm>
          </p:grpSpPr>
          <p:sp>
            <p:nvSpPr>
              <p:cNvPr id="48" name="Oval 47"/>
              <p:cNvSpPr/>
              <p:nvPr/>
            </p:nvSpPr>
            <p:spPr bwMode="auto">
              <a:xfrm>
                <a:off x="7204075" y="-1846263"/>
                <a:ext cx="1939925" cy="1944688"/>
              </a:xfrm>
              <a:prstGeom prst="ellipse">
                <a:avLst/>
              </a:prstGeom>
              <a:solidFill>
                <a:schemeClr val="accent4">
                  <a:lumMod val="100000"/>
                </a:schemeClr>
              </a:solidFill>
              <a:ln>
                <a:noFill/>
              </a:ln>
            </p:spPr>
            <p:txBody>
              <a:bodyPr anchor="ctr"/>
              <a:lstStyle/>
              <a:p>
                <a:pPr algn="ctr"/>
                <a:endParaRPr sz="8533">
                  <a:latin typeface="微软雅黑 Light" panose="020B0502040204020203" pitchFamily="34" charset="-122"/>
                  <a:ea typeface="微软雅黑 Light" panose="020B0502040204020203" pitchFamily="34" charset="-122"/>
                </a:endParaRPr>
              </a:p>
            </p:txBody>
          </p:sp>
          <p:grpSp>
            <p:nvGrpSpPr>
              <p:cNvPr id="49" name="Group 48"/>
              <p:cNvGrpSpPr/>
              <p:nvPr/>
            </p:nvGrpSpPr>
            <p:grpSpPr>
              <a:xfrm>
                <a:off x="7519988" y="-1506538"/>
                <a:ext cx="1312862" cy="1265238"/>
                <a:chOff x="7519988" y="-1506538"/>
                <a:chExt cx="1312862" cy="1265238"/>
              </a:xfrm>
            </p:grpSpPr>
            <p:sp>
              <p:nvSpPr>
                <p:cNvPr id="50" name="Freeform: Shape 47"/>
                <p:cNvSpPr/>
                <p:nvPr/>
              </p:nvSpPr>
              <p:spPr bwMode="auto">
                <a:xfrm>
                  <a:off x="7519988" y="-1484313"/>
                  <a:ext cx="1176338" cy="1117600"/>
                </a:xfrm>
                <a:custGeom>
                  <a:avLst/>
                  <a:gdLst>
                    <a:gd name="T0" fmla="*/ 211 w 215"/>
                    <a:gd name="T1" fmla="*/ 164 h 204"/>
                    <a:gd name="T2" fmla="*/ 147 w 215"/>
                    <a:gd name="T3" fmla="*/ 199 h 204"/>
                    <a:gd name="T4" fmla="*/ 46 w 215"/>
                    <a:gd name="T5" fmla="*/ 10 h 204"/>
                    <a:gd name="T6" fmla="*/ 35 w 215"/>
                    <a:gd name="T7" fmla="*/ 1 h 204"/>
                    <a:gd name="T8" fmla="*/ 22 w 215"/>
                    <a:gd name="T9" fmla="*/ 3 h 204"/>
                    <a:gd name="T10" fmla="*/ 1 w 215"/>
                    <a:gd name="T11" fmla="*/ 14 h 204"/>
                    <a:gd name="T12" fmla="*/ 0 w 215"/>
                    <a:gd name="T13" fmla="*/ 17 h 204"/>
                    <a:gd name="T14" fmla="*/ 3 w 215"/>
                    <a:gd name="T15" fmla="*/ 18 h 204"/>
                    <a:gd name="T16" fmla="*/ 24 w 215"/>
                    <a:gd name="T17" fmla="*/ 7 h 204"/>
                    <a:gd name="T18" fmla="*/ 34 w 215"/>
                    <a:gd name="T19" fmla="*/ 6 h 204"/>
                    <a:gd name="T20" fmla="*/ 41 w 215"/>
                    <a:gd name="T21" fmla="*/ 12 h 204"/>
                    <a:gd name="T22" fmla="*/ 144 w 215"/>
                    <a:gd name="T23" fmla="*/ 203 h 204"/>
                    <a:gd name="T24" fmla="*/ 146 w 215"/>
                    <a:gd name="T25" fmla="*/ 204 h 204"/>
                    <a:gd name="T26" fmla="*/ 146 w 215"/>
                    <a:gd name="T27" fmla="*/ 204 h 204"/>
                    <a:gd name="T28" fmla="*/ 148 w 215"/>
                    <a:gd name="T29" fmla="*/ 204 h 204"/>
                    <a:gd name="T30" fmla="*/ 213 w 215"/>
                    <a:gd name="T31" fmla="*/ 168 h 204"/>
                    <a:gd name="T32" fmla="*/ 214 w 215"/>
                    <a:gd name="T33" fmla="*/ 165 h 204"/>
                    <a:gd name="T34" fmla="*/ 211 w 215"/>
                    <a:gd name="T35" fmla="*/ 164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5" h="204">
                      <a:moveTo>
                        <a:pt x="211" y="164"/>
                      </a:moveTo>
                      <a:cubicBezTo>
                        <a:pt x="147" y="199"/>
                        <a:pt x="147" y="199"/>
                        <a:pt x="147" y="199"/>
                      </a:cubicBezTo>
                      <a:cubicBezTo>
                        <a:pt x="46" y="10"/>
                        <a:pt x="46" y="10"/>
                        <a:pt x="46" y="10"/>
                      </a:cubicBezTo>
                      <a:cubicBezTo>
                        <a:pt x="43" y="6"/>
                        <a:pt x="40" y="3"/>
                        <a:pt x="35" y="1"/>
                      </a:cubicBezTo>
                      <a:cubicBezTo>
                        <a:pt x="31" y="0"/>
                        <a:pt x="26" y="1"/>
                        <a:pt x="22" y="3"/>
                      </a:cubicBezTo>
                      <a:cubicBezTo>
                        <a:pt x="1" y="14"/>
                        <a:pt x="1" y="14"/>
                        <a:pt x="1" y="14"/>
                      </a:cubicBezTo>
                      <a:cubicBezTo>
                        <a:pt x="0" y="15"/>
                        <a:pt x="0" y="16"/>
                        <a:pt x="0" y="17"/>
                      </a:cubicBezTo>
                      <a:cubicBezTo>
                        <a:pt x="1" y="18"/>
                        <a:pt x="2" y="19"/>
                        <a:pt x="3" y="18"/>
                      </a:cubicBezTo>
                      <a:cubicBezTo>
                        <a:pt x="24" y="7"/>
                        <a:pt x="24" y="7"/>
                        <a:pt x="24" y="7"/>
                      </a:cubicBezTo>
                      <a:cubicBezTo>
                        <a:pt x="27" y="5"/>
                        <a:pt x="31" y="5"/>
                        <a:pt x="34" y="6"/>
                      </a:cubicBezTo>
                      <a:cubicBezTo>
                        <a:pt x="37" y="7"/>
                        <a:pt x="40" y="9"/>
                        <a:pt x="41" y="12"/>
                      </a:cubicBezTo>
                      <a:cubicBezTo>
                        <a:pt x="144" y="203"/>
                        <a:pt x="144" y="203"/>
                        <a:pt x="144" y="203"/>
                      </a:cubicBezTo>
                      <a:cubicBezTo>
                        <a:pt x="145" y="203"/>
                        <a:pt x="145" y="204"/>
                        <a:pt x="146" y="204"/>
                      </a:cubicBezTo>
                      <a:cubicBezTo>
                        <a:pt x="146" y="204"/>
                        <a:pt x="146" y="204"/>
                        <a:pt x="146" y="204"/>
                      </a:cubicBezTo>
                      <a:cubicBezTo>
                        <a:pt x="147" y="204"/>
                        <a:pt x="147" y="204"/>
                        <a:pt x="148" y="204"/>
                      </a:cubicBezTo>
                      <a:cubicBezTo>
                        <a:pt x="213" y="168"/>
                        <a:pt x="213" y="168"/>
                        <a:pt x="213" y="168"/>
                      </a:cubicBezTo>
                      <a:cubicBezTo>
                        <a:pt x="215" y="168"/>
                        <a:pt x="215" y="166"/>
                        <a:pt x="214" y="165"/>
                      </a:cubicBezTo>
                      <a:cubicBezTo>
                        <a:pt x="214" y="164"/>
                        <a:pt x="212" y="164"/>
                        <a:pt x="211" y="164"/>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51" name="Freeform: Shape 48"/>
                <p:cNvSpPr/>
                <p:nvPr/>
              </p:nvSpPr>
              <p:spPr bwMode="auto">
                <a:xfrm>
                  <a:off x="8045450" y="-422275"/>
                  <a:ext cx="190500" cy="180975"/>
                </a:xfrm>
                <a:custGeom>
                  <a:avLst/>
                  <a:gdLst>
                    <a:gd name="T0" fmla="*/ 18 w 35"/>
                    <a:gd name="T1" fmla="*/ 0 h 33"/>
                    <a:gd name="T2" fmla="*/ 11 w 35"/>
                    <a:gd name="T3" fmla="*/ 2 h 33"/>
                    <a:gd name="T4" fmla="*/ 4 w 35"/>
                    <a:gd name="T5" fmla="*/ 24 h 33"/>
                    <a:gd name="T6" fmla="*/ 19 w 35"/>
                    <a:gd name="T7" fmla="*/ 33 h 33"/>
                    <a:gd name="T8" fmla="*/ 26 w 35"/>
                    <a:gd name="T9" fmla="*/ 31 h 33"/>
                    <a:gd name="T10" fmla="*/ 34 w 35"/>
                    <a:gd name="T11" fmla="*/ 21 h 33"/>
                    <a:gd name="T12" fmla="*/ 33 w 35"/>
                    <a:gd name="T13" fmla="*/ 9 h 33"/>
                    <a:gd name="T14" fmla="*/ 18 w 35"/>
                    <a:gd name="T15" fmla="*/ 0 h 33"/>
                    <a:gd name="T16" fmla="*/ 30 w 35"/>
                    <a:gd name="T17" fmla="*/ 20 h 33"/>
                    <a:gd name="T18" fmla="*/ 24 w 35"/>
                    <a:gd name="T19" fmla="*/ 27 h 33"/>
                    <a:gd name="T20" fmla="*/ 19 w 35"/>
                    <a:gd name="T21" fmla="*/ 28 h 33"/>
                    <a:gd name="T22" fmla="*/ 8 w 35"/>
                    <a:gd name="T23" fmla="*/ 22 h 33"/>
                    <a:gd name="T24" fmla="*/ 13 w 35"/>
                    <a:gd name="T25" fmla="*/ 6 h 33"/>
                    <a:gd name="T26" fmla="*/ 18 w 35"/>
                    <a:gd name="T27" fmla="*/ 5 h 33"/>
                    <a:gd name="T28" fmla="*/ 29 w 35"/>
                    <a:gd name="T29" fmla="*/ 11 h 33"/>
                    <a:gd name="T30" fmla="*/ 30 w 35"/>
                    <a:gd name="T31" fmla="*/ 2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5" h="33">
                      <a:moveTo>
                        <a:pt x="18" y="0"/>
                      </a:moveTo>
                      <a:cubicBezTo>
                        <a:pt x="16" y="0"/>
                        <a:pt x="13" y="1"/>
                        <a:pt x="11" y="2"/>
                      </a:cubicBezTo>
                      <a:cubicBezTo>
                        <a:pt x="3" y="6"/>
                        <a:pt x="0" y="16"/>
                        <a:pt x="4" y="24"/>
                      </a:cubicBezTo>
                      <a:cubicBezTo>
                        <a:pt x="7" y="30"/>
                        <a:pt x="13" y="33"/>
                        <a:pt x="19" y="33"/>
                      </a:cubicBezTo>
                      <a:cubicBezTo>
                        <a:pt x="21" y="33"/>
                        <a:pt x="24" y="32"/>
                        <a:pt x="26" y="31"/>
                      </a:cubicBezTo>
                      <a:cubicBezTo>
                        <a:pt x="30" y="29"/>
                        <a:pt x="33" y="25"/>
                        <a:pt x="34" y="21"/>
                      </a:cubicBezTo>
                      <a:cubicBezTo>
                        <a:pt x="35" y="17"/>
                        <a:pt x="35" y="13"/>
                        <a:pt x="33" y="9"/>
                      </a:cubicBezTo>
                      <a:cubicBezTo>
                        <a:pt x="30" y="4"/>
                        <a:pt x="24" y="0"/>
                        <a:pt x="18" y="0"/>
                      </a:cubicBezTo>
                      <a:close/>
                      <a:moveTo>
                        <a:pt x="30" y="20"/>
                      </a:moveTo>
                      <a:cubicBezTo>
                        <a:pt x="29" y="23"/>
                        <a:pt x="27" y="25"/>
                        <a:pt x="24" y="27"/>
                      </a:cubicBezTo>
                      <a:cubicBezTo>
                        <a:pt x="22" y="28"/>
                        <a:pt x="20" y="28"/>
                        <a:pt x="19" y="28"/>
                      </a:cubicBezTo>
                      <a:cubicBezTo>
                        <a:pt x="14" y="28"/>
                        <a:pt x="10" y="26"/>
                        <a:pt x="8" y="22"/>
                      </a:cubicBezTo>
                      <a:cubicBezTo>
                        <a:pt x="5" y="16"/>
                        <a:pt x="7" y="9"/>
                        <a:pt x="13" y="6"/>
                      </a:cubicBezTo>
                      <a:cubicBezTo>
                        <a:pt x="15" y="5"/>
                        <a:pt x="17" y="5"/>
                        <a:pt x="18" y="5"/>
                      </a:cubicBezTo>
                      <a:cubicBezTo>
                        <a:pt x="23" y="5"/>
                        <a:pt x="27" y="7"/>
                        <a:pt x="29" y="11"/>
                      </a:cubicBezTo>
                      <a:cubicBezTo>
                        <a:pt x="30" y="14"/>
                        <a:pt x="31" y="17"/>
                        <a:pt x="30" y="2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52" name="Freeform: Shape 49"/>
                <p:cNvSpPr/>
                <p:nvPr/>
              </p:nvSpPr>
              <p:spPr bwMode="auto">
                <a:xfrm>
                  <a:off x="7962900" y="-1506538"/>
                  <a:ext cx="869950" cy="1003300"/>
                </a:xfrm>
                <a:custGeom>
                  <a:avLst/>
                  <a:gdLst>
                    <a:gd name="T0" fmla="*/ 158 w 159"/>
                    <a:gd name="T1" fmla="*/ 135 h 183"/>
                    <a:gd name="T2" fmla="*/ 86 w 159"/>
                    <a:gd name="T3" fmla="*/ 2 h 183"/>
                    <a:gd name="T4" fmla="*/ 84 w 159"/>
                    <a:gd name="T5" fmla="*/ 0 h 183"/>
                    <a:gd name="T6" fmla="*/ 83 w 159"/>
                    <a:gd name="T7" fmla="*/ 1 h 183"/>
                    <a:gd name="T8" fmla="*/ 1 w 159"/>
                    <a:gd name="T9" fmla="*/ 45 h 183"/>
                    <a:gd name="T10" fmla="*/ 0 w 159"/>
                    <a:gd name="T11" fmla="*/ 48 h 183"/>
                    <a:gd name="T12" fmla="*/ 72 w 159"/>
                    <a:gd name="T13" fmla="*/ 181 h 183"/>
                    <a:gd name="T14" fmla="*/ 74 w 159"/>
                    <a:gd name="T15" fmla="*/ 183 h 183"/>
                    <a:gd name="T16" fmla="*/ 74 w 159"/>
                    <a:gd name="T17" fmla="*/ 183 h 183"/>
                    <a:gd name="T18" fmla="*/ 76 w 159"/>
                    <a:gd name="T19" fmla="*/ 182 h 183"/>
                    <a:gd name="T20" fmla="*/ 157 w 159"/>
                    <a:gd name="T21" fmla="*/ 138 h 183"/>
                    <a:gd name="T22" fmla="*/ 158 w 159"/>
                    <a:gd name="T23" fmla="*/ 135 h 183"/>
                    <a:gd name="T24" fmla="*/ 83 w 159"/>
                    <a:gd name="T25" fmla="*/ 6 h 183"/>
                    <a:gd name="T26" fmla="*/ 117 w 159"/>
                    <a:gd name="T27" fmla="*/ 69 h 183"/>
                    <a:gd name="T28" fmla="*/ 39 w 159"/>
                    <a:gd name="T29" fmla="*/ 110 h 183"/>
                    <a:gd name="T30" fmla="*/ 6 w 159"/>
                    <a:gd name="T31" fmla="*/ 48 h 183"/>
                    <a:gd name="T32" fmla="*/ 83 w 159"/>
                    <a:gd name="T33" fmla="*/ 6 h 183"/>
                    <a:gd name="T34" fmla="*/ 75 w 159"/>
                    <a:gd name="T35" fmla="*/ 177 h 183"/>
                    <a:gd name="T36" fmla="*/ 42 w 159"/>
                    <a:gd name="T37" fmla="*/ 114 h 183"/>
                    <a:gd name="T38" fmla="*/ 119 w 159"/>
                    <a:gd name="T39" fmla="*/ 73 h 183"/>
                    <a:gd name="T40" fmla="*/ 153 w 159"/>
                    <a:gd name="T41" fmla="*/ 135 h 183"/>
                    <a:gd name="T42" fmla="*/ 75 w 159"/>
                    <a:gd name="T43" fmla="*/ 177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9" h="183">
                      <a:moveTo>
                        <a:pt x="158" y="135"/>
                      </a:moveTo>
                      <a:cubicBezTo>
                        <a:pt x="86" y="2"/>
                        <a:pt x="86" y="2"/>
                        <a:pt x="86" y="2"/>
                      </a:cubicBezTo>
                      <a:cubicBezTo>
                        <a:pt x="86" y="1"/>
                        <a:pt x="85" y="1"/>
                        <a:pt x="84" y="0"/>
                      </a:cubicBezTo>
                      <a:cubicBezTo>
                        <a:pt x="84" y="0"/>
                        <a:pt x="83" y="0"/>
                        <a:pt x="83" y="1"/>
                      </a:cubicBezTo>
                      <a:cubicBezTo>
                        <a:pt x="1" y="45"/>
                        <a:pt x="1" y="45"/>
                        <a:pt x="1" y="45"/>
                      </a:cubicBezTo>
                      <a:cubicBezTo>
                        <a:pt x="0" y="45"/>
                        <a:pt x="0" y="47"/>
                        <a:pt x="0" y="48"/>
                      </a:cubicBezTo>
                      <a:cubicBezTo>
                        <a:pt x="72" y="181"/>
                        <a:pt x="72" y="181"/>
                        <a:pt x="72" y="181"/>
                      </a:cubicBezTo>
                      <a:cubicBezTo>
                        <a:pt x="73" y="182"/>
                        <a:pt x="73" y="182"/>
                        <a:pt x="74" y="183"/>
                      </a:cubicBezTo>
                      <a:cubicBezTo>
                        <a:pt x="74" y="183"/>
                        <a:pt x="74" y="183"/>
                        <a:pt x="74" y="183"/>
                      </a:cubicBezTo>
                      <a:cubicBezTo>
                        <a:pt x="75" y="183"/>
                        <a:pt x="75" y="183"/>
                        <a:pt x="76" y="182"/>
                      </a:cubicBezTo>
                      <a:cubicBezTo>
                        <a:pt x="157" y="138"/>
                        <a:pt x="157" y="138"/>
                        <a:pt x="157" y="138"/>
                      </a:cubicBezTo>
                      <a:cubicBezTo>
                        <a:pt x="158" y="138"/>
                        <a:pt x="159" y="136"/>
                        <a:pt x="158" y="135"/>
                      </a:cubicBezTo>
                      <a:close/>
                      <a:moveTo>
                        <a:pt x="83" y="6"/>
                      </a:moveTo>
                      <a:cubicBezTo>
                        <a:pt x="117" y="69"/>
                        <a:pt x="117" y="69"/>
                        <a:pt x="117" y="69"/>
                      </a:cubicBezTo>
                      <a:cubicBezTo>
                        <a:pt x="39" y="110"/>
                        <a:pt x="39" y="110"/>
                        <a:pt x="39" y="110"/>
                      </a:cubicBezTo>
                      <a:cubicBezTo>
                        <a:pt x="6" y="48"/>
                        <a:pt x="6" y="48"/>
                        <a:pt x="6" y="48"/>
                      </a:cubicBezTo>
                      <a:lnTo>
                        <a:pt x="83" y="6"/>
                      </a:lnTo>
                      <a:close/>
                      <a:moveTo>
                        <a:pt x="75" y="177"/>
                      </a:moveTo>
                      <a:cubicBezTo>
                        <a:pt x="42" y="114"/>
                        <a:pt x="42" y="114"/>
                        <a:pt x="42" y="114"/>
                      </a:cubicBezTo>
                      <a:cubicBezTo>
                        <a:pt x="119" y="73"/>
                        <a:pt x="119" y="73"/>
                        <a:pt x="119" y="73"/>
                      </a:cubicBezTo>
                      <a:cubicBezTo>
                        <a:pt x="153" y="135"/>
                        <a:pt x="153" y="135"/>
                        <a:pt x="153" y="135"/>
                      </a:cubicBezTo>
                      <a:lnTo>
                        <a:pt x="75" y="17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53" name="Freeform: Shape 50"/>
                <p:cNvSpPr/>
                <p:nvPr/>
              </p:nvSpPr>
              <p:spPr bwMode="auto">
                <a:xfrm>
                  <a:off x="8132763" y="-1341438"/>
                  <a:ext cx="234950" cy="136525"/>
                </a:xfrm>
                <a:custGeom>
                  <a:avLst/>
                  <a:gdLst>
                    <a:gd name="T0" fmla="*/ 42 w 43"/>
                    <a:gd name="T1" fmla="*/ 4 h 25"/>
                    <a:gd name="T2" fmla="*/ 43 w 43"/>
                    <a:gd name="T3" fmla="*/ 1 h 25"/>
                    <a:gd name="T4" fmla="*/ 40 w 43"/>
                    <a:gd name="T5" fmla="*/ 0 h 25"/>
                    <a:gd name="T6" fmla="*/ 2 w 43"/>
                    <a:gd name="T7" fmla="*/ 21 h 25"/>
                    <a:gd name="T8" fmla="*/ 1 w 43"/>
                    <a:gd name="T9" fmla="*/ 24 h 25"/>
                    <a:gd name="T10" fmla="*/ 3 w 43"/>
                    <a:gd name="T11" fmla="*/ 25 h 25"/>
                    <a:gd name="T12" fmla="*/ 4 w 43"/>
                    <a:gd name="T13" fmla="*/ 25 h 25"/>
                    <a:gd name="T14" fmla="*/ 42 w 43"/>
                    <a:gd name="T15" fmla="*/ 4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25">
                      <a:moveTo>
                        <a:pt x="42" y="4"/>
                      </a:moveTo>
                      <a:cubicBezTo>
                        <a:pt x="43" y="4"/>
                        <a:pt x="43" y="2"/>
                        <a:pt x="43" y="1"/>
                      </a:cubicBezTo>
                      <a:cubicBezTo>
                        <a:pt x="42" y="0"/>
                        <a:pt x="41" y="0"/>
                        <a:pt x="40" y="0"/>
                      </a:cubicBezTo>
                      <a:cubicBezTo>
                        <a:pt x="2" y="21"/>
                        <a:pt x="2" y="21"/>
                        <a:pt x="2" y="21"/>
                      </a:cubicBezTo>
                      <a:cubicBezTo>
                        <a:pt x="0" y="21"/>
                        <a:pt x="0" y="23"/>
                        <a:pt x="1" y="24"/>
                      </a:cubicBezTo>
                      <a:cubicBezTo>
                        <a:pt x="1" y="25"/>
                        <a:pt x="2" y="25"/>
                        <a:pt x="3" y="25"/>
                      </a:cubicBezTo>
                      <a:cubicBezTo>
                        <a:pt x="3" y="25"/>
                        <a:pt x="3" y="25"/>
                        <a:pt x="4" y="25"/>
                      </a:cubicBezTo>
                      <a:lnTo>
                        <a:pt x="42"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54" name="Freeform: Shape 51"/>
                <p:cNvSpPr/>
                <p:nvPr/>
              </p:nvSpPr>
              <p:spPr bwMode="auto">
                <a:xfrm>
                  <a:off x="8329613" y="-981075"/>
                  <a:ext cx="234950" cy="138113"/>
                </a:xfrm>
                <a:custGeom>
                  <a:avLst/>
                  <a:gdLst>
                    <a:gd name="T0" fmla="*/ 43 w 43"/>
                    <a:gd name="T1" fmla="*/ 1 h 25"/>
                    <a:gd name="T2" fmla="*/ 39 w 43"/>
                    <a:gd name="T3" fmla="*/ 0 h 25"/>
                    <a:gd name="T4" fmla="*/ 1 w 43"/>
                    <a:gd name="T5" fmla="*/ 21 h 25"/>
                    <a:gd name="T6" fmla="*/ 0 w 43"/>
                    <a:gd name="T7" fmla="*/ 24 h 25"/>
                    <a:gd name="T8" fmla="*/ 2 w 43"/>
                    <a:gd name="T9" fmla="*/ 25 h 25"/>
                    <a:gd name="T10" fmla="*/ 3 w 43"/>
                    <a:gd name="T11" fmla="*/ 25 h 25"/>
                    <a:gd name="T12" fmla="*/ 42 w 43"/>
                    <a:gd name="T13" fmla="*/ 4 h 25"/>
                    <a:gd name="T14" fmla="*/ 43 w 43"/>
                    <a:gd name="T15" fmla="*/ 1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25">
                      <a:moveTo>
                        <a:pt x="43" y="1"/>
                      </a:moveTo>
                      <a:cubicBezTo>
                        <a:pt x="42" y="0"/>
                        <a:pt x="41" y="0"/>
                        <a:pt x="39" y="0"/>
                      </a:cubicBezTo>
                      <a:cubicBezTo>
                        <a:pt x="1" y="21"/>
                        <a:pt x="1" y="21"/>
                        <a:pt x="1" y="21"/>
                      </a:cubicBezTo>
                      <a:cubicBezTo>
                        <a:pt x="0" y="22"/>
                        <a:pt x="0" y="23"/>
                        <a:pt x="0" y="24"/>
                      </a:cubicBezTo>
                      <a:cubicBezTo>
                        <a:pt x="1" y="25"/>
                        <a:pt x="2" y="25"/>
                        <a:pt x="2" y="25"/>
                      </a:cubicBezTo>
                      <a:cubicBezTo>
                        <a:pt x="3" y="25"/>
                        <a:pt x="3" y="25"/>
                        <a:pt x="3" y="25"/>
                      </a:cubicBezTo>
                      <a:cubicBezTo>
                        <a:pt x="42" y="4"/>
                        <a:pt x="42" y="4"/>
                        <a:pt x="42" y="4"/>
                      </a:cubicBezTo>
                      <a:cubicBezTo>
                        <a:pt x="43" y="4"/>
                        <a:pt x="43" y="2"/>
                        <a:pt x="43" y="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grpSp>
        </p:grpSp>
        <p:sp>
          <p:nvSpPr>
            <p:cNvPr id="15" name="Oval 14"/>
            <p:cNvSpPr/>
            <p:nvPr/>
          </p:nvSpPr>
          <p:spPr bwMode="auto">
            <a:xfrm>
              <a:off x="3700002" y="2112552"/>
              <a:ext cx="614841" cy="617866"/>
            </a:xfrm>
            <a:prstGeom prst="ellipse">
              <a:avLst/>
            </a:prstGeom>
            <a:solidFill>
              <a:schemeClr val="accent3">
                <a:lumMod val="100000"/>
              </a:schemeClr>
            </a:solidFill>
            <a:ln>
              <a:noFill/>
            </a:ln>
          </p:spPr>
          <p:txBody>
            <a:bodyPr anchor="ctr"/>
            <a:lstStyle/>
            <a:p>
              <a:pPr algn="ctr"/>
              <a:endParaRPr sz="8533" dirty="0">
                <a:latin typeface="微软雅黑 Light" panose="020B0502040204020203" pitchFamily="34" charset="-122"/>
                <a:ea typeface="微软雅黑 Light" panose="020B0502040204020203" pitchFamily="34" charset="-122"/>
              </a:endParaRPr>
            </a:p>
          </p:txBody>
        </p:sp>
        <p:grpSp>
          <p:nvGrpSpPr>
            <p:cNvPr id="16" name="Group 15"/>
            <p:cNvGrpSpPr/>
            <p:nvPr/>
          </p:nvGrpSpPr>
          <p:grpSpPr>
            <a:xfrm rot="21540000">
              <a:off x="2902601" y="2830651"/>
              <a:ext cx="614839" cy="615848"/>
              <a:chOff x="2552700" y="-1971675"/>
              <a:chExt cx="1935163" cy="1938338"/>
            </a:xfrm>
          </p:grpSpPr>
          <p:sp>
            <p:nvSpPr>
              <p:cNvPr id="43" name="Oval 42"/>
              <p:cNvSpPr/>
              <p:nvPr/>
            </p:nvSpPr>
            <p:spPr bwMode="auto">
              <a:xfrm>
                <a:off x="2552700" y="-1971675"/>
                <a:ext cx="1935163" cy="1938338"/>
              </a:xfrm>
              <a:prstGeom prst="ellipse">
                <a:avLst/>
              </a:prstGeom>
              <a:solidFill>
                <a:schemeClr val="accent2">
                  <a:lumMod val="100000"/>
                </a:schemeClr>
              </a:solidFill>
              <a:ln>
                <a:noFill/>
              </a:ln>
            </p:spPr>
            <p:txBody>
              <a:bodyPr anchor="ctr"/>
              <a:lstStyle/>
              <a:p>
                <a:pPr algn="ctr"/>
                <a:endParaRPr sz="8533">
                  <a:latin typeface="微软雅黑 Light" panose="020B0502040204020203" pitchFamily="34" charset="-122"/>
                  <a:ea typeface="微软雅黑 Light" panose="020B0502040204020203" pitchFamily="34" charset="-122"/>
                </a:endParaRPr>
              </a:p>
            </p:txBody>
          </p:sp>
          <p:grpSp>
            <p:nvGrpSpPr>
              <p:cNvPr id="44" name="Group 43"/>
              <p:cNvGrpSpPr/>
              <p:nvPr/>
            </p:nvGrpSpPr>
            <p:grpSpPr>
              <a:xfrm>
                <a:off x="2908300" y="-1620838"/>
                <a:ext cx="1228725" cy="1236663"/>
                <a:chOff x="2908300" y="-1620838"/>
                <a:chExt cx="1228725" cy="1236663"/>
              </a:xfrm>
            </p:grpSpPr>
            <p:sp>
              <p:nvSpPr>
                <p:cNvPr id="45" name="Freeform: Shape 65"/>
                <p:cNvSpPr/>
                <p:nvPr/>
              </p:nvSpPr>
              <p:spPr bwMode="auto">
                <a:xfrm>
                  <a:off x="3055938" y="-1620838"/>
                  <a:ext cx="234950" cy="234950"/>
                </a:xfrm>
                <a:custGeom>
                  <a:avLst/>
                  <a:gdLst>
                    <a:gd name="T0" fmla="*/ 22 w 43"/>
                    <a:gd name="T1" fmla="*/ 43 h 43"/>
                    <a:gd name="T2" fmla="*/ 43 w 43"/>
                    <a:gd name="T3" fmla="*/ 21 h 43"/>
                    <a:gd name="T4" fmla="*/ 22 w 43"/>
                    <a:gd name="T5" fmla="*/ 0 h 43"/>
                    <a:gd name="T6" fmla="*/ 0 w 43"/>
                    <a:gd name="T7" fmla="*/ 21 h 43"/>
                    <a:gd name="T8" fmla="*/ 22 w 43"/>
                    <a:gd name="T9" fmla="*/ 43 h 43"/>
                    <a:gd name="T10" fmla="*/ 22 w 43"/>
                    <a:gd name="T11" fmla="*/ 5 h 43"/>
                    <a:gd name="T12" fmla="*/ 39 w 43"/>
                    <a:gd name="T13" fmla="*/ 21 h 43"/>
                    <a:gd name="T14" fmla="*/ 22 w 43"/>
                    <a:gd name="T15" fmla="*/ 38 h 43"/>
                    <a:gd name="T16" fmla="*/ 5 w 43"/>
                    <a:gd name="T17" fmla="*/ 21 h 43"/>
                    <a:gd name="T18" fmla="*/ 22 w 43"/>
                    <a:gd name="T19" fmla="*/ 5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43">
                      <a:moveTo>
                        <a:pt x="22" y="43"/>
                      </a:moveTo>
                      <a:cubicBezTo>
                        <a:pt x="34" y="43"/>
                        <a:pt x="43" y="33"/>
                        <a:pt x="43" y="21"/>
                      </a:cubicBezTo>
                      <a:cubicBezTo>
                        <a:pt x="43" y="10"/>
                        <a:pt x="34" y="0"/>
                        <a:pt x="22" y="0"/>
                      </a:cubicBezTo>
                      <a:cubicBezTo>
                        <a:pt x="10" y="0"/>
                        <a:pt x="0" y="10"/>
                        <a:pt x="0" y="21"/>
                      </a:cubicBezTo>
                      <a:cubicBezTo>
                        <a:pt x="0" y="33"/>
                        <a:pt x="10" y="43"/>
                        <a:pt x="22" y="43"/>
                      </a:cubicBezTo>
                      <a:close/>
                      <a:moveTo>
                        <a:pt x="22" y="5"/>
                      </a:moveTo>
                      <a:cubicBezTo>
                        <a:pt x="31" y="5"/>
                        <a:pt x="39" y="12"/>
                        <a:pt x="39" y="21"/>
                      </a:cubicBezTo>
                      <a:cubicBezTo>
                        <a:pt x="39" y="31"/>
                        <a:pt x="31" y="38"/>
                        <a:pt x="22" y="38"/>
                      </a:cubicBezTo>
                      <a:cubicBezTo>
                        <a:pt x="12" y="38"/>
                        <a:pt x="5" y="31"/>
                        <a:pt x="5" y="21"/>
                      </a:cubicBezTo>
                      <a:cubicBezTo>
                        <a:pt x="5" y="12"/>
                        <a:pt x="12" y="5"/>
                        <a:pt x="22" y="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46" name="Freeform: Shape 66"/>
                <p:cNvSpPr/>
                <p:nvPr/>
              </p:nvSpPr>
              <p:spPr bwMode="auto">
                <a:xfrm>
                  <a:off x="3749675" y="-1620838"/>
                  <a:ext cx="234950" cy="234950"/>
                </a:xfrm>
                <a:custGeom>
                  <a:avLst/>
                  <a:gdLst>
                    <a:gd name="T0" fmla="*/ 22 w 43"/>
                    <a:gd name="T1" fmla="*/ 43 h 43"/>
                    <a:gd name="T2" fmla="*/ 43 w 43"/>
                    <a:gd name="T3" fmla="*/ 21 h 43"/>
                    <a:gd name="T4" fmla="*/ 22 w 43"/>
                    <a:gd name="T5" fmla="*/ 0 h 43"/>
                    <a:gd name="T6" fmla="*/ 0 w 43"/>
                    <a:gd name="T7" fmla="*/ 21 h 43"/>
                    <a:gd name="T8" fmla="*/ 22 w 43"/>
                    <a:gd name="T9" fmla="*/ 43 h 43"/>
                    <a:gd name="T10" fmla="*/ 22 w 43"/>
                    <a:gd name="T11" fmla="*/ 5 h 43"/>
                    <a:gd name="T12" fmla="*/ 39 w 43"/>
                    <a:gd name="T13" fmla="*/ 21 h 43"/>
                    <a:gd name="T14" fmla="*/ 22 w 43"/>
                    <a:gd name="T15" fmla="*/ 38 h 43"/>
                    <a:gd name="T16" fmla="*/ 5 w 43"/>
                    <a:gd name="T17" fmla="*/ 21 h 43"/>
                    <a:gd name="T18" fmla="*/ 22 w 43"/>
                    <a:gd name="T19" fmla="*/ 5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43">
                      <a:moveTo>
                        <a:pt x="22" y="43"/>
                      </a:moveTo>
                      <a:cubicBezTo>
                        <a:pt x="34" y="43"/>
                        <a:pt x="43" y="33"/>
                        <a:pt x="43" y="21"/>
                      </a:cubicBezTo>
                      <a:cubicBezTo>
                        <a:pt x="43" y="10"/>
                        <a:pt x="34" y="0"/>
                        <a:pt x="22" y="0"/>
                      </a:cubicBezTo>
                      <a:cubicBezTo>
                        <a:pt x="10" y="0"/>
                        <a:pt x="0" y="10"/>
                        <a:pt x="0" y="21"/>
                      </a:cubicBezTo>
                      <a:cubicBezTo>
                        <a:pt x="0" y="33"/>
                        <a:pt x="10" y="43"/>
                        <a:pt x="22" y="43"/>
                      </a:cubicBezTo>
                      <a:close/>
                      <a:moveTo>
                        <a:pt x="22" y="5"/>
                      </a:moveTo>
                      <a:cubicBezTo>
                        <a:pt x="31" y="5"/>
                        <a:pt x="39" y="12"/>
                        <a:pt x="39" y="21"/>
                      </a:cubicBezTo>
                      <a:cubicBezTo>
                        <a:pt x="39" y="31"/>
                        <a:pt x="31" y="38"/>
                        <a:pt x="22" y="38"/>
                      </a:cubicBezTo>
                      <a:cubicBezTo>
                        <a:pt x="13" y="38"/>
                        <a:pt x="5" y="31"/>
                        <a:pt x="5" y="21"/>
                      </a:cubicBezTo>
                      <a:cubicBezTo>
                        <a:pt x="5" y="12"/>
                        <a:pt x="13" y="5"/>
                        <a:pt x="22" y="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sp>
              <p:nvSpPr>
                <p:cNvPr id="47" name="Freeform: Shape 67"/>
                <p:cNvSpPr/>
                <p:nvPr/>
              </p:nvSpPr>
              <p:spPr bwMode="auto">
                <a:xfrm>
                  <a:off x="2908300" y="-1358900"/>
                  <a:ext cx="1228725" cy="974725"/>
                </a:xfrm>
                <a:custGeom>
                  <a:avLst/>
                  <a:gdLst>
                    <a:gd name="T0" fmla="*/ 205 w 225"/>
                    <a:gd name="T1" fmla="*/ 13 h 178"/>
                    <a:gd name="T2" fmla="*/ 151 w 225"/>
                    <a:gd name="T3" fmla="*/ 13 h 178"/>
                    <a:gd name="T4" fmla="*/ 112 w 225"/>
                    <a:gd name="T5" fmla="*/ 60 h 178"/>
                    <a:gd name="T6" fmla="*/ 74 w 225"/>
                    <a:gd name="T7" fmla="*/ 13 h 178"/>
                    <a:gd name="T8" fmla="*/ 19 w 225"/>
                    <a:gd name="T9" fmla="*/ 13 h 178"/>
                    <a:gd name="T10" fmla="*/ 2 w 225"/>
                    <a:gd name="T11" fmla="*/ 54 h 178"/>
                    <a:gd name="T12" fmla="*/ 26 w 225"/>
                    <a:gd name="T13" fmla="*/ 94 h 178"/>
                    <a:gd name="T14" fmla="*/ 36 w 225"/>
                    <a:gd name="T15" fmla="*/ 178 h 178"/>
                    <a:gd name="T16" fmla="*/ 53 w 225"/>
                    <a:gd name="T17" fmla="*/ 169 h 178"/>
                    <a:gd name="T18" fmla="*/ 74 w 225"/>
                    <a:gd name="T19" fmla="*/ 169 h 178"/>
                    <a:gd name="T20" fmla="*/ 77 w 225"/>
                    <a:gd name="T21" fmla="*/ 60 h 178"/>
                    <a:gd name="T22" fmla="*/ 112 w 225"/>
                    <a:gd name="T23" fmla="*/ 78 h 178"/>
                    <a:gd name="T24" fmla="*/ 147 w 225"/>
                    <a:gd name="T25" fmla="*/ 61 h 178"/>
                    <a:gd name="T26" fmla="*/ 151 w 225"/>
                    <a:gd name="T27" fmla="*/ 169 h 178"/>
                    <a:gd name="T28" fmla="*/ 171 w 225"/>
                    <a:gd name="T29" fmla="*/ 169 h 178"/>
                    <a:gd name="T30" fmla="*/ 189 w 225"/>
                    <a:gd name="T31" fmla="*/ 178 h 178"/>
                    <a:gd name="T32" fmla="*/ 199 w 225"/>
                    <a:gd name="T33" fmla="*/ 169 h 178"/>
                    <a:gd name="T34" fmla="*/ 207 w 225"/>
                    <a:gd name="T35" fmla="*/ 90 h 178"/>
                    <a:gd name="T36" fmla="*/ 81 w 225"/>
                    <a:gd name="T37" fmla="*/ 57 h 178"/>
                    <a:gd name="T38" fmla="*/ 68 w 225"/>
                    <a:gd name="T39" fmla="*/ 24 h 178"/>
                    <a:gd name="T40" fmla="*/ 66 w 225"/>
                    <a:gd name="T41" fmla="*/ 44 h 178"/>
                    <a:gd name="T42" fmla="*/ 69 w 225"/>
                    <a:gd name="T43" fmla="*/ 147 h 178"/>
                    <a:gd name="T44" fmla="*/ 69 w 225"/>
                    <a:gd name="T45" fmla="*/ 169 h 178"/>
                    <a:gd name="T46" fmla="*/ 52 w 225"/>
                    <a:gd name="T47" fmla="*/ 92 h 178"/>
                    <a:gd name="T48" fmla="*/ 41 w 225"/>
                    <a:gd name="T49" fmla="*/ 168 h 178"/>
                    <a:gd name="T50" fmla="*/ 30 w 225"/>
                    <a:gd name="T51" fmla="*/ 169 h 178"/>
                    <a:gd name="T52" fmla="*/ 31 w 225"/>
                    <a:gd name="T53" fmla="*/ 92 h 178"/>
                    <a:gd name="T54" fmla="*/ 31 w 225"/>
                    <a:gd name="T55" fmla="*/ 76 h 178"/>
                    <a:gd name="T56" fmla="*/ 27 w 225"/>
                    <a:gd name="T57" fmla="*/ 35 h 178"/>
                    <a:gd name="T58" fmla="*/ 23 w 225"/>
                    <a:gd name="T59" fmla="*/ 68 h 178"/>
                    <a:gd name="T60" fmla="*/ 27 w 225"/>
                    <a:gd name="T61" fmla="*/ 80 h 178"/>
                    <a:gd name="T62" fmla="*/ 26 w 225"/>
                    <a:gd name="T63" fmla="*/ 89 h 178"/>
                    <a:gd name="T64" fmla="*/ 6 w 225"/>
                    <a:gd name="T65" fmla="*/ 42 h 178"/>
                    <a:gd name="T66" fmla="*/ 48 w 225"/>
                    <a:gd name="T67" fmla="*/ 4 h 178"/>
                    <a:gd name="T68" fmla="*/ 88 w 225"/>
                    <a:gd name="T69" fmla="*/ 47 h 178"/>
                    <a:gd name="T70" fmla="*/ 110 w 225"/>
                    <a:gd name="T71" fmla="*/ 64 h 178"/>
                    <a:gd name="T72" fmla="*/ 114 w 225"/>
                    <a:gd name="T73" fmla="*/ 72 h 178"/>
                    <a:gd name="T74" fmla="*/ 26 w 225"/>
                    <a:gd name="T75" fmla="*/ 43 h 178"/>
                    <a:gd name="T76" fmla="*/ 26 w 225"/>
                    <a:gd name="T77" fmla="*/ 43 h 178"/>
                    <a:gd name="T78" fmla="*/ 198 w 225"/>
                    <a:gd name="T79" fmla="*/ 89 h 178"/>
                    <a:gd name="T80" fmla="*/ 198 w 225"/>
                    <a:gd name="T81" fmla="*/ 80 h 178"/>
                    <a:gd name="T82" fmla="*/ 202 w 225"/>
                    <a:gd name="T83" fmla="*/ 68 h 178"/>
                    <a:gd name="T84" fmla="*/ 198 w 225"/>
                    <a:gd name="T85" fmla="*/ 35 h 178"/>
                    <a:gd name="T86" fmla="*/ 194 w 225"/>
                    <a:gd name="T87" fmla="*/ 76 h 178"/>
                    <a:gd name="T88" fmla="*/ 194 w 225"/>
                    <a:gd name="T89" fmla="*/ 92 h 178"/>
                    <a:gd name="T90" fmla="*/ 195 w 225"/>
                    <a:gd name="T91" fmla="*/ 169 h 178"/>
                    <a:gd name="T92" fmla="*/ 183 w 225"/>
                    <a:gd name="T93" fmla="*/ 168 h 178"/>
                    <a:gd name="T94" fmla="*/ 173 w 225"/>
                    <a:gd name="T95" fmla="*/ 92 h 178"/>
                    <a:gd name="T96" fmla="*/ 155 w 225"/>
                    <a:gd name="T97" fmla="*/ 169 h 178"/>
                    <a:gd name="T98" fmla="*/ 156 w 225"/>
                    <a:gd name="T99" fmla="*/ 147 h 178"/>
                    <a:gd name="T100" fmla="*/ 159 w 225"/>
                    <a:gd name="T101" fmla="*/ 44 h 178"/>
                    <a:gd name="T102" fmla="*/ 157 w 225"/>
                    <a:gd name="T103" fmla="*/ 24 h 178"/>
                    <a:gd name="T104" fmla="*/ 144 w 225"/>
                    <a:gd name="T105" fmla="*/ 57 h 178"/>
                    <a:gd name="T106" fmla="*/ 117 w 225"/>
                    <a:gd name="T107" fmla="*/ 63 h 178"/>
                    <a:gd name="T108" fmla="*/ 137 w 225"/>
                    <a:gd name="T109" fmla="*/ 47 h 178"/>
                    <a:gd name="T110" fmla="*/ 177 w 225"/>
                    <a:gd name="T111" fmla="*/ 4 h 178"/>
                    <a:gd name="T112" fmla="*/ 218 w 225"/>
                    <a:gd name="T113" fmla="*/ 42 h 178"/>
                    <a:gd name="T114" fmla="*/ 203 w 225"/>
                    <a:gd name="T115" fmla="*/ 5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25" h="178">
                      <a:moveTo>
                        <a:pt x="222" y="40"/>
                      </a:moveTo>
                      <a:cubicBezTo>
                        <a:pt x="222" y="40"/>
                        <a:pt x="222" y="40"/>
                        <a:pt x="222" y="40"/>
                      </a:cubicBezTo>
                      <a:cubicBezTo>
                        <a:pt x="205" y="13"/>
                        <a:pt x="205" y="13"/>
                        <a:pt x="205" y="13"/>
                      </a:cubicBezTo>
                      <a:cubicBezTo>
                        <a:pt x="199" y="4"/>
                        <a:pt x="195" y="0"/>
                        <a:pt x="177" y="0"/>
                      </a:cubicBezTo>
                      <a:cubicBezTo>
                        <a:pt x="177" y="0"/>
                        <a:pt x="177" y="0"/>
                        <a:pt x="177" y="0"/>
                      </a:cubicBezTo>
                      <a:cubicBezTo>
                        <a:pt x="158" y="0"/>
                        <a:pt x="154" y="8"/>
                        <a:pt x="151" y="13"/>
                      </a:cubicBezTo>
                      <a:cubicBezTo>
                        <a:pt x="151" y="13"/>
                        <a:pt x="151" y="13"/>
                        <a:pt x="151" y="13"/>
                      </a:cubicBezTo>
                      <a:cubicBezTo>
                        <a:pt x="147" y="20"/>
                        <a:pt x="135" y="41"/>
                        <a:pt x="133" y="44"/>
                      </a:cubicBezTo>
                      <a:cubicBezTo>
                        <a:pt x="131" y="46"/>
                        <a:pt x="119" y="55"/>
                        <a:pt x="112" y="60"/>
                      </a:cubicBezTo>
                      <a:cubicBezTo>
                        <a:pt x="107" y="56"/>
                        <a:pt x="98" y="49"/>
                        <a:pt x="92" y="44"/>
                      </a:cubicBezTo>
                      <a:cubicBezTo>
                        <a:pt x="90" y="41"/>
                        <a:pt x="77" y="20"/>
                        <a:pt x="74" y="13"/>
                      </a:cubicBezTo>
                      <a:cubicBezTo>
                        <a:pt x="74" y="13"/>
                        <a:pt x="74" y="13"/>
                        <a:pt x="74" y="13"/>
                      </a:cubicBezTo>
                      <a:cubicBezTo>
                        <a:pt x="71" y="8"/>
                        <a:pt x="66" y="0"/>
                        <a:pt x="48" y="0"/>
                      </a:cubicBezTo>
                      <a:cubicBezTo>
                        <a:pt x="48" y="0"/>
                        <a:pt x="48" y="0"/>
                        <a:pt x="48" y="0"/>
                      </a:cubicBezTo>
                      <a:cubicBezTo>
                        <a:pt x="29" y="0"/>
                        <a:pt x="26" y="4"/>
                        <a:pt x="19" y="13"/>
                      </a:cubicBezTo>
                      <a:cubicBezTo>
                        <a:pt x="2" y="40"/>
                        <a:pt x="2" y="40"/>
                        <a:pt x="2" y="40"/>
                      </a:cubicBezTo>
                      <a:cubicBezTo>
                        <a:pt x="2" y="40"/>
                        <a:pt x="2" y="40"/>
                        <a:pt x="2" y="40"/>
                      </a:cubicBezTo>
                      <a:cubicBezTo>
                        <a:pt x="0" y="44"/>
                        <a:pt x="0" y="49"/>
                        <a:pt x="2" y="54"/>
                      </a:cubicBezTo>
                      <a:cubicBezTo>
                        <a:pt x="17" y="90"/>
                        <a:pt x="17" y="90"/>
                        <a:pt x="17" y="90"/>
                      </a:cubicBezTo>
                      <a:cubicBezTo>
                        <a:pt x="19" y="92"/>
                        <a:pt x="21" y="94"/>
                        <a:pt x="25" y="94"/>
                      </a:cubicBezTo>
                      <a:cubicBezTo>
                        <a:pt x="25" y="94"/>
                        <a:pt x="25" y="94"/>
                        <a:pt x="26" y="94"/>
                      </a:cubicBezTo>
                      <a:cubicBezTo>
                        <a:pt x="25" y="153"/>
                        <a:pt x="25" y="167"/>
                        <a:pt x="25" y="169"/>
                      </a:cubicBezTo>
                      <a:cubicBezTo>
                        <a:pt x="25" y="169"/>
                        <a:pt x="25" y="169"/>
                        <a:pt x="25" y="169"/>
                      </a:cubicBezTo>
                      <a:cubicBezTo>
                        <a:pt x="26" y="174"/>
                        <a:pt x="30" y="178"/>
                        <a:pt x="36" y="178"/>
                      </a:cubicBezTo>
                      <a:cubicBezTo>
                        <a:pt x="41" y="177"/>
                        <a:pt x="46" y="173"/>
                        <a:pt x="46" y="169"/>
                      </a:cubicBezTo>
                      <a:cubicBezTo>
                        <a:pt x="50" y="122"/>
                        <a:pt x="50" y="122"/>
                        <a:pt x="50" y="122"/>
                      </a:cubicBezTo>
                      <a:cubicBezTo>
                        <a:pt x="53" y="169"/>
                        <a:pt x="53" y="169"/>
                        <a:pt x="53" y="169"/>
                      </a:cubicBezTo>
                      <a:cubicBezTo>
                        <a:pt x="54" y="173"/>
                        <a:pt x="58" y="177"/>
                        <a:pt x="63" y="178"/>
                      </a:cubicBezTo>
                      <a:cubicBezTo>
                        <a:pt x="64" y="178"/>
                        <a:pt x="64" y="178"/>
                        <a:pt x="64" y="178"/>
                      </a:cubicBezTo>
                      <a:cubicBezTo>
                        <a:pt x="69" y="178"/>
                        <a:pt x="73" y="174"/>
                        <a:pt x="74" y="169"/>
                      </a:cubicBezTo>
                      <a:cubicBezTo>
                        <a:pt x="74" y="169"/>
                        <a:pt x="74" y="169"/>
                        <a:pt x="74" y="169"/>
                      </a:cubicBezTo>
                      <a:cubicBezTo>
                        <a:pt x="74" y="166"/>
                        <a:pt x="72" y="100"/>
                        <a:pt x="71" y="51"/>
                      </a:cubicBezTo>
                      <a:cubicBezTo>
                        <a:pt x="77" y="60"/>
                        <a:pt x="77" y="60"/>
                        <a:pt x="77" y="60"/>
                      </a:cubicBezTo>
                      <a:cubicBezTo>
                        <a:pt x="77" y="60"/>
                        <a:pt x="78" y="61"/>
                        <a:pt x="78" y="61"/>
                      </a:cubicBezTo>
                      <a:cubicBezTo>
                        <a:pt x="107" y="77"/>
                        <a:pt x="107" y="77"/>
                        <a:pt x="107" y="77"/>
                      </a:cubicBezTo>
                      <a:cubicBezTo>
                        <a:pt x="108" y="78"/>
                        <a:pt x="110" y="78"/>
                        <a:pt x="112" y="78"/>
                      </a:cubicBezTo>
                      <a:cubicBezTo>
                        <a:pt x="113" y="78"/>
                        <a:pt x="113" y="78"/>
                        <a:pt x="114" y="78"/>
                      </a:cubicBezTo>
                      <a:cubicBezTo>
                        <a:pt x="115" y="78"/>
                        <a:pt x="117" y="78"/>
                        <a:pt x="118" y="77"/>
                      </a:cubicBezTo>
                      <a:cubicBezTo>
                        <a:pt x="147" y="61"/>
                        <a:pt x="147" y="61"/>
                        <a:pt x="147" y="61"/>
                      </a:cubicBezTo>
                      <a:cubicBezTo>
                        <a:pt x="147" y="61"/>
                        <a:pt x="147" y="60"/>
                        <a:pt x="147" y="60"/>
                      </a:cubicBezTo>
                      <a:cubicBezTo>
                        <a:pt x="154" y="51"/>
                        <a:pt x="154" y="51"/>
                        <a:pt x="154" y="51"/>
                      </a:cubicBezTo>
                      <a:cubicBezTo>
                        <a:pt x="152" y="100"/>
                        <a:pt x="151" y="166"/>
                        <a:pt x="151" y="169"/>
                      </a:cubicBezTo>
                      <a:cubicBezTo>
                        <a:pt x="151" y="169"/>
                        <a:pt x="151" y="169"/>
                        <a:pt x="151" y="169"/>
                      </a:cubicBezTo>
                      <a:cubicBezTo>
                        <a:pt x="151" y="174"/>
                        <a:pt x="156" y="178"/>
                        <a:pt x="161" y="178"/>
                      </a:cubicBezTo>
                      <a:cubicBezTo>
                        <a:pt x="167" y="177"/>
                        <a:pt x="171" y="173"/>
                        <a:pt x="171" y="169"/>
                      </a:cubicBezTo>
                      <a:cubicBezTo>
                        <a:pt x="175" y="122"/>
                        <a:pt x="175" y="122"/>
                        <a:pt x="175" y="122"/>
                      </a:cubicBezTo>
                      <a:cubicBezTo>
                        <a:pt x="179" y="169"/>
                        <a:pt x="179" y="169"/>
                        <a:pt x="179" y="169"/>
                      </a:cubicBezTo>
                      <a:cubicBezTo>
                        <a:pt x="179" y="173"/>
                        <a:pt x="183" y="177"/>
                        <a:pt x="189" y="178"/>
                      </a:cubicBezTo>
                      <a:cubicBezTo>
                        <a:pt x="189" y="178"/>
                        <a:pt x="189" y="178"/>
                        <a:pt x="189" y="178"/>
                      </a:cubicBezTo>
                      <a:cubicBezTo>
                        <a:pt x="194" y="178"/>
                        <a:pt x="199" y="174"/>
                        <a:pt x="199" y="169"/>
                      </a:cubicBezTo>
                      <a:cubicBezTo>
                        <a:pt x="199" y="169"/>
                        <a:pt x="199" y="169"/>
                        <a:pt x="199" y="169"/>
                      </a:cubicBezTo>
                      <a:cubicBezTo>
                        <a:pt x="199" y="167"/>
                        <a:pt x="199" y="153"/>
                        <a:pt x="199" y="94"/>
                      </a:cubicBezTo>
                      <a:cubicBezTo>
                        <a:pt x="199" y="94"/>
                        <a:pt x="200" y="94"/>
                        <a:pt x="200" y="94"/>
                      </a:cubicBezTo>
                      <a:cubicBezTo>
                        <a:pt x="203" y="94"/>
                        <a:pt x="206" y="92"/>
                        <a:pt x="207" y="90"/>
                      </a:cubicBezTo>
                      <a:cubicBezTo>
                        <a:pt x="223" y="54"/>
                        <a:pt x="223" y="54"/>
                        <a:pt x="223" y="54"/>
                      </a:cubicBezTo>
                      <a:cubicBezTo>
                        <a:pt x="225" y="49"/>
                        <a:pt x="225" y="44"/>
                        <a:pt x="222" y="40"/>
                      </a:cubicBezTo>
                      <a:close/>
                      <a:moveTo>
                        <a:pt x="81" y="57"/>
                      </a:moveTo>
                      <a:cubicBezTo>
                        <a:pt x="71" y="43"/>
                        <a:pt x="71" y="43"/>
                        <a:pt x="71" y="43"/>
                      </a:cubicBezTo>
                      <a:cubicBezTo>
                        <a:pt x="71" y="37"/>
                        <a:pt x="70" y="32"/>
                        <a:pt x="70" y="27"/>
                      </a:cubicBezTo>
                      <a:cubicBezTo>
                        <a:pt x="70" y="25"/>
                        <a:pt x="69" y="24"/>
                        <a:pt x="68" y="24"/>
                      </a:cubicBezTo>
                      <a:cubicBezTo>
                        <a:pt x="68" y="24"/>
                        <a:pt x="68" y="24"/>
                        <a:pt x="68" y="24"/>
                      </a:cubicBezTo>
                      <a:cubicBezTo>
                        <a:pt x="67" y="24"/>
                        <a:pt x="66" y="25"/>
                        <a:pt x="66" y="27"/>
                      </a:cubicBezTo>
                      <a:cubicBezTo>
                        <a:pt x="66" y="27"/>
                        <a:pt x="66" y="33"/>
                        <a:pt x="66" y="44"/>
                      </a:cubicBezTo>
                      <a:cubicBezTo>
                        <a:pt x="66" y="44"/>
                        <a:pt x="66" y="44"/>
                        <a:pt x="66" y="44"/>
                      </a:cubicBezTo>
                      <a:cubicBezTo>
                        <a:pt x="66" y="58"/>
                        <a:pt x="67" y="78"/>
                        <a:pt x="67" y="98"/>
                      </a:cubicBezTo>
                      <a:cubicBezTo>
                        <a:pt x="68" y="116"/>
                        <a:pt x="68" y="133"/>
                        <a:pt x="69" y="147"/>
                      </a:cubicBezTo>
                      <a:cubicBezTo>
                        <a:pt x="69" y="153"/>
                        <a:pt x="69" y="159"/>
                        <a:pt x="69" y="163"/>
                      </a:cubicBezTo>
                      <a:cubicBezTo>
                        <a:pt x="69" y="166"/>
                        <a:pt x="69" y="167"/>
                        <a:pt x="69" y="169"/>
                      </a:cubicBezTo>
                      <a:cubicBezTo>
                        <a:pt x="69" y="169"/>
                        <a:pt x="69" y="169"/>
                        <a:pt x="69" y="169"/>
                      </a:cubicBezTo>
                      <a:cubicBezTo>
                        <a:pt x="69" y="171"/>
                        <a:pt x="67" y="173"/>
                        <a:pt x="64" y="173"/>
                      </a:cubicBezTo>
                      <a:cubicBezTo>
                        <a:pt x="61" y="173"/>
                        <a:pt x="58" y="171"/>
                        <a:pt x="58" y="168"/>
                      </a:cubicBezTo>
                      <a:cubicBezTo>
                        <a:pt x="52" y="92"/>
                        <a:pt x="52" y="92"/>
                        <a:pt x="52" y="92"/>
                      </a:cubicBezTo>
                      <a:cubicBezTo>
                        <a:pt x="52" y="91"/>
                        <a:pt x="51" y="90"/>
                        <a:pt x="50" y="90"/>
                      </a:cubicBezTo>
                      <a:cubicBezTo>
                        <a:pt x="48" y="90"/>
                        <a:pt x="47" y="91"/>
                        <a:pt x="47" y="92"/>
                      </a:cubicBezTo>
                      <a:cubicBezTo>
                        <a:pt x="41" y="168"/>
                        <a:pt x="41" y="168"/>
                        <a:pt x="41" y="168"/>
                      </a:cubicBezTo>
                      <a:cubicBezTo>
                        <a:pt x="41" y="171"/>
                        <a:pt x="39" y="173"/>
                        <a:pt x="36" y="173"/>
                      </a:cubicBezTo>
                      <a:cubicBezTo>
                        <a:pt x="33" y="173"/>
                        <a:pt x="30" y="171"/>
                        <a:pt x="30" y="169"/>
                      </a:cubicBezTo>
                      <a:cubicBezTo>
                        <a:pt x="30" y="169"/>
                        <a:pt x="30" y="169"/>
                        <a:pt x="30" y="169"/>
                      </a:cubicBezTo>
                      <a:cubicBezTo>
                        <a:pt x="30" y="167"/>
                        <a:pt x="30" y="165"/>
                        <a:pt x="30" y="162"/>
                      </a:cubicBezTo>
                      <a:cubicBezTo>
                        <a:pt x="30" y="157"/>
                        <a:pt x="30" y="151"/>
                        <a:pt x="30" y="144"/>
                      </a:cubicBezTo>
                      <a:cubicBezTo>
                        <a:pt x="30" y="129"/>
                        <a:pt x="30" y="110"/>
                        <a:pt x="31" y="92"/>
                      </a:cubicBezTo>
                      <a:cubicBezTo>
                        <a:pt x="33" y="90"/>
                        <a:pt x="34" y="87"/>
                        <a:pt x="33" y="84"/>
                      </a:cubicBezTo>
                      <a:cubicBezTo>
                        <a:pt x="33" y="84"/>
                        <a:pt x="33" y="84"/>
                        <a:pt x="33" y="83"/>
                      </a:cubicBezTo>
                      <a:cubicBezTo>
                        <a:pt x="33" y="83"/>
                        <a:pt x="32" y="80"/>
                        <a:pt x="31" y="76"/>
                      </a:cubicBezTo>
                      <a:cubicBezTo>
                        <a:pt x="31" y="50"/>
                        <a:pt x="31" y="36"/>
                        <a:pt x="31" y="36"/>
                      </a:cubicBezTo>
                      <a:cubicBezTo>
                        <a:pt x="31" y="35"/>
                        <a:pt x="30" y="34"/>
                        <a:pt x="29" y="34"/>
                      </a:cubicBezTo>
                      <a:cubicBezTo>
                        <a:pt x="28" y="34"/>
                        <a:pt x="27" y="34"/>
                        <a:pt x="27" y="35"/>
                      </a:cubicBezTo>
                      <a:cubicBezTo>
                        <a:pt x="17" y="48"/>
                        <a:pt x="17" y="48"/>
                        <a:pt x="17" y="48"/>
                      </a:cubicBezTo>
                      <a:cubicBezTo>
                        <a:pt x="17" y="48"/>
                        <a:pt x="17" y="49"/>
                        <a:pt x="17" y="50"/>
                      </a:cubicBezTo>
                      <a:cubicBezTo>
                        <a:pt x="17" y="50"/>
                        <a:pt x="20" y="59"/>
                        <a:pt x="23" y="68"/>
                      </a:cubicBezTo>
                      <a:cubicBezTo>
                        <a:pt x="24" y="71"/>
                        <a:pt x="25" y="74"/>
                        <a:pt x="26" y="77"/>
                      </a:cubicBezTo>
                      <a:cubicBezTo>
                        <a:pt x="26" y="77"/>
                        <a:pt x="26" y="77"/>
                        <a:pt x="26" y="77"/>
                      </a:cubicBezTo>
                      <a:cubicBezTo>
                        <a:pt x="26" y="78"/>
                        <a:pt x="27" y="79"/>
                        <a:pt x="27" y="80"/>
                      </a:cubicBezTo>
                      <a:cubicBezTo>
                        <a:pt x="28" y="82"/>
                        <a:pt x="28" y="84"/>
                        <a:pt x="29" y="85"/>
                      </a:cubicBezTo>
                      <a:cubicBezTo>
                        <a:pt x="29" y="85"/>
                        <a:pt x="29" y="85"/>
                        <a:pt x="29" y="85"/>
                      </a:cubicBezTo>
                      <a:cubicBezTo>
                        <a:pt x="29" y="87"/>
                        <a:pt x="28" y="88"/>
                        <a:pt x="26" y="89"/>
                      </a:cubicBezTo>
                      <a:cubicBezTo>
                        <a:pt x="24" y="90"/>
                        <a:pt x="22" y="89"/>
                        <a:pt x="21" y="88"/>
                      </a:cubicBezTo>
                      <a:cubicBezTo>
                        <a:pt x="6" y="52"/>
                        <a:pt x="6" y="52"/>
                        <a:pt x="6" y="52"/>
                      </a:cubicBezTo>
                      <a:cubicBezTo>
                        <a:pt x="5" y="49"/>
                        <a:pt x="5" y="45"/>
                        <a:pt x="6" y="42"/>
                      </a:cubicBezTo>
                      <a:cubicBezTo>
                        <a:pt x="23" y="16"/>
                        <a:pt x="23" y="16"/>
                        <a:pt x="23" y="16"/>
                      </a:cubicBezTo>
                      <a:cubicBezTo>
                        <a:pt x="29" y="8"/>
                        <a:pt x="31" y="4"/>
                        <a:pt x="48" y="4"/>
                      </a:cubicBezTo>
                      <a:cubicBezTo>
                        <a:pt x="48" y="4"/>
                        <a:pt x="48" y="4"/>
                        <a:pt x="48" y="4"/>
                      </a:cubicBezTo>
                      <a:cubicBezTo>
                        <a:pt x="64" y="4"/>
                        <a:pt x="67" y="11"/>
                        <a:pt x="69" y="15"/>
                      </a:cubicBezTo>
                      <a:cubicBezTo>
                        <a:pt x="70" y="15"/>
                        <a:pt x="70" y="15"/>
                        <a:pt x="70" y="15"/>
                      </a:cubicBezTo>
                      <a:cubicBezTo>
                        <a:pt x="74" y="22"/>
                        <a:pt x="88" y="47"/>
                        <a:pt x="88" y="47"/>
                      </a:cubicBezTo>
                      <a:cubicBezTo>
                        <a:pt x="88" y="47"/>
                        <a:pt x="88" y="47"/>
                        <a:pt x="88" y="47"/>
                      </a:cubicBezTo>
                      <a:cubicBezTo>
                        <a:pt x="88" y="47"/>
                        <a:pt x="95" y="52"/>
                        <a:pt x="101" y="57"/>
                      </a:cubicBezTo>
                      <a:cubicBezTo>
                        <a:pt x="104" y="60"/>
                        <a:pt x="108" y="62"/>
                        <a:pt x="110" y="64"/>
                      </a:cubicBezTo>
                      <a:cubicBezTo>
                        <a:pt x="112" y="65"/>
                        <a:pt x="113" y="66"/>
                        <a:pt x="114" y="67"/>
                      </a:cubicBezTo>
                      <a:cubicBezTo>
                        <a:pt x="114" y="67"/>
                        <a:pt x="114" y="67"/>
                        <a:pt x="114" y="67"/>
                      </a:cubicBezTo>
                      <a:cubicBezTo>
                        <a:pt x="115" y="68"/>
                        <a:pt x="115" y="70"/>
                        <a:pt x="114" y="72"/>
                      </a:cubicBezTo>
                      <a:cubicBezTo>
                        <a:pt x="113" y="73"/>
                        <a:pt x="111" y="74"/>
                        <a:pt x="109" y="73"/>
                      </a:cubicBezTo>
                      <a:lnTo>
                        <a:pt x="81" y="57"/>
                      </a:lnTo>
                      <a:close/>
                      <a:moveTo>
                        <a:pt x="26" y="43"/>
                      </a:moveTo>
                      <a:cubicBezTo>
                        <a:pt x="26" y="48"/>
                        <a:pt x="26" y="54"/>
                        <a:pt x="26" y="63"/>
                      </a:cubicBezTo>
                      <a:cubicBezTo>
                        <a:pt x="25" y="58"/>
                        <a:pt x="23" y="54"/>
                        <a:pt x="22" y="50"/>
                      </a:cubicBezTo>
                      <a:lnTo>
                        <a:pt x="26" y="43"/>
                      </a:lnTo>
                      <a:close/>
                      <a:moveTo>
                        <a:pt x="219" y="52"/>
                      </a:moveTo>
                      <a:cubicBezTo>
                        <a:pt x="203" y="88"/>
                        <a:pt x="203" y="88"/>
                        <a:pt x="203" y="88"/>
                      </a:cubicBezTo>
                      <a:cubicBezTo>
                        <a:pt x="202" y="89"/>
                        <a:pt x="200" y="90"/>
                        <a:pt x="198" y="89"/>
                      </a:cubicBezTo>
                      <a:cubicBezTo>
                        <a:pt x="196" y="88"/>
                        <a:pt x="195" y="87"/>
                        <a:pt x="196" y="85"/>
                      </a:cubicBezTo>
                      <a:cubicBezTo>
                        <a:pt x="196" y="85"/>
                        <a:pt x="196" y="85"/>
                        <a:pt x="196" y="85"/>
                      </a:cubicBezTo>
                      <a:cubicBezTo>
                        <a:pt x="196" y="84"/>
                        <a:pt x="197" y="82"/>
                        <a:pt x="198" y="80"/>
                      </a:cubicBezTo>
                      <a:cubicBezTo>
                        <a:pt x="198" y="79"/>
                        <a:pt x="198" y="78"/>
                        <a:pt x="198" y="77"/>
                      </a:cubicBezTo>
                      <a:cubicBezTo>
                        <a:pt x="198" y="77"/>
                        <a:pt x="198" y="77"/>
                        <a:pt x="198" y="77"/>
                      </a:cubicBezTo>
                      <a:cubicBezTo>
                        <a:pt x="199" y="74"/>
                        <a:pt x="201" y="71"/>
                        <a:pt x="202" y="68"/>
                      </a:cubicBezTo>
                      <a:cubicBezTo>
                        <a:pt x="205" y="59"/>
                        <a:pt x="208" y="50"/>
                        <a:pt x="208" y="50"/>
                      </a:cubicBezTo>
                      <a:cubicBezTo>
                        <a:pt x="208" y="49"/>
                        <a:pt x="208" y="48"/>
                        <a:pt x="207" y="48"/>
                      </a:cubicBezTo>
                      <a:cubicBezTo>
                        <a:pt x="198" y="35"/>
                        <a:pt x="198" y="35"/>
                        <a:pt x="198" y="35"/>
                      </a:cubicBezTo>
                      <a:cubicBezTo>
                        <a:pt x="197" y="34"/>
                        <a:pt x="196" y="34"/>
                        <a:pt x="195" y="34"/>
                      </a:cubicBezTo>
                      <a:cubicBezTo>
                        <a:pt x="194" y="34"/>
                        <a:pt x="194" y="35"/>
                        <a:pt x="194" y="36"/>
                      </a:cubicBezTo>
                      <a:cubicBezTo>
                        <a:pt x="194" y="36"/>
                        <a:pt x="194" y="50"/>
                        <a:pt x="194" y="76"/>
                      </a:cubicBezTo>
                      <a:cubicBezTo>
                        <a:pt x="193" y="80"/>
                        <a:pt x="192" y="83"/>
                        <a:pt x="191" y="83"/>
                      </a:cubicBezTo>
                      <a:cubicBezTo>
                        <a:pt x="191" y="84"/>
                        <a:pt x="191" y="84"/>
                        <a:pt x="191" y="84"/>
                      </a:cubicBezTo>
                      <a:cubicBezTo>
                        <a:pt x="190" y="87"/>
                        <a:pt x="192" y="90"/>
                        <a:pt x="194" y="92"/>
                      </a:cubicBezTo>
                      <a:cubicBezTo>
                        <a:pt x="194" y="110"/>
                        <a:pt x="194" y="129"/>
                        <a:pt x="194" y="144"/>
                      </a:cubicBezTo>
                      <a:cubicBezTo>
                        <a:pt x="194" y="151"/>
                        <a:pt x="195" y="157"/>
                        <a:pt x="195" y="162"/>
                      </a:cubicBezTo>
                      <a:cubicBezTo>
                        <a:pt x="195" y="165"/>
                        <a:pt x="195" y="167"/>
                        <a:pt x="195" y="169"/>
                      </a:cubicBezTo>
                      <a:cubicBezTo>
                        <a:pt x="195" y="169"/>
                        <a:pt x="195" y="169"/>
                        <a:pt x="195" y="169"/>
                      </a:cubicBezTo>
                      <a:cubicBezTo>
                        <a:pt x="194" y="171"/>
                        <a:pt x="192" y="173"/>
                        <a:pt x="189" y="173"/>
                      </a:cubicBezTo>
                      <a:cubicBezTo>
                        <a:pt x="186" y="173"/>
                        <a:pt x="183" y="171"/>
                        <a:pt x="183" y="168"/>
                      </a:cubicBezTo>
                      <a:cubicBezTo>
                        <a:pt x="177" y="92"/>
                        <a:pt x="177" y="92"/>
                        <a:pt x="177" y="92"/>
                      </a:cubicBezTo>
                      <a:cubicBezTo>
                        <a:pt x="177" y="91"/>
                        <a:pt x="176" y="90"/>
                        <a:pt x="175" y="90"/>
                      </a:cubicBezTo>
                      <a:cubicBezTo>
                        <a:pt x="174" y="90"/>
                        <a:pt x="173" y="91"/>
                        <a:pt x="173" y="92"/>
                      </a:cubicBezTo>
                      <a:cubicBezTo>
                        <a:pt x="167" y="168"/>
                        <a:pt x="167" y="168"/>
                        <a:pt x="167" y="168"/>
                      </a:cubicBezTo>
                      <a:cubicBezTo>
                        <a:pt x="166" y="171"/>
                        <a:pt x="164" y="173"/>
                        <a:pt x="161" y="173"/>
                      </a:cubicBezTo>
                      <a:cubicBezTo>
                        <a:pt x="158" y="173"/>
                        <a:pt x="155" y="171"/>
                        <a:pt x="155" y="169"/>
                      </a:cubicBezTo>
                      <a:cubicBezTo>
                        <a:pt x="155" y="169"/>
                        <a:pt x="155" y="169"/>
                        <a:pt x="155" y="169"/>
                      </a:cubicBezTo>
                      <a:cubicBezTo>
                        <a:pt x="155" y="167"/>
                        <a:pt x="155" y="166"/>
                        <a:pt x="155" y="163"/>
                      </a:cubicBezTo>
                      <a:cubicBezTo>
                        <a:pt x="156" y="159"/>
                        <a:pt x="156" y="153"/>
                        <a:pt x="156" y="147"/>
                      </a:cubicBezTo>
                      <a:cubicBezTo>
                        <a:pt x="156" y="133"/>
                        <a:pt x="157" y="116"/>
                        <a:pt x="157" y="98"/>
                      </a:cubicBezTo>
                      <a:cubicBezTo>
                        <a:pt x="158" y="78"/>
                        <a:pt x="158" y="58"/>
                        <a:pt x="159" y="44"/>
                      </a:cubicBezTo>
                      <a:cubicBezTo>
                        <a:pt x="159" y="44"/>
                        <a:pt x="159" y="44"/>
                        <a:pt x="159" y="44"/>
                      </a:cubicBezTo>
                      <a:cubicBezTo>
                        <a:pt x="159" y="33"/>
                        <a:pt x="159" y="27"/>
                        <a:pt x="159" y="27"/>
                      </a:cubicBezTo>
                      <a:cubicBezTo>
                        <a:pt x="159" y="25"/>
                        <a:pt x="158" y="24"/>
                        <a:pt x="157" y="24"/>
                      </a:cubicBezTo>
                      <a:cubicBezTo>
                        <a:pt x="157" y="24"/>
                        <a:pt x="157" y="24"/>
                        <a:pt x="157" y="24"/>
                      </a:cubicBezTo>
                      <a:cubicBezTo>
                        <a:pt x="155" y="24"/>
                        <a:pt x="154" y="25"/>
                        <a:pt x="154" y="27"/>
                      </a:cubicBezTo>
                      <a:cubicBezTo>
                        <a:pt x="154" y="32"/>
                        <a:pt x="154" y="37"/>
                        <a:pt x="154" y="43"/>
                      </a:cubicBezTo>
                      <a:cubicBezTo>
                        <a:pt x="144" y="57"/>
                        <a:pt x="144" y="57"/>
                        <a:pt x="144" y="57"/>
                      </a:cubicBezTo>
                      <a:cubicBezTo>
                        <a:pt x="119" y="71"/>
                        <a:pt x="119" y="71"/>
                        <a:pt x="119" y="71"/>
                      </a:cubicBezTo>
                      <a:cubicBezTo>
                        <a:pt x="120" y="68"/>
                        <a:pt x="119" y="65"/>
                        <a:pt x="117" y="63"/>
                      </a:cubicBezTo>
                      <a:cubicBezTo>
                        <a:pt x="117" y="63"/>
                        <a:pt x="117" y="63"/>
                        <a:pt x="117" y="63"/>
                      </a:cubicBezTo>
                      <a:cubicBezTo>
                        <a:pt x="117" y="63"/>
                        <a:pt x="116" y="63"/>
                        <a:pt x="116" y="63"/>
                      </a:cubicBezTo>
                      <a:cubicBezTo>
                        <a:pt x="124" y="57"/>
                        <a:pt x="136" y="47"/>
                        <a:pt x="136" y="47"/>
                      </a:cubicBezTo>
                      <a:cubicBezTo>
                        <a:pt x="136" y="47"/>
                        <a:pt x="137" y="47"/>
                        <a:pt x="137" y="47"/>
                      </a:cubicBezTo>
                      <a:cubicBezTo>
                        <a:pt x="137" y="47"/>
                        <a:pt x="151" y="22"/>
                        <a:pt x="155" y="15"/>
                      </a:cubicBezTo>
                      <a:cubicBezTo>
                        <a:pt x="155" y="15"/>
                        <a:pt x="155" y="15"/>
                        <a:pt x="155" y="15"/>
                      </a:cubicBezTo>
                      <a:cubicBezTo>
                        <a:pt x="157" y="11"/>
                        <a:pt x="161" y="4"/>
                        <a:pt x="177" y="4"/>
                      </a:cubicBezTo>
                      <a:cubicBezTo>
                        <a:pt x="177" y="4"/>
                        <a:pt x="177" y="4"/>
                        <a:pt x="177" y="4"/>
                      </a:cubicBezTo>
                      <a:cubicBezTo>
                        <a:pt x="194" y="4"/>
                        <a:pt x="196" y="8"/>
                        <a:pt x="201" y="16"/>
                      </a:cubicBezTo>
                      <a:cubicBezTo>
                        <a:pt x="218" y="42"/>
                        <a:pt x="218" y="42"/>
                        <a:pt x="218" y="42"/>
                      </a:cubicBezTo>
                      <a:cubicBezTo>
                        <a:pt x="220" y="45"/>
                        <a:pt x="220" y="49"/>
                        <a:pt x="219" y="52"/>
                      </a:cubicBezTo>
                      <a:close/>
                      <a:moveTo>
                        <a:pt x="198" y="43"/>
                      </a:moveTo>
                      <a:cubicBezTo>
                        <a:pt x="203" y="50"/>
                        <a:pt x="203" y="50"/>
                        <a:pt x="203" y="50"/>
                      </a:cubicBezTo>
                      <a:cubicBezTo>
                        <a:pt x="202" y="54"/>
                        <a:pt x="200" y="58"/>
                        <a:pt x="198" y="63"/>
                      </a:cubicBezTo>
                      <a:cubicBezTo>
                        <a:pt x="198" y="54"/>
                        <a:pt x="198" y="48"/>
                        <a:pt x="198" y="4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a:latin typeface="微软雅黑 Light" panose="020B0502040204020203" pitchFamily="34" charset="-122"/>
                    <a:ea typeface="微软雅黑 Light" panose="020B0502040204020203" pitchFamily="34" charset="-122"/>
                  </a:endParaRPr>
                </a:p>
              </p:txBody>
            </p:sp>
          </p:grpSp>
        </p:grpSp>
        <p:sp>
          <p:nvSpPr>
            <p:cNvPr id="17" name="Oval 71"/>
            <p:cNvSpPr/>
            <p:nvPr/>
          </p:nvSpPr>
          <p:spPr bwMode="auto">
            <a:xfrm>
              <a:off x="2745670" y="3826758"/>
              <a:ext cx="573445" cy="573445"/>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8533" dirty="0">
                <a:latin typeface="微软雅黑 Light" panose="020B0502040204020203" pitchFamily="34" charset="-122"/>
                <a:ea typeface="微软雅黑 Light" panose="020B0502040204020203" pitchFamily="34" charset="-122"/>
              </a:endParaRPr>
            </a:p>
          </p:txBody>
        </p:sp>
        <p:grpSp>
          <p:nvGrpSpPr>
            <p:cNvPr id="18" name="Group 76"/>
            <p:cNvGrpSpPr/>
            <p:nvPr/>
          </p:nvGrpSpPr>
          <p:grpSpPr>
            <a:xfrm>
              <a:off x="997478" y="2872673"/>
              <a:ext cx="1999944" cy="565917"/>
              <a:chOff x="4410146" y="3865262"/>
              <a:chExt cx="2599068" cy="1073396"/>
            </a:xfrm>
          </p:grpSpPr>
          <p:sp>
            <p:nvSpPr>
              <p:cNvPr id="41" name="TextBox 77"/>
              <p:cNvSpPr txBox="1"/>
              <p:nvPr/>
            </p:nvSpPr>
            <p:spPr bwMode="auto">
              <a:xfrm>
                <a:off x="4410146" y="3865262"/>
                <a:ext cx="2475841" cy="270493"/>
              </a:xfrm>
              <a:prstGeom prst="rect">
                <a:avLst/>
              </a:prstGeom>
              <a:noFill/>
            </p:spPr>
            <p:txBody>
              <a:bodyPr wrap="none" lIns="0" tIns="0" rIns="768000" bIns="0" anchor="b" anchorCtr="0">
                <a:normAutofit fontScale="77500" lnSpcReduction="20000"/>
              </a:bodyPr>
              <a:lstStyle/>
              <a:p>
                <a:pPr algn="r" latinLnBrk="0"/>
                <a:r>
                  <a:rPr lang="zh-CN" altLang="en-US" sz="3733" dirty="0">
                    <a:solidFill>
                      <a:schemeClr val="accent2">
                        <a:lumMod val="100000"/>
                      </a:schemeClr>
                    </a:solidFill>
                    <a:latin typeface="微软雅黑" panose="020B0503020204020204" charset="-122"/>
                    <a:ea typeface="微软雅黑" panose="020B0503020204020204" charset="-122"/>
                  </a:rPr>
                  <a:t>交易信息泄露模型</a:t>
                </a:r>
              </a:p>
            </p:txBody>
          </p:sp>
          <p:sp>
            <p:nvSpPr>
              <p:cNvPr id="42" name="TextBox 78"/>
              <p:cNvSpPr txBox="1"/>
              <p:nvPr/>
            </p:nvSpPr>
            <p:spPr bwMode="auto">
              <a:xfrm>
                <a:off x="4533373" y="4225680"/>
                <a:ext cx="2475841" cy="712978"/>
              </a:xfrm>
              <a:prstGeom prst="rect">
                <a:avLst/>
              </a:prstGeom>
              <a:noFill/>
            </p:spPr>
            <p:txBody>
              <a:bodyPr wrap="square" lIns="0" tIns="0" rIns="768000" bIns="0" anchor="t" anchorCtr="0">
                <a:normAutofit/>
              </a:bodyPr>
              <a:lstStyle/>
              <a:p>
                <a:pPr algn="r">
                  <a:lnSpc>
                    <a:spcPct val="120000"/>
                  </a:lnSpc>
                </a:pPr>
                <a:r>
                  <a:rPr lang="zh-CN" altLang="en-US" sz="2133" dirty="0">
                    <a:solidFill>
                      <a:schemeClr val="tx1">
                        <a:lumMod val="75000"/>
                        <a:lumOff val="25000"/>
                      </a:schemeClr>
                    </a:solidFill>
                    <a:latin typeface="微软雅黑 Light" panose="020B0502040204020203" pitchFamily="34" charset="-122"/>
                    <a:ea typeface="微软雅黑 Light" panose="020B0502040204020203" pitchFamily="34" charset="-122"/>
                  </a:rPr>
                  <a:t>主要用于事后侦测，发现客户身份泄露的异常操作行为特征</a:t>
                </a:r>
                <a:endParaRPr lang="en-US" altLang="zh-CN" sz="2133" b="0" dirty="0">
                  <a:solidFill>
                    <a:schemeClr val="tx1">
                      <a:lumMod val="75000"/>
                      <a:lumOff val="25000"/>
                    </a:schemeClr>
                  </a:solidFill>
                  <a:latin typeface="微软雅黑 Light" panose="020B0502040204020203" pitchFamily="34" charset="-122"/>
                  <a:ea typeface="微软雅黑 Light" panose="020B0502040204020203" pitchFamily="34" charset="-122"/>
                </a:endParaRPr>
              </a:p>
              <a:p>
                <a:pPr algn="r" latinLnBrk="0">
                  <a:lnSpc>
                    <a:spcPct val="120000"/>
                  </a:lnSpc>
                </a:pPr>
                <a:endParaRPr lang="zh-CN" altLang="en-US" sz="2667" b="0" dirty="0">
                  <a:solidFill>
                    <a:schemeClr val="tx1">
                      <a:lumMod val="85000"/>
                      <a:lumOff val="15000"/>
                    </a:schemeClr>
                  </a:solidFill>
                  <a:latin typeface="微软雅黑 Light" panose="020B0502040204020203" pitchFamily="34" charset="-122"/>
                  <a:ea typeface="微软雅黑 Light" panose="020B0502040204020203" pitchFamily="34" charset="-122"/>
                </a:endParaRPr>
              </a:p>
            </p:txBody>
          </p:sp>
        </p:grpSp>
        <p:grpSp>
          <p:nvGrpSpPr>
            <p:cNvPr id="19" name="Group 79"/>
            <p:cNvGrpSpPr/>
            <p:nvPr/>
          </p:nvGrpSpPr>
          <p:grpSpPr>
            <a:xfrm>
              <a:off x="6267264" y="2854856"/>
              <a:ext cx="2281985" cy="603994"/>
              <a:chOff x="4378481" y="3865261"/>
              <a:chExt cx="3556210" cy="1107683"/>
            </a:xfrm>
          </p:grpSpPr>
          <p:sp>
            <p:nvSpPr>
              <p:cNvPr id="39" name="TextBox 80"/>
              <p:cNvSpPr txBox="1"/>
              <p:nvPr/>
            </p:nvSpPr>
            <p:spPr bwMode="auto">
              <a:xfrm>
                <a:off x="4410146" y="3865261"/>
                <a:ext cx="2475841" cy="270494"/>
              </a:xfrm>
              <a:prstGeom prst="rect">
                <a:avLst/>
              </a:prstGeom>
              <a:noFill/>
            </p:spPr>
            <p:txBody>
              <a:bodyPr wrap="none" lIns="768000" tIns="0" rIns="768000" bIns="0" anchor="b" anchorCtr="0">
                <a:normAutofit fontScale="85000" lnSpcReduction="20000"/>
              </a:bodyPr>
              <a:lstStyle/>
              <a:p>
                <a:pPr algn="l" latinLnBrk="0"/>
                <a:r>
                  <a:rPr lang="zh-CN" altLang="en-US" sz="3733" dirty="0">
                    <a:solidFill>
                      <a:schemeClr val="accent4">
                        <a:lumMod val="100000"/>
                      </a:schemeClr>
                    </a:solidFill>
                    <a:latin typeface="微软雅黑" panose="020B0503020204020204" charset="-122"/>
                    <a:ea typeface="微软雅黑" panose="020B0503020204020204" charset="-122"/>
                  </a:rPr>
                  <a:t>养卡模型</a:t>
                </a:r>
              </a:p>
            </p:txBody>
          </p:sp>
          <p:sp>
            <p:nvSpPr>
              <p:cNvPr id="40" name="TextBox 81"/>
              <p:cNvSpPr txBox="1"/>
              <p:nvPr/>
            </p:nvSpPr>
            <p:spPr bwMode="auto">
              <a:xfrm>
                <a:off x="4378481" y="4259967"/>
                <a:ext cx="3556210" cy="712977"/>
              </a:xfrm>
              <a:prstGeom prst="rect">
                <a:avLst/>
              </a:prstGeom>
              <a:noFill/>
            </p:spPr>
            <p:txBody>
              <a:bodyPr wrap="square" lIns="768000" tIns="0" rIns="768000" bIns="0" anchor="t" anchorCtr="0">
                <a:normAutofit/>
              </a:bodyPr>
              <a:lstStyle/>
              <a:p>
                <a:pPr algn="l">
                  <a:lnSpc>
                    <a:spcPct val="120000"/>
                  </a:lnSpc>
                </a:pPr>
                <a:r>
                  <a:rPr lang="zh-CN" altLang="en-US" sz="2133" dirty="0">
                    <a:solidFill>
                      <a:schemeClr val="tx1">
                        <a:lumMod val="75000"/>
                        <a:lumOff val="25000"/>
                      </a:schemeClr>
                    </a:solidFill>
                    <a:latin typeface="微软雅黑 Light" panose="020B0502040204020203" pitchFamily="34" charset="-122"/>
                    <a:ea typeface="微软雅黑 Light" panose="020B0502040204020203" pitchFamily="34" charset="-122"/>
                  </a:rPr>
                  <a:t>重点在于侦测持卡人及商户端借用养   卡</a:t>
                </a:r>
                <a:r>
                  <a:rPr lang="en-US" altLang="zh-CN" sz="2133" dirty="0">
                    <a:solidFill>
                      <a:schemeClr val="tx1">
                        <a:lumMod val="75000"/>
                        <a:lumOff val="25000"/>
                      </a:schemeClr>
                    </a:solidFill>
                    <a:latin typeface="微软雅黑 Light" panose="020B0502040204020203" pitchFamily="34" charset="-122"/>
                    <a:ea typeface="微软雅黑 Light" panose="020B0502040204020203" pitchFamily="34" charset="-122"/>
                  </a:rPr>
                  <a:t>POS</a:t>
                </a:r>
                <a:r>
                  <a:rPr lang="zh-CN" altLang="en-US" sz="2133" dirty="0">
                    <a:solidFill>
                      <a:schemeClr val="tx1">
                        <a:lumMod val="75000"/>
                        <a:lumOff val="25000"/>
                      </a:schemeClr>
                    </a:solidFill>
                    <a:latin typeface="微软雅黑 Light" panose="020B0502040204020203" pitchFamily="34" charset="-122"/>
                    <a:ea typeface="微软雅黑 Light" panose="020B0502040204020203" pitchFamily="34" charset="-122"/>
                  </a:rPr>
                  <a:t>进行的养卡套现特征</a:t>
                </a:r>
                <a:endParaRPr lang="zh-CN" altLang="en-US" sz="2133" b="0" dirty="0">
                  <a:solidFill>
                    <a:schemeClr val="tx1">
                      <a:lumMod val="75000"/>
                      <a:lumOff val="25000"/>
                    </a:schemeClr>
                  </a:solidFill>
                  <a:latin typeface="微软雅黑 Light" panose="020B0502040204020203" pitchFamily="34" charset="-122"/>
                  <a:ea typeface="微软雅黑 Light" panose="020B0502040204020203" pitchFamily="34" charset="-122"/>
                </a:endParaRPr>
              </a:p>
            </p:txBody>
          </p:sp>
        </p:grpSp>
        <p:grpSp>
          <p:nvGrpSpPr>
            <p:cNvPr id="20" name="Group 82"/>
            <p:cNvGrpSpPr/>
            <p:nvPr/>
          </p:nvGrpSpPr>
          <p:grpSpPr>
            <a:xfrm>
              <a:off x="6438245" y="3868648"/>
              <a:ext cx="2223155" cy="583676"/>
              <a:chOff x="4410146" y="3865260"/>
              <a:chExt cx="3464530" cy="1070420"/>
            </a:xfrm>
          </p:grpSpPr>
          <p:sp>
            <p:nvSpPr>
              <p:cNvPr id="37" name="TextBox 83"/>
              <p:cNvSpPr txBox="1"/>
              <p:nvPr/>
            </p:nvSpPr>
            <p:spPr bwMode="auto">
              <a:xfrm>
                <a:off x="4410146" y="3865260"/>
                <a:ext cx="2475841" cy="270493"/>
              </a:xfrm>
              <a:prstGeom prst="rect">
                <a:avLst/>
              </a:prstGeom>
              <a:noFill/>
            </p:spPr>
            <p:txBody>
              <a:bodyPr wrap="none" lIns="768000" tIns="0" rIns="768000" bIns="0" anchor="b" anchorCtr="0">
                <a:normAutofit fontScale="85000" lnSpcReduction="20000"/>
              </a:bodyPr>
              <a:lstStyle/>
              <a:p>
                <a:pPr algn="l" latinLnBrk="0"/>
                <a:r>
                  <a:rPr lang="zh-CN" altLang="en-US" sz="3733" dirty="0">
                    <a:solidFill>
                      <a:schemeClr val="accent4">
                        <a:lumMod val="100000"/>
                      </a:schemeClr>
                    </a:solidFill>
                    <a:latin typeface="微软雅黑" panose="020B0503020204020204" charset="-122"/>
                    <a:ea typeface="微软雅黑" panose="020B0503020204020204" charset="-122"/>
                  </a:rPr>
                  <a:t>刷单薅羊毛模型</a:t>
                </a:r>
              </a:p>
            </p:txBody>
          </p:sp>
          <p:sp>
            <p:nvSpPr>
              <p:cNvPr id="38" name="TextBox 84"/>
              <p:cNvSpPr txBox="1"/>
              <p:nvPr/>
            </p:nvSpPr>
            <p:spPr bwMode="auto">
              <a:xfrm>
                <a:off x="4410146" y="4222702"/>
                <a:ext cx="3464530" cy="712978"/>
              </a:xfrm>
              <a:prstGeom prst="rect">
                <a:avLst/>
              </a:prstGeom>
              <a:noFill/>
            </p:spPr>
            <p:txBody>
              <a:bodyPr wrap="square" lIns="768000" tIns="0" rIns="768000" bIns="0" anchor="t" anchorCtr="0">
                <a:normAutofit fontScale="77500" lnSpcReduction="20000"/>
              </a:bodyPr>
              <a:lstStyle/>
              <a:p>
                <a:pPr algn="l">
                  <a:lnSpc>
                    <a:spcPct val="120000"/>
                  </a:lnSpc>
                </a:pPr>
                <a:r>
                  <a:rPr lang="zh-CN" altLang="en-US" sz="2667" dirty="0">
                    <a:solidFill>
                      <a:schemeClr val="tx1">
                        <a:lumMod val="75000"/>
                        <a:lumOff val="25000"/>
                      </a:schemeClr>
                    </a:solidFill>
                    <a:latin typeface="微软雅黑 Light" panose="020B0502040204020203" pitchFamily="34" charset="-122"/>
                    <a:ea typeface="微软雅黑 Light" panose="020B0502040204020203" pitchFamily="34" charset="-122"/>
                  </a:rPr>
                  <a:t>针对营销活动时的</a:t>
                </a:r>
                <a:r>
                  <a:rPr lang="zh-CN" altLang="zh-CN" sz="2667" dirty="0">
                    <a:solidFill>
                      <a:schemeClr val="tx1">
                        <a:lumMod val="75000"/>
                        <a:lumOff val="25000"/>
                      </a:schemeClr>
                    </a:solidFill>
                    <a:latin typeface="微软雅黑 Light" panose="020B0502040204020203" pitchFamily="34" charset="-122"/>
                    <a:ea typeface="微软雅黑 Light" panose="020B0502040204020203" pitchFamily="34" charset="-122"/>
                  </a:rPr>
                  <a:t>信息雷同</a:t>
                </a:r>
                <a:r>
                  <a:rPr lang="zh-CN" altLang="en-US" sz="2667" dirty="0">
                    <a:solidFill>
                      <a:schemeClr val="tx1">
                        <a:lumMod val="75000"/>
                        <a:lumOff val="25000"/>
                      </a:schemeClr>
                    </a:solidFill>
                    <a:latin typeface="微软雅黑 Light" panose="020B0502040204020203" pitchFamily="34" charset="-122"/>
                    <a:ea typeface="微软雅黑 Light" panose="020B0502040204020203" pitchFamily="34" charset="-122"/>
                  </a:rPr>
                  <a:t>、</a:t>
                </a:r>
                <a:r>
                  <a:rPr lang="zh-CN" altLang="zh-CN" sz="2667" dirty="0">
                    <a:solidFill>
                      <a:schemeClr val="tx1">
                        <a:lumMod val="75000"/>
                        <a:lumOff val="25000"/>
                      </a:schemeClr>
                    </a:solidFill>
                    <a:latin typeface="微软雅黑 Light" panose="020B0502040204020203" pitchFamily="34" charset="-122"/>
                    <a:ea typeface="微软雅黑 Light" panose="020B0502040204020203" pitchFamily="34" charset="-122"/>
                  </a:rPr>
                  <a:t>非习惯</a:t>
                </a:r>
                <a:r>
                  <a:rPr lang="zh-CN" altLang="en-US" sz="2667" dirty="0">
                    <a:solidFill>
                      <a:schemeClr val="tx1">
                        <a:lumMod val="75000"/>
                        <a:lumOff val="25000"/>
                      </a:schemeClr>
                    </a:solidFill>
                    <a:latin typeface="微软雅黑 Light" panose="020B0502040204020203" pitchFamily="34" charset="-122"/>
                    <a:ea typeface="微软雅黑 Light" panose="020B0502040204020203" pitchFamily="34" charset="-122"/>
                  </a:rPr>
                  <a:t>、同一维度</a:t>
                </a:r>
                <a:r>
                  <a:rPr lang="zh-CN" altLang="zh-CN" sz="2667" dirty="0">
                    <a:solidFill>
                      <a:schemeClr val="tx1">
                        <a:lumMod val="75000"/>
                        <a:lumOff val="25000"/>
                      </a:schemeClr>
                    </a:solidFill>
                    <a:latin typeface="微软雅黑 Light" panose="020B0502040204020203" pitchFamily="34" charset="-122"/>
                    <a:ea typeface="微软雅黑 Light" panose="020B0502040204020203" pitchFamily="34" charset="-122"/>
                  </a:rPr>
                  <a:t>高频</a:t>
                </a:r>
                <a:r>
                  <a:rPr lang="zh-CN" altLang="en-US" sz="2667" dirty="0">
                    <a:solidFill>
                      <a:schemeClr val="tx1">
                        <a:lumMod val="75000"/>
                        <a:lumOff val="25000"/>
                      </a:schemeClr>
                    </a:solidFill>
                    <a:latin typeface="微软雅黑 Light" panose="020B0502040204020203" pitchFamily="34" charset="-122"/>
                    <a:ea typeface="微软雅黑 Light" panose="020B0502040204020203" pitchFamily="34" charset="-122"/>
                  </a:rPr>
                  <a:t>等集中度特征进行发现学习</a:t>
                </a:r>
                <a:endParaRPr lang="zh-CN" altLang="en-US" sz="2667" b="0" dirty="0">
                  <a:solidFill>
                    <a:schemeClr val="tx1">
                      <a:lumMod val="75000"/>
                      <a:lumOff val="25000"/>
                    </a:schemeClr>
                  </a:solidFill>
                  <a:latin typeface="微软雅黑 Light" panose="020B0502040204020203" pitchFamily="34" charset="-122"/>
                  <a:ea typeface="微软雅黑 Light" panose="020B0502040204020203" pitchFamily="34" charset="-122"/>
                </a:endParaRPr>
              </a:p>
            </p:txBody>
          </p:sp>
        </p:grpSp>
        <p:grpSp>
          <p:nvGrpSpPr>
            <p:cNvPr id="21" name="Group 88"/>
            <p:cNvGrpSpPr/>
            <p:nvPr/>
          </p:nvGrpSpPr>
          <p:grpSpPr>
            <a:xfrm>
              <a:off x="694817" y="3854225"/>
              <a:ext cx="2057625" cy="565917"/>
              <a:chOff x="4410146" y="3865262"/>
              <a:chExt cx="2484018" cy="1073396"/>
            </a:xfrm>
          </p:grpSpPr>
          <p:sp>
            <p:nvSpPr>
              <p:cNvPr id="35" name="TextBox 89"/>
              <p:cNvSpPr txBox="1"/>
              <p:nvPr/>
            </p:nvSpPr>
            <p:spPr bwMode="auto">
              <a:xfrm>
                <a:off x="4410146" y="3865262"/>
                <a:ext cx="2475841" cy="270493"/>
              </a:xfrm>
              <a:prstGeom prst="rect">
                <a:avLst/>
              </a:prstGeom>
              <a:noFill/>
            </p:spPr>
            <p:txBody>
              <a:bodyPr wrap="none" lIns="0" tIns="0" rIns="768000" bIns="0" anchor="b" anchorCtr="0">
                <a:normAutofit fontScale="77500" lnSpcReduction="20000"/>
              </a:bodyPr>
              <a:lstStyle/>
              <a:p>
                <a:pPr algn="r" latinLnBrk="0"/>
                <a:r>
                  <a:rPr lang="zh-CN" altLang="en-US" sz="3733" dirty="0">
                    <a:solidFill>
                      <a:schemeClr val="accent1">
                        <a:lumMod val="100000"/>
                      </a:schemeClr>
                    </a:solidFill>
                    <a:latin typeface="微软雅黑" panose="020B0503020204020204" charset="-122"/>
                    <a:ea typeface="微软雅黑" panose="020B0503020204020204" charset="-122"/>
                  </a:rPr>
                  <a:t>扫码支付模型</a:t>
                </a:r>
              </a:p>
            </p:txBody>
          </p:sp>
          <p:sp>
            <p:nvSpPr>
              <p:cNvPr id="36" name="TextBox 90"/>
              <p:cNvSpPr txBox="1"/>
              <p:nvPr/>
            </p:nvSpPr>
            <p:spPr bwMode="auto">
              <a:xfrm>
                <a:off x="4418323" y="4225680"/>
                <a:ext cx="2475841" cy="712978"/>
              </a:xfrm>
              <a:prstGeom prst="rect">
                <a:avLst/>
              </a:prstGeom>
              <a:noFill/>
            </p:spPr>
            <p:txBody>
              <a:bodyPr wrap="square" lIns="0" tIns="0" rIns="768000" bIns="0" anchor="t" anchorCtr="0">
                <a:noAutofit/>
              </a:bodyPr>
              <a:lstStyle/>
              <a:p>
                <a:pPr algn="r">
                  <a:lnSpc>
                    <a:spcPct val="120000"/>
                  </a:lnSpc>
                </a:pPr>
                <a:r>
                  <a:rPr lang="zh-CN" altLang="en-US" sz="2133" dirty="0">
                    <a:solidFill>
                      <a:schemeClr val="tx1">
                        <a:lumMod val="75000"/>
                        <a:lumOff val="25000"/>
                      </a:schemeClr>
                    </a:solidFill>
                    <a:latin typeface="微软雅黑 Light" panose="020B0502040204020203" pitchFamily="34" charset="-122"/>
                    <a:ea typeface="微软雅黑 Light" panose="020B0502040204020203" pitchFamily="34" charset="-122"/>
                  </a:rPr>
                  <a:t>侧重于</a:t>
                </a:r>
                <a:r>
                  <a:rPr lang="en-US" altLang="zh-CN" sz="2133" dirty="0">
                    <a:solidFill>
                      <a:schemeClr val="tx1">
                        <a:lumMod val="75000"/>
                        <a:lumOff val="25000"/>
                      </a:schemeClr>
                    </a:solidFill>
                    <a:latin typeface="微软雅黑 Light" panose="020B0502040204020203" pitchFamily="34" charset="-122"/>
                    <a:ea typeface="微软雅黑 Light" panose="020B0502040204020203" pitchFamily="34" charset="-122"/>
                  </a:rPr>
                  <a:t>CNP</a:t>
                </a:r>
                <a:r>
                  <a:rPr lang="zh-CN" altLang="en-US" sz="2133" dirty="0">
                    <a:solidFill>
                      <a:schemeClr val="tx1">
                        <a:lumMod val="75000"/>
                        <a:lumOff val="25000"/>
                      </a:schemeClr>
                    </a:solidFill>
                    <a:latin typeface="微软雅黑 Light" panose="020B0502040204020203" pitchFamily="34" charset="-122"/>
                    <a:ea typeface="微软雅黑 Light" panose="020B0502040204020203" pitchFamily="34" charset="-122"/>
                  </a:rPr>
                  <a:t>无卡欺诈特征的训练，重点关注频次、时间等维度</a:t>
                </a:r>
                <a:endParaRPr lang="zh-CN" altLang="en-US" sz="2133" b="0" dirty="0">
                  <a:solidFill>
                    <a:schemeClr val="tx1">
                      <a:lumMod val="75000"/>
                      <a:lumOff val="25000"/>
                    </a:schemeClr>
                  </a:solidFill>
                  <a:latin typeface="微软雅黑 Light" panose="020B0502040204020203" pitchFamily="34" charset="-122"/>
                  <a:ea typeface="微软雅黑 Light" panose="020B0502040204020203" pitchFamily="34" charset="-122"/>
                </a:endParaRPr>
              </a:p>
            </p:txBody>
          </p:sp>
        </p:grpSp>
        <p:grpSp>
          <p:nvGrpSpPr>
            <p:cNvPr id="22" name="Group 91"/>
            <p:cNvGrpSpPr/>
            <p:nvPr/>
          </p:nvGrpSpPr>
          <p:grpSpPr>
            <a:xfrm>
              <a:off x="1471574" y="1592643"/>
              <a:ext cx="2397174" cy="621429"/>
              <a:chOff x="3150269" y="3865260"/>
              <a:chExt cx="3735718" cy="1139658"/>
            </a:xfrm>
          </p:grpSpPr>
          <p:sp>
            <p:nvSpPr>
              <p:cNvPr id="33" name="TextBox 92"/>
              <p:cNvSpPr txBox="1"/>
              <p:nvPr/>
            </p:nvSpPr>
            <p:spPr bwMode="auto">
              <a:xfrm>
                <a:off x="4410146" y="3865260"/>
                <a:ext cx="2475841" cy="270493"/>
              </a:xfrm>
              <a:prstGeom prst="rect">
                <a:avLst/>
              </a:prstGeom>
              <a:noFill/>
            </p:spPr>
            <p:txBody>
              <a:bodyPr wrap="none" lIns="768000" tIns="0" rIns="768000" bIns="0" anchor="ctr" anchorCtr="1">
                <a:normAutofit fontScale="85000" lnSpcReduction="20000"/>
              </a:bodyPr>
              <a:lstStyle/>
              <a:p>
                <a:pPr algn="l" latinLnBrk="0"/>
                <a:r>
                  <a:rPr lang="zh-CN" altLang="en-US" sz="3733" dirty="0">
                    <a:solidFill>
                      <a:schemeClr val="accent3">
                        <a:lumMod val="100000"/>
                      </a:schemeClr>
                    </a:solidFill>
                    <a:latin typeface="微软雅黑" panose="020B0503020204020204" charset="-122"/>
                    <a:ea typeface="微软雅黑" panose="020B0503020204020204" charset="-122"/>
                  </a:rPr>
                  <a:t>伪卡盗刷模型</a:t>
                </a:r>
              </a:p>
            </p:txBody>
          </p:sp>
          <p:sp>
            <p:nvSpPr>
              <p:cNvPr id="34" name="TextBox 93"/>
              <p:cNvSpPr txBox="1"/>
              <p:nvPr/>
            </p:nvSpPr>
            <p:spPr bwMode="auto">
              <a:xfrm>
                <a:off x="3150269" y="4210828"/>
                <a:ext cx="3704097" cy="794090"/>
              </a:xfrm>
              <a:prstGeom prst="rect">
                <a:avLst/>
              </a:prstGeom>
              <a:noFill/>
            </p:spPr>
            <p:txBody>
              <a:bodyPr wrap="square" lIns="768000" tIns="0" rIns="768000" bIns="0" anchor="t" anchorCtr="1">
                <a:normAutofit/>
              </a:bodyPr>
              <a:lstStyle/>
              <a:p>
                <a:pPr algn="l">
                  <a:lnSpc>
                    <a:spcPct val="120000"/>
                  </a:lnSpc>
                </a:pPr>
                <a:r>
                  <a:rPr lang="zh-CN" altLang="en-US" sz="2133" dirty="0">
                    <a:solidFill>
                      <a:schemeClr val="tx1">
                        <a:lumMod val="75000"/>
                        <a:lumOff val="25000"/>
                      </a:schemeClr>
                    </a:solidFill>
                    <a:latin typeface="微软雅黑 Light" panose="020B0502040204020203" pitchFamily="34" charset="-122"/>
                    <a:ea typeface="微软雅黑 Light" panose="020B0502040204020203" pitchFamily="34" charset="-122"/>
                  </a:rPr>
                  <a:t>主要用于交易过程中识别客户银行卡被复制后的盗刷特征</a:t>
                </a:r>
                <a:endParaRPr lang="zh-CN" altLang="en-US" sz="2133" b="0" dirty="0">
                  <a:solidFill>
                    <a:schemeClr val="tx1">
                      <a:lumMod val="75000"/>
                      <a:lumOff val="25000"/>
                    </a:schemeClr>
                  </a:solidFill>
                  <a:latin typeface="微软雅黑 Light" panose="020B0502040204020203" pitchFamily="34" charset="-122"/>
                  <a:ea typeface="微软雅黑 Light" panose="020B0502040204020203" pitchFamily="34" charset="-122"/>
                </a:endParaRPr>
              </a:p>
            </p:txBody>
          </p:sp>
        </p:grpSp>
        <p:sp>
          <p:nvSpPr>
            <p:cNvPr id="23" name="Oval 33"/>
            <p:cNvSpPr>
              <a:spLocks noChangeAspect="1"/>
            </p:cNvSpPr>
            <p:nvPr/>
          </p:nvSpPr>
          <p:spPr>
            <a:xfrm>
              <a:off x="5064920" y="2864595"/>
              <a:ext cx="96920" cy="96920"/>
            </a:xfrm>
            <a:prstGeom prst="ellipse">
              <a:avLst/>
            </a:prstGeom>
            <a:solidFill>
              <a:schemeClr val="accent3">
                <a:lumMod val="10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sz="8533">
                <a:latin typeface="微软雅黑 Light" panose="020B0502040204020203" pitchFamily="34" charset="-122"/>
                <a:ea typeface="微软雅黑 Light" panose="020B0502040204020203" pitchFamily="34" charset="-122"/>
              </a:endParaRPr>
            </a:p>
          </p:txBody>
        </p:sp>
        <p:grpSp>
          <p:nvGrpSpPr>
            <p:cNvPr id="24" name="Group 91"/>
            <p:cNvGrpSpPr/>
            <p:nvPr/>
          </p:nvGrpSpPr>
          <p:grpSpPr>
            <a:xfrm>
              <a:off x="5202362" y="1596571"/>
              <a:ext cx="2376883" cy="654996"/>
              <a:chOff x="3908884" y="3865260"/>
              <a:chExt cx="3704097" cy="1201217"/>
            </a:xfrm>
          </p:grpSpPr>
          <p:sp>
            <p:nvSpPr>
              <p:cNvPr id="31" name="TextBox 92"/>
              <p:cNvSpPr txBox="1"/>
              <p:nvPr/>
            </p:nvSpPr>
            <p:spPr bwMode="auto">
              <a:xfrm>
                <a:off x="4410146" y="3865260"/>
                <a:ext cx="2475841" cy="270493"/>
              </a:xfrm>
              <a:prstGeom prst="rect">
                <a:avLst/>
              </a:prstGeom>
              <a:noFill/>
            </p:spPr>
            <p:txBody>
              <a:bodyPr wrap="none" lIns="768000" tIns="0" rIns="768000" bIns="0" anchor="ctr" anchorCtr="1">
                <a:normAutofit fontScale="85000" lnSpcReduction="20000"/>
              </a:bodyPr>
              <a:lstStyle/>
              <a:p>
                <a:pPr algn="l" latinLnBrk="0"/>
                <a:r>
                  <a:rPr lang="zh-CN" altLang="en-US" sz="3733" dirty="0">
                    <a:solidFill>
                      <a:schemeClr val="accent3">
                        <a:lumMod val="100000"/>
                      </a:schemeClr>
                    </a:solidFill>
                    <a:latin typeface="微软雅黑" panose="020B0503020204020204" charset="-122"/>
                    <a:ea typeface="微软雅黑" panose="020B0503020204020204" charset="-122"/>
                  </a:rPr>
                  <a:t>电信诈骗模型</a:t>
                </a:r>
              </a:p>
            </p:txBody>
          </p:sp>
          <p:sp>
            <p:nvSpPr>
              <p:cNvPr id="32" name="TextBox 93"/>
              <p:cNvSpPr txBox="1"/>
              <p:nvPr/>
            </p:nvSpPr>
            <p:spPr bwMode="auto">
              <a:xfrm>
                <a:off x="3908884" y="4272387"/>
                <a:ext cx="3704097" cy="794090"/>
              </a:xfrm>
              <a:prstGeom prst="rect">
                <a:avLst/>
              </a:prstGeom>
              <a:noFill/>
            </p:spPr>
            <p:txBody>
              <a:bodyPr wrap="square" lIns="768000" tIns="0" rIns="768000" bIns="0" anchor="t" anchorCtr="1">
                <a:normAutofit/>
              </a:bodyPr>
              <a:lstStyle/>
              <a:p>
                <a:pPr algn="l">
                  <a:lnSpc>
                    <a:spcPct val="120000"/>
                  </a:lnSpc>
                </a:pPr>
                <a:r>
                  <a:rPr lang="zh-CN" altLang="en-US" sz="2133" dirty="0">
                    <a:solidFill>
                      <a:schemeClr val="tx1">
                        <a:lumMod val="75000"/>
                        <a:lumOff val="25000"/>
                      </a:schemeClr>
                    </a:solidFill>
                    <a:latin typeface="微软雅黑 Light" panose="020B0502040204020203" pitchFamily="34" charset="-122"/>
                    <a:ea typeface="微软雅黑 Light" panose="020B0502040204020203" pitchFamily="34" charset="-122"/>
                  </a:rPr>
                  <a:t>侧重识别线上受骗而客户及诈骗份子的</a:t>
                </a:r>
                <a:r>
                  <a:rPr lang="zh-CN" altLang="zh-CN" sz="2133" dirty="0">
                    <a:solidFill>
                      <a:schemeClr val="tx1">
                        <a:lumMod val="75000"/>
                        <a:lumOff val="25000"/>
                      </a:schemeClr>
                    </a:solidFill>
                    <a:latin typeface="微软雅黑 Light" panose="020B0502040204020203" pitchFamily="34" charset="-122"/>
                    <a:ea typeface="微软雅黑 Light" panose="020B0502040204020203" pitchFamily="34" charset="-122"/>
                  </a:rPr>
                  <a:t>非接触式</a:t>
                </a:r>
                <a:r>
                  <a:rPr lang="zh-CN" altLang="en-US" sz="2133" dirty="0">
                    <a:solidFill>
                      <a:schemeClr val="tx1">
                        <a:lumMod val="75000"/>
                        <a:lumOff val="25000"/>
                      </a:schemeClr>
                    </a:solidFill>
                    <a:latin typeface="微软雅黑 Light" panose="020B0502040204020203" pitchFamily="34" charset="-122"/>
                    <a:ea typeface="微软雅黑 Light" panose="020B0502040204020203" pitchFamily="34" charset="-122"/>
                  </a:rPr>
                  <a:t>电信欺诈特征</a:t>
                </a:r>
                <a:endParaRPr lang="zh-CN" altLang="en-US" sz="2133" b="0" dirty="0">
                  <a:solidFill>
                    <a:schemeClr val="tx1">
                      <a:lumMod val="75000"/>
                      <a:lumOff val="25000"/>
                    </a:schemeClr>
                  </a:solidFill>
                  <a:latin typeface="微软雅黑 Light" panose="020B0502040204020203" pitchFamily="34" charset="-122"/>
                  <a:ea typeface="微软雅黑 Light" panose="020B0502040204020203" pitchFamily="34" charset="-122"/>
                </a:endParaRPr>
              </a:p>
            </p:txBody>
          </p:sp>
        </p:grpSp>
        <p:grpSp>
          <p:nvGrpSpPr>
            <p:cNvPr id="25" name="组合 113"/>
            <p:cNvGrpSpPr/>
            <p:nvPr/>
          </p:nvGrpSpPr>
          <p:grpSpPr>
            <a:xfrm>
              <a:off x="4807471" y="2105326"/>
              <a:ext cx="614841" cy="617866"/>
              <a:chOff x="4807471" y="2105326"/>
              <a:chExt cx="614841" cy="617866"/>
            </a:xfrm>
          </p:grpSpPr>
          <p:sp>
            <p:nvSpPr>
              <p:cNvPr id="29" name="Oval 53"/>
              <p:cNvSpPr/>
              <p:nvPr/>
            </p:nvSpPr>
            <p:spPr bwMode="auto">
              <a:xfrm>
                <a:off x="4807471" y="2105326"/>
                <a:ext cx="614841" cy="617866"/>
              </a:xfrm>
              <a:prstGeom prst="ellipse">
                <a:avLst/>
              </a:prstGeom>
              <a:solidFill>
                <a:schemeClr val="accent6"/>
              </a:solidFill>
              <a:ln>
                <a:noFill/>
              </a:ln>
            </p:spPr>
            <p:txBody>
              <a:bodyPr anchor="ctr"/>
              <a:lstStyle/>
              <a:p>
                <a:pPr algn="ctr"/>
                <a:endParaRPr sz="8533" dirty="0">
                  <a:latin typeface="微软雅黑 Light" panose="020B0502040204020203" pitchFamily="34" charset="-122"/>
                  <a:ea typeface="微软雅黑 Light" panose="020B0502040204020203" pitchFamily="34" charset="-122"/>
                </a:endParaRPr>
              </a:p>
            </p:txBody>
          </p:sp>
          <p:pic>
            <p:nvPicPr>
              <p:cNvPr id="30" name="图片 2"/>
              <p:cNvPicPr>
                <a:picLocks noChangeAspect="1"/>
              </p:cNvPicPr>
              <p:nvPr/>
            </p:nvPicPr>
            <p:blipFill>
              <a:blip r:embed="rId3"/>
              <a:stretch>
                <a:fillRect/>
              </a:stretch>
            </p:blipFill>
            <p:spPr>
              <a:xfrm>
                <a:off x="4885834" y="2198949"/>
                <a:ext cx="432000" cy="432000"/>
              </a:xfrm>
              <a:prstGeom prst="rect">
                <a:avLst/>
              </a:prstGeom>
            </p:spPr>
          </p:pic>
        </p:grpSp>
        <p:pic>
          <p:nvPicPr>
            <p:cNvPr id="26" name="图片 106"/>
            <p:cNvPicPr>
              <a:picLocks noChangeAspect="1"/>
            </p:cNvPicPr>
            <p:nvPr/>
          </p:nvPicPr>
          <p:blipFill>
            <a:blip r:embed="rId4"/>
            <a:stretch>
              <a:fillRect/>
            </a:stretch>
          </p:blipFill>
          <p:spPr>
            <a:xfrm>
              <a:off x="3807068" y="2205390"/>
              <a:ext cx="432000" cy="432000"/>
            </a:xfrm>
            <a:prstGeom prst="rect">
              <a:avLst/>
            </a:prstGeom>
          </p:spPr>
        </p:pic>
        <p:pic>
          <p:nvPicPr>
            <p:cNvPr id="27" name="图片 110"/>
            <p:cNvPicPr>
              <a:picLocks noChangeAspect="1"/>
            </p:cNvPicPr>
            <p:nvPr/>
          </p:nvPicPr>
          <p:blipFill>
            <a:blip r:embed="rId5"/>
            <a:stretch>
              <a:fillRect/>
            </a:stretch>
          </p:blipFill>
          <p:spPr>
            <a:xfrm>
              <a:off x="5929348" y="3934354"/>
              <a:ext cx="432000" cy="432000"/>
            </a:xfrm>
            <a:prstGeom prst="rect">
              <a:avLst/>
            </a:prstGeom>
          </p:spPr>
        </p:pic>
        <p:pic>
          <p:nvPicPr>
            <p:cNvPr id="28" name="图片 112"/>
            <p:cNvPicPr>
              <a:picLocks noChangeAspect="1"/>
            </p:cNvPicPr>
            <p:nvPr/>
          </p:nvPicPr>
          <p:blipFill>
            <a:blip r:embed="rId6"/>
            <a:stretch>
              <a:fillRect/>
            </a:stretch>
          </p:blipFill>
          <p:spPr>
            <a:xfrm>
              <a:off x="2809016" y="3896970"/>
              <a:ext cx="432000" cy="432000"/>
            </a:xfrm>
            <a:prstGeom prst="rect">
              <a:avLst/>
            </a:prstGeom>
          </p:spPr>
        </p:pic>
      </p:grpSp>
      <p:sp>
        <p:nvSpPr>
          <p:cNvPr id="82" name="矩形 89"/>
          <p:cNvSpPr/>
          <p:nvPr/>
        </p:nvSpPr>
        <p:spPr>
          <a:xfrm>
            <a:off x="1264584" y="2059106"/>
            <a:ext cx="278320" cy="858381"/>
          </a:xfrm>
          <a:prstGeom prst="rect">
            <a:avLst/>
          </a:prstGeom>
          <a:solidFill>
            <a:srgbClr val="0070C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sz="8533"/>
          </a:p>
        </p:txBody>
      </p:sp>
    </p:spTree>
    <p:extLst>
      <p:ext uri="{BB962C8B-B14F-4D97-AF65-F5344CB8AC3E}">
        <p14:creationId xmlns:p14="http://schemas.microsoft.com/office/powerpoint/2010/main" val="1280590375"/>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152399" y="1384300"/>
            <a:ext cx="24098141" cy="11191670"/>
          </a:xfrm>
          <a:prstGeom prst="rect">
            <a:avLst/>
          </a:prstGeom>
        </p:spPr>
      </p:pic>
    </p:spTree>
    <p:extLst>
      <p:ext uri="{BB962C8B-B14F-4D97-AF65-F5344CB8AC3E}">
        <p14:creationId xmlns:p14="http://schemas.microsoft.com/office/powerpoint/2010/main" val="4084609929"/>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4"/>
          <p:cNvPicPr>
            <a:picLocks noChangeAspect="1"/>
          </p:cNvPicPr>
          <p:nvPr/>
        </p:nvPicPr>
        <p:blipFill>
          <a:blip r:embed="rId3"/>
          <a:stretch>
            <a:fillRect/>
          </a:stretch>
        </p:blipFill>
        <p:spPr>
          <a:xfrm>
            <a:off x="802545" y="4589484"/>
            <a:ext cx="23040168" cy="7772730"/>
          </a:xfrm>
          <a:prstGeom prst="rect">
            <a:avLst/>
          </a:prstGeom>
        </p:spPr>
      </p:pic>
      <p:sp>
        <p:nvSpPr>
          <p:cNvPr id="8" name="文本框 28"/>
          <p:cNvSpPr txBox="1"/>
          <p:nvPr/>
        </p:nvSpPr>
        <p:spPr>
          <a:xfrm>
            <a:off x="1524965" y="2347681"/>
            <a:ext cx="3634328" cy="666786"/>
          </a:xfrm>
          <a:prstGeom prst="rect">
            <a:avLst/>
          </a:prstGeom>
          <a:noFill/>
        </p:spPr>
        <p:txBody>
          <a:bodyPr wrap="none" rtlCol="0">
            <a:spAutoFit/>
            <a:scene3d>
              <a:camera prst="orthographicFront"/>
              <a:lightRig rig="threePt" dir="t"/>
            </a:scene3d>
          </a:bodyPr>
          <a:lstStyle/>
          <a:p>
            <a:r>
              <a:rPr kumimoji="1" lang="en-US" altLang="zh-CN" sz="3733"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1.</a:t>
            </a:r>
            <a:r>
              <a:rPr kumimoji="1" lang="zh-CN" altLang="en-US" sz="3733"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 添加内容描述</a:t>
            </a:r>
          </a:p>
        </p:txBody>
      </p:sp>
      <p:sp>
        <p:nvSpPr>
          <p:cNvPr id="10" name="文本框 29"/>
          <p:cNvSpPr txBox="1"/>
          <p:nvPr/>
        </p:nvSpPr>
        <p:spPr>
          <a:xfrm>
            <a:off x="6752500" y="2347681"/>
            <a:ext cx="2675732" cy="666786"/>
          </a:xfrm>
          <a:prstGeom prst="rect">
            <a:avLst/>
          </a:prstGeom>
          <a:noFill/>
        </p:spPr>
        <p:txBody>
          <a:bodyPr wrap="none" rtlCol="0">
            <a:spAutoFit/>
            <a:scene3d>
              <a:camera prst="orthographicFront"/>
              <a:lightRig rig="threePt" dir="t"/>
            </a:scene3d>
          </a:bodyPr>
          <a:lstStyle/>
          <a:p>
            <a:pPr algn="l"/>
            <a:r>
              <a:rPr kumimoji="1" lang="en-US" altLang="zh-CN" sz="3733"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2.</a:t>
            </a:r>
            <a:r>
              <a:rPr kumimoji="1" lang="zh-CN" altLang="en-US" sz="3733"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 </a:t>
            </a:r>
            <a:r>
              <a:rPr kumimoji="1" lang="zh-CN" altLang="en-US" sz="3733"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sym typeface="+mn-ea"/>
              </a:rPr>
              <a:t>数据加密</a:t>
            </a:r>
            <a:endParaRPr kumimoji="1" lang="zh-CN" altLang="en-US" sz="3733"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endParaRPr>
          </a:p>
        </p:txBody>
      </p:sp>
      <p:sp>
        <p:nvSpPr>
          <p:cNvPr id="11" name="文本框 30"/>
          <p:cNvSpPr txBox="1"/>
          <p:nvPr/>
        </p:nvSpPr>
        <p:spPr>
          <a:xfrm>
            <a:off x="11165327" y="2347681"/>
            <a:ext cx="2675732" cy="666786"/>
          </a:xfrm>
          <a:prstGeom prst="rect">
            <a:avLst/>
          </a:prstGeom>
          <a:noFill/>
        </p:spPr>
        <p:txBody>
          <a:bodyPr wrap="none" rtlCol="0">
            <a:spAutoFit/>
            <a:scene3d>
              <a:camera prst="orthographicFront"/>
              <a:lightRig rig="threePt" dir="t"/>
            </a:scene3d>
          </a:bodyPr>
          <a:lstStyle/>
          <a:p>
            <a:pPr algn="l"/>
            <a:r>
              <a:rPr kumimoji="1" lang="en-US" altLang="zh-CN" sz="3733"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3.</a:t>
            </a:r>
            <a:r>
              <a:rPr kumimoji="1" lang="zh-CN" altLang="en-US" sz="3733"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 </a:t>
            </a:r>
            <a:r>
              <a:rPr kumimoji="1" lang="zh-CN" altLang="en-US" sz="3733"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sym typeface="+mn-ea"/>
              </a:rPr>
              <a:t>数据上传</a:t>
            </a:r>
            <a:endParaRPr kumimoji="1" lang="zh-CN" altLang="zh-CN" sz="3733"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endParaRPr>
          </a:p>
        </p:txBody>
      </p:sp>
      <p:sp>
        <p:nvSpPr>
          <p:cNvPr id="12" name="文本框 31"/>
          <p:cNvSpPr txBox="1"/>
          <p:nvPr/>
        </p:nvSpPr>
        <p:spPr>
          <a:xfrm>
            <a:off x="15715353" y="2347681"/>
            <a:ext cx="3012363" cy="666786"/>
          </a:xfrm>
          <a:prstGeom prst="rect">
            <a:avLst/>
          </a:prstGeom>
          <a:noFill/>
        </p:spPr>
        <p:txBody>
          <a:bodyPr wrap="none" rtlCol="0">
            <a:spAutoFit/>
            <a:scene3d>
              <a:camera prst="orthographicFront"/>
              <a:lightRig rig="threePt" dir="t"/>
            </a:scene3d>
          </a:bodyPr>
          <a:lstStyle/>
          <a:p>
            <a:r>
              <a:rPr kumimoji="1" lang="en-US" altLang="zh-CN" sz="3733"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4.</a:t>
            </a:r>
            <a:r>
              <a:rPr kumimoji="1" lang="zh-CN" altLang="en-US" sz="3733"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元数据上链</a:t>
            </a:r>
          </a:p>
        </p:txBody>
      </p:sp>
    </p:spTree>
    <p:extLst>
      <p:ext uri="{BB962C8B-B14F-4D97-AF65-F5344CB8AC3E}">
        <p14:creationId xmlns:p14="http://schemas.microsoft.com/office/powerpoint/2010/main" val="115112218"/>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nvSpPr>
        <p:spPr>
          <a:xfrm>
            <a:off x="4367648" y="2713507"/>
            <a:ext cx="2675732" cy="666786"/>
          </a:xfrm>
          <a:prstGeom prst="rect">
            <a:avLst/>
          </a:prstGeom>
          <a:noFill/>
        </p:spPr>
        <p:txBody>
          <a:bodyPr wrap="none" rtlCol="0">
            <a:spAutoFit/>
            <a:scene3d>
              <a:camera prst="orthographicFront"/>
              <a:lightRig rig="threePt" dir="t"/>
            </a:scene3d>
          </a:bodyPr>
          <a:lstStyle/>
          <a:p>
            <a:r>
              <a:rPr kumimoji="1" lang="en-US" altLang="zh-CN" sz="3733"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1.</a:t>
            </a:r>
            <a:r>
              <a:rPr kumimoji="1" lang="zh-CN" altLang="en-US" sz="3733"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 数据解密</a:t>
            </a:r>
          </a:p>
        </p:txBody>
      </p:sp>
      <p:sp>
        <p:nvSpPr>
          <p:cNvPr id="19" name="文本框 18"/>
          <p:cNvSpPr txBox="1"/>
          <p:nvPr/>
        </p:nvSpPr>
        <p:spPr>
          <a:xfrm>
            <a:off x="9036168" y="2713507"/>
            <a:ext cx="2675732" cy="666786"/>
          </a:xfrm>
          <a:prstGeom prst="rect">
            <a:avLst/>
          </a:prstGeom>
          <a:noFill/>
        </p:spPr>
        <p:txBody>
          <a:bodyPr wrap="none" rtlCol="0">
            <a:spAutoFit/>
            <a:scene3d>
              <a:camera prst="orthographicFront"/>
              <a:lightRig rig="threePt" dir="t"/>
            </a:scene3d>
          </a:bodyPr>
          <a:lstStyle/>
          <a:p>
            <a:r>
              <a:rPr kumimoji="1" lang="en-US" altLang="zh-CN" sz="3733"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2.</a:t>
            </a:r>
            <a:r>
              <a:rPr kumimoji="1" lang="zh-CN" altLang="en-US" sz="3733"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 获取模型</a:t>
            </a:r>
          </a:p>
        </p:txBody>
      </p:sp>
      <p:sp>
        <p:nvSpPr>
          <p:cNvPr id="20" name="文本框 19"/>
          <p:cNvSpPr txBox="1"/>
          <p:nvPr/>
        </p:nvSpPr>
        <p:spPr>
          <a:xfrm>
            <a:off x="13702995" y="2713507"/>
            <a:ext cx="2675732" cy="666786"/>
          </a:xfrm>
          <a:prstGeom prst="rect">
            <a:avLst/>
          </a:prstGeom>
          <a:noFill/>
        </p:spPr>
        <p:txBody>
          <a:bodyPr wrap="none" rtlCol="0">
            <a:spAutoFit/>
            <a:scene3d>
              <a:camera prst="orthographicFront"/>
              <a:lightRig rig="threePt" dir="t"/>
            </a:scene3d>
          </a:bodyPr>
          <a:lstStyle/>
          <a:p>
            <a:r>
              <a:rPr kumimoji="1" lang="en-US" altLang="zh-CN" sz="3733"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3.</a:t>
            </a:r>
            <a:r>
              <a:rPr kumimoji="1" lang="zh-CN" altLang="en-US" sz="3733"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 融合计算</a:t>
            </a:r>
          </a:p>
        </p:txBody>
      </p:sp>
      <p:sp>
        <p:nvSpPr>
          <p:cNvPr id="24" name="文本框 23"/>
          <p:cNvSpPr txBox="1"/>
          <p:nvPr/>
        </p:nvSpPr>
        <p:spPr>
          <a:xfrm>
            <a:off x="18369822" y="2713507"/>
            <a:ext cx="2675732" cy="666786"/>
          </a:xfrm>
          <a:prstGeom prst="rect">
            <a:avLst/>
          </a:prstGeom>
          <a:noFill/>
        </p:spPr>
        <p:txBody>
          <a:bodyPr wrap="none" rtlCol="0">
            <a:spAutoFit/>
            <a:scene3d>
              <a:camera prst="orthographicFront"/>
              <a:lightRig rig="threePt" dir="t"/>
            </a:scene3d>
          </a:bodyPr>
          <a:lstStyle/>
          <a:p>
            <a:r>
              <a:rPr kumimoji="1" lang="en-US" altLang="zh-CN" sz="3733"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4.</a:t>
            </a:r>
            <a:r>
              <a:rPr kumimoji="1" lang="zh-CN" altLang="en-US" sz="3733"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 输出结果</a:t>
            </a:r>
          </a:p>
        </p:txBody>
      </p:sp>
      <p:pic>
        <p:nvPicPr>
          <p:cNvPr id="9" name="图片 8"/>
          <p:cNvPicPr>
            <a:picLocks noChangeAspect="1"/>
          </p:cNvPicPr>
          <p:nvPr/>
        </p:nvPicPr>
        <p:blipFill>
          <a:blip r:embed="rId3"/>
          <a:stretch>
            <a:fillRect/>
          </a:stretch>
        </p:blipFill>
        <p:spPr>
          <a:xfrm>
            <a:off x="671916" y="4047068"/>
            <a:ext cx="23040168" cy="7907016"/>
          </a:xfrm>
          <a:prstGeom prst="rect">
            <a:avLst/>
          </a:prstGeom>
        </p:spPr>
      </p:pic>
    </p:spTree>
    <p:extLst>
      <p:ext uri="{BB962C8B-B14F-4D97-AF65-F5344CB8AC3E}">
        <p14:creationId xmlns:p14="http://schemas.microsoft.com/office/powerpoint/2010/main" val="902876408"/>
      </p:ext>
    </p:extLst>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9227851" y="2443550"/>
            <a:ext cx="1757211" cy="3046988"/>
          </a:xfrm>
          <a:prstGeom prst="rect">
            <a:avLst/>
          </a:prstGeom>
          <a:noFill/>
        </p:spPr>
        <p:txBody>
          <a:bodyPr wrap="none" rtlCol="0">
            <a:spAutoFit/>
          </a:bodyPr>
          <a:lstStyle/>
          <a:p>
            <a:r>
              <a:rPr lang="en-US" altLang="zh-CN" sz="19200" dirty="0">
                <a:solidFill>
                  <a:srgbClr val="577188"/>
                </a:solidFill>
                <a:latin typeface="Malgun Gothic" panose="020B0503020000020004" charset="-127"/>
                <a:ea typeface="Malgun Gothic" panose="020B0503020000020004" charset="-127"/>
              </a:rPr>
              <a:t>C</a:t>
            </a:r>
            <a:endParaRPr lang="zh-CN" altLang="en-US" sz="19200" dirty="0">
              <a:solidFill>
                <a:srgbClr val="577188"/>
              </a:solidFill>
              <a:latin typeface="Malgun Gothic" panose="020B0503020000020004" charset="-127"/>
            </a:endParaRPr>
          </a:p>
        </p:txBody>
      </p:sp>
      <p:sp>
        <p:nvSpPr>
          <p:cNvPr id="15" name="文本框 14"/>
          <p:cNvSpPr txBox="1"/>
          <p:nvPr/>
        </p:nvSpPr>
        <p:spPr>
          <a:xfrm>
            <a:off x="10704566" y="3922656"/>
            <a:ext cx="3156633" cy="1077218"/>
          </a:xfrm>
          <a:prstGeom prst="rect">
            <a:avLst/>
          </a:prstGeom>
          <a:noFill/>
        </p:spPr>
        <p:txBody>
          <a:bodyPr wrap="none" rtlCol="0">
            <a:spAutoFit/>
          </a:bodyPr>
          <a:lstStyle/>
          <a:p>
            <a:r>
              <a:rPr lang="en-US" altLang="zh-CN" sz="6400" dirty="0">
                <a:solidFill>
                  <a:srgbClr val="577188"/>
                </a:solidFill>
                <a:latin typeface="Malgun Gothic" panose="020B0503020000020004" charset="-127"/>
                <a:ea typeface="Malgun Gothic" panose="020B0503020000020004" charset="-127"/>
              </a:rPr>
              <a:t>ontents</a:t>
            </a:r>
            <a:endParaRPr lang="zh-CN" altLang="en-US" sz="6400" dirty="0">
              <a:solidFill>
                <a:srgbClr val="577188"/>
              </a:solidFill>
              <a:latin typeface="Malgun Gothic" panose="020B0503020000020004" charset="-127"/>
            </a:endParaRPr>
          </a:p>
        </p:txBody>
      </p:sp>
      <p:sp>
        <p:nvSpPr>
          <p:cNvPr id="16" name="文本框 15"/>
          <p:cNvSpPr txBox="1"/>
          <p:nvPr/>
        </p:nvSpPr>
        <p:spPr>
          <a:xfrm>
            <a:off x="11004816" y="2815796"/>
            <a:ext cx="2374368" cy="1405449"/>
          </a:xfrm>
          <a:prstGeom prst="rect">
            <a:avLst/>
          </a:prstGeom>
          <a:noFill/>
        </p:spPr>
        <p:txBody>
          <a:bodyPr wrap="none" rtlCol="0">
            <a:spAutoFit/>
          </a:bodyPr>
          <a:lstStyle/>
          <a:p>
            <a:r>
              <a:rPr lang="zh-CN" altLang="en-US" sz="8533">
                <a:solidFill>
                  <a:srgbClr val="577188"/>
                </a:solidFill>
                <a:latin typeface="站酷高端黑" panose="02010600030101010101" pitchFamily="2" charset="-122"/>
                <a:ea typeface="站酷高端黑" panose="02010600030101010101" pitchFamily="2" charset="-122"/>
              </a:rPr>
              <a:t>目录</a:t>
            </a:r>
          </a:p>
        </p:txBody>
      </p:sp>
      <p:sp>
        <p:nvSpPr>
          <p:cNvPr id="24" name="TextBox 6"/>
          <p:cNvSpPr txBox="1">
            <a:spLocks noChangeArrowheads="1"/>
          </p:cNvSpPr>
          <p:nvPr/>
        </p:nvSpPr>
        <p:spPr bwMode="auto">
          <a:xfrm>
            <a:off x="10320968" y="5917448"/>
            <a:ext cx="8090747" cy="1066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43840" tIns="121920" rIns="243840" bIns="121920" numCol="1" anchor="t" anchorCtr="0" compatLnSpc="1">
            <a:spAutoFit/>
          </a:bodyPr>
          <a:lstStyle/>
          <a:p>
            <a:pPr algn="l" defTabSz="2438430" fontAlgn="base">
              <a:spcBef>
                <a:spcPct val="0"/>
              </a:spcBef>
              <a:spcAft>
                <a:spcPct val="0"/>
              </a:spcAft>
            </a:pPr>
            <a:r>
              <a:rPr lang="en-US" altLang="zh-CN" sz="5333">
                <a:solidFill>
                  <a:schemeClr val="tx1">
                    <a:lumMod val="75000"/>
                    <a:lumOff val="25000"/>
                  </a:schemeClr>
                </a:solidFill>
                <a:latin typeface="微软雅黑" panose="020B0503020204020204" charset="-122"/>
                <a:ea typeface="微软雅黑" panose="020B0503020204020204" charset="-122"/>
                <a:cs typeface="+mn-ea"/>
                <a:sym typeface="+mn-ea"/>
              </a:rPr>
              <a:t> </a:t>
            </a:r>
            <a:r>
              <a:rPr lang="zh-CN" altLang="en-US" sz="5333">
                <a:solidFill>
                  <a:schemeClr val="tx1">
                    <a:lumMod val="75000"/>
                    <a:lumOff val="25000"/>
                  </a:schemeClr>
                </a:solidFill>
                <a:latin typeface="微软雅黑" panose="020B0503020204020204" charset="-122"/>
                <a:ea typeface="微软雅黑" panose="020B0503020204020204" charset="-122"/>
                <a:cs typeface="+mn-ea"/>
                <a:sym typeface="+mn-ea"/>
              </a:rPr>
              <a:t>区块链技术组成与特点</a:t>
            </a:r>
            <a:endParaRPr lang="zh-CN" altLang="en-US" sz="5333" dirty="0">
              <a:solidFill>
                <a:schemeClr val="tx1">
                  <a:lumMod val="75000"/>
                  <a:lumOff val="25000"/>
                </a:schemeClr>
              </a:solidFill>
              <a:latin typeface="微软雅黑" panose="020B0503020204020204" charset="-122"/>
              <a:ea typeface="微软雅黑" panose="020B0503020204020204" charset="-122"/>
              <a:cs typeface="+mn-ea"/>
              <a:sym typeface="+mn-ea"/>
            </a:endParaRPr>
          </a:p>
        </p:txBody>
      </p:sp>
      <p:grpSp>
        <p:nvGrpSpPr>
          <p:cNvPr id="3" name="组合 2"/>
          <p:cNvGrpSpPr/>
          <p:nvPr/>
        </p:nvGrpSpPr>
        <p:grpSpPr>
          <a:xfrm>
            <a:off x="9086773" y="5947494"/>
            <a:ext cx="1511981" cy="1069491"/>
            <a:chOff x="1489166" y="2322031"/>
            <a:chExt cx="566993" cy="401059"/>
          </a:xfrm>
        </p:grpSpPr>
        <p:sp>
          <p:nvSpPr>
            <p:cNvPr id="8" name="任意多边形 7"/>
            <p:cNvSpPr>
              <a:spLocks noChangeAspect="1"/>
            </p:cNvSpPr>
            <p:nvPr/>
          </p:nvSpPr>
          <p:spPr>
            <a:xfrm>
              <a:off x="1563012" y="2322031"/>
              <a:ext cx="432000" cy="388503"/>
            </a:xfrm>
            <a:custGeom>
              <a:avLst/>
              <a:gdLst>
                <a:gd name="connsiteX0" fmla="*/ 531453 w 2150426"/>
                <a:gd name="connsiteY0" fmla="*/ 1894557 h 1933898"/>
                <a:gd name="connsiteX1" fmla="*/ 523901 w 2150426"/>
                <a:gd name="connsiteY1" fmla="*/ 1888327 h 1933898"/>
                <a:gd name="connsiteX2" fmla="*/ 505804 w 2150426"/>
                <a:gd name="connsiteY2" fmla="*/ 1878396 h 1933898"/>
                <a:gd name="connsiteX3" fmla="*/ 445296 w 2150426"/>
                <a:gd name="connsiteY3" fmla="*/ 1809798 h 1933898"/>
                <a:gd name="connsiteX4" fmla="*/ 30326 w 2150426"/>
                <a:gd name="connsiteY4" fmla="*/ 1091048 h 1933898"/>
                <a:gd name="connsiteX5" fmla="*/ 1172 w 2150426"/>
                <a:gd name="connsiteY5" fmla="*/ 1004348 h 1933898"/>
                <a:gd name="connsiteX6" fmla="*/ 444 w 2150426"/>
                <a:gd name="connsiteY6" fmla="*/ 976700 h 1933898"/>
                <a:gd name="connsiteX7" fmla="*/ 0 w 2150426"/>
                <a:gd name="connsiteY7" fmla="*/ 974054 h 1933898"/>
                <a:gd name="connsiteX8" fmla="*/ 187 w 2150426"/>
                <a:gd name="connsiteY8" fmla="*/ 966943 h 1933898"/>
                <a:gd name="connsiteX9" fmla="*/ 0 w 2150426"/>
                <a:gd name="connsiteY9" fmla="*/ 959843 h 1933898"/>
                <a:gd name="connsiteX10" fmla="*/ 444 w 2150426"/>
                <a:gd name="connsiteY10" fmla="*/ 957201 h 1933898"/>
                <a:gd name="connsiteX11" fmla="*/ 1172 w 2150426"/>
                <a:gd name="connsiteY11" fmla="*/ 929549 h 1933898"/>
                <a:gd name="connsiteX12" fmla="*/ 30326 w 2150426"/>
                <a:gd name="connsiteY12" fmla="*/ 842849 h 1933898"/>
                <a:gd name="connsiteX13" fmla="*/ 445296 w 2150426"/>
                <a:gd name="connsiteY13" fmla="*/ 124100 h 1933898"/>
                <a:gd name="connsiteX14" fmla="*/ 505804 w 2150426"/>
                <a:gd name="connsiteY14" fmla="*/ 55501 h 1933898"/>
                <a:gd name="connsiteX15" fmla="*/ 529387 w 2150426"/>
                <a:gd name="connsiteY15" fmla="*/ 41045 h 1933898"/>
                <a:gd name="connsiteX16" fmla="*/ 531453 w 2150426"/>
                <a:gd name="connsiteY16" fmla="*/ 39340 h 1933898"/>
                <a:gd name="connsiteX17" fmla="*/ 537695 w 2150426"/>
                <a:gd name="connsiteY17" fmla="*/ 35952 h 1933898"/>
                <a:gd name="connsiteX18" fmla="*/ 543760 w 2150426"/>
                <a:gd name="connsiteY18" fmla="*/ 32234 h 1933898"/>
                <a:gd name="connsiteX19" fmla="*/ 546274 w 2150426"/>
                <a:gd name="connsiteY19" fmla="*/ 31296 h 1933898"/>
                <a:gd name="connsiteX20" fmla="*/ 570581 w 2150426"/>
                <a:gd name="connsiteY20" fmla="*/ 18102 h 1933898"/>
                <a:gd name="connsiteX21" fmla="*/ 660243 w 2150426"/>
                <a:gd name="connsiteY21" fmla="*/ 0 h 1933898"/>
                <a:gd name="connsiteX22" fmla="*/ 1490183 w 2150426"/>
                <a:gd name="connsiteY22" fmla="*/ 0 h 1933898"/>
                <a:gd name="connsiteX23" fmla="*/ 1579845 w 2150426"/>
                <a:gd name="connsiteY23" fmla="*/ 18102 h 1933898"/>
                <a:gd name="connsiteX24" fmla="*/ 1604154 w 2150426"/>
                <a:gd name="connsiteY24" fmla="*/ 31297 h 1933898"/>
                <a:gd name="connsiteX25" fmla="*/ 1606666 w 2150426"/>
                <a:gd name="connsiteY25" fmla="*/ 32234 h 1933898"/>
                <a:gd name="connsiteX26" fmla="*/ 1612726 w 2150426"/>
                <a:gd name="connsiteY26" fmla="*/ 35949 h 1933898"/>
                <a:gd name="connsiteX27" fmla="*/ 1618973 w 2150426"/>
                <a:gd name="connsiteY27" fmla="*/ 39340 h 1933898"/>
                <a:gd name="connsiteX28" fmla="*/ 1621041 w 2150426"/>
                <a:gd name="connsiteY28" fmla="*/ 41046 h 1933898"/>
                <a:gd name="connsiteX29" fmla="*/ 1644623 w 2150426"/>
                <a:gd name="connsiteY29" fmla="*/ 55501 h 1933898"/>
                <a:gd name="connsiteX30" fmla="*/ 1705130 w 2150426"/>
                <a:gd name="connsiteY30" fmla="*/ 124100 h 1933898"/>
                <a:gd name="connsiteX31" fmla="*/ 2120100 w 2150426"/>
                <a:gd name="connsiteY31" fmla="*/ 842849 h 1933898"/>
                <a:gd name="connsiteX32" fmla="*/ 2149255 w 2150426"/>
                <a:gd name="connsiteY32" fmla="*/ 929550 h 1933898"/>
                <a:gd name="connsiteX33" fmla="*/ 2149982 w 2150426"/>
                <a:gd name="connsiteY33" fmla="*/ 957198 h 1933898"/>
                <a:gd name="connsiteX34" fmla="*/ 2150426 w 2150426"/>
                <a:gd name="connsiteY34" fmla="*/ 959843 h 1933898"/>
                <a:gd name="connsiteX35" fmla="*/ 2150239 w 2150426"/>
                <a:gd name="connsiteY35" fmla="*/ 966953 h 1933898"/>
                <a:gd name="connsiteX36" fmla="*/ 2150426 w 2150426"/>
                <a:gd name="connsiteY36" fmla="*/ 974055 h 1933898"/>
                <a:gd name="connsiteX37" fmla="*/ 2149983 w 2150426"/>
                <a:gd name="connsiteY37" fmla="*/ 976697 h 1933898"/>
                <a:gd name="connsiteX38" fmla="*/ 2149255 w 2150426"/>
                <a:gd name="connsiteY38" fmla="*/ 1004348 h 1933898"/>
                <a:gd name="connsiteX39" fmla="*/ 2120101 w 2150426"/>
                <a:gd name="connsiteY39" fmla="*/ 1091049 h 1933898"/>
                <a:gd name="connsiteX40" fmla="*/ 1705131 w 2150426"/>
                <a:gd name="connsiteY40" fmla="*/ 1809798 h 1933898"/>
                <a:gd name="connsiteX41" fmla="*/ 1644623 w 2150426"/>
                <a:gd name="connsiteY41" fmla="*/ 1878396 h 1933898"/>
                <a:gd name="connsiteX42" fmla="*/ 1621040 w 2150426"/>
                <a:gd name="connsiteY42" fmla="*/ 1892852 h 1933898"/>
                <a:gd name="connsiteX43" fmla="*/ 1618973 w 2150426"/>
                <a:gd name="connsiteY43" fmla="*/ 1894557 h 1933898"/>
                <a:gd name="connsiteX44" fmla="*/ 1612730 w 2150426"/>
                <a:gd name="connsiteY44" fmla="*/ 1897947 h 1933898"/>
                <a:gd name="connsiteX45" fmla="*/ 1606666 w 2150426"/>
                <a:gd name="connsiteY45" fmla="*/ 1901663 h 1933898"/>
                <a:gd name="connsiteX46" fmla="*/ 1604153 w 2150426"/>
                <a:gd name="connsiteY46" fmla="*/ 1902602 h 1933898"/>
                <a:gd name="connsiteX47" fmla="*/ 1579845 w 2150426"/>
                <a:gd name="connsiteY47" fmla="*/ 1915796 h 1933898"/>
                <a:gd name="connsiteX48" fmla="*/ 1490183 w 2150426"/>
                <a:gd name="connsiteY48" fmla="*/ 1933897 h 1933898"/>
                <a:gd name="connsiteX49" fmla="*/ 660243 w 2150426"/>
                <a:gd name="connsiteY49" fmla="*/ 1933898 h 1933898"/>
                <a:gd name="connsiteX50" fmla="*/ 531453 w 2150426"/>
                <a:gd name="connsiteY50" fmla="*/ 1894557 h 1933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2150426" h="1933898">
                  <a:moveTo>
                    <a:pt x="531453" y="1894557"/>
                  </a:moveTo>
                  <a:lnTo>
                    <a:pt x="523901" y="1888327"/>
                  </a:lnTo>
                  <a:lnTo>
                    <a:pt x="505804" y="1878396"/>
                  </a:lnTo>
                  <a:cubicBezTo>
                    <a:pt x="481930" y="1860358"/>
                    <a:pt x="461198" y="1837341"/>
                    <a:pt x="445296" y="1809798"/>
                  </a:cubicBezTo>
                  <a:lnTo>
                    <a:pt x="30326" y="1091048"/>
                  </a:lnTo>
                  <a:cubicBezTo>
                    <a:pt x="14424" y="1063505"/>
                    <a:pt x="4856" y="1034042"/>
                    <a:pt x="1172" y="1004348"/>
                  </a:cubicBezTo>
                  <a:lnTo>
                    <a:pt x="444" y="976700"/>
                  </a:lnTo>
                  <a:lnTo>
                    <a:pt x="0" y="974054"/>
                  </a:lnTo>
                  <a:lnTo>
                    <a:pt x="187" y="966943"/>
                  </a:lnTo>
                  <a:lnTo>
                    <a:pt x="0" y="959843"/>
                  </a:lnTo>
                  <a:lnTo>
                    <a:pt x="444" y="957201"/>
                  </a:lnTo>
                  <a:lnTo>
                    <a:pt x="1172" y="929549"/>
                  </a:lnTo>
                  <a:cubicBezTo>
                    <a:pt x="4856" y="899855"/>
                    <a:pt x="14423" y="870392"/>
                    <a:pt x="30326" y="842849"/>
                  </a:cubicBezTo>
                  <a:lnTo>
                    <a:pt x="445296" y="124100"/>
                  </a:lnTo>
                  <a:cubicBezTo>
                    <a:pt x="461198" y="96556"/>
                    <a:pt x="481929" y="73539"/>
                    <a:pt x="505804" y="55501"/>
                  </a:cubicBezTo>
                  <a:lnTo>
                    <a:pt x="529387" y="41045"/>
                  </a:lnTo>
                  <a:lnTo>
                    <a:pt x="531453" y="39340"/>
                  </a:lnTo>
                  <a:lnTo>
                    <a:pt x="537695" y="35952"/>
                  </a:lnTo>
                  <a:lnTo>
                    <a:pt x="543760" y="32234"/>
                  </a:lnTo>
                  <a:lnTo>
                    <a:pt x="546274" y="31296"/>
                  </a:lnTo>
                  <a:lnTo>
                    <a:pt x="570581" y="18102"/>
                  </a:lnTo>
                  <a:cubicBezTo>
                    <a:pt x="598139" y="6446"/>
                    <a:pt x="628439" y="0"/>
                    <a:pt x="660243" y="0"/>
                  </a:cubicBezTo>
                  <a:lnTo>
                    <a:pt x="1490183" y="0"/>
                  </a:lnTo>
                  <a:cubicBezTo>
                    <a:pt x="1521987" y="0"/>
                    <a:pt x="1552286" y="6446"/>
                    <a:pt x="1579845" y="18102"/>
                  </a:cubicBezTo>
                  <a:lnTo>
                    <a:pt x="1604154" y="31297"/>
                  </a:lnTo>
                  <a:lnTo>
                    <a:pt x="1606666" y="32234"/>
                  </a:lnTo>
                  <a:lnTo>
                    <a:pt x="1612726" y="35949"/>
                  </a:lnTo>
                  <a:lnTo>
                    <a:pt x="1618973" y="39340"/>
                  </a:lnTo>
                  <a:lnTo>
                    <a:pt x="1621041" y="41046"/>
                  </a:lnTo>
                  <a:lnTo>
                    <a:pt x="1644623" y="55501"/>
                  </a:lnTo>
                  <a:cubicBezTo>
                    <a:pt x="1668496" y="73539"/>
                    <a:pt x="1689228" y="96557"/>
                    <a:pt x="1705130" y="124100"/>
                  </a:cubicBezTo>
                  <a:lnTo>
                    <a:pt x="2120100" y="842849"/>
                  </a:lnTo>
                  <a:cubicBezTo>
                    <a:pt x="2136003" y="870393"/>
                    <a:pt x="2145570" y="899855"/>
                    <a:pt x="2149255" y="929550"/>
                  </a:cubicBezTo>
                  <a:lnTo>
                    <a:pt x="2149982" y="957198"/>
                  </a:lnTo>
                  <a:lnTo>
                    <a:pt x="2150426" y="959843"/>
                  </a:lnTo>
                  <a:lnTo>
                    <a:pt x="2150239" y="966953"/>
                  </a:lnTo>
                  <a:lnTo>
                    <a:pt x="2150426" y="974055"/>
                  </a:lnTo>
                  <a:lnTo>
                    <a:pt x="2149983" y="976697"/>
                  </a:lnTo>
                  <a:lnTo>
                    <a:pt x="2149255" y="1004348"/>
                  </a:lnTo>
                  <a:cubicBezTo>
                    <a:pt x="2145570" y="1034043"/>
                    <a:pt x="2136003" y="1063505"/>
                    <a:pt x="2120101" y="1091049"/>
                  </a:cubicBezTo>
                  <a:lnTo>
                    <a:pt x="1705131" y="1809798"/>
                  </a:lnTo>
                  <a:cubicBezTo>
                    <a:pt x="1689228" y="1837341"/>
                    <a:pt x="1668497" y="1860358"/>
                    <a:pt x="1644623" y="1878396"/>
                  </a:cubicBezTo>
                  <a:lnTo>
                    <a:pt x="1621040" y="1892852"/>
                  </a:lnTo>
                  <a:lnTo>
                    <a:pt x="1618973" y="1894557"/>
                  </a:lnTo>
                  <a:lnTo>
                    <a:pt x="1612730" y="1897947"/>
                  </a:lnTo>
                  <a:lnTo>
                    <a:pt x="1606666" y="1901663"/>
                  </a:lnTo>
                  <a:lnTo>
                    <a:pt x="1604153" y="1902602"/>
                  </a:lnTo>
                  <a:lnTo>
                    <a:pt x="1579845" y="1915796"/>
                  </a:lnTo>
                  <a:cubicBezTo>
                    <a:pt x="1552287" y="1927452"/>
                    <a:pt x="1521988" y="1933897"/>
                    <a:pt x="1490183" y="1933897"/>
                  </a:cubicBezTo>
                  <a:lnTo>
                    <a:pt x="660243" y="1933898"/>
                  </a:lnTo>
                  <a:cubicBezTo>
                    <a:pt x="612537" y="1933898"/>
                    <a:pt x="568217" y="1919395"/>
                    <a:pt x="531453" y="1894557"/>
                  </a:cubicBezTo>
                  <a:close/>
                </a:path>
              </a:pathLst>
            </a:custGeom>
            <a:noFill/>
            <a:ln w="25400">
              <a:solidFill>
                <a:srgbClr val="5771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533"/>
            </a:p>
          </p:txBody>
        </p:sp>
        <p:sp>
          <p:nvSpPr>
            <p:cNvPr id="25" name="TextBox 6"/>
            <p:cNvSpPr txBox="1">
              <a:spLocks noChangeArrowheads="1"/>
            </p:cNvSpPr>
            <p:nvPr/>
          </p:nvSpPr>
          <p:spPr bwMode="auto">
            <a:xfrm>
              <a:off x="1489166" y="2323004"/>
              <a:ext cx="566993" cy="400086"/>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vert="horz" wrap="square" lIns="243840" tIns="121920" rIns="243840" bIns="121920" numCol="1" anchor="t" anchorCtr="0" compatLnSpc="1">
              <a:spAutoFit/>
            </a:bodyPr>
            <a:lstStyle/>
            <a:p>
              <a:pPr defTabSz="2438430" fontAlgn="base" hangingPunct="1">
                <a:spcBef>
                  <a:spcPct val="0"/>
                </a:spcBef>
                <a:spcAft>
                  <a:spcPct val="0"/>
                </a:spcAft>
              </a:pPr>
              <a:r>
                <a:rPr lang="en-US" altLang="zh-CN" sz="5333" dirty="0">
                  <a:solidFill>
                    <a:schemeClr val="tx1">
                      <a:lumMod val="50000"/>
                      <a:lumOff val="50000"/>
                    </a:schemeClr>
                  </a:solidFill>
                  <a:latin typeface="Impact" panose="020B0806030902050204" pitchFamily="34" charset="0"/>
                  <a:ea typeface="微软雅黑" panose="020B0503020204020204" charset="-122"/>
                  <a:cs typeface="Times New Roman" panose="02020603050405020304" pitchFamily="18" charset="0"/>
                </a:rPr>
                <a:t>01</a:t>
              </a:r>
              <a:endParaRPr lang="zh-CN" altLang="en-US" sz="4800" dirty="0">
                <a:solidFill>
                  <a:schemeClr val="tx1">
                    <a:lumMod val="50000"/>
                    <a:lumOff val="50000"/>
                  </a:schemeClr>
                </a:solidFill>
                <a:latin typeface="Impact" panose="020B0806030902050204" pitchFamily="34" charset="0"/>
                <a:ea typeface="宋体" panose="02010600030101010101" pitchFamily="2" charset="-122"/>
                <a:cs typeface="Times New Roman" panose="02020603050405020304" pitchFamily="18" charset="0"/>
              </a:endParaRPr>
            </a:p>
          </p:txBody>
        </p:sp>
      </p:grpSp>
      <p:sp>
        <p:nvSpPr>
          <p:cNvPr id="36" name="任意多边形: 形状 2"/>
          <p:cNvSpPr/>
          <p:nvPr/>
        </p:nvSpPr>
        <p:spPr>
          <a:xfrm>
            <a:off x="70112" y="11013950"/>
            <a:ext cx="24313888" cy="2545365"/>
          </a:xfrm>
          <a:custGeom>
            <a:avLst/>
            <a:gdLst>
              <a:gd name="connsiteX0" fmla="*/ 0 w 12032343"/>
              <a:gd name="connsiteY0" fmla="*/ 17481 h 1272682"/>
              <a:gd name="connsiteX1" fmla="*/ 1567543 w 12032343"/>
              <a:gd name="connsiteY1" fmla="*/ 902853 h 1272682"/>
              <a:gd name="connsiteX2" fmla="*/ 3599543 w 12032343"/>
              <a:gd name="connsiteY2" fmla="*/ 90053 h 1272682"/>
              <a:gd name="connsiteX3" fmla="*/ 5646057 w 12032343"/>
              <a:gd name="connsiteY3" fmla="*/ 1265710 h 1272682"/>
              <a:gd name="connsiteX4" fmla="*/ 7300686 w 12032343"/>
              <a:gd name="connsiteY4" fmla="*/ 598053 h 1272682"/>
              <a:gd name="connsiteX5" fmla="*/ 8563429 w 12032343"/>
              <a:gd name="connsiteY5" fmla="*/ 1033481 h 1272682"/>
              <a:gd name="connsiteX6" fmla="*/ 9608457 w 12032343"/>
              <a:gd name="connsiteY6" fmla="*/ 2967 h 1272682"/>
              <a:gd name="connsiteX7" fmla="*/ 10871200 w 12032343"/>
              <a:gd name="connsiteY7" fmla="*/ 699653 h 1272682"/>
              <a:gd name="connsiteX8" fmla="*/ 12032343 w 12032343"/>
              <a:gd name="connsiteY8" fmla="*/ 46510 h 1272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032343" h="1272682">
                <a:moveTo>
                  <a:pt x="0" y="17481"/>
                </a:moveTo>
                <a:cubicBezTo>
                  <a:pt x="483809" y="454119"/>
                  <a:pt x="967619" y="890758"/>
                  <a:pt x="1567543" y="902853"/>
                </a:cubicBezTo>
                <a:cubicBezTo>
                  <a:pt x="2167467" y="914948"/>
                  <a:pt x="2919791" y="29577"/>
                  <a:pt x="3599543" y="90053"/>
                </a:cubicBezTo>
                <a:cubicBezTo>
                  <a:pt x="4279295" y="150529"/>
                  <a:pt x="5029200" y="1181043"/>
                  <a:pt x="5646057" y="1265710"/>
                </a:cubicBezTo>
                <a:cubicBezTo>
                  <a:pt x="6262914" y="1350377"/>
                  <a:pt x="6814457" y="636758"/>
                  <a:pt x="7300686" y="598053"/>
                </a:cubicBezTo>
                <a:cubicBezTo>
                  <a:pt x="7786915" y="559348"/>
                  <a:pt x="8178801" y="1132662"/>
                  <a:pt x="8563429" y="1033481"/>
                </a:cubicBezTo>
                <a:cubicBezTo>
                  <a:pt x="8948057" y="934300"/>
                  <a:pt x="9223829" y="58605"/>
                  <a:pt x="9608457" y="2967"/>
                </a:cubicBezTo>
                <a:cubicBezTo>
                  <a:pt x="9993086" y="-52671"/>
                  <a:pt x="10467219" y="692396"/>
                  <a:pt x="10871200" y="699653"/>
                </a:cubicBezTo>
                <a:cubicBezTo>
                  <a:pt x="11275181" y="706910"/>
                  <a:pt x="11831562" y="152948"/>
                  <a:pt x="12032343" y="46510"/>
                </a:cubicBezTo>
              </a:path>
            </a:pathLst>
          </a:custGeom>
          <a:noFill/>
          <a:ln w="19050">
            <a:solidFill>
              <a:srgbClr val="5771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7" dirty="0">
              <a:latin typeface="微软雅黑" panose="020B0503020204020204" charset="-122"/>
              <a:ea typeface="微软雅黑" panose="020B0503020204020204" charset="-122"/>
            </a:endParaRPr>
          </a:p>
        </p:txBody>
      </p:sp>
      <p:sp>
        <p:nvSpPr>
          <p:cNvPr id="37" name="任意多边形: 形状 4"/>
          <p:cNvSpPr/>
          <p:nvPr/>
        </p:nvSpPr>
        <p:spPr>
          <a:xfrm flipH="1">
            <a:off x="70110" y="7752747"/>
            <a:ext cx="24342917" cy="5714757"/>
          </a:xfrm>
          <a:custGeom>
            <a:avLst/>
            <a:gdLst>
              <a:gd name="connsiteX0" fmla="*/ 0 w 12424228"/>
              <a:gd name="connsiteY0" fmla="*/ 0 h 2857379"/>
              <a:gd name="connsiteX1" fmla="*/ 2728685 w 12424228"/>
              <a:gd name="connsiteY1" fmla="*/ 2815772 h 2857379"/>
              <a:gd name="connsiteX2" fmla="*/ 5573485 w 12424228"/>
              <a:gd name="connsiteY2" fmla="*/ 1756229 h 2857379"/>
              <a:gd name="connsiteX3" fmla="*/ 7257143 w 12424228"/>
              <a:gd name="connsiteY3" fmla="*/ 2786743 h 2857379"/>
              <a:gd name="connsiteX4" fmla="*/ 8940800 w 12424228"/>
              <a:gd name="connsiteY4" fmla="*/ 1944915 h 2857379"/>
              <a:gd name="connsiteX5" fmla="*/ 10653485 w 12424228"/>
              <a:gd name="connsiteY5" fmla="*/ 2627086 h 2857379"/>
              <a:gd name="connsiteX6" fmla="*/ 11727543 w 12424228"/>
              <a:gd name="connsiteY6" fmla="*/ 1654629 h 2857379"/>
              <a:gd name="connsiteX7" fmla="*/ 12424228 w 12424228"/>
              <a:gd name="connsiteY7" fmla="*/ 1799772 h 2857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24228" h="2857379">
                <a:moveTo>
                  <a:pt x="0" y="0"/>
                </a:moveTo>
                <a:cubicBezTo>
                  <a:pt x="899885" y="1261533"/>
                  <a:pt x="1799771" y="2523067"/>
                  <a:pt x="2728685" y="2815772"/>
                </a:cubicBezTo>
                <a:cubicBezTo>
                  <a:pt x="3657599" y="3108477"/>
                  <a:pt x="4818742" y="1761067"/>
                  <a:pt x="5573485" y="1756229"/>
                </a:cubicBezTo>
                <a:cubicBezTo>
                  <a:pt x="6328228" y="1751391"/>
                  <a:pt x="6695924" y="2755295"/>
                  <a:pt x="7257143" y="2786743"/>
                </a:cubicBezTo>
                <a:cubicBezTo>
                  <a:pt x="7818362" y="2818191"/>
                  <a:pt x="8374743" y="1971525"/>
                  <a:pt x="8940800" y="1944915"/>
                </a:cubicBezTo>
                <a:cubicBezTo>
                  <a:pt x="9506857" y="1918306"/>
                  <a:pt x="10189028" y="2675467"/>
                  <a:pt x="10653485" y="2627086"/>
                </a:cubicBezTo>
                <a:cubicBezTo>
                  <a:pt x="11117942" y="2578705"/>
                  <a:pt x="11432419" y="1792515"/>
                  <a:pt x="11727543" y="1654629"/>
                </a:cubicBezTo>
                <a:cubicBezTo>
                  <a:pt x="12022667" y="1516743"/>
                  <a:pt x="12223447" y="1658257"/>
                  <a:pt x="12424228" y="1799772"/>
                </a:cubicBezTo>
              </a:path>
            </a:pathLst>
          </a:custGeom>
          <a:noFill/>
          <a:ln>
            <a:solidFill>
              <a:srgbClr val="5771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7" dirty="0">
              <a:latin typeface="微软雅黑" panose="020B0503020204020204" charset="-122"/>
              <a:ea typeface="微软雅黑" panose="020B0503020204020204" charset="-122"/>
            </a:endParaRPr>
          </a:p>
        </p:txBody>
      </p:sp>
      <p:sp>
        <p:nvSpPr>
          <p:cNvPr id="2" name="TextBox 6"/>
          <p:cNvSpPr txBox="1">
            <a:spLocks noChangeArrowheads="1"/>
          </p:cNvSpPr>
          <p:nvPr/>
        </p:nvSpPr>
        <p:spPr bwMode="auto">
          <a:xfrm>
            <a:off x="10319273" y="9029125"/>
            <a:ext cx="11473803" cy="1066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43840" tIns="121920" rIns="243840" bIns="121920" numCol="1" anchor="t" anchorCtr="0" compatLnSpc="1">
            <a:spAutoFit/>
          </a:bodyPr>
          <a:lstStyle/>
          <a:p>
            <a:pPr algn="l" defTabSz="2438430" fontAlgn="base">
              <a:spcBef>
                <a:spcPct val="0"/>
              </a:spcBef>
              <a:spcAft>
                <a:spcPct val="0"/>
              </a:spcAft>
            </a:pPr>
            <a:r>
              <a:rPr lang="zh-CN" altLang="en-US" sz="5333">
                <a:solidFill>
                  <a:schemeClr val="tx1">
                    <a:lumMod val="75000"/>
                    <a:lumOff val="25000"/>
                  </a:schemeClr>
                </a:solidFill>
                <a:latin typeface="微软雅黑" panose="020B0503020204020204" charset="-122"/>
                <a:ea typeface="微软雅黑" panose="020B0503020204020204" charset="-122"/>
                <a:cs typeface="+mn-ea"/>
                <a:sym typeface="+mn-ea"/>
              </a:rPr>
              <a:t> </a:t>
            </a:r>
            <a:r>
              <a:rPr lang="zh-CN" altLang="en-US" sz="5333">
                <a:solidFill>
                  <a:srgbClr val="425CA9"/>
                </a:solidFill>
                <a:latin typeface="微软雅黑" panose="020B0503020204020204" charset="-122"/>
                <a:ea typeface="微软雅黑" panose="020B0503020204020204" charset="-122"/>
                <a:cs typeface="+mn-ea"/>
                <a:sym typeface="+mn-ea"/>
              </a:rPr>
              <a:t>区块链的未来趋势</a:t>
            </a:r>
            <a:endParaRPr lang="zh-CN" altLang="en-US" sz="5333" dirty="0">
              <a:solidFill>
                <a:srgbClr val="425CA9"/>
              </a:solidFill>
              <a:latin typeface="微软雅黑" panose="020B0503020204020204" charset="-122"/>
              <a:ea typeface="微软雅黑" panose="020B0503020204020204" charset="-122"/>
              <a:cs typeface="+mn-ea"/>
              <a:sym typeface="+mn-ea"/>
            </a:endParaRPr>
          </a:p>
        </p:txBody>
      </p:sp>
      <p:grpSp>
        <p:nvGrpSpPr>
          <p:cNvPr id="7" name="组合 6"/>
          <p:cNvGrpSpPr/>
          <p:nvPr/>
        </p:nvGrpSpPr>
        <p:grpSpPr>
          <a:xfrm>
            <a:off x="9086773" y="9059733"/>
            <a:ext cx="1511981" cy="1069491"/>
            <a:chOff x="1489166" y="3324906"/>
            <a:chExt cx="566993" cy="401059"/>
          </a:xfrm>
        </p:grpSpPr>
        <p:sp>
          <p:nvSpPr>
            <p:cNvPr id="9" name="任意多边形 8"/>
            <p:cNvSpPr>
              <a:spLocks noChangeAspect="1"/>
            </p:cNvSpPr>
            <p:nvPr/>
          </p:nvSpPr>
          <p:spPr>
            <a:xfrm>
              <a:off x="1563012" y="3324906"/>
              <a:ext cx="432000" cy="388503"/>
            </a:xfrm>
            <a:custGeom>
              <a:avLst/>
              <a:gdLst>
                <a:gd name="connsiteX0" fmla="*/ 531453 w 2150426"/>
                <a:gd name="connsiteY0" fmla="*/ 1894557 h 1933898"/>
                <a:gd name="connsiteX1" fmla="*/ 523901 w 2150426"/>
                <a:gd name="connsiteY1" fmla="*/ 1888327 h 1933898"/>
                <a:gd name="connsiteX2" fmla="*/ 505804 w 2150426"/>
                <a:gd name="connsiteY2" fmla="*/ 1878396 h 1933898"/>
                <a:gd name="connsiteX3" fmla="*/ 445296 w 2150426"/>
                <a:gd name="connsiteY3" fmla="*/ 1809798 h 1933898"/>
                <a:gd name="connsiteX4" fmla="*/ 30326 w 2150426"/>
                <a:gd name="connsiteY4" fmla="*/ 1091048 h 1933898"/>
                <a:gd name="connsiteX5" fmla="*/ 1172 w 2150426"/>
                <a:gd name="connsiteY5" fmla="*/ 1004348 h 1933898"/>
                <a:gd name="connsiteX6" fmla="*/ 444 w 2150426"/>
                <a:gd name="connsiteY6" fmla="*/ 976700 h 1933898"/>
                <a:gd name="connsiteX7" fmla="*/ 0 w 2150426"/>
                <a:gd name="connsiteY7" fmla="*/ 974054 h 1933898"/>
                <a:gd name="connsiteX8" fmla="*/ 187 w 2150426"/>
                <a:gd name="connsiteY8" fmla="*/ 966943 h 1933898"/>
                <a:gd name="connsiteX9" fmla="*/ 0 w 2150426"/>
                <a:gd name="connsiteY9" fmla="*/ 959843 h 1933898"/>
                <a:gd name="connsiteX10" fmla="*/ 444 w 2150426"/>
                <a:gd name="connsiteY10" fmla="*/ 957201 h 1933898"/>
                <a:gd name="connsiteX11" fmla="*/ 1172 w 2150426"/>
                <a:gd name="connsiteY11" fmla="*/ 929549 h 1933898"/>
                <a:gd name="connsiteX12" fmla="*/ 30326 w 2150426"/>
                <a:gd name="connsiteY12" fmla="*/ 842849 h 1933898"/>
                <a:gd name="connsiteX13" fmla="*/ 445296 w 2150426"/>
                <a:gd name="connsiteY13" fmla="*/ 124100 h 1933898"/>
                <a:gd name="connsiteX14" fmla="*/ 505804 w 2150426"/>
                <a:gd name="connsiteY14" fmla="*/ 55501 h 1933898"/>
                <a:gd name="connsiteX15" fmla="*/ 529387 w 2150426"/>
                <a:gd name="connsiteY15" fmla="*/ 41045 h 1933898"/>
                <a:gd name="connsiteX16" fmla="*/ 531453 w 2150426"/>
                <a:gd name="connsiteY16" fmla="*/ 39340 h 1933898"/>
                <a:gd name="connsiteX17" fmla="*/ 537695 w 2150426"/>
                <a:gd name="connsiteY17" fmla="*/ 35952 h 1933898"/>
                <a:gd name="connsiteX18" fmla="*/ 543760 w 2150426"/>
                <a:gd name="connsiteY18" fmla="*/ 32234 h 1933898"/>
                <a:gd name="connsiteX19" fmla="*/ 546274 w 2150426"/>
                <a:gd name="connsiteY19" fmla="*/ 31296 h 1933898"/>
                <a:gd name="connsiteX20" fmla="*/ 570581 w 2150426"/>
                <a:gd name="connsiteY20" fmla="*/ 18102 h 1933898"/>
                <a:gd name="connsiteX21" fmla="*/ 660243 w 2150426"/>
                <a:gd name="connsiteY21" fmla="*/ 0 h 1933898"/>
                <a:gd name="connsiteX22" fmla="*/ 1490183 w 2150426"/>
                <a:gd name="connsiteY22" fmla="*/ 0 h 1933898"/>
                <a:gd name="connsiteX23" fmla="*/ 1579845 w 2150426"/>
                <a:gd name="connsiteY23" fmla="*/ 18102 h 1933898"/>
                <a:gd name="connsiteX24" fmla="*/ 1604154 w 2150426"/>
                <a:gd name="connsiteY24" fmla="*/ 31297 h 1933898"/>
                <a:gd name="connsiteX25" fmla="*/ 1606666 w 2150426"/>
                <a:gd name="connsiteY25" fmla="*/ 32234 h 1933898"/>
                <a:gd name="connsiteX26" fmla="*/ 1612726 w 2150426"/>
                <a:gd name="connsiteY26" fmla="*/ 35949 h 1933898"/>
                <a:gd name="connsiteX27" fmla="*/ 1618973 w 2150426"/>
                <a:gd name="connsiteY27" fmla="*/ 39340 h 1933898"/>
                <a:gd name="connsiteX28" fmla="*/ 1621041 w 2150426"/>
                <a:gd name="connsiteY28" fmla="*/ 41046 h 1933898"/>
                <a:gd name="connsiteX29" fmla="*/ 1644623 w 2150426"/>
                <a:gd name="connsiteY29" fmla="*/ 55501 h 1933898"/>
                <a:gd name="connsiteX30" fmla="*/ 1705130 w 2150426"/>
                <a:gd name="connsiteY30" fmla="*/ 124100 h 1933898"/>
                <a:gd name="connsiteX31" fmla="*/ 2120100 w 2150426"/>
                <a:gd name="connsiteY31" fmla="*/ 842849 h 1933898"/>
                <a:gd name="connsiteX32" fmla="*/ 2149255 w 2150426"/>
                <a:gd name="connsiteY32" fmla="*/ 929550 h 1933898"/>
                <a:gd name="connsiteX33" fmla="*/ 2149982 w 2150426"/>
                <a:gd name="connsiteY33" fmla="*/ 957198 h 1933898"/>
                <a:gd name="connsiteX34" fmla="*/ 2150426 w 2150426"/>
                <a:gd name="connsiteY34" fmla="*/ 959843 h 1933898"/>
                <a:gd name="connsiteX35" fmla="*/ 2150239 w 2150426"/>
                <a:gd name="connsiteY35" fmla="*/ 966953 h 1933898"/>
                <a:gd name="connsiteX36" fmla="*/ 2150426 w 2150426"/>
                <a:gd name="connsiteY36" fmla="*/ 974055 h 1933898"/>
                <a:gd name="connsiteX37" fmla="*/ 2149983 w 2150426"/>
                <a:gd name="connsiteY37" fmla="*/ 976697 h 1933898"/>
                <a:gd name="connsiteX38" fmla="*/ 2149255 w 2150426"/>
                <a:gd name="connsiteY38" fmla="*/ 1004348 h 1933898"/>
                <a:gd name="connsiteX39" fmla="*/ 2120101 w 2150426"/>
                <a:gd name="connsiteY39" fmla="*/ 1091049 h 1933898"/>
                <a:gd name="connsiteX40" fmla="*/ 1705131 w 2150426"/>
                <a:gd name="connsiteY40" fmla="*/ 1809798 h 1933898"/>
                <a:gd name="connsiteX41" fmla="*/ 1644623 w 2150426"/>
                <a:gd name="connsiteY41" fmla="*/ 1878396 h 1933898"/>
                <a:gd name="connsiteX42" fmla="*/ 1621040 w 2150426"/>
                <a:gd name="connsiteY42" fmla="*/ 1892852 h 1933898"/>
                <a:gd name="connsiteX43" fmla="*/ 1618973 w 2150426"/>
                <a:gd name="connsiteY43" fmla="*/ 1894557 h 1933898"/>
                <a:gd name="connsiteX44" fmla="*/ 1612730 w 2150426"/>
                <a:gd name="connsiteY44" fmla="*/ 1897947 h 1933898"/>
                <a:gd name="connsiteX45" fmla="*/ 1606666 w 2150426"/>
                <a:gd name="connsiteY45" fmla="*/ 1901663 h 1933898"/>
                <a:gd name="connsiteX46" fmla="*/ 1604153 w 2150426"/>
                <a:gd name="connsiteY46" fmla="*/ 1902602 h 1933898"/>
                <a:gd name="connsiteX47" fmla="*/ 1579845 w 2150426"/>
                <a:gd name="connsiteY47" fmla="*/ 1915796 h 1933898"/>
                <a:gd name="connsiteX48" fmla="*/ 1490183 w 2150426"/>
                <a:gd name="connsiteY48" fmla="*/ 1933897 h 1933898"/>
                <a:gd name="connsiteX49" fmla="*/ 660243 w 2150426"/>
                <a:gd name="connsiteY49" fmla="*/ 1933898 h 1933898"/>
                <a:gd name="connsiteX50" fmla="*/ 531453 w 2150426"/>
                <a:gd name="connsiteY50" fmla="*/ 1894557 h 1933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2150426" h="1933898">
                  <a:moveTo>
                    <a:pt x="531453" y="1894557"/>
                  </a:moveTo>
                  <a:lnTo>
                    <a:pt x="523901" y="1888327"/>
                  </a:lnTo>
                  <a:lnTo>
                    <a:pt x="505804" y="1878396"/>
                  </a:lnTo>
                  <a:cubicBezTo>
                    <a:pt x="481930" y="1860358"/>
                    <a:pt x="461198" y="1837341"/>
                    <a:pt x="445296" y="1809798"/>
                  </a:cubicBezTo>
                  <a:lnTo>
                    <a:pt x="30326" y="1091048"/>
                  </a:lnTo>
                  <a:cubicBezTo>
                    <a:pt x="14424" y="1063505"/>
                    <a:pt x="4856" y="1034042"/>
                    <a:pt x="1172" y="1004348"/>
                  </a:cubicBezTo>
                  <a:lnTo>
                    <a:pt x="444" y="976700"/>
                  </a:lnTo>
                  <a:lnTo>
                    <a:pt x="0" y="974054"/>
                  </a:lnTo>
                  <a:lnTo>
                    <a:pt x="187" y="966943"/>
                  </a:lnTo>
                  <a:lnTo>
                    <a:pt x="0" y="959843"/>
                  </a:lnTo>
                  <a:lnTo>
                    <a:pt x="444" y="957201"/>
                  </a:lnTo>
                  <a:lnTo>
                    <a:pt x="1172" y="929549"/>
                  </a:lnTo>
                  <a:cubicBezTo>
                    <a:pt x="4856" y="899855"/>
                    <a:pt x="14423" y="870392"/>
                    <a:pt x="30326" y="842849"/>
                  </a:cubicBezTo>
                  <a:lnTo>
                    <a:pt x="445296" y="124100"/>
                  </a:lnTo>
                  <a:cubicBezTo>
                    <a:pt x="461198" y="96556"/>
                    <a:pt x="481929" y="73539"/>
                    <a:pt x="505804" y="55501"/>
                  </a:cubicBezTo>
                  <a:lnTo>
                    <a:pt x="529387" y="41045"/>
                  </a:lnTo>
                  <a:lnTo>
                    <a:pt x="531453" y="39340"/>
                  </a:lnTo>
                  <a:lnTo>
                    <a:pt x="537695" y="35952"/>
                  </a:lnTo>
                  <a:lnTo>
                    <a:pt x="543760" y="32234"/>
                  </a:lnTo>
                  <a:lnTo>
                    <a:pt x="546274" y="31296"/>
                  </a:lnTo>
                  <a:lnTo>
                    <a:pt x="570581" y="18102"/>
                  </a:lnTo>
                  <a:cubicBezTo>
                    <a:pt x="598139" y="6446"/>
                    <a:pt x="628439" y="0"/>
                    <a:pt x="660243" y="0"/>
                  </a:cubicBezTo>
                  <a:lnTo>
                    <a:pt x="1490183" y="0"/>
                  </a:lnTo>
                  <a:cubicBezTo>
                    <a:pt x="1521987" y="0"/>
                    <a:pt x="1552286" y="6446"/>
                    <a:pt x="1579845" y="18102"/>
                  </a:cubicBezTo>
                  <a:lnTo>
                    <a:pt x="1604154" y="31297"/>
                  </a:lnTo>
                  <a:lnTo>
                    <a:pt x="1606666" y="32234"/>
                  </a:lnTo>
                  <a:lnTo>
                    <a:pt x="1612726" y="35949"/>
                  </a:lnTo>
                  <a:lnTo>
                    <a:pt x="1618973" y="39340"/>
                  </a:lnTo>
                  <a:lnTo>
                    <a:pt x="1621041" y="41046"/>
                  </a:lnTo>
                  <a:lnTo>
                    <a:pt x="1644623" y="55501"/>
                  </a:lnTo>
                  <a:cubicBezTo>
                    <a:pt x="1668496" y="73539"/>
                    <a:pt x="1689228" y="96557"/>
                    <a:pt x="1705130" y="124100"/>
                  </a:cubicBezTo>
                  <a:lnTo>
                    <a:pt x="2120100" y="842849"/>
                  </a:lnTo>
                  <a:cubicBezTo>
                    <a:pt x="2136003" y="870393"/>
                    <a:pt x="2145570" y="899855"/>
                    <a:pt x="2149255" y="929550"/>
                  </a:cubicBezTo>
                  <a:lnTo>
                    <a:pt x="2149982" y="957198"/>
                  </a:lnTo>
                  <a:lnTo>
                    <a:pt x="2150426" y="959843"/>
                  </a:lnTo>
                  <a:lnTo>
                    <a:pt x="2150239" y="966953"/>
                  </a:lnTo>
                  <a:lnTo>
                    <a:pt x="2150426" y="974055"/>
                  </a:lnTo>
                  <a:lnTo>
                    <a:pt x="2149983" y="976697"/>
                  </a:lnTo>
                  <a:lnTo>
                    <a:pt x="2149255" y="1004348"/>
                  </a:lnTo>
                  <a:cubicBezTo>
                    <a:pt x="2145570" y="1034043"/>
                    <a:pt x="2136003" y="1063505"/>
                    <a:pt x="2120101" y="1091049"/>
                  </a:cubicBezTo>
                  <a:lnTo>
                    <a:pt x="1705131" y="1809798"/>
                  </a:lnTo>
                  <a:cubicBezTo>
                    <a:pt x="1689228" y="1837341"/>
                    <a:pt x="1668497" y="1860358"/>
                    <a:pt x="1644623" y="1878396"/>
                  </a:cubicBezTo>
                  <a:lnTo>
                    <a:pt x="1621040" y="1892852"/>
                  </a:lnTo>
                  <a:lnTo>
                    <a:pt x="1618973" y="1894557"/>
                  </a:lnTo>
                  <a:lnTo>
                    <a:pt x="1612730" y="1897947"/>
                  </a:lnTo>
                  <a:lnTo>
                    <a:pt x="1606666" y="1901663"/>
                  </a:lnTo>
                  <a:lnTo>
                    <a:pt x="1604153" y="1902602"/>
                  </a:lnTo>
                  <a:lnTo>
                    <a:pt x="1579845" y="1915796"/>
                  </a:lnTo>
                  <a:cubicBezTo>
                    <a:pt x="1552287" y="1927452"/>
                    <a:pt x="1521988" y="1933897"/>
                    <a:pt x="1490183" y="1933897"/>
                  </a:cubicBezTo>
                  <a:lnTo>
                    <a:pt x="660243" y="1933898"/>
                  </a:lnTo>
                  <a:cubicBezTo>
                    <a:pt x="612537" y="1933898"/>
                    <a:pt x="568217" y="1919395"/>
                    <a:pt x="531453" y="1894557"/>
                  </a:cubicBezTo>
                  <a:close/>
                </a:path>
              </a:pathLst>
            </a:custGeom>
            <a:noFill/>
            <a:ln w="25400">
              <a:solidFill>
                <a:srgbClr val="5771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533"/>
            </a:p>
          </p:txBody>
        </p:sp>
        <p:sp>
          <p:nvSpPr>
            <p:cNvPr id="10" name="TextBox 6"/>
            <p:cNvSpPr txBox="1">
              <a:spLocks noChangeArrowheads="1"/>
            </p:cNvSpPr>
            <p:nvPr/>
          </p:nvSpPr>
          <p:spPr bwMode="auto">
            <a:xfrm>
              <a:off x="1489166" y="3325879"/>
              <a:ext cx="566993" cy="400086"/>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vert="horz" wrap="square" lIns="243840" tIns="121920" rIns="243840" bIns="121920" numCol="1" anchor="t" anchorCtr="0" compatLnSpc="1">
              <a:spAutoFit/>
            </a:bodyPr>
            <a:lstStyle/>
            <a:p>
              <a:pPr defTabSz="2438430" fontAlgn="base" hangingPunct="1">
                <a:spcBef>
                  <a:spcPct val="0"/>
                </a:spcBef>
                <a:spcAft>
                  <a:spcPct val="0"/>
                </a:spcAft>
              </a:pPr>
              <a:r>
                <a:rPr lang="en-US" altLang="zh-CN" sz="5333">
                  <a:solidFill>
                    <a:srgbClr val="425CA9"/>
                  </a:solidFill>
                  <a:latin typeface="Impact" panose="020B0806030902050204" pitchFamily="34" charset="0"/>
                  <a:ea typeface="微软雅黑" panose="020B0503020204020204" charset="-122"/>
                  <a:cs typeface="Times New Roman" panose="02020603050405020304" pitchFamily="18" charset="0"/>
                </a:rPr>
                <a:t>03</a:t>
              </a:r>
              <a:endParaRPr lang="zh-CN" altLang="en-US" sz="4800" dirty="0">
                <a:solidFill>
                  <a:srgbClr val="425CA9"/>
                </a:solidFill>
                <a:latin typeface="Impact" panose="020B0806030902050204" pitchFamily="34" charset="0"/>
                <a:ea typeface="宋体" panose="02010600030101010101" pitchFamily="2" charset="-122"/>
                <a:cs typeface="Times New Roman" panose="02020603050405020304" pitchFamily="18" charset="0"/>
              </a:endParaRPr>
            </a:p>
          </p:txBody>
        </p:sp>
      </p:grpSp>
      <p:sp>
        <p:nvSpPr>
          <p:cNvPr id="17" name="TextBox 6"/>
          <p:cNvSpPr txBox="1">
            <a:spLocks noChangeArrowheads="1"/>
          </p:cNvSpPr>
          <p:nvPr/>
        </p:nvSpPr>
        <p:spPr bwMode="auto">
          <a:xfrm>
            <a:off x="10319273" y="7476536"/>
            <a:ext cx="11473803" cy="1066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43840" tIns="121920" rIns="243840" bIns="121920" numCol="1" anchor="t" anchorCtr="0" compatLnSpc="1">
            <a:spAutoFit/>
          </a:bodyPr>
          <a:lstStyle/>
          <a:p>
            <a:pPr algn="l" defTabSz="2438430" fontAlgn="base">
              <a:spcBef>
                <a:spcPct val="0"/>
              </a:spcBef>
              <a:spcAft>
                <a:spcPct val="0"/>
              </a:spcAft>
            </a:pPr>
            <a:r>
              <a:rPr lang="zh-CN" altLang="en-US" sz="5333">
                <a:solidFill>
                  <a:schemeClr val="tx1">
                    <a:lumMod val="75000"/>
                    <a:lumOff val="25000"/>
                  </a:schemeClr>
                </a:solidFill>
                <a:latin typeface="微软雅黑" panose="020B0503020204020204" charset="-122"/>
                <a:ea typeface="微软雅黑" panose="020B0503020204020204" charset="-122"/>
                <a:cs typeface="+mn-ea"/>
                <a:sym typeface="+mn-ea"/>
              </a:rPr>
              <a:t>区块链的现状及价值分析</a:t>
            </a:r>
            <a:endParaRPr lang="zh-CN" altLang="en-US" sz="5333" dirty="0">
              <a:solidFill>
                <a:schemeClr val="tx1">
                  <a:lumMod val="75000"/>
                  <a:lumOff val="25000"/>
                </a:schemeClr>
              </a:solidFill>
              <a:latin typeface="微软雅黑" panose="020B0503020204020204" charset="-122"/>
              <a:ea typeface="微软雅黑" panose="020B0503020204020204" charset="-122"/>
              <a:cs typeface="+mn-ea"/>
              <a:sym typeface="+mn-ea"/>
            </a:endParaRPr>
          </a:p>
        </p:txBody>
      </p:sp>
      <p:grpSp>
        <p:nvGrpSpPr>
          <p:cNvPr id="18" name="组合 6"/>
          <p:cNvGrpSpPr/>
          <p:nvPr/>
        </p:nvGrpSpPr>
        <p:grpSpPr>
          <a:xfrm>
            <a:off x="9086773" y="7507144"/>
            <a:ext cx="1511981" cy="1069491"/>
            <a:chOff x="1489166" y="3324906"/>
            <a:chExt cx="566993" cy="401059"/>
          </a:xfrm>
        </p:grpSpPr>
        <p:sp>
          <p:nvSpPr>
            <p:cNvPr id="19" name="任意多边形 8"/>
            <p:cNvSpPr>
              <a:spLocks noChangeAspect="1"/>
            </p:cNvSpPr>
            <p:nvPr/>
          </p:nvSpPr>
          <p:spPr>
            <a:xfrm>
              <a:off x="1563012" y="3324906"/>
              <a:ext cx="432000" cy="388503"/>
            </a:xfrm>
            <a:custGeom>
              <a:avLst/>
              <a:gdLst>
                <a:gd name="connsiteX0" fmla="*/ 531453 w 2150426"/>
                <a:gd name="connsiteY0" fmla="*/ 1894557 h 1933898"/>
                <a:gd name="connsiteX1" fmla="*/ 523901 w 2150426"/>
                <a:gd name="connsiteY1" fmla="*/ 1888327 h 1933898"/>
                <a:gd name="connsiteX2" fmla="*/ 505804 w 2150426"/>
                <a:gd name="connsiteY2" fmla="*/ 1878396 h 1933898"/>
                <a:gd name="connsiteX3" fmla="*/ 445296 w 2150426"/>
                <a:gd name="connsiteY3" fmla="*/ 1809798 h 1933898"/>
                <a:gd name="connsiteX4" fmla="*/ 30326 w 2150426"/>
                <a:gd name="connsiteY4" fmla="*/ 1091048 h 1933898"/>
                <a:gd name="connsiteX5" fmla="*/ 1172 w 2150426"/>
                <a:gd name="connsiteY5" fmla="*/ 1004348 h 1933898"/>
                <a:gd name="connsiteX6" fmla="*/ 444 w 2150426"/>
                <a:gd name="connsiteY6" fmla="*/ 976700 h 1933898"/>
                <a:gd name="connsiteX7" fmla="*/ 0 w 2150426"/>
                <a:gd name="connsiteY7" fmla="*/ 974054 h 1933898"/>
                <a:gd name="connsiteX8" fmla="*/ 187 w 2150426"/>
                <a:gd name="connsiteY8" fmla="*/ 966943 h 1933898"/>
                <a:gd name="connsiteX9" fmla="*/ 0 w 2150426"/>
                <a:gd name="connsiteY9" fmla="*/ 959843 h 1933898"/>
                <a:gd name="connsiteX10" fmla="*/ 444 w 2150426"/>
                <a:gd name="connsiteY10" fmla="*/ 957201 h 1933898"/>
                <a:gd name="connsiteX11" fmla="*/ 1172 w 2150426"/>
                <a:gd name="connsiteY11" fmla="*/ 929549 h 1933898"/>
                <a:gd name="connsiteX12" fmla="*/ 30326 w 2150426"/>
                <a:gd name="connsiteY12" fmla="*/ 842849 h 1933898"/>
                <a:gd name="connsiteX13" fmla="*/ 445296 w 2150426"/>
                <a:gd name="connsiteY13" fmla="*/ 124100 h 1933898"/>
                <a:gd name="connsiteX14" fmla="*/ 505804 w 2150426"/>
                <a:gd name="connsiteY14" fmla="*/ 55501 h 1933898"/>
                <a:gd name="connsiteX15" fmla="*/ 529387 w 2150426"/>
                <a:gd name="connsiteY15" fmla="*/ 41045 h 1933898"/>
                <a:gd name="connsiteX16" fmla="*/ 531453 w 2150426"/>
                <a:gd name="connsiteY16" fmla="*/ 39340 h 1933898"/>
                <a:gd name="connsiteX17" fmla="*/ 537695 w 2150426"/>
                <a:gd name="connsiteY17" fmla="*/ 35952 h 1933898"/>
                <a:gd name="connsiteX18" fmla="*/ 543760 w 2150426"/>
                <a:gd name="connsiteY18" fmla="*/ 32234 h 1933898"/>
                <a:gd name="connsiteX19" fmla="*/ 546274 w 2150426"/>
                <a:gd name="connsiteY19" fmla="*/ 31296 h 1933898"/>
                <a:gd name="connsiteX20" fmla="*/ 570581 w 2150426"/>
                <a:gd name="connsiteY20" fmla="*/ 18102 h 1933898"/>
                <a:gd name="connsiteX21" fmla="*/ 660243 w 2150426"/>
                <a:gd name="connsiteY21" fmla="*/ 0 h 1933898"/>
                <a:gd name="connsiteX22" fmla="*/ 1490183 w 2150426"/>
                <a:gd name="connsiteY22" fmla="*/ 0 h 1933898"/>
                <a:gd name="connsiteX23" fmla="*/ 1579845 w 2150426"/>
                <a:gd name="connsiteY23" fmla="*/ 18102 h 1933898"/>
                <a:gd name="connsiteX24" fmla="*/ 1604154 w 2150426"/>
                <a:gd name="connsiteY24" fmla="*/ 31297 h 1933898"/>
                <a:gd name="connsiteX25" fmla="*/ 1606666 w 2150426"/>
                <a:gd name="connsiteY25" fmla="*/ 32234 h 1933898"/>
                <a:gd name="connsiteX26" fmla="*/ 1612726 w 2150426"/>
                <a:gd name="connsiteY26" fmla="*/ 35949 h 1933898"/>
                <a:gd name="connsiteX27" fmla="*/ 1618973 w 2150426"/>
                <a:gd name="connsiteY27" fmla="*/ 39340 h 1933898"/>
                <a:gd name="connsiteX28" fmla="*/ 1621041 w 2150426"/>
                <a:gd name="connsiteY28" fmla="*/ 41046 h 1933898"/>
                <a:gd name="connsiteX29" fmla="*/ 1644623 w 2150426"/>
                <a:gd name="connsiteY29" fmla="*/ 55501 h 1933898"/>
                <a:gd name="connsiteX30" fmla="*/ 1705130 w 2150426"/>
                <a:gd name="connsiteY30" fmla="*/ 124100 h 1933898"/>
                <a:gd name="connsiteX31" fmla="*/ 2120100 w 2150426"/>
                <a:gd name="connsiteY31" fmla="*/ 842849 h 1933898"/>
                <a:gd name="connsiteX32" fmla="*/ 2149255 w 2150426"/>
                <a:gd name="connsiteY32" fmla="*/ 929550 h 1933898"/>
                <a:gd name="connsiteX33" fmla="*/ 2149982 w 2150426"/>
                <a:gd name="connsiteY33" fmla="*/ 957198 h 1933898"/>
                <a:gd name="connsiteX34" fmla="*/ 2150426 w 2150426"/>
                <a:gd name="connsiteY34" fmla="*/ 959843 h 1933898"/>
                <a:gd name="connsiteX35" fmla="*/ 2150239 w 2150426"/>
                <a:gd name="connsiteY35" fmla="*/ 966953 h 1933898"/>
                <a:gd name="connsiteX36" fmla="*/ 2150426 w 2150426"/>
                <a:gd name="connsiteY36" fmla="*/ 974055 h 1933898"/>
                <a:gd name="connsiteX37" fmla="*/ 2149983 w 2150426"/>
                <a:gd name="connsiteY37" fmla="*/ 976697 h 1933898"/>
                <a:gd name="connsiteX38" fmla="*/ 2149255 w 2150426"/>
                <a:gd name="connsiteY38" fmla="*/ 1004348 h 1933898"/>
                <a:gd name="connsiteX39" fmla="*/ 2120101 w 2150426"/>
                <a:gd name="connsiteY39" fmla="*/ 1091049 h 1933898"/>
                <a:gd name="connsiteX40" fmla="*/ 1705131 w 2150426"/>
                <a:gd name="connsiteY40" fmla="*/ 1809798 h 1933898"/>
                <a:gd name="connsiteX41" fmla="*/ 1644623 w 2150426"/>
                <a:gd name="connsiteY41" fmla="*/ 1878396 h 1933898"/>
                <a:gd name="connsiteX42" fmla="*/ 1621040 w 2150426"/>
                <a:gd name="connsiteY42" fmla="*/ 1892852 h 1933898"/>
                <a:gd name="connsiteX43" fmla="*/ 1618973 w 2150426"/>
                <a:gd name="connsiteY43" fmla="*/ 1894557 h 1933898"/>
                <a:gd name="connsiteX44" fmla="*/ 1612730 w 2150426"/>
                <a:gd name="connsiteY44" fmla="*/ 1897947 h 1933898"/>
                <a:gd name="connsiteX45" fmla="*/ 1606666 w 2150426"/>
                <a:gd name="connsiteY45" fmla="*/ 1901663 h 1933898"/>
                <a:gd name="connsiteX46" fmla="*/ 1604153 w 2150426"/>
                <a:gd name="connsiteY46" fmla="*/ 1902602 h 1933898"/>
                <a:gd name="connsiteX47" fmla="*/ 1579845 w 2150426"/>
                <a:gd name="connsiteY47" fmla="*/ 1915796 h 1933898"/>
                <a:gd name="connsiteX48" fmla="*/ 1490183 w 2150426"/>
                <a:gd name="connsiteY48" fmla="*/ 1933897 h 1933898"/>
                <a:gd name="connsiteX49" fmla="*/ 660243 w 2150426"/>
                <a:gd name="connsiteY49" fmla="*/ 1933898 h 1933898"/>
                <a:gd name="connsiteX50" fmla="*/ 531453 w 2150426"/>
                <a:gd name="connsiteY50" fmla="*/ 1894557 h 1933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2150426" h="1933898">
                  <a:moveTo>
                    <a:pt x="531453" y="1894557"/>
                  </a:moveTo>
                  <a:lnTo>
                    <a:pt x="523901" y="1888327"/>
                  </a:lnTo>
                  <a:lnTo>
                    <a:pt x="505804" y="1878396"/>
                  </a:lnTo>
                  <a:cubicBezTo>
                    <a:pt x="481930" y="1860358"/>
                    <a:pt x="461198" y="1837341"/>
                    <a:pt x="445296" y="1809798"/>
                  </a:cubicBezTo>
                  <a:lnTo>
                    <a:pt x="30326" y="1091048"/>
                  </a:lnTo>
                  <a:cubicBezTo>
                    <a:pt x="14424" y="1063505"/>
                    <a:pt x="4856" y="1034042"/>
                    <a:pt x="1172" y="1004348"/>
                  </a:cubicBezTo>
                  <a:lnTo>
                    <a:pt x="444" y="976700"/>
                  </a:lnTo>
                  <a:lnTo>
                    <a:pt x="0" y="974054"/>
                  </a:lnTo>
                  <a:lnTo>
                    <a:pt x="187" y="966943"/>
                  </a:lnTo>
                  <a:lnTo>
                    <a:pt x="0" y="959843"/>
                  </a:lnTo>
                  <a:lnTo>
                    <a:pt x="444" y="957201"/>
                  </a:lnTo>
                  <a:lnTo>
                    <a:pt x="1172" y="929549"/>
                  </a:lnTo>
                  <a:cubicBezTo>
                    <a:pt x="4856" y="899855"/>
                    <a:pt x="14423" y="870392"/>
                    <a:pt x="30326" y="842849"/>
                  </a:cubicBezTo>
                  <a:lnTo>
                    <a:pt x="445296" y="124100"/>
                  </a:lnTo>
                  <a:cubicBezTo>
                    <a:pt x="461198" y="96556"/>
                    <a:pt x="481929" y="73539"/>
                    <a:pt x="505804" y="55501"/>
                  </a:cubicBezTo>
                  <a:lnTo>
                    <a:pt x="529387" y="41045"/>
                  </a:lnTo>
                  <a:lnTo>
                    <a:pt x="531453" y="39340"/>
                  </a:lnTo>
                  <a:lnTo>
                    <a:pt x="537695" y="35952"/>
                  </a:lnTo>
                  <a:lnTo>
                    <a:pt x="543760" y="32234"/>
                  </a:lnTo>
                  <a:lnTo>
                    <a:pt x="546274" y="31296"/>
                  </a:lnTo>
                  <a:lnTo>
                    <a:pt x="570581" y="18102"/>
                  </a:lnTo>
                  <a:cubicBezTo>
                    <a:pt x="598139" y="6446"/>
                    <a:pt x="628439" y="0"/>
                    <a:pt x="660243" y="0"/>
                  </a:cubicBezTo>
                  <a:lnTo>
                    <a:pt x="1490183" y="0"/>
                  </a:lnTo>
                  <a:cubicBezTo>
                    <a:pt x="1521987" y="0"/>
                    <a:pt x="1552286" y="6446"/>
                    <a:pt x="1579845" y="18102"/>
                  </a:cubicBezTo>
                  <a:lnTo>
                    <a:pt x="1604154" y="31297"/>
                  </a:lnTo>
                  <a:lnTo>
                    <a:pt x="1606666" y="32234"/>
                  </a:lnTo>
                  <a:lnTo>
                    <a:pt x="1612726" y="35949"/>
                  </a:lnTo>
                  <a:lnTo>
                    <a:pt x="1618973" y="39340"/>
                  </a:lnTo>
                  <a:lnTo>
                    <a:pt x="1621041" y="41046"/>
                  </a:lnTo>
                  <a:lnTo>
                    <a:pt x="1644623" y="55501"/>
                  </a:lnTo>
                  <a:cubicBezTo>
                    <a:pt x="1668496" y="73539"/>
                    <a:pt x="1689228" y="96557"/>
                    <a:pt x="1705130" y="124100"/>
                  </a:cubicBezTo>
                  <a:lnTo>
                    <a:pt x="2120100" y="842849"/>
                  </a:lnTo>
                  <a:cubicBezTo>
                    <a:pt x="2136003" y="870393"/>
                    <a:pt x="2145570" y="899855"/>
                    <a:pt x="2149255" y="929550"/>
                  </a:cubicBezTo>
                  <a:lnTo>
                    <a:pt x="2149982" y="957198"/>
                  </a:lnTo>
                  <a:lnTo>
                    <a:pt x="2150426" y="959843"/>
                  </a:lnTo>
                  <a:lnTo>
                    <a:pt x="2150239" y="966953"/>
                  </a:lnTo>
                  <a:lnTo>
                    <a:pt x="2150426" y="974055"/>
                  </a:lnTo>
                  <a:lnTo>
                    <a:pt x="2149983" y="976697"/>
                  </a:lnTo>
                  <a:lnTo>
                    <a:pt x="2149255" y="1004348"/>
                  </a:lnTo>
                  <a:cubicBezTo>
                    <a:pt x="2145570" y="1034043"/>
                    <a:pt x="2136003" y="1063505"/>
                    <a:pt x="2120101" y="1091049"/>
                  </a:cubicBezTo>
                  <a:lnTo>
                    <a:pt x="1705131" y="1809798"/>
                  </a:lnTo>
                  <a:cubicBezTo>
                    <a:pt x="1689228" y="1837341"/>
                    <a:pt x="1668497" y="1860358"/>
                    <a:pt x="1644623" y="1878396"/>
                  </a:cubicBezTo>
                  <a:lnTo>
                    <a:pt x="1621040" y="1892852"/>
                  </a:lnTo>
                  <a:lnTo>
                    <a:pt x="1618973" y="1894557"/>
                  </a:lnTo>
                  <a:lnTo>
                    <a:pt x="1612730" y="1897947"/>
                  </a:lnTo>
                  <a:lnTo>
                    <a:pt x="1606666" y="1901663"/>
                  </a:lnTo>
                  <a:lnTo>
                    <a:pt x="1604153" y="1902602"/>
                  </a:lnTo>
                  <a:lnTo>
                    <a:pt x="1579845" y="1915796"/>
                  </a:lnTo>
                  <a:cubicBezTo>
                    <a:pt x="1552287" y="1927452"/>
                    <a:pt x="1521988" y="1933897"/>
                    <a:pt x="1490183" y="1933897"/>
                  </a:cubicBezTo>
                  <a:lnTo>
                    <a:pt x="660243" y="1933898"/>
                  </a:lnTo>
                  <a:cubicBezTo>
                    <a:pt x="612537" y="1933898"/>
                    <a:pt x="568217" y="1919395"/>
                    <a:pt x="531453" y="1894557"/>
                  </a:cubicBezTo>
                  <a:close/>
                </a:path>
              </a:pathLst>
            </a:custGeom>
            <a:noFill/>
            <a:ln w="25400">
              <a:solidFill>
                <a:srgbClr val="5771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533"/>
            </a:p>
          </p:txBody>
        </p:sp>
        <p:sp>
          <p:nvSpPr>
            <p:cNvPr id="20" name="TextBox 6"/>
            <p:cNvSpPr txBox="1">
              <a:spLocks noChangeArrowheads="1"/>
            </p:cNvSpPr>
            <p:nvPr/>
          </p:nvSpPr>
          <p:spPr bwMode="auto">
            <a:xfrm>
              <a:off x="1489166" y="3325879"/>
              <a:ext cx="566993" cy="400086"/>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vert="horz" wrap="square" lIns="243840" tIns="121920" rIns="243840" bIns="121920" numCol="1" anchor="t" anchorCtr="0" compatLnSpc="1">
              <a:spAutoFit/>
            </a:bodyPr>
            <a:lstStyle/>
            <a:p>
              <a:pPr defTabSz="2438430" fontAlgn="base" hangingPunct="1">
                <a:spcBef>
                  <a:spcPct val="0"/>
                </a:spcBef>
                <a:spcAft>
                  <a:spcPct val="0"/>
                </a:spcAft>
              </a:pPr>
              <a:r>
                <a:rPr lang="en-US" altLang="zh-CN" sz="5333">
                  <a:solidFill>
                    <a:schemeClr val="tx1">
                      <a:lumMod val="50000"/>
                      <a:lumOff val="50000"/>
                    </a:schemeClr>
                  </a:solidFill>
                  <a:latin typeface="Impact" panose="020B0806030902050204" pitchFamily="34" charset="0"/>
                  <a:ea typeface="微软雅黑" panose="020B0503020204020204" charset="-122"/>
                  <a:cs typeface="Times New Roman" panose="02020603050405020304" pitchFamily="18" charset="0"/>
                </a:rPr>
                <a:t>02</a:t>
              </a:r>
              <a:endParaRPr lang="zh-CN" altLang="en-US" sz="4800" dirty="0">
                <a:solidFill>
                  <a:schemeClr val="tx1">
                    <a:lumMod val="50000"/>
                    <a:lumOff val="50000"/>
                  </a:schemeClr>
                </a:solidFill>
                <a:latin typeface="Impact" panose="020B0806030902050204" pitchFamily="34" charset="0"/>
                <a:ea typeface="宋体" panose="02010600030101010101" pitchFamily="2" charset="-122"/>
                <a:cs typeface="Times New Roman" panose="02020603050405020304" pitchFamily="18" charset="0"/>
              </a:endParaRPr>
            </a:p>
          </p:txBody>
        </p:sp>
      </p:grpSp>
    </p:spTree>
    <p:extLst>
      <p:ext uri="{BB962C8B-B14F-4D97-AF65-F5344CB8AC3E}">
        <p14:creationId xmlns:p14="http://schemas.microsoft.com/office/powerpoint/2010/main" val="2909661696"/>
      </p:ext>
    </p:extLst>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5"/>
          <p:cNvSpPr/>
          <p:nvPr/>
        </p:nvSpPr>
        <p:spPr bwMode="auto">
          <a:xfrm>
            <a:off x="15588601" y="7610764"/>
            <a:ext cx="999371" cy="2113672"/>
          </a:xfrm>
          <a:custGeom>
            <a:avLst/>
            <a:gdLst>
              <a:gd name="T0" fmla="*/ 280 w 280"/>
              <a:gd name="T1" fmla="*/ 278 h 862"/>
              <a:gd name="T2" fmla="*/ 280 w 280"/>
              <a:gd name="T3" fmla="*/ 862 h 862"/>
              <a:gd name="T4" fmla="*/ 0 w 280"/>
              <a:gd name="T5" fmla="*/ 582 h 862"/>
              <a:gd name="T6" fmla="*/ 0 w 280"/>
              <a:gd name="T7" fmla="*/ 0 h 862"/>
              <a:gd name="T8" fmla="*/ 3 w 280"/>
              <a:gd name="T9" fmla="*/ 0 h 862"/>
              <a:gd name="T10" fmla="*/ 280 w 280"/>
              <a:gd name="T11" fmla="*/ 278 h 862"/>
            </a:gdLst>
            <a:ahLst/>
            <a:cxnLst>
              <a:cxn ang="0">
                <a:pos x="T0" y="T1"/>
              </a:cxn>
              <a:cxn ang="0">
                <a:pos x="T2" y="T3"/>
              </a:cxn>
              <a:cxn ang="0">
                <a:pos x="T4" y="T5"/>
              </a:cxn>
              <a:cxn ang="0">
                <a:pos x="T6" y="T7"/>
              </a:cxn>
              <a:cxn ang="0">
                <a:pos x="T8" y="T9"/>
              </a:cxn>
              <a:cxn ang="0">
                <a:pos x="T10" y="T11"/>
              </a:cxn>
            </a:cxnLst>
            <a:rect l="0" t="0" r="r" b="b"/>
            <a:pathLst>
              <a:path w="280" h="862">
                <a:moveTo>
                  <a:pt x="280" y="278"/>
                </a:moveTo>
                <a:lnTo>
                  <a:pt x="280" y="862"/>
                </a:lnTo>
                <a:lnTo>
                  <a:pt x="0" y="582"/>
                </a:lnTo>
                <a:lnTo>
                  <a:pt x="0" y="0"/>
                </a:lnTo>
                <a:lnTo>
                  <a:pt x="3" y="0"/>
                </a:lnTo>
                <a:lnTo>
                  <a:pt x="280" y="278"/>
                </a:lnTo>
                <a:close/>
              </a:path>
            </a:pathLst>
          </a:custGeom>
          <a:solidFill>
            <a:schemeClr val="bg1">
              <a:lumMod val="8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243840" tIns="121920" rIns="243840" bIns="121920" numCol="1" anchor="t" anchorCtr="0" compatLnSpc="1"/>
          <a:lstStyle/>
          <a:p>
            <a:endParaRPr lang="en-US" sz="8533">
              <a:latin typeface="Roboto Light" panose="02000000000000000000" pitchFamily="2" charset="0"/>
              <a:ea typeface="Roboto Light" panose="02000000000000000000" pitchFamily="2" charset="0"/>
            </a:endParaRPr>
          </a:p>
        </p:txBody>
      </p:sp>
      <p:sp>
        <p:nvSpPr>
          <p:cNvPr id="10" name="Freeform 17"/>
          <p:cNvSpPr/>
          <p:nvPr/>
        </p:nvSpPr>
        <p:spPr bwMode="auto">
          <a:xfrm>
            <a:off x="21565627" y="7725105"/>
            <a:ext cx="2202187" cy="1674998"/>
          </a:xfrm>
          <a:custGeom>
            <a:avLst/>
            <a:gdLst>
              <a:gd name="T0" fmla="*/ 210 w 617"/>
              <a:gd name="T1" fmla="*/ 849 h 849"/>
              <a:gd name="T2" fmla="*/ 210 w 617"/>
              <a:gd name="T3" fmla="*/ 717 h 849"/>
              <a:gd name="T4" fmla="*/ 0 w 617"/>
              <a:gd name="T5" fmla="*/ 717 h 849"/>
              <a:gd name="T6" fmla="*/ 0 w 617"/>
              <a:gd name="T7" fmla="*/ 133 h 849"/>
              <a:gd name="T8" fmla="*/ 210 w 617"/>
              <a:gd name="T9" fmla="*/ 133 h 849"/>
              <a:gd name="T10" fmla="*/ 210 w 617"/>
              <a:gd name="T11" fmla="*/ 0 h 849"/>
              <a:gd name="T12" fmla="*/ 617 w 617"/>
              <a:gd name="T13" fmla="*/ 424 h 849"/>
              <a:gd name="T14" fmla="*/ 210 w 617"/>
              <a:gd name="T15" fmla="*/ 849 h 8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7" h="849">
                <a:moveTo>
                  <a:pt x="210" y="849"/>
                </a:moveTo>
                <a:lnTo>
                  <a:pt x="210" y="717"/>
                </a:lnTo>
                <a:lnTo>
                  <a:pt x="0" y="717"/>
                </a:lnTo>
                <a:lnTo>
                  <a:pt x="0" y="133"/>
                </a:lnTo>
                <a:lnTo>
                  <a:pt x="210" y="133"/>
                </a:lnTo>
                <a:lnTo>
                  <a:pt x="210" y="0"/>
                </a:lnTo>
                <a:lnTo>
                  <a:pt x="617" y="424"/>
                </a:lnTo>
                <a:lnTo>
                  <a:pt x="210" y="849"/>
                </a:lnTo>
                <a:close/>
              </a:path>
            </a:pathLst>
          </a:custGeom>
          <a:solidFill>
            <a:srgbClr val="92D050"/>
          </a:solidFill>
          <a:ln>
            <a:noFill/>
          </a:ln>
        </p:spPr>
        <p:txBody>
          <a:bodyPr vert="horz" wrap="square" lIns="243840" tIns="121920" rIns="243840" bIns="121920" numCol="1" anchor="t" anchorCtr="0" compatLnSpc="1"/>
          <a:lstStyle/>
          <a:p>
            <a:endParaRPr lang="en-US" sz="8533">
              <a:latin typeface="Roboto Light" panose="02000000000000000000" pitchFamily="2" charset="0"/>
              <a:ea typeface="Roboto Light" panose="02000000000000000000" pitchFamily="2" charset="0"/>
            </a:endParaRPr>
          </a:p>
        </p:txBody>
      </p:sp>
      <p:grpSp>
        <p:nvGrpSpPr>
          <p:cNvPr id="17" name="组合 16"/>
          <p:cNvGrpSpPr/>
          <p:nvPr/>
        </p:nvGrpSpPr>
        <p:grpSpPr>
          <a:xfrm>
            <a:off x="6015804" y="7610764"/>
            <a:ext cx="4897699" cy="2113673"/>
            <a:chOff x="3176585" y="2261909"/>
            <a:chExt cx="959665" cy="1016144"/>
          </a:xfrm>
        </p:grpSpPr>
        <p:sp>
          <p:nvSpPr>
            <p:cNvPr id="18" name="Rectangle 11"/>
            <p:cNvSpPr>
              <a:spLocks noChangeArrowheads="1"/>
            </p:cNvSpPr>
            <p:nvPr userDrawn="1"/>
          </p:nvSpPr>
          <p:spPr bwMode="auto">
            <a:xfrm>
              <a:off x="3261110" y="2261909"/>
              <a:ext cx="772282" cy="10161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243840" tIns="121920" rIns="243840" bIns="121920" numCol="1" anchor="t" anchorCtr="0" compatLnSpc="1"/>
            <a:lstStyle/>
            <a:p>
              <a:endParaRPr lang="en-US" sz="8533">
                <a:latin typeface="Roboto Light" panose="02000000000000000000" pitchFamily="2" charset="0"/>
                <a:ea typeface="Roboto Light" panose="02000000000000000000" pitchFamily="2" charset="0"/>
              </a:endParaRPr>
            </a:p>
          </p:txBody>
        </p:sp>
        <p:sp>
          <p:nvSpPr>
            <p:cNvPr id="19" name="Text Placeholder 59"/>
            <p:cNvSpPr txBox="1"/>
            <p:nvPr/>
          </p:nvSpPr>
          <p:spPr>
            <a:xfrm>
              <a:off x="3176585" y="2383410"/>
              <a:ext cx="959665" cy="677314"/>
            </a:xfrm>
            <a:prstGeom prst="rect">
              <a:avLst/>
            </a:prstGeom>
          </p:spPr>
          <p:txBody>
            <a:bodyPr anchor="ctr">
              <a:noAutofit/>
            </a:bodyPr>
            <a:lstStyle>
              <a:lvl1pPr marL="0" indent="0" algn="ctr" defTabSz="914400" rtl="0" eaLnBrk="1" latinLnBrk="0" hangingPunct="1">
                <a:spcBef>
                  <a:spcPct val="20000"/>
                </a:spcBef>
                <a:buFont typeface="Arial" panose="020B0604020202020204" pitchFamily="34" charset="0"/>
                <a:buNone/>
                <a:defRPr sz="2000" b="0" kern="1200">
                  <a:solidFill>
                    <a:schemeClr val="bg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ltLang="zh-CN" sz="4800">
                  <a:latin typeface="微软雅黑" panose="020B0503020204020204" charset="-122"/>
                  <a:ea typeface="微软雅黑" panose="020B0503020204020204" charset="-122"/>
                </a:rPr>
                <a:t>BaaS</a:t>
              </a:r>
              <a:endParaRPr lang="en-US" sz="4800" dirty="0">
                <a:latin typeface="微软雅黑" panose="020B0503020204020204" charset="-122"/>
                <a:ea typeface="微软雅黑" panose="020B0503020204020204" charset="-122"/>
              </a:endParaRPr>
            </a:p>
          </p:txBody>
        </p:sp>
      </p:grpSp>
      <p:grpSp>
        <p:nvGrpSpPr>
          <p:cNvPr id="26" name="组合 25"/>
          <p:cNvGrpSpPr/>
          <p:nvPr/>
        </p:nvGrpSpPr>
        <p:grpSpPr>
          <a:xfrm>
            <a:off x="11176794" y="7616571"/>
            <a:ext cx="4897700" cy="2127221"/>
            <a:chOff x="6619064" y="2261909"/>
            <a:chExt cx="959665" cy="1016144"/>
          </a:xfrm>
        </p:grpSpPr>
        <p:sp>
          <p:nvSpPr>
            <p:cNvPr id="27" name="Rectangle 6"/>
            <p:cNvSpPr>
              <a:spLocks noChangeArrowheads="1"/>
            </p:cNvSpPr>
            <p:nvPr userDrawn="1"/>
          </p:nvSpPr>
          <p:spPr bwMode="auto">
            <a:xfrm>
              <a:off x="6703589" y="2261909"/>
              <a:ext cx="772282" cy="10161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243840" tIns="121920" rIns="243840" bIns="121920" numCol="1" anchor="t" anchorCtr="0" compatLnSpc="1"/>
            <a:lstStyle/>
            <a:p>
              <a:endParaRPr lang="en-US" sz="8533">
                <a:latin typeface="Roboto Light" panose="02000000000000000000" pitchFamily="2" charset="0"/>
                <a:ea typeface="Roboto Light" panose="02000000000000000000" pitchFamily="2" charset="0"/>
              </a:endParaRPr>
            </a:p>
          </p:txBody>
        </p:sp>
        <p:sp>
          <p:nvSpPr>
            <p:cNvPr id="28" name="Text Placeholder 59"/>
            <p:cNvSpPr txBox="1"/>
            <p:nvPr/>
          </p:nvSpPr>
          <p:spPr>
            <a:xfrm>
              <a:off x="6619064" y="2383410"/>
              <a:ext cx="959665" cy="677314"/>
            </a:xfrm>
            <a:prstGeom prst="rect">
              <a:avLst/>
            </a:prstGeom>
          </p:spPr>
          <p:txBody>
            <a:bodyPr anchor="ctr">
              <a:noAutofit/>
            </a:bodyPr>
            <a:lstStyle>
              <a:lvl1pPr marL="0" indent="0" algn="ctr" defTabSz="914400" rtl="0" eaLnBrk="1" latinLnBrk="0" hangingPunct="1">
                <a:spcBef>
                  <a:spcPct val="20000"/>
                </a:spcBef>
                <a:buFont typeface="Arial" panose="020B0604020202020204" pitchFamily="34" charset="0"/>
                <a:buNone/>
                <a:defRPr sz="2000" b="0" kern="1200">
                  <a:solidFill>
                    <a:schemeClr val="bg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4800">
                  <a:latin typeface="微软雅黑" panose="020B0503020204020204" charset="-122"/>
                  <a:ea typeface="微软雅黑" panose="020B0503020204020204" charset="-122"/>
                </a:rPr>
                <a:t>行业应用</a:t>
              </a:r>
              <a:endParaRPr lang="en-US" sz="4800" dirty="0">
                <a:latin typeface="微软雅黑" panose="020B0503020204020204" charset="-122"/>
                <a:ea typeface="微软雅黑" panose="020B0503020204020204" charset="-122"/>
              </a:endParaRPr>
            </a:p>
          </p:txBody>
        </p:sp>
      </p:grpSp>
      <p:sp>
        <p:nvSpPr>
          <p:cNvPr id="36" name="Text Placeholder 59"/>
          <p:cNvSpPr txBox="1"/>
          <p:nvPr/>
        </p:nvSpPr>
        <p:spPr>
          <a:xfrm>
            <a:off x="6628373" y="3093799"/>
            <a:ext cx="4238473" cy="4264267"/>
          </a:xfrm>
          <a:prstGeom prst="rect">
            <a:avLst/>
          </a:prstGeom>
        </p:spPr>
        <p:txBody>
          <a:bodyPr anchor="t">
            <a:noAutofit/>
          </a:bodyPr>
          <a:lstStyle>
            <a:lvl1pPr marL="0" indent="0" algn="l" defTabSz="914400" rtl="0" eaLnBrk="1" latinLnBrk="0" hangingPunct="1">
              <a:spcBef>
                <a:spcPct val="20000"/>
              </a:spcBef>
              <a:buFont typeface="Arial" panose="020B0604020202020204" pitchFamily="34" charset="0"/>
              <a:buNone/>
              <a:defRPr sz="1800" b="0" kern="1200">
                <a:solidFill>
                  <a:schemeClr val="tx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50000"/>
              </a:lnSpc>
            </a:pPr>
            <a:r>
              <a:rPr lang="zh-CN" altLang="en-US" sz="2933" b="1">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特点</a:t>
            </a:r>
            <a:r>
              <a:rPr lang="zh-CN" altLang="en-US"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：类似于现在的共有云</a:t>
            </a:r>
            <a:endParaRPr lang="en-US" altLang="zh-CN"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endParaRPr>
          </a:p>
          <a:p>
            <a:pPr>
              <a:lnSpc>
                <a:spcPct val="150000"/>
              </a:lnSpc>
            </a:pPr>
            <a:r>
              <a:rPr lang="zh-CN" altLang="en-US" sz="2933" b="1">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服务方式</a:t>
            </a:r>
            <a:r>
              <a:rPr lang="zh-CN" altLang="en-US"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：按需购买</a:t>
            </a:r>
            <a:endParaRPr lang="en-US" altLang="zh-CN"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endParaRPr>
          </a:p>
          <a:p>
            <a:pPr>
              <a:lnSpc>
                <a:spcPct val="150000"/>
              </a:lnSpc>
            </a:pPr>
            <a:r>
              <a:rPr lang="zh-CN" altLang="en-US" sz="2933" b="1">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接入方式</a:t>
            </a:r>
            <a:r>
              <a:rPr lang="zh-CN" altLang="en-US"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a:t>
            </a:r>
            <a:r>
              <a:rPr lang="en-US" altLang="zh-CN"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API</a:t>
            </a:r>
          </a:p>
          <a:p>
            <a:pPr>
              <a:lnSpc>
                <a:spcPct val="150000"/>
              </a:lnSpc>
            </a:pPr>
            <a:r>
              <a:rPr lang="zh-CN" altLang="en-US" sz="2933" b="1">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现状</a:t>
            </a:r>
            <a:r>
              <a:rPr lang="zh-CN" altLang="en-US"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：几家大厂投入很大，但 见效很慢</a:t>
            </a:r>
            <a:endParaRPr lang="en-US" sz="2933" dirty="0">
              <a:solidFill>
                <a:schemeClr val="accent5"/>
              </a:solidFill>
              <a:latin typeface="微软雅黑 Light" panose="020B0502040204020203" pitchFamily="34" charset="-122"/>
              <a:ea typeface="微软雅黑 Light" panose="020B0502040204020203" pitchFamily="34" charset="-122"/>
            </a:endParaRPr>
          </a:p>
        </p:txBody>
      </p:sp>
      <p:sp>
        <p:nvSpPr>
          <p:cNvPr id="37" name="Text Placeholder 59"/>
          <p:cNvSpPr txBox="1"/>
          <p:nvPr/>
        </p:nvSpPr>
        <p:spPr>
          <a:xfrm>
            <a:off x="11669754" y="3209853"/>
            <a:ext cx="4646714" cy="3404486"/>
          </a:xfrm>
          <a:prstGeom prst="rect">
            <a:avLst/>
          </a:prstGeom>
        </p:spPr>
        <p:txBody>
          <a:bodyPr anchor="t">
            <a:noAutofit/>
          </a:bodyPr>
          <a:lstStyle>
            <a:lvl1pPr marL="0" indent="0" algn="l" defTabSz="914400" rtl="0" eaLnBrk="1" latinLnBrk="0" hangingPunct="1">
              <a:spcBef>
                <a:spcPct val="20000"/>
              </a:spcBef>
              <a:buFont typeface="Arial" panose="020B0604020202020204" pitchFamily="34" charset="0"/>
              <a:buNone/>
              <a:defRPr sz="1800" b="0" kern="1200">
                <a:solidFill>
                  <a:schemeClr val="tx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50000"/>
              </a:lnSpc>
            </a:pPr>
            <a:r>
              <a:rPr lang="zh-CN" altLang="en-US" sz="2933" b="1">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适应行业</a:t>
            </a:r>
            <a:r>
              <a:rPr lang="zh-CN" altLang="en-US"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：数字化程度较高、依赖三方信用</a:t>
            </a:r>
            <a:endParaRPr lang="en-US" altLang="zh-CN"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endParaRPr>
          </a:p>
          <a:p>
            <a:pPr>
              <a:lnSpc>
                <a:spcPct val="150000"/>
              </a:lnSpc>
            </a:pPr>
            <a:r>
              <a:rPr lang="zh-CN" altLang="en-US" sz="2933" b="1">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服务方式</a:t>
            </a:r>
            <a:r>
              <a:rPr lang="zh-CN" altLang="en-US"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：联盟链、</a:t>
            </a:r>
            <a:r>
              <a:rPr lang="en-US" altLang="zh-CN"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SaaS</a:t>
            </a:r>
          </a:p>
          <a:p>
            <a:pPr>
              <a:lnSpc>
                <a:spcPct val="150000"/>
              </a:lnSpc>
            </a:pPr>
            <a:r>
              <a:rPr lang="zh-CN" altLang="en-US" sz="2933" b="1">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现状</a:t>
            </a:r>
            <a:r>
              <a:rPr lang="zh-CN" altLang="en-US"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：供应链金融、存证、互联网法院、溯源</a:t>
            </a:r>
            <a:r>
              <a:rPr lang="en-US" altLang="zh-CN"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a:t>
            </a:r>
            <a:r>
              <a:rPr lang="zh-CN" altLang="en-US"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食品</a:t>
            </a:r>
            <a:r>
              <a:rPr lang="en-US" altLang="zh-CN"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a:t>
            </a:r>
            <a:r>
              <a:rPr lang="zh-CN" altLang="en-US"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药品</a:t>
            </a:r>
            <a:r>
              <a:rPr lang="en-US" altLang="zh-CN"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a:t>
            </a:r>
            <a:endParaRPr lang="zh-CN" altLang="en-US" sz="2933" dirty="0">
              <a:solidFill>
                <a:schemeClr val="accent5"/>
              </a:solidFill>
              <a:latin typeface="微软雅黑 Light" panose="020B0502040204020203" pitchFamily="34" charset="-122"/>
              <a:ea typeface="微软雅黑 Light" panose="020B0502040204020203" pitchFamily="34" charset="-122"/>
              <a:sym typeface="微软雅黑" panose="020B0503020204020204" charset="-122"/>
            </a:endParaRPr>
          </a:p>
        </p:txBody>
      </p:sp>
      <p:cxnSp>
        <p:nvCxnSpPr>
          <p:cNvPr id="39" name="Straight Connector 63"/>
          <p:cNvCxnSpPr>
            <a:cxnSpLocks/>
          </p:cNvCxnSpPr>
          <p:nvPr/>
        </p:nvCxnSpPr>
        <p:spPr>
          <a:xfrm>
            <a:off x="6477977" y="3209853"/>
            <a:ext cx="0" cy="4148213"/>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64"/>
          <p:cNvCxnSpPr>
            <a:cxnSpLocks/>
          </p:cNvCxnSpPr>
          <p:nvPr/>
        </p:nvCxnSpPr>
        <p:spPr>
          <a:xfrm>
            <a:off x="11669755" y="3393231"/>
            <a:ext cx="0" cy="373396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1" name="Freeform 5"/>
          <p:cNvSpPr/>
          <p:nvPr/>
        </p:nvSpPr>
        <p:spPr bwMode="auto">
          <a:xfrm>
            <a:off x="10367160" y="7610763"/>
            <a:ext cx="999371" cy="2113673"/>
          </a:xfrm>
          <a:custGeom>
            <a:avLst/>
            <a:gdLst>
              <a:gd name="T0" fmla="*/ 280 w 280"/>
              <a:gd name="T1" fmla="*/ 278 h 862"/>
              <a:gd name="T2" fmla="*/ 280 w 280"/>
              <a:gd name="T3" fmla="*/ 862 h 862"/>
              <a:gd name="T4" fmla="*/ 0 w 280"/>
              <a:gd name="T5" fmla="*/ 582 h 862"/>
              <a:gd name="T6" fmla="*/ 0 w 280"/>
              <a:gd name="T7" fmla="*/ 0 h 862"/>
              <a:gd name="T8" fmla="*/ 3 w 280"/>
              <a:gd name="T9" fmla="*/ 0 h 862"/>
              <a:gd name="T10" fmla="*/ 280 w 280"/>
              <a:gd name="T11" fmla="*/ 278 h 862"/>
            </a:gdLst>
            <a:ahLst/>
            <a:cxnLst>
              <a:cxn ang="0">
                <a:pos x="T0" y="T1"/>
              </a:cxn>
              <a:cxn ang="0">
                <a:pos x="T2" y="T3"/>
              </a:cxn>
              <a:cxn ang="0">
                <a:pos x="T4" y="T5"/>
              </a:cxn>
              <a:cxn ang="0">
                <a:pos x="T6" y="T7"/>
              </a:cxn>
              <a:cxn ang="0">
                <a:pos x="T8" y="T9"/>
              </a:cxn>
              <a:cxn ang="0">
                <a:pos x="T10" y="T11"/>
              </a:cxn>
            </a:cxnLst>
            <a:rect l="0" t="0" r="r" b="b"/>
            <a:pathLst>
              <a:path w="280" h="862">
                <a:moveTo>
                  <a:pt x="280" y="278"/>
                </a:moveTo>
                <a:lnTo>
                  <a:pt x="280" y="862"/>
                </a:lnTo>
                <a:lnTo>
                  <a:pt x="0" y="582"/>
                </a:lnTo>
                <a:lnTo>
                  <a:pt x="0" y="0"/>
                </a:lnTo>
                <a:lnTo>
                  <a:pt x="3" y="0"/>
                </a:lnTo>
                <a:lnTo>
                  <a:pt x="280" y="278"/>
                </a:lnTo>
                <a:close/>
              </a:path>
            </a:pathLst>
          </a:custGeom>
          <a:solidFill>
            <a:schemeClr val="bg1">
              <a:lumMod val="8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243840" tIns="121920" rIns="243840" bIns="121920" numCol="1" anchor="t" anchorCtr="0" compatLnSpc="1"/>
          <a:lstStyle/>
          <a:p>
            <a:endParaRPr lang="en-US" sz="8533">
              <a:latin typeface="Roboto Light" panose="02000000000000000000" pitchFamily="2" charset="0"/>
              <a:ea typeface="Roboto Light" panose="02000000000000000000" pitchFamily="2" charset="0"/>
            </a:endParaRPr>
          </a:p>
        </p:txBody>
      </p:sp>
      <p:grpSp>
        <p:nvGrpSpPr>
          <p:cNvPr id="20" name="组合 19">
            <a:extLst>
              <a:ext uri="{FF2B5EF4-FFF2-40B4-BE49-F238E27FC236}">
                <a16:creationId xmlns:a16="http://schemas.microsoft.com/office/drawing/2014/main" id="{8A5B11D1-4491-43DC-BBBB-3FE0005E1656}"/>
              </a:ext>
            </a:extLst>
          </p:cNvPr>
          <p:cNvGrpSpPr/>
          <p:nvPr/>
        </p:nvGrpSpPr>
        <p:grpSpPr>
          <a:xfrm>
            <a:off x="16181061" y="7622923"/>
            <a:ext cx="5252910" cy="2113672"/>
            <a:chOff x="3176585" y="2261909"/>
            <a:chExt cx="959665" cy="1016144"/>
          </a:xfrm>
        </p:grpSpPr>
        <p:sp>
          <p:nvSpPr>
            <p:cNvPr id="22" name="Rectangle 11">
              <a:extLst>
                <a:ext uri="{FF2B5EF4-FFF2-40B4-BE49-F238E27FC236}">
                  <a16:creationId xmlns:a16="http://schemas.microsoft.com/office/drawing/2014/main" id="{FDD0E187-C2A0-4C41-8436-332F36050F55}"/>
                </a:ext>
              </a:extLst>
            </p:cNvPr>
            <p:cNvSpPr>
              <a:spLocks noChangeArrowheads="1"/>
            </p:cNvSpPr>
            <p:nvPr userDrawn="1"/>
          </p:nvSpPr>
          <p:spPr bwMode="auto">
            <a:xfrm>
              <a:off x="3261110" y="2261909"/>
              <a:ext cx="772282" cy="10161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243840" tIns="121920" rIns="243840" bIns="121920" numCol="1" anchor="t" anchorCtr="0" compatLnSpc="1"/>
            <a:lstStyle/>
            <a:p>
              <a:endParaRPr lang="en-US" sz="8533">
                <a:latin typeface="Roboto Light" panose="02000000000000000000" pitchFamily="2" charset="0"/>
                <a:ea typeface="Roboto Light" panose="02000000000000000000" pitchFamily="2" charset="0"/>
              </a:endParaRPr>
            </a:p>
          </p:txBody>
        </p:sp>
        <p:sp>
          <p:nvSpPr>
            <p:cNvPr id="23" name="Text Placeholder 59">
              <a:extLst>
                <a:ext uri="{FF2B5EF4-FFF2-40B4-BE49-F238E27FC236}">
                  <a16:creationId xmlns:a16="http://schemas.microsoft.com/office/drawing/2014/main" id="{C1B09834-F46F-4DC5-8A9E-7FFB79AFEDD3}"/>
                </a:ext>
              </a:extLst>
            </p:cNvPr>
            <p:cNvSpPr txBox="1"/>
            <p:nvPr/>
          </p:nvSpPr>
          <p:spPr>
            <a:xfrm>
              <a:off x="3176585" y="2383410"/>
              <a:ext cx="959665" cy="677314"/>
            </a:xfrm>
            <a:prstGeom prst="rect">
              <a:avLst/>
            </a:prstGeom>
          </p:spPr>
          <p:txBody>
            <a:bodyPr anchor="ctr">
              <a:noAutofit/>
            </a:bodyPr>
            <a:lstStyle>
              <a:lvl1pPr marL="0" indent="0" algn="ctr" defTabSz="914400" rtl="0" eaLnBrk="1" latinLnBrk="0" hangingPunct="1">
                <a:spcBef>
                  <a:spcPct val="20000"/>
                </a:spcBef>
                <a:buFont typeface="Arial" panose="020B0604020202020204" pitchFamily="34" charset="0"/>
                <a:buNone/>
                <a:defRPr sz="2000" b="0" kern="1200">
                  <a:solidFill>
                    <a:schemeClr val="bg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4800">
                  <a:latin typeface="微软雅黑" panose="020B0503020204020204" charset="-122"/>
                  <a:ea typeface="微软雅黑" panose="020B0503020204020204" charset="-122"/>
                </a:rPr>
                <a:t>跨链</a:t>
              </a:r>
              <a:endParaRPr lang="en-US" sz="4800" dirty="0">
                <a:latin typeface="微软雅黑" panose="020B0503020204020204" charset="-122"/>
                <a:ea typeface="微软雅黑" panose="020B0503020204020204" charset="-122"/>
              </a:endParaRPr>
            </a:p>
          </p:txBody>
        </p:sp>
      </p:grpSp>
      <p:sp>
        <p:nvSpPr>
          <p:cNvPr id="24" name="Text Placeholder 59">
            <a:extLst>
              <a:ext uri="{FF2B5EF4-FFF2-40B4-BE49-F238E27FC236}">
                <a16:creationId xmlns:a16="http://schemas.microsoft.com/office/drawing/2014/main" id="{712C0A23-0AF2-4550-9416-38020159A2D0}"/>
              </a:ext>
            </a:extLst>
          </p:cNvPr>
          <p:cNvSpPr txBox="1"/>
          <p:nvPr/>
        </p:nvSpPr>
        <p:spPr>
          <a:xfrm>
            <a:off x="16524247" y="3209853"/>
            <a:ext cx="4909724" cy="3846975"/>
          </a:xfrm>
          <a:prstGeom prst="rect">
            <a:avLst/>
          </a:prstGeom>
        </p:spPr>
        <p:txBody>
          <a:bodyPr anchor="t">
            <a:noAutofit/>
          </a:bodyPr>
          <a:lstStyle>
            <a:lvl1pPr marL="0" indent="0" algn="l" defTabSz="914400" rtl="0" eaLnBrk="1" latinLnBrk="0" hangingPunct="1">
              <a:spcBef>
                <a:spcPct val="20000"/>
              </a:spcBef>
              <a:buFont typeface="Arial" panose="020B0604020202020204" pitchFamily="34" charset="0"/>
              <a:buNone/>
              <a:defRPr sz="1800" b="0" kern="1200">
                <a:solidFill>
                  <a:schemeClr val="tx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50000"/>
              </a:lnSpc>
            </a:pPr>
            <a:r>
              <a:rPr lang="zh-CN" altLang="en-US"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背景：各联盟链发展，孤链越来越多</a:t>
            </a:r>
            <a:endParaRPr lang="en-US" altLang="zh-CN"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endParaRPr>
          </a:p>
          <a:p>
            <a:pPr>
              <a:lnSpc>
                <a:spcPct val="150000"/>
              </a:lnSpc>
            </a:pPr>
            <a:r>
              <a:rPr lang="zh-CN" altLang="en-US"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限制：数据流通</a:t>
            </a:r>
            <a:endParaRPr lang="en-US" altLang="zh-CN"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endParaRPr>
          </a:p>
          <a:p>
            <a:pPr>
              <a:lnSpc>
                <a:spcPct val="150000"/>
              </a:lnSpc>
            </a:pPr>
            <a:r>
              <a:rPr lang="zh-CN" altLang="en-US"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现状：目前几乎没有</a:t>
            </a:r>
            <a:endParaRPr lang="en-US" sz="2933" dirty="0">
              <a:solidFill>
                <a:schemeClr val="accent5"/>
              </a:solidFill>
              <a:latin typeface="微软雅黑 Light" panose="020B0502040204020203" pitchFamily="34" charset="-122"/>
              <a:ea typeface="微软雅黑 Light" panose="020B0502040204020203" pitchFamily="34" charset="-122"/>
            </a:endParaRPr>
          </a:p>
        </p:txBody>
      </p:sp>
      <p:cxnSp>
        <p:nvCxnSpPr>
          <p:cNvPr id="25" name="Straight Connector 63">
            <a:extLst>
              <a:ext uri="{FF2B5EF4-FFF2-40B4-BE49-F238E27FC236}">
                <a16:creationId xmlns:a16="http://schemas.microsoft.com/office/drawing/2014/main" id="{5B0E3F2F-AE70-4AED-AA61-239B111E4B9A}"/>
              </a:ext>
            </a:extLst>
          </p:cNvPr>
          <p:cNvCxnSpPr>
            <a:cxnSpLocks/>
          </p:cNvCxnSpPr>
          <p:nvPr/>
        </p:nvCxnSpPr>
        <p:spPr>
          <a:xfrm>
            <a:off x="16316468" y="3393231"/>
            <a:ext cx="0" cy="391734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29" name="组合 28">
            <a:extLst>
              <a:ext uri="{FF2B5EF4-FFF2-40B4-BE49-F238E27FC236}">
                <a16:creationId xmlns:a16="http://schemas.microsoft.com/office/drawing/2014/main" id="{1E972142-5C39-42E0-BC2E-B8C15F0EBEFB}"/>
              </a:ext>
            </a:extLst>
          </p:cNvPr>
          <p:cNvGrpSpPr/>
          <p:nvPr/>
        </p:nvGrpSpPr>
        <p:grpSpPr>
          <a:xfrm>
            <a:off x="597315" y="7563275"/>
            <a:ext cx="4897699" cy="2113673"/>
            <a:chOff x="3176585" y="2261909"/>
            <a:chExt cx="959665" cy="1016144"/>
          </a:xfrm>
        </p:grpSpPr>
        <p:sp>
          <p:nvSpPr>
            <p:cNvPr id="30" name="Rectangle 11">
              <a:extLst>
                <a:ext uri="{FF2B5EF4-FFF2-40B4-BE49-F238E27FC236}">
                  <a16:creationId xmlns:a16="http://schemas.microsoft.com/office/drawing/2014/main" id="{B0368EA8-84F3-4DDD-B9C0-E75C52BAADF1}"/>
                </a:ext>
              </a:extLst>
            </p:cNvPr>
            <p:cNvSpPr>
              <a:spLocks noChangeArrowheads="1"/>
            </p:cNvSpPr>
            <p:nvPr userDrawn="1"/>
          </p:nvSpPr>
          <p:spPr bwMode="auto">
            <a:xfrm>
              <a:off x="3261110" y="2261909"/>
              <a:ext cx="772282" cy="10161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243840" tIns="121920" rIns="243840" bIns="121920" numCol="1" anchor="t" anchorCtr="0" compatLnSpc="1"/>
            <a:lstStyle/>
            <a:p>
              <a:endParaRPr lang="en-US" sz="8533">
                <a:latin typeface="Roboto Light" panose="02000000000000000000" pitchFamily="2" charset="0"/>
                <a:ea typeface="Roboto Light" panose="02000000000000000000" pitchFamily="2" charset="0"/>
              </a:endParaRPr>
            </a:p>
          </p:txBody>
        </p:sp>
        <p:sp>
          <p:nvSpPr>
            <p:cNvPr id="31" name="Text Placeholder 59">
              <a:extLst>
                <a:ext uri="{FF2B5EF4-FFF2-40B4-BE49-F238E27FC236}">
                  <a16:creationId xmlns:a16="http://schemas.microsoft.com/office/drawing/2014/main" id="{2989A48E-33A6-41ED-B38C-39845DB7F417}"/>
                </a:ext>
              </a:extLst>
            </p:cNvPr>
            <p:cNvSpPr txBox="1"/>
            <p:nvPr/>
          </p:nvSpPr>
          <p:spPr>
            <a:xfrm>
              <a:off x="3176585" y="2383410"/>
              <a:ext cx="959665" cy="677314"/>
            </a:xfrm>
            <a:prstGeom prst="rect">
              <a:avLst/>
            </a:prstGeom>
          </p:spPr>
          <p:txBody>
            <a:bodyPr anchor="ctr">
              <a:noAutofit/>
            </a:bodyPr>
            <a:lstStyle>
              <a:lvl1pPr marL="0" indent="0" algn="ctr" defTabSz="914400" rtl="0" eaLnBrk="1" latinLnBrk="0" hangingPunct="1">
                <a:spcBef>
                  <a:spcPct val="20000"/>
                </a:spcBef>
                <a:buFont typeface="Arial" panose="020B0604020202020204" pitchFamily="34" charset="0"/>
                <a:buNone/>
                <a:defRPr sz="2000" b="0" kern="1200">
                  <a:solidFill>
                    <a:schemeClr val="bg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4800">
                  <a:latin typeface="微软雅黑" panose="020B0503020204020204" charset="-122"/>
                  <a:ea typeface="微软雅黑" panose="020B0503020204020204" charset="-122"/>
                </a:rPr>
                <a:t>公链</a:t>
              </a:r>
              <a:endParaRPr lang="en-US" sz="4800" dirty="0">
                <a:latin typeface="微软雅黑" panose="020B0503020204020204" charset="-122"/>
                <a:ea typeface="微软雅黑" panose="020B0503020204020204" charset="-122"/>
              </a:endParaRPr>
            </a:p>
          </p:txBody>
        </p:sp>
      </p:grpSp>
      <p:sp>
        <p:nvSpPr>
          <p:cNvPr id="32" name="Text Placeholder 59">
            <a:extLst>
              <a:ext uri="{FF2B5EF4-FFF2-40B4-BE49-F238E27FC236}">
                <a16:creationId xmlns:a16="http://schemas.microsoft.com/office/drawing/2014/main" id="{B1C3854F-0A6C-49A4-ACF2-8FD55A8F33E2}"/>
              </a:ext>
            </a:extLst>
          </p:cNvPr>
          <p:cNvSpPr txBox="1"/>
          <p:nvPr/>
        </p:nvSpPr>
        <p:spPr>
          <a:xfrm>
            <a:off x="1209884" y="3046310"/>
            <a:ext cx="4238473" cy="4264267"/>
          </a:xfrm>
          <a:prstGeom prst="rect">
            <a:avLst/>
          </a:prstGeom>
        </p:spPr>
        <p:txBody>
          <a:bodyPr anchor="t">
            <a:noAutofit/>
          </a:bodyPr>
          <a:lstStyle>
            <a:lvl1pPr marL="0" indent="0" algn="l" defTabSz="914400" rtl="0" eaLnBrk="1" latinLnBrk="0" hangingPunct="1">
              <a:spcBef>
                <a:spcPct val="20000"/>
              </a:spcBef>
              <a:buFont typeface="Arial" panose="020B0604020202020204" pitchFamily="34" charset="0"/>
              <a:buNone/>
              <a:defRPr sz="1800" b="0" kern="1200">
                <a:solidFill>
                  <a:schemeClr val="tx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50000"/>
              </a:lnSpc>
            </a:pPr>
            <a:r>
              <a:rPr lang="zh-CN" altLang="en-US" sz="2933" b="1">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特点</a:t>
            </a:r>
            <a:r>
              <a:rPr lang="zh-CN" altLang="en-US"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：加密技术、分布式账本、共识技术、去中心化交易所</a:t>
            </a:r>
            <a:endParaRPr lang="en-US" altLang="zh-CN"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endParaRPr>
          </a:p>
          <a:p>
            <a:pPr>
              <a:lnSpc>
                <a:spcPct val="150000"/>
              </a:lnSpc>
            </a:pPr>
            <a:r>
              <a:rPr lang="zh-CN" altLang="en-US" sz="2933" b="1">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现状</a:t>
            </a:r>
            <a:r>
              <a:rPr lang="zh-CN" altLang="en-US" sz="2933">
                <a:solidFill>
                  <a:schemeClr val="accent5"/>
                </a:solidFill>
                <a:latin typeface="微软雅黑 Light" panose="020B0502040204020203" pitchFamily="34" charset="-122"/>
                <a:ea typeface="微软雅黑 Light" panose="020B0502040204020203" pitchFamily="34" charset="-122"/>
                <a:sym typeface="微软雅黑" panose="020B0503020204020204" charset="-122"/>
              </a:rPr>
              <a:t>：比特币、以态坊</a:t>
            </a:r>
            <a:endParaRPr lang="en-US" sz="2933" dirty="0">
              <a:solidFill>
                <a:schemeClr val="accent5"/>
              </a:solidFill>
              <a:latin typeface="微软雅黑 Light" panose="020B0502040204020203" pitchFamily="34" charset="-122"/>
              <a:ea typeface="微软雅黑 Light" panose="020B0502040204020203" pitchFamily="34" charset="-122"/>
            </a:endParaRPr>
          </a:p>
        </p:txBody>
      </p:sp>
      <p:cxnSp>
        <p:nvCxnSpPr>
          <p:cNvPr id="33" name="Straight Connector 63">
            <a:extLst>
              <a:ext uri="{FF2B5EF4-FFF2-40B4-BE49-F238E27FC236}">
                <a16:creationId xmlns:a16="http://schemas.microsoft.com/office/drawing/2014/main" id="{E3C757D5-1A00-4307-BE03-47804E5DFC94}"/>
              </a:ext>
            </a:extLst>
          </p:cNvPr>
          <p:cNvCxnSpPr>
            <a:cxnSpLocks/>
          </p:cNvCxnSpPr>
          <p:nvPr/>
        </p:nvCxnSpPr>
        <p:spPr>
          <a:xfrm>
            <a:off x="1059488" y="3162364"/>
            <a:ext cx="0" cy="4148213"/>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5" name="Freeform 5">
            <a:extLst>
              <a:ext uri="{FF2B5EF4-FFF2-40B4-BE49-F238E27FC236}">
                <a16:creationId xmlns:a16="http://schemas.microsoft.com/office/drawing/2014/main" id="{28B956A8-43ED-466E-A32C-B2039EE94EDC}"/>
              </a:ext>
            </a:extLst>
          </p:cNvPr>
          <p:cNvSpPr/>
          <p:nvPr/>
        </p:nvSpPr>
        <p:spPr bwMode="auto">
          <a:xfrm>
            <a:off x="4948671" y="7563274"/>
            <a:ext cx="999371" cy="2113673"/>
          </a:xfrm>
          <a:custGeom>
            <a:avLst/>
            <a:gdLst>
              <a:gd name="T0" fmla="*/ 280 w 280"/>
              <a:gd name="T1" fmla="*/ 278 h 862"/>
              <a:gd name="T2" fmla="*/ 280 w 280"/>
              <a:gd name="T3" fmla="*/ 862 h 862"/>
              <a:gd name="T4" fmla="*/ 0 w 280"/>
              <a:gd name="T5" fmla="*/ 582 h 862"/>
              <a:gd name="T6" fmla="*/ 0 w 280"/>
              <a:gd name="T7" fmla="*/ 0 h 862"/>
              <a:gd name="T8" fmla="*/ 3 w 280"/>
              <a:gd name="T9" fmla="*/ 0 h 862"/>
              <a:gd name="T10" fmla="*/ 280 w 280"/>
              <a:gd name="T11" fmla="*/ 278 h 862"/>
            </a:gdLst>
            <a:ahLst/>
            <a:cxnLst>
              <a:cxn ang="0">
                <a:pos x="T0" y="T1"/>
              </a:cxn>
              <a:cxn ang="0">
                <a:pos x="T2" y="T3"/>
              </a:cxn>
              <a:cxn ang="0">
                <a:pos x="T4" y="T5"/>
              </a:cxn>
              <a:cxn ang="0">
                <a:pos x="T6" y="T7"/>
              </a:cxn>
              <a:cxn ang="0">
                <a:pos x="T8" y="T9"/>
              </a:cxn>
              <a:cxn ang="0">
                <a:pos x="T10" y="T11"/>
              </a:cxn>
            </a:cxnLst>
            <a:rect l="0" t="0" r="r" b="b"/>
            <a:pathLst>
              <a:path w="280" h="862">
                <a:moveTo>
                  <a:pt x="280" y="278"/>
                </a:moveTo>
                <a:lnTo>
                  <a:pt x="280" y="862"/>
                </a:lnTo>
                <a:lnTo>
                  <a:pt x="0" y="582"/>
                </a:lnTo>
                <a:lnTo>
                  <a:pt x="0" y="0"/>
                </a:lnTo>
                <a:lnTo>
                  <a:pt x="3" y="0"/>
                </a:lnTo>
                <a:lnTo>
                  <a:pt x="280" y="278"/>
                </a:lnTo>
                <a:close/>
              </a:path>
            </a:pathLst>
          </a:custGeom>
          <a:solidFill>
            <a:schemeClr val="bg1">
              <a:lumMod val="8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243840" tIns="121920" rIns="243840" bIns="121920" numCol="1" anchor="t" anchorCtr="0" compatLnSpc="1"/>
          <a:lstStyle/>
          <a:p>
            <a:endParaRPr lang="en-US" sz="8533">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34956127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down)">
                                      <p:cBhvr>
                                        <p:cTn id="7" dur="300"/>
                                        <p:tgtEl>
                                          <p:spTgt spid="17"/>
                                        </p:tgtEl>
                                      </p:cBhvr>
                                    </p:animEffect>
                                  </p:childTnLst>
                                </p:cTn>
                              </p:par>
                            </p:childTnLst>
                          </p:cTn>
                        </p:par>
                        <p:par>
                          <p:cTn id="8" fill="hold">
                            <p:stCondLst>
                              <p:cond delay="300"/>
                            </p:stCondLst>
                            <p:childTnLst>
                              <p:par>
                                <p:cTn id="9" presetID="22" presetClass="entr" presetSubtype="4"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wipe(down)">
                                      <p:cBhvr>
                                        <p:cTn id="11" dur="500"/>
                                        <p:tgtEl>
                                          <p:spTgt spid="39"/>
                                        </p:tgtEl>
                                      </p:cBhvr>
                                    </p:animEffect>
                                  </p:childTnLst>
                                </p:cTn>
                              </p:par>
                            </p:childTnLst>
                          </p:cTn>
                        </p:par>
                        <p:par>
                          <p:cTn id="12" fill="hold">
                            <p:stCondLst>
                              <p:cond delay="800"/>
                            </p:stCondLst>
                            <p:childTnLst>
                              <p:par>
                                <p:cTn id="13" presetID="22" presetClass="entr" presetSubtype="8" fill="hold" grpId="0" nodeType="afterEffect">
                                  <p:stCondLst>
                                    <p:cond delay="0"/>
                                  </p:stCondLst>
                                  <p:childTnLst>
                                    <p:set>
                                      <p:cBhvr>
                                        <p:cTn id="14" dur="1" fill="hold">
                                          <p:stCondLst>
                                            <p:cond delay="0"/>
                                          </p:stCondLst>
                                        </p:cTn>
                                        <p:tgtEl>
                                          <p:spTgt spid="36"/>
                                        </p:tgtEl>
                                        <p:attrNameLst>
                                          <p:attrName>style.visibility</p:attrName>
                                        </p:attrNameLst>
                                      </p:cBhvr>
                                      <p:to>
                                        <p:strVal val="visible"/>
                                      </p:to>
                                    </p:set>
                                    <p:animEffect transition="in" filter="wipe(left)">
                                      <p:cBhvr>
                                        <p:cTn id="15" dur="500"/>
                                        <p:tgtEl>
                                          <p:spTgt spid="36"/>
                                        </p:tgtEl>
                                      </p:cBhvr>
                                    </p:animEffect>
                                  </p:childTnLst>
                                </p:cTn>
                              </p:par>
                            </p:childTnLst>
                          </p:cTn>
                        </p:par>
                        <p:par>
                          <p:cTn id="16" fill="hold">
                            <p:stCondLst>
                              <p:cond delay="1300"/>
                            </p:stCondLst>
                            <p:childTnLst>
                              <p:par>
                                <p:cTn id="17" presetID="22" presetClass="entr" presetSubtype="4" fill="hold" nodeType="afterEffect">
                                  <p:stCondLst>
                                    <p:cond delay="0"/>
                                  </p:stCondLst>
                                  <p:childTnLst>
                                    <p:set>
                                      <p:cBhvr>
                                        <p:cTn id="18" dur="1" fill="hold">
                                          <p:stCondLst>
                                            <p:cond delay="0"/>
                                          </p:stCondLst>
                                        </p:cTn>
                                        <p:tgtEl>
                                          <p:spTgt spid="40"/>
                                        </p:tgtEl>
                                        <p:attrNameLst>
                                          <p:attrName>style.visibility</p:attrName>
                                        </p:attrNameLst>
                                      </p:cBhvr>
                                      <p:to>
                                        <p:strVal val="visible"/>
                                      </p:to>
                                    </p:set>
                                    <p:animEffect transition="in" filter="wipe(down)">
                                      <p:cBhvr>
                                        <p:cTn id="19" dur="500"/>
                                        <p:tgtEl>
                                          <p:spTgt spid="40"/>
                                        </p:tgtEl>
                                      </p:cBhvr>
                                    </p:animEffect>
                                  </p:childTnLst>
                                </p:cTn>
                              </p:par>
                            </p:childTnLst>
                          </p:cTn>
                        </p:par>
                        <p:par>
                          <p:cTn id="20" fill="hold">
                            <p:stCondLst>
                              <p:cond delay="1800"/>
                            </p:stCondLst>
                            <p:childTnLst>
                              <p:par>
                                <p:cTn id="21" presetID="22" presetClass="entr" presetSubtype="8" fill="hold" grpId="0" nodeType="afterEffect">
                                  <p:stCondLst>
                                    <p:cond delay="0"/>
                                  </p:stCondLst>
                                  <p:childTnLst>
                                    <p:set>
                                      <p:cBhvr>
                                        <p:cTn id="22" dur="1" fill="hold">
                                          <p:stCondLst>
                                            <p:cond delay="0"/>
                                          </p:stCondLst>
                                        </p:cTn>
                                        <p:tgtEl>
                                          <p:spTgt spid="37"/>
                                        </p:tgtEl>
                                        <p:attrNameLst>
                                          <p:attrName>style.visibility</p:attrName>
                                        </p:attrNameLst>
                                      </p:cBhvr>
                                      <p:to>
                                        <p:strVal val="visible"/>
                                      </p:to>
                                    </p:set>
                                    <p:animEffect transition="in" filter="wipe(left)">
                                      <p:cBhvr>
                                        <p:cTn id="23" dur="500"/>
                                        <p:tgtEl>
                                          <p:spTgt spid="3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wipe(down)">
                                      <p:cBhvr>
                                        <p:cTn id="28" dur="300"/>
                                        <p:tgtEl>
                                          <p:spTgt spid="26"/>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left)">
                                      <p:cBhvr>
                                        <p:cTn id="32" dur="300"/>
                                        <p:tgtEl>
                                          <p:spTgt spid="4"/>
                                        </p:tgtEl>
                                      </p:cBhvr>
                                    </p:animEffect>
                                  </p:childTnLst>
                                </p:cTn>
                              </p:par>
                            </p:childTnLst>
                          </p:cTn>
                        </p:par>
                        <p:par>
                          <p:cTn id="33" fill="hold">
                            <p:stCondLst>
                              <p:cond delay="800"/>
                            </p:stCondLst>
                            <p:childTnLst>
                              <p:par>
                                <p:cTn id="34" presetID="22" presetClass="entr" presetSubtype="8" fill="hold" grpId="0" nodeType="after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wipe(left)">
                                      <p:cBhvr>
                                        <p:cTn id="36" dur="300"/>
                                        <p:tgtEl>
                                          <p:spTgt spid="10"/>
                                        </p:tgtEl>
                                      </p:cBhvr>
                                    </p:animEffect>
                                  </p:childTnLst>
                                </p:cTn>
                              </p:par>
                            </p:childTnLst>
                          </p:cTn>
                        </p:par>
                        <p:par>
                          <p:cTn id="37" fill="hold">
                            <p:stCondLst>
                              <p:cond delay="1100"/>
                            </p:stCondLst>
                            <p:childTnLst>
                              <p:par>
                                <p:cTn id="38" presetID="22" presetClass="entr" presetSubtype="8" fill="hold" grpId="0" nodeType="after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wipe(left)">
                                      <p:cBhvr>
                                        <p:cTn id="40" dur="30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nodeType="click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down)">
                                      <p:cBhvr>
                                        <p:cTn id="45" dur="300"/>
                                        <p:tgtEl>
                                          <p:spTgt spid="20"/>
                                        </p:tgtEl>
                                      </p:cBhvr>
                                    </p:animEffect>
                                  </p:childTnLst>
                                </p:cTn>
                              </p:par>
                            </p:childTnLst>
                          </p:cTn>
                        </p:par>
                        <p:par>
                          <p:cTn id="46" fill="hold">
                            <p:stCondLst>
                              <p:cond delay="300"/>
                            </p:stCondLst>
                            <p:childTnLst>
                              <p:par>
                                <p:cTn id="47" presetID="22" presetClass="entr" presetSubtype="4" fill="hold" nodeType="after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wipe(down)">
                                      <p:cBhvr>
                                        <p:cTn id="49" dur="500"/>
                                        <p:tgtEl>
                                          <p:spTgt spid="25"/>
                                        </p:tgtEl>
                                      </p:cBhvr>
                                    </p:animEffect>
                                  </p:childTnLst>
                                </p:cTn>
                              </p:par>
                            </p:childTnLst>
                          </p:cTn>
                        </p:par>
                        <p:par>
                          <p:cTn id="50" fill="hold">
                            <p:stCondLst>
                              <p:cond delay="800"/>
                            </p:stCondLst>
                            <p:childTnLst>
                              <p:par>
                                <p:cTn id="51" presetID="22" presetClass="entr" presetSubtype="8" fill="hold" grpId="0" nodeType="after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wipe(left)">
                                      <p:cBhvr>
                                        <p:cTn id="53" dur="500"/>
                                        <p:tgtEl>
                                          <p:spTgt spid="24"/>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nodeType="clickEffect">
                                  <p:stCondLst>
                                    <p:cond delay="0"/>
                                  </p:stCondLst>
                                  <p:childTnLst>
                                    <p:set>
                                      <p:cBhvr>
                                        <p:cTn id="57" dur="1" fill="hold">
                                          <p:stCondLst>
                                            <p:cond delay="0"/>
                                          </p:stCondLst>
                                        </p:cTn>
                                        <p:tgtEl>
                                          <p:spTgt spid="29"/>
                                        </p:tgtEl>
                                        <p:attrNameLst>
                                          <p:attrName>style.visibility</p:attrName>
                                        </p:attrNameLst>
                                      </p:cBhvr>
                                      <p:to>
                                        <p:strVal val="visible"/>
                                      </p:to>
                                    </p:set>
                                    <p:animEffect transition="in" filter="wipe(down)">
                                      <p:cBhvr>
                                        <p:cTn id="58" dur="300"/>
                                        <p:tgtEl>
                                          <p:spTgt spid="29"/>
                                        </p:tgtEl>
                                      </p:cBhvr>
                                    </p:animEffect>
                                  </p:childTnLst>
                                </p:cTn>
                              </p:par>
                            </p:childTnLst>
                          </p:cTn>
                        </p:par>
                        <p:par>
                          <p:cTn id="59" fill="hold">
                            <p:stCondLst>
                              <p:cond delay="300"/>
                            </p:stCondLst>
                            <p:childTnLst>
                              <p:par>
                                <p:cTn id="60" presetID="22" presetClass="entr" presetSubtype="4" fill="hold" nodeType="afterEffect">
                                  <p:stCondLst>
                                    <p:cond delay="0"/>
                                  </p:stCondLst>
                                  <p:childTnLst>
                                    <p:set>
                                      <p:cBhvr>
                                        <p:cTn id="61" dur="1" fill="hold">
                                          <p:stCondLst>
                                            <p:cond delay="0"/>
                                          </p:stCondLst>
                                        </p:cTn>
                                        <p:tgtEl>
                                          <p:spTgt spid="33"/>
                                        </p:tgtEl>
                                        <p:attrNameLst>
                                          <p:attrName>style.visibility</p:attrName>
                                        </p:attrNameLst>
                                      </p:cBhvr>
                                      <p:to>
                                        <p:strVal val="visible"/>
                                      </p:to>
                                    </p:set>
                                    <p:animEffect transition="in" filter="wipe(down)">
                                      <p:cBhvr>
                                        <p:cTn id="62" dur="500"/>
                                        <p:tgtEl>
                                          <p:spTgt spid="33"/>
                                        </p:tgtEl>
                                      </p:cBhvr>
                                    </p:animEffect>
                                  </p:childTnLst>
                                </p:cTn>
                              </p:par>
                            </p:childTnLst>
                          </p:cTn>
                        </p:par>
                        <p:par>
                          <p:cTn id="63" fill="hold">
                            <p:stCondLst>
                              <p:cond delay="800"/>
                            </p:stCondLst>
                            <p:childTnLst>
                              <p:par>
                                <p:cTn id="64" presetID="22" presetClass="entr" presetSubtype="8" fill="hold" grpId="0" nodeType="afterEffect">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wipe(left)">
                                      <p:cBhvr>
                                        <p:cTn id="66" dur="500"/>
                                        <p:tgtEl>
                                          <p:spTgt spid="32"/>
                                        </p:tgtEl>
                                      </p:cBhvr>
                                    </p:animEffect>
                                  </p:childTnLst>
                                </p:cTn>
                              </p:par>
                            </p:childTnLst>
                          </p:cTn>
                        </p:par>
                        <p:par>
                          <p:cTn id="67" fill="hold">
                            <p:stCondLst>
                              <p:cond delay="1300"/>
                            </p:stCondLst>
                            <p:childTnLst>
                              <p:par>
                                <p:cTn id="68" presetID="22" presetClass="entr" presetSubtype="8" fill="hold" grpId="0" nodeType="afterEffect">
                                  <p:stCondLst>
                                    <p:cond delay="0"/>
                                  </p:stCondLst>
                                  <p:childTnLst>
                                    <p:set>
                                      <p:cBhvr>
                                        <p:cTn id="69" dur="1" fill="hold">
                                          <p:stCondLst>
                                            <p:cond delay="0"/>
                                          </p:stCondLst>
                                        </p:cTn>
                                        <p:tgtEl>
                                          <p:spTgt spid="35"/>
                                        </p:tgtEl>
                                        <p:attrNameLst>
                                          <p:attrName>style.visibility</p:attrName>
                                        </p:attrNameLst>
                                      </p:cBhvr>
                                      <p:to>
                                        <p:strVal val="visible"/>
                                      </p:to>
                                    </p:set>
                                    <p:animEffect transition="in" filter="wipe(left)">
                                      <p:cBhvr>
                                        <p:cTn id="70" dur="3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10" grpId="0" bldLvl="0" animBg="1"/>
      <p:bldP spid="36" grpId="0"/>
      <p:bldP spid="37" grpId="0"/>
      <p:bldP spid="21" grpId="0" bldLvl="0" animBg="1"/>
      <p:bldP spid="24" grpId="0"/>
      <p:bldP spid="32" grpId="0"/>
      <p:bldP spid="35" grpId="0" bldLvl="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White">
  <a:themeElements>
    <a:clrScheme name="White">
      <a:dk1>
        <a:srgbClr val="000000"/>
      </a:dk1>
      <a:lt1>
        <a:srgbClr val="FFFFFF"/>
      </a:lt1>
      <a:dk2>
        <a:srgbClr val="768395"/>
      </a:dk2>
      <a:lt2>
        <a:srgbClr val="F0F0F0"/>
      </a:lt2>
      <a:accent1>
        <a:srgbClr val="4276AA"/>
      </a:accent1>
      <a:accent2>
        <a:srgbClr val="1689A0"/>
      </a:accent2>
      <a:accent3>
        <a:srgbClr val="3FA692"/>
      </a:accent3>
      <a:accent4>
        <a:srgbClr val="5167A4"/>
      </a:accent4>
      <a:accent5>
        <a:srgbClr val="5E5CA2"/>
      </a:accent5>
      <a:accent6>
        <a:srgbClr val="768395"/>
      </a:accent6>
      <a:hlink>
        <a:srgbClr val="4276AA"/>
      </a:hlink>
      <a:folHlink>
        <a:srgbClr val="BFBFBF"/>
      </a:folHlink>
    </a:clrScheme>
    <a:fontScheme name="n3uediab">
      <a:majorFont>
        <a:latin typeface="Arial"/>
        <a:ea typeface="Microsoft YaHei"/>
        <a:cs typeface=""/>
      </a:majorFont>
      <a:minorFont>
        <a:latin typeface="Arial"/>
        <a:ea typeface="Microsoft YaHei"/>
        <a:cs typeface=""/>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71437" tIns="71437" rIns="71437" bIns="71437" numCol="1" spcCol="38100" rtlCol="0" anchor="ctr">
        <a:spAutoFit/>
      </a:bodyPr>
      <a:lstStyle>
        <a:defPPr marL="0" marR="0" indent="0" algn="ctr" defTabSz="821531"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71437" tIns="71437" rIns="71437" bIns="71437" numCol="1" spcCol="38100" rtlCol="0" anchor="ctr">
        <a:spAutoFit/>
      </a:bodyPr>
      <a:lstStyle>
        <a:defPPr marL="0" marR="0" indent="0" algn="ctr" defTabSz="821531" rtl="0" fontAlgn="auto" latinLnBrk="0" hangingPunct="0">
          <a:lnSpc>
            <a:spcPct val="100000"/>
          </a:lnSpc>
          <a:spcBef>
            <a:spcPts val="0"/>
          </a:spcBef>
          <a:spcAft>
            <a:spcPts val="0"/>
          </a:spcAft>
          <a:buClrTx/>
          <a:buSzTx/>
          <a:buFontTx/>
          <a:buNone/>
          <a:tabLst/>
          <a:defRPr kumimoji="0" sz="32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71437" tIns="71437" rIns="71437" bIns="71437" numCol="1" spcCol="38100" rtlCol="0" anchor="ctr">
        <a:spAutoFit/>
      </a:bodyPr>
      <a:lstStyle>
        <a:defPPr marL="0" marR="0" indent="0" algn="ctr" defTabSz="821531"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71437" tIns="71437" rIns="71437" bIns="71437" numCol="1" spcCol="38100" rtlCol="0" anchor="ctr">
        <a:spAutoFit/>
      </a:bodyPr>
      <a:lstStyle>
        <a:defPPr marL="0" marR="0" indent="0" algn="ctr" defTabSz="821531" rtl="0" fontAlgn="auto" latinLnBrk="0" hangingPunct="0">
          <a:lnSpc>
            <a:spcPct val="100000"/>
          </a:lnSpc>
          <a:spcBef>
            <a:spcPts val="0"/>
          </a:spcBef>
          <a:spcAft>
            <a:spcPts val="0"/>
          </a:spcAft>
          <a:buClrTx/>
          <a:buSzTx/>
          <a:buFontTx/>
          <a:buNone/>
          <a:tabLst/>
          <a:defRPr kumimoji="0" sz="32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White">
    <a:dk1>
      <a:srgbClr val="000000"/>
    </a:dk1>
    <a:lt1>
      <a:srgbClr val="FFFFFF"/>
    </a:lt1>
    <a:dk2>
      <a:srgbClr val="768395"/>
    </a:dk2>
    <a:lt2>
      <a:srgbClr val="F0F0F0"/>
    </a:lt2>
    <a:accent1>
      <a:srgbClr val="4276AA"/>
    </a:accent1>
    <a:accent2>
      <a:srgbClr val="1689A0"/>
    </a:accent2>
    <a:accent3>
      <a:srgbClr val="3FA692"/>
    </a:accent3>
    <a:accent4>
      <a:srgbClr val="5167A4"/>
    </a:accent4>
    <a:accent5>
      <a:srgbClr val="5E5CA2"/>
    </a:accent5>
    <a:accent6>
      <a:srgbClr val="768395"/>
    </a:accent6>
    <a:hlink>
      <a:srgbClr val="4276AA"/>
    </a:hlink>
    <a:folHlink>
      <a:srgbClr val="BFBFBF"/>
    </a:folHlink>
  </a:clrScheme>
</a:themeOverride>
</file>

<file path=docProps/app.xml><?xml version="1.0" encoding="utf-8"?>
<Properties xmlns="http://schemas.openxmlformats.org/officeDocument/2006/extended-properties" xmlns:vt="http://schemas.openxmlformats.org/officeDocument/2006/docPropsVTypes">
  <TotalTime>10849</TotalTime>
  <Words>1062</Words>
  <Application>Microsoft Macintosh PowerPoint</Application>
  <PresentationFormat>Custom</PresentationFormat>
  <Paragraphs>163</Paragraphs>
  <Slides>36</Slides>
  <Notes>34</Notes>
  <HiddenSlides>0</HiddenSlides>
  <MMClips>0</MMClips>
  <ScaleCrop>false</ScaleCrop>
  <HeadingPairs>
    <vt:vector size="8" baseType="variant">
      <vt:variant>
        <vt:lpstr>Fonts Used</vt:lpstr>
      </vt:variant>
      <vt:variant>
        <vt:i4>17</vt:i4>
      </vt:variant>
      <vt:variant>
        <vt:lpstr>Theme</vt:lpstr>
      </vt:variant>
      <vt:variant>
        <vt:i4>1</vt:i4>
      </vt:variant>
      <vt:variant>
        <vt:lpstr>Embedded OLE Servers</vt:lpstr>
      </vt:variant>
      <vt:variant>
        <vt:i4>1</vt:i4>
      </vt:variant>
      <vt:variant>
        <vt:lpstr>Slide Titles</vt:lpstr>
      </vt:variant>
      <vt:variant>
        <vt:i4>36</vt:i4>
      </vt:variant>
    </vt:vector>
  </HeadingPairs>
  <TitlesOfParts>
    <vt:vector size="55" baseType="lpstr">
      <vt:lpstr>DengXian</vt:lpstr>
      <vt:lpstr>Heiti SC Medium</vt:lpstr>
      <vt:lpstr>Lantinghei SC Extralight</vt:lpstr>
      <vt:lpstr>Lato</vt:lpstr>
      <vt:lpstr>Lato Black</vt:lpstr>
      <vt:lpstr>Malgun Gothic</vt:lpstr>
      <vt:lpstr>Microsoft JhengHei Light</vt:lpstr>
      <vt:lpstr>微软雅黑</vt:lpstr>
      <vt:lpstr>Roboto Light</vt:lpstr>
      <vt:lpstr>微软雅黑 Light</vt:lpstr>
      <vt:lpstr>站酷高端黑</vt:lpstr>
      <vt:lpstr>Arial</vt:lpstr>
      <vt:lpstr>Arial Black</vt:lpstr>
      <vt:lpstr>Helvetica Neue</vt:lpstr>
      <vt:lpstr>Helvetica Neue Light</vt:lpstr>
      <vt:lpstr>Helvetica Neue Thin</vt:lpstr>
      <vt:lpstr>Impact</vt:lpstr>
      <vt:lpstr>White</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朱剑峰</dc:creator>
  <cp:lastModifiedBy>Microsoft Office User</cp:lastModifiedBy>
  <cp:revision>182</cp:revision>
  <dcterms:modified xsi:type="dcterms:W3CDTF">2020-07-09T06:51:32Z</dcterms:modified>
</cp:coreProperties>
</file>