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.xml" ContentType="application/vnd.openxmlformats-officedocument.presentationml.notesSlide+xml"/>
  <Override PartName="/ppt/tags/tag7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459" r:id="rId3"/>
    <p:sldId id="484" r:id="rId4"/>
    <p:sldId id="461" r:id="rId5"/>
    <p:sldId id="259" r:id="rId6"/>
    <p:sldId id="268" r:id="rId7"/>
    <p:sldId id="463" r:id="rId8"/>
    <p:sldId id="460" r:id="rId9"/>
    <p:sldId id="261" r:id="rId10"/>
    <p:sldId id="485" r:id="rId11"/>
    <p:sldId id="486" r:id="rId12"/>
    <p:sldId id="487" r:id="rId13"/>
    <p:sldId id="476" r:id="rId14"/>
    <p:sldId id="490" r:id="rId15"/>
    <p:sldId id="491" r:id="rId16"/>
    <p:sldId id="281" r:id="rId17"/>
    <p:sldId id="488" r:id="rId18"/>
    <p:sldId id="489" r:id="rId19"/>
    <p:sldId id="280" r:id="rId20"/>
    <p:sldId id="483" r:id="rId21"/>
    <p:sldId id="492" r:id="rId22"/>
    <p:sldId id="493" r:id="rId23"/>
    <p:sldId id="267" r:id="rId24"/>
    <p:sldId id="260" r:id="rId25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43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86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429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572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715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858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8001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9144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2585" autoAdjust="0"/>
  </p:normalViewPr>
  <p:slideViewPr>
    <p:cSldViewPr snapToGrid="0" showGuides="1">
      <p:cViewPr varScale="1">
        <p:scale>
          <a:sx n="93" d="100"/>
          <a:sy n="93" d="100"/>
        </p:scale>
        <p:origin x="232" y="7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082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2E603-5D1B-4CBE-8096-20BCEF5B30C0}" type="datetimeFigureOut">
              <a:rPr lang="zh-CN" altLang="en-US" smtClean="0"/>
              <a:t>2022/12/22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9F8B3-A901-43B7-8EA2-FB7D82D10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53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72923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32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56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51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34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33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99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08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8623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744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03" y="5693664"/>
            <a:ext cx="3278234" cy="11123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905" y="5905096"/>
            <a:ext cx="3630629" cy="90095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5" y="100723"/>
            <a:ext cx="2577583" cy="8746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26" name="Shape 26"/>
          <p:cNvSpPr>
            <a:spLocks noGrp="1"/>
          </p:cNvSpPr>
          <p:nvPr>
            <p:ph type="pic" sz="half" idx="13"/>
          </p:nvPr>
        </p:nvSpPr>
        <p:spPr>
          <a:xfrm>
            <a:off x="6582990" y="552450"/>
            <a:ext cx="4762501" cy="5753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title"/>
          </p:nvPr>
        </p:nvSpPr>
        <p:spPr>
          <a:xfrm>
            <a:off x="825500" y="552450"/>
            <a:ext cx="5111750" cy="2806700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8" name="Shape 28"/>
          <p:cNvSpPr>
            <a:spLocks noGrp="1"/>
          </p:cNvSpPr>
          <p:nvPr>
            <p:ph type="body" sz="quarter" idx="1"/>
          </p:nvPr>
        </p:nvSpPr>
        <p:spPr>
          <a:xfrm>
            <a:off x="825500" y="3422650"/>
            <a:ext cx="5111750" cy="28829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844550" y="1592262"/>
            <a:ext cx="10502900" cy="4630737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46" name="Shape 4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/>
          </p:cNvSpPr>
          <p:nvPr>
            <p:ph type="pic" sz="half" idx="13"/>
          </p:nvPr>
        </p:nvSpPr>
        <p:spPr>
          <a:xfrm>
            <a:off x="6584950" y="1592263"/>
            <a:ext cx="4762500" cy="463073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54" name="Shape 54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5" name="Shape 55"/>
          <p:cNvSpPr>
            <a:spLocks noGrp="1"/>
          </p:cNvSpPr>
          <p:nvPr>
            <p:ph type="body" sz="half" idx="1"/>
          </p:nvPr>
        </p:nvSpPr>
        <p:spPr>
          <a:xfrm>
            <a:off x="844550" y="1592263"/>
            <a:ext cx="5003800" cy="4630737"/>
          </a:xfrm>
          <a:prstGeom prst="rect">
            <a:avLst/>
          </a:prstGeom>
        </p:spPr>
        <p:txBody>
          <a:bodyPr>
            <a:normAutofit/>
          </a:bodyPr>
          <a:lstStyle>
            <a:lvl1pPr marL="2794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4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5588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8382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1176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3970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body" idx="1"/>
          </p:nvPr>
        </p:nvSpPr>
        <p:spPr>
          <a:xfrm>
            <a:off x="844550" y="1268413"/>
            <a:ext cx="10502900" cy="46942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pic" sz="quarter" idx="13"/>
          </p:nvPr>
        </p:nvSpPr>
        <p:spPr>
          <a:xfrm>
            <a:off x="7880350" y="3851200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pic" sz="quarter" idx="14"/>
          </p:nvPr>
        </p:nvSpPr>
        <p:spPr>
          <a:xfrm>
            <a:off x="7880350" y="1268414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3" name="Shape 73"/>
          <p:cNvSpPr>
            <a:spLocks noGrp="1"/>
          </p:cNvSpPr>
          <p:nvPr>
            <p:ph type="pic" idx="15"/>
          </p:nvPr>
        </p:nvSpPr>
        <p:spPr>
          <a:xfrm>
            <a:off x="603250" y="1268414"/>
            <a:ext cx="7086600" cy="503078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/>
              <a:t>将图片拖动到占位符，或单击添加图标</a:t>
            </a: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949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9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2" name="Shape 82"/>
          <p:cNvSpPr>
            <a:spLocks noGrp="1"/>
          </p:cNvSpPr>
          <p:nvPr>
            <p:ph type="body" sz="quarter" idx="14"/>
          </p:nvPr>
        </p:nvSpPr>
        <p:spPr>
          <a:xfrm>
            <a:off x="1193800" y="2312760"/>
            <a:ext cx="9810750" cy="84125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3" name="Shape 8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43809" y="5720492"/>
            <a:ext cx="4356100" cy="508000"/>
          </a:xfrm>
          <a:prstGeom prst="rect">
            <a:avLst/>
          </a:prstGeom>
        </p:spPr>
      </p:pic>
      <p:sp>
        <p:nvSpPr>
          <p:cNvPr id="98" name="Shape 9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矩形 1"/>
          <p:cNvSpPr/>
          <p:nvPr userDrawn="1"/>
        </p:nvSpPr>
        <p:spPr>
          <a:xfrm>
            <a:off x="5099573" y="5835992"/>
            <a:ext cx="19928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https://tgo.geekbang.org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44550" y="800101"/>
            <a:ext cx="10502900" cy="5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在此输入标题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44550" y="1557338"/>
            <a:ext cx="10502900" cy="4665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正</a:t>
            </a:r>
            <a:r>
              <a:rPr lang="zh-CN" altLang="en-US" dirty="0"/>
              <a:t>文</a:t>
            </a:r>
            <a:r>
              <a:rPr dirty="0" err="1"/>
              <a:t>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5926113" y="6540500"/>
            <a:ext cx="33342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/>
  <p:txStyles>
    <p:title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0" marR="0" indent="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1pPr>
      <a:lvl2pPr marL="635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2pPr>
      <a:lvl3pPr marL="952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3pPr>
      <a:lvl4pPr marL="1270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4pPr>
      <a:lvl5pPr marL="1587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26" Type="http://schemas.openxmlformats.org/officeDocument/2006/relationships/slideLayout" Target="../slideLayouts/slideLayout5.xml"/><Relationship Id="rId3" Type="http://schemas.openxmlformats.org/officeDocument/2006/relationships/tags" Target="../tags/tag12.xml"/><Relationship Id="rId21" Type="http://schemas.openxmlformats.org/officeDocument/2006/relationships/tags" Target="../tags/tag30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53.xml"/><Relationship Id="rId9" Type="http://schemas.openxmlformats.org/officeDocument/2006/relationships/tags" Target="../tags/tag5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2" Type="http://schemas.openxmlformats.org/officeDocument/2006/relationships/tags" Target="../tags/tag60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slideLayout" Target="../slideLayouts/slideLayout5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7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01.xml"/><Relationship Id="rId9" Type="http://schemas.openxmlformats.org/officeDocument/2006/relationships/tags" Target="../tags/tag10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4" Type="http://schemas.openxmlformats.org/officeDocument/2006/relationships/notesSlide" Target="../notesSlides/notesSlid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408545" y="1672637"/>
            <a:ext cx="9028113" cy="112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14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/>
            <a:r>
              <a:rPr lang="zh-CN" altLang="en-US" sz="7000">
                <a:latin typeface="DengXian" charset="-122"/>
                <a:ea typeface="DengXian" charset="-122"/>
                <a:cs typeface="DengXian" charset="-122"/>
              </a:rPr>
              <a:t>新零售全渠道解决方案</a:t>
            </a:r>
            <a:endParaRPr sz="7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09" name="Shape 109"/>
          <p:cNvSpPr/>
          <p:nvPr/>
        </p:nvSpPr>
        <p:spPr>
          <a:xfrm>
            <a:off x="9730458" y="3245652"/>
            <a:ext cx="1652697" cy="999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r">
              <a:lnSpc>
                <a:spcPct val="120000"/>
              </a:lnSpc>
            </a:pPr>
            <a:r>
              <a:rPr lang="zh-CN" altLang="en-US" sz="2800"/>
              <a:t>吴万港</a:t>
            </a:r>
            <a:endParaRPr lang="en-US" altLang="zh-CN" sz="2800"/>
          </a:p>
          <a:p>
            <a:pPr algn="r"/>
            <a:r>
              <a:rPr lang="en-US" sz="2800"/>
              <a:t>2022.12.9</a:t>
            </a:r>
            <a:endParaRPr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574932" y="1197842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4191475" y="1215964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未来的新零售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4191475" y="2067990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+mn-ea"/>
              </a:rPr>
              <a:t>目前的现状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574932" y="2076564"/>
            <a:ext cx="616585" cy="52324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3574932" y="2953064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4191475" y="2948520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解决方案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" name="文本框 55">
            <a:extLst>
              <a:ext uri="{FF2B5EF4-FFF2-40B4-BE49-F238E27FC236}">
                <a16:creationId xmlns:a16="http://schemas.microsoft.com/office/drawing/2014/main" id="{DBFD2323-887C-248C-9171-2DD204B0529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74935" y="3815092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defTabSz="914400" hangingPunct="1"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</a:t>
            </a:r>
          </a:p>
        </p:txBody>
      </p:sp>
      <p:sp>
        <p:nvSpPr>
          <p:cNvPr id="3" name="文本框 56">
            <a:extLst>
              <a:ext uri="{FF2B5EF4-FFF2-40B4-BE49-F238E27FC236}">
                <a16:creationId xmlns:a16="http://schemas.microsoft.com/office/drawing/2014/main" id="{CC05C8B0-6D9B-5D82-301B-0BD41E6D528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191475" y="3816880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</a:rPr>
              <a:t>组织形式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31175" y="682297"/>
            <a:ext cx="9754882" cy="576263"/>
          </a:xfrm>
        </p:spPr>
        <p:txBody>
          <a:bodyPr>
            <a:noAutofit/>
          </a:bodyPr>
          <a:lstStyle/>
          <a:p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新零售愿景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8E168D5-34B6-4EE3-8DA9-9D24A4D8B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670" y="1461761"/>
            <a:ext cx="6947288" cy="1443999"/>
          </a:xfrm>
        </p:spPr>
        <p:txBody>
          <a:bodyPr>
            <a:normAutofit/>
          </a:bodyPr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强调线上线下全渠道融合，通过云计算、大数据、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等技术重塑产业结构，实现智慧新零售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AA92876D-72DE-28C2-8F09-9EF23DD30301}"/>
              </a:ext>
            </a:extLst>
          </p:cNvPr>
          <p:cNvSpPr txBox="1">
            <a:spLocks/>
          </p:cNvSpPr>
          <p:nvPr/>
        </p:nvSpPr>
        <p:spPr>
          <a:xfrm>
            <a:off x="4701510" y="3514081"/>
            <a:ext cx="6947288" cy="2520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eaLnBrk="1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重构供应链，线上平台、线下实体店、物流体系三方的深度融合，提升商品供应链效率，达到消灭库存的目的，最终实现消费者、零售商、品牌商等多方共赢</a:t>
            </a:r>
          </a:p>
        </p:txBody>
      </p:sp>
    </p:spTree>
    <p:extLst>
      <p:ext uri="{BB962C8B-B14F-4D97-AF65-F5344CB8AC3E}">
        <p14:creationId xmlns:p14="http://schemas.microsoft.com/office/powerpoint/2010/main" val="12994282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4948" y="886012"/>
            <a:ext cx="8667480" cy="576263"/>
          </a:xfrm>
        </p:spPr>
        <p:txBody>
          <a:bodyPr>
            <a:noAutofit/>
          </a:bodyPr>
          <a:lstStyle/>
          <a:p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新零售的优势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任意多边形 13">
            <a:extLst>
              <a:ext uri="{FF2B5EF4-FFF2-40B4-BE49-F238E27FC236}">
                <a16:creationId xmlns:a16="http://schemas.microsoft.com/office/drawing/2014/main" id="{A174CE3F-3A6C-424B-BA21-52A38F376CC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474" y="3338818"/>
            <a:ext cx="3989244" cy="2182978"/>
          </a:xfrm>
          <a:custGeom>
            <a:avLst/>
            <a:gdLst>
              <a:gd name="adj" fmla="val 444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6629">
                <a:moveTo>
                  <a:pt x="277" y="0"/>
                </a:moveTo>
                <a:lnTo>
                  <a:pt x="6043" y="0"/>
                </a:lnTo>
                <a:cubicBezTo>
                  <a:pt x="6196" y="0"/>
                  <a:pt x="6320" y="124"/>
                  <a:pt x="6320" y="277"/>
                </a:cubicBezTo>
                <a:lnTo>
                  <a:pt x="6320" y="5963"/>
                </a:lnTo>
                <a:cubicBezTo>
                  <a:pt x="6320" y="6116"/>
                  <a:pt x="6196" y="6240"/>
                  <a:pt x="6043" y="6240"/>
                </a:cubicBezTo>
                <a:lnTo>
                  <a:pt x="1062" y="6240"/>
                </a:lnTo>
                <a:lnTo>
                  <a:pt x="673" y="6629"/>
                </a:lnTo>
                <a:lnTo>
                  <a:pt x="673" y="6240"/>
                </a:lnTo>
                <a:lnTo>
                  <a:pt x="277" y="6240"/>
                </a:lnTo>
                <a:cubicBezTo>
                  <a:pt x="124" y="6240"/>
                  <a:pt x="0" y="6116"/>
                  <a:pt x="0" y="5963"/>
                </a:cubicBezTo>
                <a:lnTo>
                  <a:pt x="0" y="277"/>
                </a:lnTo>
                <a:cubicBezTo>
                  <a:pt x="0" y="124"/>
                  <a:pt x="124" y="0"/>
                  <a:pt x="277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dk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14">
            <a:extLst>
              <a:ext uri="{FF2B5EF4-FFF2-40B4-BE49-F238E27FC236}">
                <a16:creationId xmlns:a16="http://schemas.microsoft.com/office/drawing/2014/main" id="{11307F89-C688-4BD6-9615-FA36BE4B85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8283" y="3338818"/>
            <a:ext cx="3826768" cy="1800705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10000"/>
          </a:bodyPr>
          <a:lstStyle/>
          <a:p>
            <a:pPr marL="0" marR="0" lvl="0" indent="0" algn="l" defTabSz="914400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400" spc="16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体验提升、数字化是核心</a:t>
            </a:r>
            <a:endParaRPr lang="zh-CN" altLang="en-US" sz="2400" spc="160" dirty="0">
              <a:solidFill>
                <a:schemeClr val="dk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87400" lvl="1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对于消费者来讲，新的体验是消费的主要原因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任意多边形 21">
            <a:extLst>
              <a:ext uri="{FF2B5EF4-FFF2-40B4-BE49-F238E27FC236}">
                <a16:creationId xmlns:a16="http://schemas.microsoft.com/office/drawing/2014/main" id="{48BC3E77-C350-4AFD-B3D3-8C65D44097E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88938" y="2692868"/>
            <a:ext cx="4378341" cy="2828928"/>
          </a:xfrm>
          <a:custGeom>
            <a:avLst/>
            <a:gdLst>
              <a:gd name="adj" fmla="val 444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6629">
                <a:moveTo>
                  <a:pt x="277" y="0"/>
                </a:moveTo>
                <a:lnTo>
                  <a:pt x="6043" y="0"/>
                </a:lnTo>
                <a:cubicBezTo>
                  <a:pt x="6196" y="0"/>
                  <a:pt x="6320" y="124"/>
                  <a:pt x="6320" y="277"/>
                </a:cubicBezTo>
                <a:lnTo>
                  <a:pt x="6320" y="5963"/>
                </a:lnTo>
                <a:cubicBezTo>
                  <a:pt x="6320" y="6116"/>
                  <a:pt x="6196" y="6240"/>
                  <a:pt x="6043" y="6240"/>
                </a:cubicBezTo>
                <a:lnTo>
                  <a:pt x="1062" y="6240"/>
                </a:lnTo>
                <a:lnTo>
                  <a:pt x="673" y="6629"/>
                </a:lnTo>
                <a:lnTo>
                  <a:pt x="673" y="6240"/>
                </a:lnTo>
                <a:lnTo>
                  <a:pt x="277" y="6240"/>
                </a:lnTo>
                <a:cubicBezTo>
                  <a:pt x="124" y="6240"/>
                  <a:pt x="0" y="6116"/>
                  <a:pt x="0" y="5963"/>
                </a:cubicBezTo>
                <a:lnTo>
                  <a:pt x="0" y="277"/>
                </a:lnTo>
                <a:cubicBezTo>
                  <a:pt x="0" y="124"/>
                  <a:pt x="124" y="0"/>
                  <a:pt x="277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dk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2">
            <a:extLst>
              <a:ext uri="{FF2B5EF4-FFF2-40B4-BE49-F238E27FC236}">
                <a16:creationId xmlns:a16="http://schemas.microsoft.com/office/drawing/2014/main" id="{8890C47A-1C6D-4D6E-8750-0B9EC5D504F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183707" y="2634142"/>
            <a:ext cx="4484118" cy="2634139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marR="0" lvl="0" indent="0" algn="l" defTabSz="914400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400" spc="16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数字化运营管理</a:t>
            </a:r>
            <a:endParaRPr lang="zh-CN" altLang="en-US" sz="2400" spc="160" dirty="0">
              <a:solidFill>
                <a:schemeClr val="dk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避免操作疏忽而造成的错误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实现全业务数据互通，实现全流程数据管理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提升效率，有效组织运营</a:t>
            </a:r>
            <a:endParaRPr lang="zh-CN" altLang="en-US" sz="2200" spc="140" dirty="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26" name="组合 28">
            <a:extLst>
              <a:ext uri="{FF2B5EF4-FFF2-40B4-BE49-F238E27FC236}">
                <a16:creationId xmlns:a16="http://schemas.microsoft.com/office/drawing/2014/main" id="{0958F7FE-DDDC-440F-81B6-1B2C2D6D765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 rot="5400000">
            <a:off x="131364" y="5596710"/>
            <a:ext cx="643631" cy="766026"/>
            <a:chOff x="3121" y="7415"/>
            <a:chExt cx="1220" cy="1452"/>
          </a:xfrm>
        </p:grpSpPr>
        <p:sp>
          <p:nvSpPr>
            <p:cNvPr id="27" name="空心弧 24">
              <a:extLst>
                <a:ext uri="{FF2B5EF4-FFF2-40B4-BE49-F238E27FC236}">
                  <a16:creationId xmlns:a16="http://schemas.microsoft.com/office/drawing/2014/main" id="{BE848164-3D42-44B7-99EC-70178DEE2A3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空心弧 26">
              <a:extLst>
                <a:ext uri="{FF2B5EF4-FFF2-40B4-BE49-F238E27FC236}">
                  <a16:creationId xmlns:a16="http://schemas.microsoft.com/office/drawing/2014/main" id="{8AA94806-78B4-4EEA-98A0-3B7C51E1DD76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9" name="文本框 27">
            <a:extLst>
              <a:ext uri="{FF2B5EF4-FFF2-40B4-BE49-F238E27FC236}">
                <a16:creationId xmlns:a16="http://schemas.microsoft.com/office/drawing/2014/main" id="{1F293B5D-C018-4BEE-8512-22AA90465E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07044" y="5796658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 dirty="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6A90C1E-632D-40F8-82A3-9217026F073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0" y="5871044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CF43B08-1770-4896-9809-097A9CF74A6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80561" y="5871044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2" name="组合 36">
            <a:extLst>
              <a:ext uri="{FF2B5EF4-FFF2-40B4-BE49-F238E27FC236}">
                <a16:creationId xmlns:a16="http://schemas.microsoft.com/office/drawing/2014/main" id="{1DF9DD83-D175-4974-846E-626CA4C3542E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 rot="5400000">
            <a:off x="4244906" y="5596711"/>
            <a:ext cx="643631" cy="766026"/>
            <a:chOff x="3121" y="7415"/>
            <a:chExt cx="1220" cy="1452"/>
          </a:xfrm>
        </p:grpSpPr>
        <p:sp>
          <p:nvSpPr>
            <p:cNvPr id="33" name="空心弧 37">
              <a:extLst>
                <a:ext uri="{FF2B5EF4-FFF2-40B4-BE49-F238E27FC236}">
                  <a16:creationId xmlns:a16="http://schemas.microsoft.com/office/drawing/2014/main" id="{F6538338-4F77-446B-9651-CB61B834583B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4" name="空心弧 38">
              <a:extLst>
                <a:ext uri="{FF2B5EF4-FFF2-40B4-BE49-F238E27FC236}">
                  <a16:creationId xmlns:a16="http://schemas.microsoft.com/office/drawing/2014/main" id="{224D03A0-5A93-4C05-8CD4-F8BB6E819DA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5" name="文本框 39">
            <a:extLst>
              <a:ext uri="{FF2B5EF4-FFF2-40B4-BE49-F238E27FC236}">
                <a16:creationId xmlns:a16="http://schemas.microsoft.com/office/drawing/2014/main" id="{785977CD-73BD-46C3-A58D-6C977BA82A4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20585" y="5796659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</p:txBody>
      </p:sp>
      <p:sp>
        <p:nvSpPr>
          <p:cNvPr id="36" name="椭圆 40">
            <a:extLst>
              <a:ext uri="{FF2B5EF4-FFF2-40B4-BE49-F238E27FC236}">
                <a16:creationId xmlns:a16="http://schemas.microsoft.com/office/drawing/2014/main" id="{94CF08F9-B0C3-465A-906D-5B398F6A675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584813" y="5871044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椭圆 47">
            <a:extLst>
              <a:ext uri="{FF2B5EF4-FFF2-40B4-BE49-F238E27FC236}">
                <a16:creationId xmlns:a16="http://schemas.microsoft.com/office/drawing/2014/main" id="{8B70E486-A578-469C-ACAF-24B52CB3E81F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265373" y="5871044"/>
            <a:ext cx="217357" cy="217357"/>
          </a:xfrm>
          <a:prstGeom prst="ellipse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8" name="直接连接符 48">
            <a:extLst>
              <a:ext uri="{FF2B5EF4-FFF2-40B4-BE49-F238E27FC236}">
                <a16:creationId xmlns:a16="http://schemas.microsoft.com/office/drawing/2014/main" id="{4825FE96-2465-4200-84ED-C4825907D96B}"/>
              </a:ext>
            </a:extLst>
          </p:cNvPr>
          <p:cNvCxnSpPr>
            <a:cxnSpLocks/>
            <a:stCxn id="31" idx="6"/>
          </p:cNvCxnSpPr>
          <p:nvPr>
            <p:custDataLst>
              <p:tags r:id="rId13"/>
            </p:custDataLst>
          </p:nvPr>
        </p:nvCxnSpPr>
        <p:spPr>
          <a:xfrm>
            <a:off x="897918" y="5979723"/>
            <a:ext cx="5398274" cy="0"/>
          </a:xfrm>
          <a:prstGeom prst="line">
            <a:avLst/>
          </a:prstGeom>
          <a:ln w="12700">
            <a:solidFill>
              <a:schemeClr val="dk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49">
            <a:extLst>
              <a:ext uri="{FF2B5EF4-FFF2-40B4-BE49-F238E27FC236}">
                <a16:creationId xmlns:a16="http://schemas.microsoft.com/office/drawing/2014/main" id="{41A5EEEB-5400-4276-95D3-29CF8DD211C6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5011459" y="5979724"/>
            <a:ext cx="7085466" cy="0"/>
          </a:xfrm>
          <a:prstGeom prst="line">
            <a:avLst/>
          </a:prstGeom>
          <a:ln w="12700">
            <a:solidFill>
              <a:schemeClr val="dk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任意多边形 21">
            <a:extLst>
              <a:ext uri="{FF2B5EF4-FFF2-40B4-BE49-F238E27FC236}">
                <a16:creationId xmlns:a16="http://schemas.microsoft.com/office/drawing/2014/main" id="{AFC8BB93-7540-7F92-0BCA-CDB0CFE9D444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634234" y="2692867"/>
            <a:ext cx="3462691" cy="2828925"/>
          </a:xfrm>
          <a:custGeom>
            <a:avLst/>
            <a:gdLst>
              <a:gd name="adj" fmla="val 444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6629">
                <a:moveTo>
                  <a:pt x="277" y="0"/>
                </a:moveTo>
                <a:lnTo>
                  <a:pt x="6043" y="0"/>
                </a:lnTo>
                <a:cubicBezTo>
                  <a:pt x="6196" y="0"/>
                  <a:pt x="6320" y="124"/>
                  <a:pt x="6320" y="277"/>
                </a:cubicBezTo>
                <a:lnTo>
                  <a:pt x="6320" y="5963"/>
                </a:lnTo>
                <a:cubicBezTo>
                  <a:pt x="6320" y="6116"/>
                  <a:pt x="6196" y="6240"/>
                  <a:pt x="6043" y="6240"/>
                </a:cubicBezTo>
                <a:lnTo>
                  <a:pt x="1062" y="6240"/>
                </a:lnTo>
                <a:lnTo>
                  <a:pt x="673" y="6629"/>
                </a:lnTo>
                <a:lnTo>
                  <a:pt x="673" y="6240"/>
                </a:lnTo>
                <a:lnTo>
                  <a:pt x="277" y="6240"/>
                </a:lnTo>
                <a:cubicBezTo>
                  <a:pt x="124" y="6240"/>
                  <a:pt x="0" y="6116"/>
                  <a:pt x="0" y="5963"/>
                </a:cubicBezTo>
                <a:lnTo>
                  <a:pt x="0" y="277"/>
                </a:lnTo>
                <a:cubicBezTo>
                  <a:pt x="0" y="124"/>
                  <a:pt x="124" y="0"/>
                  <a:pt x="277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dk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22">
            <a:extLst>
              <a:ext uri="{FF2B5EF4-FFF2-40B4-BE49-F238E27FC236}">
                <a16:creationId xmlns:a16="http://schemas.microsoft.com/office/drawing/2014/main" id="{61623C7D-5CE6-ADE1-0132-7927128A330B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629003" y="2692868"/>
            <a:ext cx="3496523" cy="2634138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10000"/>
          </a:bodyPr>
          <a:lstStyle/>
          <a:p>
            <a:pPr marL="0" marR="0" lvl="0" indent="0" algn="l" defTabSz="914400" rtl="0" eaLnBrk="1" fontAlgn="ctr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400" spc="160">
                <a:solidFill>
                  <a:schemeClr val="dk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激发购买欲望</a:t>
            </a: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线上虚拟体验和线下实体店体验相结合，实现无缝切换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685800" lvl="1" indent="-3302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○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数据统一，更有利分析挖掘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6" name="组合 36">
            <a:extLst>
              <a:ext uri="{FF2B5EF4-FFF2-40B4-BE49-F238E27FC236}">
                <a16:creationId xmlns:a16="http://schemas.microsoft.com/office/drawing/2014/main" id="{624536EB-4A45-D681-7EDD-366CC8C8E2B6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 rot="5400000">
            <a:off x="8690202" y="5530997"/>
            <a:ext cx="643631" cy="766026"/>
            <a:chOff x="3121" y="7415"/>
            <a:chExt cx="1220" cy="1452"/>
          </a:xfrm>
        </p:grpSpPr>
        <p:sp>
          <p:nvSpPr>
            <p:cNvPr id="7" name="空心弧 37">
              <a:extLst>
                <a:ext uri="{FF2B5EF4-FFF2-40B4-BE49-F238E27FC236}">
                  <a16:creationId xmlns:a16="http://schemas.microsoft.com/office/drawing/2014/main" id="{02FA51F0-969B-7038-0237-2ADD8E8FEE7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" name="空心弧 38">
              <a:extLst>
                <a:ext uri="{FF2B5EF4-FFF2-40B4-BE49-F238E27FC236}">
                  <a16:creationId xmlns:a16="http://schemas.microsoft.com/office/drawing/2014/main" id="{285FE6CA-2015-ADD8-9D8B-43C93AEA039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cxnSp>
        <p:nvCxnSpPr>
          <p:cNvPr id="9" name="直接连接符 49">
            <a:extLst>
              <a:ext uri="{FF2B5EF4-FFF2-40B4-BE49-F238E27FC236}">
                <a16:creationId xmlns:a16="http://schemas.microsoft.com/office/drawing/2014/main" id="{924025F7-B0C2-5230-B922-1FFB474ED249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>
          <a:xfrm>
            <a:off x="9456755" y="5914010"/>
            <a:ext cx="7085466" cy="0"/>
          </a:xfrm>
          <a:prstGeom prst="line">
            <a:avLst/>
          </a:prstGeom>
          <a:ln w="12700">
            <a:solidFill>
              <a:schemeClr val="dk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39">
            <a:extLst>
              <a:ext uri="{FF2B5EF4-FFF2-40B4-BE49-F238E27FC236}">
                <a16:creationId xmlns:a16="http://schemas.microsoft.com/office/drawing/2014/main" id="{14CB7E9D-C74E-E05E-5F65-5697E316EC23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856138" y="5780745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34803187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新零售的优势</a:t>
            </a:r>
          </a:p>
        </p:txBody>
      </p:sp>
      <p:cxnSp>
        <p:nvCxnSpPr>
          <p:cNvPr id="11" name="直线连接符 8">
            <a:extLst>
              <a:ext uri="{FF2B5EF4-FFF2-40B4-BE49-F238E27FC236}">
                <a16:creationId xmlns:a16="http://schemas.microsoft.com/office/drawing/2014/main" id="{8956A170-5578-4F14-AD1A-C19CBF24D7E8}"/>
              </a:ext>
            </a:extLst>
          </p:cNvPr>
          <p:cNvCxnSpPr>
            <a:cxnSpLocks/>
          </p:cNvCxnSpPr>
          <p:nvPr/>
        </p:nvCxnSpPr>
        <p:spPr>
          <a:xfrm>
            <a:off x="4784394" y="1829988"/>
            <a:ext cx="0" cy="291818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直线连接符 52">
            <a:extLst>
              <a:ext uri="{FF2B5EF4-FFF2-40B4-BE49-F238E27FC236}">
                <a16:creationId xmlns:a16="http://schemas.microsoft.com/office/drawing/2014/main" id="{4A18E0A7-1A05-48E4-8B3D-82906DCC303E}"/>
              </a:ext>
            </a:extLst>
          </p:cNvPr>
          <p:cNvCxnSpPr>
            <a:cxnSpLocks/>
          </p:cNvCxnSpPr>
          <p:nvPr/>
        </p:nvCxnSpPr>
        <p:spPr>
          <a:xfrm>
            <a:off x="8078598" y="1806600"/>
            <a:ext cx="0" cy="294156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26">
            <a:extLst>
              <a:ext uri="{FF2B5EF4-FFF2-40B4-BE49-F238E27FC236}">
                <a16:creationId xmlns:a16="http://schemas.microsoft.com/office/drawing/2014/main" id="{DDA08266-D9CD-44A4-8375-325BECC244D8}"/>
              </a:ext>
            </a:extLst>
          </p:cNvPr>
          <p:cNvSpPr txBox="1"/>
          <p:nvPr/>
        </p:nvSpPr>
        <p:spPr>
          <a:xfrm>
            <a:off x="2122614" y="1797152"/>
            <a:ext cx="25032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精准会员营销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27">
            <a:extLst>
              <a:ext uri="{FF2B5EF4-FFF2-40B4-BE49-F238E27FC236}">
                <a16:creationId xmlns:a16="http://schemas.microsoft.com/office/drawing/2014/main" id="{BC2F7A2D-2111-4C54-BC4B-0BCC1809BABE}"/>
              </a:ext>
            </a:extLst>
          </p:cNvPr>
          <p:cNvSpPr txBox="1"/>
          <p:nvPr/>
        </p:nvSpPr>
        <p:spPr>
          <a:xfrm>
            <a:off x="5412397" y="1797152"/>
            <a:ext cx="26662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一站式服务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28">
            <a:extLst>
              <a:ext uri="{FF2B5EF4-FFF2-40B4-BE49-F238E27FC236}">
                <a16:creationId xmlns:a16="http://schemas.microsoft.com/office/drawing/2014/main" id="{12E67E66-BFE9-45B9-B51B-72DAFA153A02}"/>
              </a:ext>
            </a:extLst>
          </p:cNvPr>
          <p:cNvSpPr txBox="1"/>
          <p:nvPr/>
        </p:nvSpPr>
        <p:spPr>
          <a:xfrm>
            <a:off x="8772907" y="1755160"/>
            <a:ext cx="14670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互动营销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圆角矩形 30">
            <a:extLst>
              <a:ext uri="{FF2B5EF4-FFF2-40B4-BE49-F238E27FC236}">
                <a16:creationId xmlns:a16="http://schemas.microsoft.com/office/drawing/2014/main" id="{C9D41C63-A691-4089-87A9-B135D6592D81}"/>
              </a:ext>
            </a:extLst>
          </p:cNvPr>
          <p:cNvSpPr/>
          <p:nvPr/>
        </p:nvSpPr>
        <p:spPr>
          <a:xfrm>
            <a:off x="2278872" y="2204767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圆角矩形 31">
            <a:extLst>
              <a:ext uri="{FF2B5EF4-FFF2-40B4-BE49-F238E27FC236}">
                <a16:creationId xmlns:a16="http://schemas.microsoft.com/office/drawing/2014/main" id="{E705A0BF-7720-454B-9ED7-C7FFD805BC23}"/>
              </a:ext>
            </a:extLst>
          </p:cNvPr>
          <p:cNvSpPr/>
          <p:nvPr/>
        </p:nvSpPr>
        <p:spPr>
          <a:xfrm>
            <a:off x="5507496" y="2222025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圆角矩形 32">
            <a:extLst>
              <a:ext uri="{FF2B5EF4-FFF2-40B4-BE49-F238E27FC236}">
                <a16:creationId xmlns:a16="http://schemas.microsoft.com/office/drawing/2014/main" id="{4CA4082B-2732-4ECC-9E9C-1C932E7468F6}"/>
              </a:ext>
            </a:extLst>
          </p:cNvPr>
          <p:cNvSpPr/>
          <p:nvPr/>
        </p:nvSpPr>
        <p:spPr>
          <a:xfrm>
            <a:off x="8854164" y="2186767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iconfont-11899-5651343">
            <a:extLst>
              <a:ext uri="{FF2B5EF4-FFF2-40B4-BE49-F238E27FC236}">
                <a16:creationId xmlns:a16="http://schemas.microsoft.com/office/drawing/2014/main" id="{26881087-C380-43E1-8CD7-80AAEDD9AB22}"/>
              </a:ext>
            </a:extLst>
          </p:cNvPr>
          <p:cNvSpPr>
            <a:spLocks noChangeAspect="1"/>
          </p:cNvSpPr>
          <p:nvPr/>
        </p:nvSpPr>
        <p:spPr>
          <a:xfrm>
            <a:off x="1831612" y="1906150"/>
            <a:ext cx="297520" cy="297520"/>
          </a:xfrm>
          <a:custGeom>
            <a:avLst/>
            <a:gdLst>
              <a:gd name="T0" fmla="*/ 6526 w 10397"/>
              <a:gd name="T1" fmla="*/ 8233 h 10397"/>
              <a:gd name="T2" fmla="*/ 7000 w 10397"/>
              <a:gd name="T3" fmla="*/ 7343 h 10397"/>
              <a:gd name="T4" fmla="*/ 7729 w 10397"/>
              <a:gd name="T5" fmla="*/ 7018 h 10397"/>
              <a:gd name="T6" fmla="*/ 9897 w 10397"/>
              <a:gd name="T7" fmla="*/ 7558 h 10397"/>
              <a:gd name="T8" fmla="*/ 10390 w 10397"/>
              <a:gd name="T9" fmla="*/ 8188 h 10397"/>
              <a:gd name="T10" fmla="*/ 10391 w 10397"/>
              <a:gd name="T11" fmla="*/ 9096 h 10397"/>
              <a:gd name="T12" fmla="*/ 10397 w 10397"/>
              <a:gd name="T13" fmla="*/ 9096 h 10397"/>
              <a:gd name="T14" fmla="*/ 10397 w 10397"/>
              <a:gd name="T15" fmla="*/ 9723 h 10397"/>
              <a:gd name="T16" fmla="*/ 9715 w 10397"/>
              <a:gd name="T17" fmla="*/ 10373 h 10397"/>
              <a:gd name="T18" fmla="*/ 23 w 10397"/>
              <a:gd name="T19" fmla="*/ 682 h 10397"/>
              <a:gd name="T20" fmla="*/ 673 w 10397"/>
              <a:gd name="T21" fmla="*/ 0 h 10397"/>
              <a:gd name="T22" fmla="*/ 1301 w 10397"/>
              <a:gd name="T23" fmla="*/ 0 h 10397"/>
              <a:gd name="T24" fmla="*/ 1301 w 10397"/>
              <a:gd name="T25" fmla="*/ 2 h 10397"/>
              <a:gd name="T26" fmla="*/ 2189 w 10397"/>
              <a:gd name="T27" fmla="*/ 3 h 10397"/>
              <a:gd name="T28" fmla="*/ 2819 w 10397"/>
              <a:gd name="T29" fmla="*/ 496 h 10397"/>
              <a:gd name="T30" fmla="*/ 3360 w 10397"/>
              <a:gd name="T31" fmla="*/ 2663 h 10397"/>
              <a:gd name="T32" fmla="*/ 3035 w 10397"/>
              <a:gd name="T33" fmla="*/ 3395 h 10397"/>
              <a:gd name="T34" fmla="*/ 2158 w 10397"/>
              <a:gd name="T35" fmla="*/ 3860 h 10397"/>
              <a:gd name="T36" fmla="*/ 6526 w 10397"/>
              <a:gd name="T37" fmla="*/ 8233 h 10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97" h="10397">
                <a:moveTo>
                  <a:pt x="6526" y="8233"/>
                </a:moveTo>
                <a:lnTo>
                  <a:pt x="7000" y="7343"/>
                </a:lnTo>
                <a:cubicBezTo>
                  <a:pt x="7140" y="7081"/>
                  <a:pt x="7441" y="6947"/>
                  <a:pt x="7729" y="7018"/>
                </a:cubicBezTo>
                <a:lnTo>
                  <a:pt x="9897" y="7558"/>
                </a:lnTo>
                <a:cubicBezTo>
                  <a:pt x="10186" y="7631"/>
                  <a:pt x="10390" y="7891"/>
                  <a:pt x="10390" y="8188"/>
                </a:cubicBezTo>
                <a:lnTo>
                  <a:pt x="10391" y="9096"/>
                </a:lnTo>
                <a:lnTo>
                  <a:pt x="10397" y="9096"/>
                </a:lnTo>
                <a:lnTo>
                  <a:pt x="10397" y="9723"/>
                </a:lnTo>
                <a:cubicBezTo>
                  <a:pt x="10397" y="10095"/>
                  <a:pt x="10086" y="10397"/>
                  <a:pt x="9715" y="10373"/>
                </a:cubicBezTo>
                <a:cubicBezTo>
                  <a:pt x="4516" y="10036"/>
                  <a:pt x="360" y="5880"/>
                  <a:pt x="23" y="682"/>
                </a:cubicBezTo>
                <a:cubicBezTo>
                  <a:pt x="0" y="311"/>
                  <a:pt x="301" y="0"/>
                  <a:pt x="673" y="0"/>
                </a:cubicBezTo>
                <a:lnTo>
                  <a:pt x="1301" y="0"/>
                </a:lnTo>
                <a:lnTo>
                  <a:pt x="1301" y="2"/>
                </a:lnTo>
                <a:lnTo>
                  <a:pt x="2189" y="3"/>
                </a:lnTo>
                <a:cubicBezTo>
                  <a:pt x="2488" y="3"/>
                  <a:pt x="2748" y="207"/>
                  <a:pt x="2819" y="496"/>
                </a:cubicBezTo>
                <a:lnTo>
                  <a:pt x="3360" y="2663"/>
                </a:lnTo>
                <a:cubicBezTo>
                  <a:pt x="3432" y="2952"/>
                  <a:pt x="3298" y="3255"/>
                  <a:pt x="3035" y="3395"/>
                </a:cubicBezTo>
                <a:lnTo>
                  <a:pt x="2158" y="3860"/>
                </a:lnTo>
                <a:cubicBezTo>
                  <a:pt x="3062" y="5781"/>
                  <a:pt x="4606" y="7327"/>
                  <a:pt x="6526" y="8233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eeting_115918">
            <a:extLst>
              <a:ext uri="{FF2B5EF4-FFF2-40B4-BE49-F238E27FC236}">
                <a16:creationId xmlns:a16="http://schemas.microsoft.com/office/drawing/2014/main" id="{2242E505-D02F-4BD2-9E7D-3A3262D2E2FF}"/>
              </a:ext>
            </a:extLst>
          </p:cNvPr>
          <p:cNvSpPr>
            <a:spLocks noChangeAspect="1"/>
          </p:cNvSpPr>
          <p:nvPr/>
        </p:nvSpPr>
        <p:spPr>
          <a:xfrm>
            <a:off x="5035624" y="1849774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confont-11250-5318183">
            <a:extLst>
              <a:ext uri="{FF2B5EF4-FFF2-40B4-BE49-F238E27FC236}">
                <a16:creationId xmlns:a16="http://schemas.microsoft.com/office/drawing/2014/main" id="{2AE39932-9F6E-4531-BBD3-AA1563FD59CC}"/>
              </a:ext>
            </a:extLst>
          </p:cNvPr>
          <p:cNvSpPr>
            <a:spLocks noChangeAspect="1"/>
          </p:cNvSpPr>
          <p:nvPr/>
        </p:nvSpPr>
        <p:spPr>
          <a:xfrm>
            <a:off x="8348048" y="1829988"/>
            <a:ext cx="424859" cy="338554"/>
          </a:xfrm>
          <a:custGeom>
            <a:avLst/>
            <a:gdLst>
              <a:gd name="connsiteX0" fmla="*/ 147709 w 442433"/>
              <a:gd name="connsiteY0" fmla="*/ 328948 h 352558"/>
              <a:gd name="connsiteX1" fmla="*/ 209412 w 442433"/>
              <a:gd name="connsiteY1" fmla="*/ 328948 h 352558"/>
              <a:gd name="connsiteX2" fmla="*/ 209412 w 442433"/>
              <a:gd name="connsiteY2" fmla="*/ 328949 h 352558"/>
              <a:gd name="connsiteX3" fmla="*/ 233022 w 442433"/>
              <a:gd name="connsiteY3" fmla="*/ 328949 h 352558"/>
              <a:gd name="connsiteX4" fmla="*/ 233022 w 442433"/>
              <a:gd name="connsiteY4" fmla="*/ 328948 h 352558"/>
              <a:gd name="connsiteX5" fmla="*/ 294724 w 442433"/>
              <a:gd name="connsiteY5" fmla="*/ 328948 h 352558"/>
              <a:gd name="connsiteX6" fmla="*/ 294724 w 442433"/>
              <a:gd name="connsiteY6" fmla="*/ 352558 h 352558"/>
              <a:gd name="connsiteX7" fmla="*/ 147709 w 442433"/>
              <a:gd name="connsiteY7" fmla="*/ 352558 h 352558"/>
              <a:gd name="connsiteX8" fmla="*/ 161302 w 442433"/>
              <a:gd name="connsiteY8" fmla="*/ 203162 h 352558"/>
              <a:gd name="connsiteX9" fmla="*/ 184711 w 442433"/>
              <a:gd name="connsiteY9" fmla="*/ 203162 h 352558"/>
              <a:gd name="connsiteX10" fmla="*/ 184711 w 442433"/>
              <a:gd name="connsiteY10" fmla="*/ 232096 h 352558"/>
              <a:gd name="connsiteX11" fmla="*/ 156538 w 442433"/>
              <a:gd name="connsiteY11" fmla="*/ 226277 h 352558"/>
              <a:gd name="connsiteX12" fmla="*/ 235404 w 442433"/>
              <a:gd name="connsiteY12" fmla="*/ 135955 h 352558"/>
              <a:gd name="connsiteX13" fmla="*/ 253629 w 442433"/>
              <a:gd name="connsiteY13" fmla="*/ 159018 h 352558"/>
              <a:gd name="connsiteX14" fmla="*/ 231116 w 442433"/>
              <a:gd name="connsiteY14" fmla="*/ 176815 h 352558"/>
              <a:gd name="connsiteX15" fmla="*/ 212876 w 442433"/>
              <a:gd name="connsiteY15" fmla="*/ 153774 h 352558"/>
              <a:gd name="connsiteX16" fmla="*/ 211427 w 442433"/>
              <a:gd name="connsiteY16" fmla="*/ 105612 h 352558"/>
              <a:gd name="connsiteX17" fmla="*/ 211441 w 442433"/>
              <a:gd name="connsiteY17" fmla="*/ 105630 h 352558"/>
              <a:gd name="connsiteX18" fmla="*/ 203691 w 442433"/>
              <a:gd name="connsiteY18" fmla="*/ 143236 h 352558"/>
              <a:gd name="connsiteX19" fmla="*/ 188381 w 442433"/>
              <a:gd name="connsiteY19" fmla="*/ 123862 h 352558"/>
              <a:gd name="connsiteX20" fmla="*/ 294789 w 442433"/>
              <a:gd name="connsiteY20" fmla="*/ 88983 h 352558"/>
              <a:gd name="connsiteX21" fmla="*/ 313076 w 442433"/>
              <a:gd name="connsiteY21" fmla="*/ 112024 h 352558"/>
              <a:gd name="connsiteX22" fmla="*/ 304973 w 442433"/>
              <a:gd name="connsiteY22" fmla="*/ 118430 h 352558"/>
              <a:gd name="connsiteX23" fmla="*/ 294612 w 442433"/>
              <a:gd name="connsiteY23" fmla="*/ 118430 h 352558"/>
              <a:gd name="connsiteX24" fmla="*/ 294612 w 442433"/>
              <a:gd name="connsiteY24" fmla="*/ 89123 h 352558"/>
              <a:gd name="connsiteX25" fmla="*/ 294612 w 442433"/>
              <a:gd name="connsiteY25" fmla="*/ 88983 h 352558"/>
              <a:gd name="connsiteX26" fmla="*/ 294612 w 442433"/>
              <a:gd name="connsiteY26" fmla="*/ 89123 h 352558"/>
              <a:gd name="connsiteX27" fmla="*/ 235404 w 442433"/>
              <a:gd name="connsiteY27" fmla="*/ 135955 h 352558"/>
              <a:gd name="connsiteX28" fmla="*/ 211441 w 442433"/>
              <a:gd name="connsiteY28" fmla="*/ 105630 h 352558"/>
              <a:gd name="connsiteX29" fmla="*/ 211448 w 442433"/>
              <a:gd name="connsiteY29" fmla="*/ 105597 h 352558"/>
              <a:gd name="connsiteX30" fmla="*/ 182636 w 442433"/>
              <a:gd name="connsiteY30" fmla="*/ 99647 h 352558"/>
              <a:gd name="connsiteX31" fmla="*/ 161302 w 442433"/>
              <a:gd name="connsiteY31" fmla="*/ 203162 h 352558"/>
              <a:gd name="connsiteX32" fmla="*/ 44343 w 442433"/>
              <a:gd name="connsiteY32" fmla="*/ 203162 h 352558"/>
              <a:gd name="connsiteX33" fmla="*/ 44343 w 442433"/>
              <a:gd name="connsiteY33" fmla="*/ 232525 h 352558"/>
              <a:gd name="connsiteX34" fmla="*/ 184711 w 442433"/>
              <a:gd name="connsiteY34" fmla="*/ 232525 h 352558"/>
              <a:gd name="connsiteX35" fmla="*/ 184711 w 442433"/>
              <a:gd name="connsiteY35" fmla="*/ 232096 h 352558"/>
              <a:gd name="connsiteX36" fmla="*/ 185350 w 442433"/>
              <a:gd name="connsiteY36" fmla="*/ 232228 h 352558"/>
              <a:gd name="connsiteX37" fmla="*/ 203691 w 442433"/>
              <a:gd name="connsiteY37" fmla="*/ 143236 h 352558"/>
              <a:gd name="connsiteX38" fmla="*/ 230664 w 442433"/>
              <a:gd name="connsiteY38" fmla="*/ 177371 h 352558"/>
              <a:gd name="connsiteX39" fmla="*/ 253710 w 442433"/>
              <a:gd name="connsiteY39" fmla="*/ 159122 h 352558"/>
              <a:gd name="connsiteX40" fmla="*/ 253629 w 442433"/>
              <a:gd name="connsiteY40" fmla="*/ 159018 h 352558"/>
              <a:gd name="connsiteX41" fmla="*/ 304973 w 442433"/>
              <a:gd name="connsiteY41" fmla="*/ 118430 h 352558"/>
              <a:gd name="connsiteX42" fmla="*/ 399082 w 442433"/>
              <a:gd name="connsiteY42" fmla="*/ 118430 h 352558"/>
              <a:gd name="connsiteX43" fmla="*/ 399082 w 442433"/>
              <a:gd name="connsiteY43" fmla="*/ 88983 h 352558"/>
              <a:gd name="connsiteX44" fmla="*/ 294789 w 442433"/>
              <a:gd name="connsiteY44" fmla="*/ 88983 h 352558"/>
              <a:gd name="connsiteX45" fmla="*/ 17558 w 442433"/>
              <a:gd name="connsiteY45" fmla="*/ 23709 h 352558"/>
              <a:gd name="connsiteX46" fmla="*/ 424973 w 442433"/>
              <a:gd name="connsiteY46" fmla="*/ 23709 h 352558"/>
              <a:gd name="connsiteX47" fmla="*/ 424973 w 442433"/>
              <a:gd name="connsiteY47" fmla="*/ 282027 h 352558"/>
              <a:gd name="connsiteX48" fmla="*/ 233022 w 442433"/>
              <a:gd name="connsiteY48" fmla="*/ 282027 h 352558"/>
              <a:gd name="connsiteX49" fmla="*/ 233022 w 442433"/>
              <a:gd name="connsiteY49" fmla="*/ 328948 h 352558"/>
              <a:gd name="connsiteX50" fmla="*/ 209412 w 442433"/>
              <a:gd name="connsiteY50" fmla="*/ 328948 h 352558"/>
              <a:gd name="connsiteX51" fmla="*/ 209412 w 442433"/>
              <a:gd name="connsiteY51" fmla="*/ 282027 h 352558"/>
              <a:gd name="connsiteX52" fmla="*/ 17558 w 442433"/>
              <a:gd name="connsiteY52" fmla="*/ 282027 h 352558"/>
              <a:gd name="connsiteX53" fmla="*/ 0 w 442433"/>
              <a:gd name="connsiteY53" fmla="*/ 0 h 352558"/>
              <a:gd name="connsiteX54" fmla="*/ 442433 w 442433"/>
              <a:gd name="connsiteY54" fmla="*/ 0 h 352558"/>
              <a:gd name="connsiteX55" fmla="*/ 442433 w 442433"/>
              <a:gd name="connsiteY55" fmla="*/ 23709 h 352558"/>
              <a:gd name="connsiteX56" fmla="*/ 424973 w 442433"/>
              <a:gd name="connsiteY56" fmla="*/ 23709 h 352558"/>
              <a:gd name="connsiteX57" fmla="*/ 424973 w 442433"/>
              <a:gd name="connsiteY57" fmla="*/ 14880 h 352558"/>
              <a:gd name="connsiteX58" fmla="*/ 17558 w 442433"/>
              <a:gd name="connsiteY58" fmla="*/ 14880 h 352558"/>
              <a:gd name="connsiteX59" fmla="*/ 17558 w 442433"/>
              <a:gd name="connsiteY59" fmla="*/ 23709 h 352558"/>
              <a:gd name="connsiteX60" fmla="*/ 0 w 442433"/>
              <a:gd name="connsiteY60" fmla="*/ 23709 h 352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42433" h="352558">
                <a:moveTo>
                  <a:pt x="147709" y="328948"/>
                </a:moveTo>
                <a:lnTo>
                  <a:pt x="209412" y="328948"/>
                </a:lnTo>
                <a:lnTo>
                  <a:pt x="209412" y="328949"/>
                </a:lnTo>
                <a:lnTo>
                  <a:pt x="233022" y="328949"/>
                </a:lnTo>
                <a:lnTo>
                  <a:pt x="233022" y="328948"/>
                </a:lnTo>
                <a:lnTo>
                  <a:pt x="294724" y="328948"/>
                </a:lnTo>
                <a:lnTo>
                  <a:pt x="294724" y="352558"/>
                </a:lnTo>
                <a:lnTo>
                  <a:pt x="147709" y="352558"/>
                </a:lnTo>
                <a:close/>
                <a:moveTo>
                  <a:pt x="161302" y="203162"/>
                </a:moveTo>
                <a:lnTo>
                  <a:pt x="184711" y="203162"/>
                </a:lnTo>
                <a:lnTo>
                  <a:pt x="184711" y="232096"/>
                </a:lnTo>
                <a:lnTo>
                  <a:pt x="156538" y="226277"/>
                </a:lnTo>
                <a:close/>
                <a:moveTo>
                  <a:pt x="235404" y="135955"/>
                </a:moveTo>
                <a:lnTo>
                  <a:pt x="253629" y="159018"/>
                </a:lnTo>
                <a:lnTo>
                  <a:pt x="231116" y="176815"/>
                </a:lnTo>
                <a:lnTo>
                  <a:pt x="212876" y="153774"/>
                </a:lnTo>
                <a:close/>
                <a:moveTo>
                  <a:pt x="211427" y="105612"/>
                </a:moveTo>
                <a:lnTo>
                  <a:pt x="211441" y="105630"/>
                </a:lnTo>
                <a:lnTo>
                  <a:pt x="203691" y="143236"/>
                </a:lnTo>
                <a:lnTo>
                  <a:pt x="188381" y="123862"/>
                </a:lnTo>
                <a:close/>
                <a:moveTo>
                  <a:pt x="294789" y="88983"/>
                </a:moveTo>
                <a:lnTo>
                  <a:pt x="313076" y="112024"/>
                </a:lnTo>
                <a:lnTo>
                  <a:pt x="304973" y="118430"/>
                </a:lnTo>
                <a:lnTo>
                  <a:pt x="294612" y="118430"/>
                </a:lnTo>
                <a:lnTo>
                  <a:pt x="294612" y="89123"/>
                </a:lnTo>
                <a:close/>
                <a:moveTo>
                  <a:pt x="294612" y="88983"/>
                </a:moveTo>
                <a:lnTo>
                  <a:pt x="294612" y="89123"/>
                </a:lnTo>
                <a:lnTo>
                  <a:pt x="235404" y="135955"/>
                </a:lnTo>
                <a:lnTo>
                  <a:pt x="211441" y="105630"/>
                </a:lnTo>
                <a:lnTo>
                  <a:pt x="211448" y="105597"/>
                </a:lnTo>
                <a:lnTo>
                  <a:pt x="182636" y="99647"/>
                </a:lnTo>
                <a:lnTo>
                  <a:pt x="161302" y="203162"/>
                </a:lnTo>
                <a:lnTo>
                  <a:pt x="44343" y="203162"/>
                </a:lnTo>
                <a:lnTo>
                  <a:pt x="44343" y="232525"/>
                </a:lnTo>
                <a:lnTo>
                  <a:pt x="184711" y="232525"/>
                </a:lnTo>
                <a:lnTo>
                  <a:pt x="184711" y="232096"/>
                </a:lnTo>
                <a:lnTo>
                  <a:pt x="185350" y="232228"/>
                </a:lnTo>
                <a:lnTo>
                  <a:pt x="203691" y="143236"/>
                </a:lnTo>
                <a:lnTo>
                  <a:pt x="230664" y="177371"/>
                </a:lnTo>
                <a:lnTo>
                  <a:pt x="253710" y="159122"/>
                </a:lnTo>
                <a:lnTo>
                  <a:pt x="253629" y="159018"/>
                </a:lnTo>
                <a:lnTo>
                  <a:pt x="304973" y="118430"/>
                </a:lnTo>
                <a:lnTo>
                  <a:pt x="399082" y="118430"/>
                </a:lnTo>
                <a:lnTo>
                  <a:pt x="399082" y="88983"/>
                </a:lnTo>
                <a:lnTo>
                  <a:pt x="294789" y="88983"/>
                </a:lnTo>
                <a:close/>
                <a:moveTo>
                  <a:pt x="17558" y="23709"/>
                </a:moveTo>
                <a:lnTo>
                  <a:pt x="424973" y="23709"/>
                </a:lnTo>
                <a:lnTo>
                  <a:pt x="424973" y="282027"/>
                </a:lnTo>
                <a:lnTo>
                  <a:pt x="233022" y="282027"/>
                </a:lnTo>
                <a:lnTo>
                  <a:pt x="233022" y="328948"/>
                </a:lnTo>
                <a:lnTo>
                  <a:pt x="209412" y="328948"/>
                </a:lnTo>
                <a:lnTo>
                  <a:pt x="209412" y="282027"/>
                </a:lnTo>
                <a:lnTo>
                  <a:pt x="17558" y="282027"/>
                </a:lnTo>
                <a:close/>
                <a:moveTo>
                  <a:pt x="0" y="0"/>
                </a:moveTo>
                <a:lnTo>
                  <a:pt x="442433" y="0"/>
                </a:lnTo>
                <a:lnTo>
                  <a:pt x="442433" y="23709"/>
                </a:lnTo>
                <a:lnTo>
                  <a:pt x="424973" y="23709"/>
                </a:lnTo>
                <a:lnTo>
                  <a:pt x="424973" y="14880"/>
                </a:lnTo>
                <a:lnTo>
                  <a:pt x="17558" y="14880"/>
                </a:lnTo>
                <a:lnTo>
                  <a:pt x="17558" y="23709"/>
                </a:lnTo>
                <a:lnTo>
                  <a:pt x="0" y="23709"/>
                </a:ln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14">
            <a:extLst>
              <a:ext uri="{FF2B5EF4-FFF2-40B4-BE49-F238E27FC236}">
                <a16:creationId xmlns:a16="http://schemas.microsoft.com/office/drawing/2014/main" id="{7E0DAAB0-E574-1AD3-2E3E-505FFCC08B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666943" y="2445460"/>
            <a:ext cx="2866222" cy="2138336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对会员数据分析，重构与消费者的链接，根据用户画像和推荐算法，实现逆向牵引和精准化营销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43757646-1568-CECE-F0E4-C111105A0B6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942926" y="2464494"/>
            <a:ext cx="2866222" cy="2138336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线上线下数据整合、分析和挖掘，了解消费者，线上线下全流程高效协同配合，提升品牌转化率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文本框 14">
            <a:extLst>
              <a:ext uri="{FF2B5EF4-FFF2-40B4-BE49-F238E27FC236}">
                <a16:creationId xmlns:a16="http://schemas.microsoft.com/office/drawing/2014/main" id="{8667CCF2-0931-111B-84AD-2E448F29370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237129" y="2445460"/>
            <a:ext cx="2866222" cy="2513493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利用新技术收集数据、分类、整理分析消费者购买倾向，实现智能信发</a:t>
            </a:r>
            <a:r>
              <a:rPr lang="en-US" altLang="zh-CN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尽可能占用消费者碎片化的购物时间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22" name="组合 28">
            <a:extLst>
              <a:ext uri="{FF2B5EF4-FFF2-40B4-BE49-F238E27FC236}">
                <a16:creationId xmlns:a16="http://schemas.microsoft.com/office/drawing/2014/main" id="{07CDE974-8C4F-3A2A-BF83-E514D262649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 rot="5400000">
            <a:off x="1588369" y="1402241"/>
            <a:ext cx="643631" cy="766026"/>
            <a:chOff x="3121" y="7415"/>
            <a:chExt cx="1220" cy="1452"/>
          </a:xfrm>
        </p:grpSpPr>
        <p:sp>
          <p:nvSpPr>
            <p:cNvPr id="23" name="空心弧 24">
              <a:extLst>
                <a:ext uri="{FF2B5EF4-FFF2-40B4-BE49-F238E27FC236}">
                  <a16:creationId xmlns:a16="http://schemas.microsoft.com/office/drawing/2014/main" id="{97E979A1-D19E-1FD5-35DF-68A86A1D3B8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空心弧 26">
              <a:extLst>
                <a:ext uri="{FF2B5EF4-FFF2-40B4-BE49-F238E27FC236}">
                  <a16:creationId xmlns:a16="http://schemas.microsoft.com/office/drawing/2014/main" id="{BD62992D-0535-D1D0-D0A0-498CF45709C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5" name="文本框 27">
            <a:extLst>
              <a:ext uri="{FF2B5EF4-FFF2-40B4-BE49-F238E27FC236}">
                <a16:creationId xmlns:a16="http://schemas.microsoft.com/office/drawing/2014/main" id="{A1E72A99-03EA-5A60-A0BC-51FB53CA029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764049" y="1602189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 dirty="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</a:p>
        </p:txBody>
      </p:sp>
      <p:grpSp>
        <p:nvGrpSpPr>
          <p:cNvPr id="26" name="组合 36">
            <a:extLst>
              <a:ext uri="{FF2B5EF4-FFF2-40B4-BE49-F238E27FC236}">
                <a16:creationId xmlns:a16="http://schemas.microsoft.com/office/drawing/2014/main" id="{4096FBDF-8F8A-889E-C5E5-36CFE2DB3FA9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 rot="5400000">
            <a:off x="4646222" y="1402240"/>
            <a:ext cx="643631" cy="766026"/>
            <a:chOff x="3121" y="7415"/>
            <a:chExt cx="1220" cy="1452"/>
          </a:xfrm>
        </p:grpSpPr>
        <p:sp>
          <p:nvSpPr>
            <p:cNvPr id="27" name="空心弧 37">
              <a:extLst>
                <a:ext uri="{FF2B5EF4-FFF2-40B4-BE49-F238E27FC236}">
                  <a16:creationId xmlns:a16="http://schemas.microsoft.com/office/drawing/2014/main" id="{032E778A-B302-FA7B-7E05-D0EC205BA90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空心弧 38">
              <a:extLst>
                <a:ext uri="{FF2B5EF4-FFF2-40B4-BE49-F238E27FC236}">
                  <a16:creationId xmlns:a16="http://schemas.microsoft.com/office/drawing/2014/main" id="{CE39FC09-5378-6DB1-5BBE-BD1EF56D504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9" name="文本框 39">
            <a:extLst>
              <a:ext uri="{FF2B5EF4-FFF2-40B4-BE49-F238E27FC236}">
                <a16:creationId xmlns:a16="http://schemas.microsoft.com/office/drawing/2014/main" id="{A4FA0377-73DF-BBD7-2673-F478CC77999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821901" y="1602188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</a:p>
        </p:txBody>
      </p:sp>
      <p:grpSp>
        <p:nvGrpSpPr>
          <p:cNvPr id="30" name="组合 36">
            <a:extLst>
              <a:ext uri="{FF2B5EF4-FFF2-40B4-BE49-F238E27FC236}">
                <a16:creationId xmlns:a16="http://schemas.microsoft.com/office/drawing/2014/main" id="{09B4AA16-36FF-6A40-CA44-D64D78B5CF8C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 rot="5400000">
            <a:off x="8001771" y="1409416"/>
            <a:ext cx="643631" cy="766026"/>
            <a:chOff x="3121" y="7415"/>
            <a:chExt cx="1220" cy="1452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31" name="空心弧 37">
              <a:extLst>
                <a:ext uri="{FF2B5EF4-FFF2-40B4-BE49-F238E27FC236}">
                  <a16:creationId xmlns:a16="http://schemas.microsoft.com/office/drawing/2014/main" id="{7B59EFAF-8773-F8C6-A446-DF75C968CB7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grpFill/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2" name="空心弧 38">
              <a:extLst>
                <a:ext uri="{FF2B5EF4-FFF2-40B4-BE49-F238E27FC236}">
                  <a16:creationId xmlns:a16="http://schemas.microsoft.com/office/drawing/2014/main" id="{DAED1474-E48F-0878-065E-0CBA84FCAB5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grpFill/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3" name="文本框 39">
            <a:extLst>
              <a:ext uri="{FF2B5EF4-FFF2-40B4-BE49-F238E27FC236}">
                <a16:creationId xmlns:a16="http://schemas.microsoft.com/office/drawing/2014/main" id="{E7AD9D48-7A5E-8385-2C3A-0772805D2C1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177450" y="1609364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1688" y="696595"/>
            <a:ext cx="8377309" cy="576263"/>
          </a:xfrm>
        </p:spPr>
        <p:txBody>
          <a:bodyPr/>
          <a:lstStyle/>
          <a:p>
            <a:r>
              <a:rPr lang="zh-CN" altLang="en-US"/>
              <a:t>新零售：通过场景将人和或链接在一起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95A277A-CE9B-E30A-0111-81D766FCC5B4}"/>
              </a:ext>
            </a:extLst>
          </p:cNvPr>
          <p:cNvGrpSpPr/>
          <p:nvPr/>
        </p:nvGrpSpPr>
        <p:grpSpPr>
          <a:xfrm>
            <a:off x="1489081" y="1336068"/>
            <a:ext cx="9213838" cy="5076872"/>
            <a:chOff x="1769855" y="1176677"/>
            <a:chExt cx="9213838" cy="5076872"/>
          </a:xfrm>
        </p:grpSpPr>
        <p:sp>
          <p:nvSpPr>
            <p:cNvPr id="5" name="Rectangle 300">
              <a:extLst>
                <a:ext uri="{FF2B5EF4-FFF2-40B4-BE49-F238E27FC236}">
                  <a16:creationId xmlns:a16="http://schemas.microsoft.com/office/drawing/2014/main" id="{E5453300-75CA-F3CA-E590-FBD8F105A6D9}"/>
                </a:ext>
              </a:extLst>
            </p:cNvPr>
            <p:cNvSpPr/>
            <p:nvPr/>
          </p:nvSpPr>
          <p:spPr>
            <a:xfrm>
              <a:off x="1769855" y="5538219"/>
              <a:ext cx="2968309" cy="714925"/>
            </a:xfrm>
            <a:prstGeom prst="rect">
              <a:avLst/>
            </a:prstGeom>
            <a:solidFill>
              <a:srgbClr val="1D4C77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300">
              <a:extLst>
                <a:ext uri="{FF2B5EF4-FFF2-40B4-BE49-F238E27FC236}">
                  <a16:creationId xmlns:a16="http://schemas.microsoft.com/office/drawing/2014/main" id="{2C342A57-53CA-7129-2569-E888BF87EEA6}"/>
                </a:ext>
              </a:extLst>
            </p:cNvPr>
            <p:cNvSpPr/>
            <p:nvPr/>
          </p:nvSpPr>
          <p:spPr>
            <a:xfrm>
              <a:off x="1775719" y="2912089"/>
              <a:ext cx="2968309" cy="1246901"/>
            </a:xfrm>
            <a:prstGeom prst="rect">
              <a:avLst/>
            </a:prstGeom>
            <a:solidFill>
              <a:srgbClr val="1D4C77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Rectangle 300">
              <a:extLst>
                <a:ext uri="{FF2B5EF4-FFF2-40B4-BE49-F238E27FC236}">
                  <a16:creationId xmlns:a16="http://schemas.microsoft.com/office/drawing/2014/main" id="{ED284BA7-2781-AF28-8448-D53C2A5FB26C}"/>
                </a:ext>
              </a:extLst>
            </p:cNvPr>
            <p:cNvSpPr/>
            <p:nvPr/>
          </p:nvSpPr>
          <p:spPr>
            <a:xfrm>
              <a:off x="4889737" y="2918924"/>
              <a:ext cx="2973850" cy="1832038"/>
            </a:xfrm>
            <a:prstGeom prst="rect">
              <a:avLst/>
            </a:prstGeom>
            <a:solidFill>
              <a:srgbClr val="1D4C77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Rectangle 300">
              <a:extLst>
                <a:ext uri="{FF2B5EF4-FFF2-40B4-BE49-F238E27FC236}">
                  <a16:creationId xmlns:a16="http://schemas.microsoft.com/office/drawing/2014/main" id="{B8D1A5D1-5FFF-1E05-6D0D-7EC1E8ED41CD}"/>
                </a:ext>
              </a:extLst>
            </p:cNvPr>
            <p:cNvSpPr/>
            <p:nvPr/>
          </p:nvSpPr>
          <p:spPr>
            <a:xfrm>
              <a:off x="4889737" y="1605351"/>
              <a:ext cx="2968309" cy="1263734"/>
            </a:xfrm>
            <a:prstGeom prst="rect">
              <a:avLst/>
            </a:prstGeom>
            <a:solidFill>
              <a:srgbClr val="1D4C77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可视化…">
              <a:extLst>
                <a:ext uri="{FF2B5EF4-FFF2-40B4-BE49-F238E27FC236}">
                  <a16:creationId xmlns:a16="http://schemas.microsoft.com/office/drawing/2014/main" id="{A57C1A79-BE82-CDCB-FD65-E2AD3A028384}"/>
                </a:ext>
              </a:extLst>
            </p:cNvPr>
            <p:cNvSpPr txBox="1"/>
            <p:nvPr/>
          </p:nvSpPr>
          <p:spPr>
            <a:xfrm>
              <a:off x="5766556" y="1624049"/>
              <a:ext cx="1002784" cy="256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/>
            <a:p>
              <a:pPr algn="ctr">
                <a:defRPr sz="1800" b="0">
                  <a:solidFill>
                    <a:srgbClr val="FC6A2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基础档案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300">
              <a:extLst>
                <a:ext uri="{FF2B5EF4-FFF2-40B4-BE49-F238E27FC236}">
                  <a16:creationId xmlns:a16="http://schemas.microsoft.com/office/drawing/2014/main" id="{F369063A-3011-D2C8-AA56-B5C8C89070AB}"/>
                </a:ext>
              </a:extLst>
            </p:cNvPr>
            <p:cNvSpPr/>
            <p:nvPr/>
          </p:nvSpPr>
          <p:spPr>
            <a:xfrm>
              <a:off x="4884196" y="1176677"/>
              <a:ext cx="2973850" cy="428673"/>
            </a:xfrm>
            <a:prstGeom prst="rect">
              <a:avLst/>
            </a:prstGeom>
            <a:solidFill>
              <a:srgbClr val="0151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货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300">
              <a:extLst>
                <a:ext uri="{FF2B5EF4-FFF2-40B4-BE49-F238E27FC236}">
                  <a16:creationId xmlns:a16="http://schemas.microsoft.com/office/drawing/2014/main" id="{3C27D971-5B6B-8B3B-948A-DA9201FAC406}"/>
                </a:ext>
              </a:extLst>
            </p:cNvPr>
            <p:cNvSpPr/>
            <p:nvPr/>
          </p:nvSpPr>
          <p:spPr>
            <a:xfrm>
              <a:off x="4889909" y="4806636"/>
              <a:ext cx="2968138" cy="1446913"/>
            </a:xfrm>
            <a:prstGeom prst="rect">
              <a:avLst/>
            </a:prstGeom>
            <a:solidFill>
              <a:srgbClr val="1D4C77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圆角矩形">
              <a:extLst>
                <a:ext uri="{FF2B5EF4-FFF2-40B4-BE49-F238E27FC236}">
                  <a16:creationId xmlns:a16="http://schemas.microsoft.com/office/drawing/2014/main" id="{99822B74-6163-9BF2-C0F5-0DBCC26B857F}"/>
                </a:ext>
              </a:extLst>
            </p:cNvPr>
            <p:cNvSpPr/>
            <p:nvPr/>
          </p:nvSpPr>
          <p:spPr>
            <a:xfrm>
              <a:off x="5286128" y="4156712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正常零售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圆角矩形">
              <a:extLst>
                <a:ext uri="{FF2B5EF4-FFF2-40B4-BE49-F238E27FC236}">
                  <a16:creationId xmlns:a16="http://schemas.microsoft.com/office/drawing/2014/main" id="{14F2477C-D9BB-C255-29D8-042A1F58B9AD}"/>
                </a:ext>
              </a:extLst>
            </p:cNvPr>
            <p:cNvSpPr/>
            <p:nvPr/>
          </p:nvSpPr>
          <p:spPr>
            <a:xfrm>
              <a:off x="5286128" y="4426583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全渠道零售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圆角矩形">
              <a:extLst>
                <a:ext uri="{FF2B5EF4-FFF2-40B4-BE49-F238E27FC236}">
                  <a16:creationId xmlns:a16="http://schemas.microsoft.com/office/drawing/2014/main" id="{67B02DDE-E0DF-5612-E48E-5F405053A04E}"/>
                </a:ext>
              </a:extLst>
            </p:cNvPr>
            <p:cNvSpPr/>
            <p:nvPr/>
          </p:nvSpPr>
          <p:spPr>
            <a:xfrm>
              <a:off x="6244940" y="4158747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退换货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圆角矩形">
              <a:extLst>
                <a:ext uri="{FF2B5EF4-FFF2-40B4-BE49-F238E27FC236}">
                  <a16:creationId xmlns:a16="http://schemas.microsoft.com/office/drawing/2014/main" id="{DFD3537F-8063-0FB9-B17A-DC49D3071FE9}"/>
                </a:ext>
              </a:extLst>
            </p:cNvPr>
            <p:cNvSpPr/>
            <p:nvPr/>
          </p:nvSpPr>
          <p:spPr>
            <a:xfrm>
              <a:off x="6244940" y="4426582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返修服务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圆角矩形">
              <a:extLst>
                <a:ext uri="{FF2B5EF4-FFF2-40B4-BE49-F238E27FC236}">
                  <a16:creationId xmlns:a16="http://schemas.microsoft.com/office/drawing/2014/main" id="{84CEDA27-9773-B77B-63B2-DD2E4EE3EB07}"/>
                </a:ext>
              </a:extLst>
            </p:cNvPr>
            <p:cNvSpPr/>
            <p:nvPr/>
          </p:nvSpPr>
          <p:spPr>
            <a:xfrm>
              <a:off x="6416236" y="5438794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多种盘点方式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F4EB8FA5-6409-CA6D-166E-4FF57D3A8954}"/>
                </a:ext>
              </a:extLst>
            </p:cNvPr>
            <p:cNvSpPr/>
            <p:nvPr/>
          </p:nvSpPr>
          <p:spPr>
            <a:xfrm>
              <a:off x="6416236" y="5708665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差异审批机制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圆角矩形">
              <a:extLst>
                <a:ext uri="{FF2B5EF4-FFF2-40B4-BE49-F238E27FC236}">
                  <a16:creationId xmlns:a16="http://schemas.microsoft.com/office/drawing/2014/main" id="{AFC0CB60-36E7-28BE-70B8-261A51131485}"/>
                </a:ext>
              </a:extLst>
            </p:cNvPr>
            <p:cNvSpPr/>
            <p:nvPr/>
          </p:nvSpPr>
          <p:spPr>
            <a:xfrm>
              <a:off x="6416236" y="5977557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差异调整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圆角矩形">
              <a:extLst>
                <a:ext uri="{FF2B5EF4-FFF2-40B4-BE49-F238E27FC236}">
                  <a16:creationId xmlns:a16="http://schemas.microsoft.com/office/drawing/2014/main" id="{A57B1052-2D62-EA09-2E9B-F7942273522A}"/>
                </a:ext>
              </a:extLst>
            </p:cNvPr>
            <p:cNvSpPr/>
            <p:nvPr/>
          </p:nvSpPr>
          <p:spPr>
            <a:xfrm>
              <a:off x="6414582" y="5158659"/>
              <a:ext cx="874710" cy="229881"/>
            </a:xfrm>
            <a:prstGeom prst="roundRect">
              <a:avLst>
                <a:gd name="adj" fmla="val 1356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库存盘点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303">
              <a:extLst>
                <a:ext uri="{FF2B5EF4-FFF2-40B4-BE49-F238E27FC236}">
                  <a16:creationId xmlns:a16="http://schemas.microsoft.com/office/drawing/2014/main" id="{34916396-9602-7A88-5CD8-B4F16AC42B3C}"/>
                </a:ext>
              </a:extLst>
            </p:cNvPr>
            <p:cNvSpPr/>
            <p:nvPr/>
          </p:nvSpPr>
          <p:spPr>
            <a:xfrm>
              <a:off x="8015332" y="1181368"/>
              <a:ext cx="2968361" cy="420950"/>
            </a:xfrm>
            <a:prstGeom prst="rect">
              <a:avLst/>
            </a:prstGeom>
            <a:solidFill>
              <a:srgbClr val="0151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300">
              <a:extLst>
                <a:ext uri="{FF2B5EF4-FFF2-40B4-BE49-F238E27FC236}">
                  <a16:creationId xmlns:a16="http://schemas.microsoft.com/office/drawing/2014/main" id="{1C09AE06-D7B8-DFE4-D0D2-F120BEE3A26B}"/>
                </a:ext>
              </a:extLst>
            </p:cNvPr>
            <p:cNvSpPr/>
            <p:nvPr/>
          </p:nvSpPr>
          <p:spPr>
            <a:xfrm>
              <a:off x="8016144" y="2912089"/>
              <a:ext cx="2963427" cy="3341055"/>
            </a:xfrm>
            <a:prstGeom prst="rect">
              <a:avLst/>
            </a:prstGeom>
            <a:solidFill>
              <a:srgbClr val="1D4C77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圆角矩形">
              <a:extLst>
                <a:ext uri="{FF2B5EF4-FFF2-40B4-BE49-F238E27FC236}">
                  <a16:creationId xmlns:a16="http://schemas.microsoft.com/office/drawing/2014/main" id="{43DF72EE-8361-5498-5801-68A44998EA80}"/>
                </a:ext>
              </a:extLst>
            </p:cNvPr>
            <p:cNvSpPr/>
            <p:nvPr/>
          </p:nvSpPr>
          <p:spPr>
            <a:xfrm>
              <a:off x="8574650" y="3543298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权限管控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5B709D6C-34C8-DB85-91CF-B3A528C15483}"/>
                </a:ext>
              </a:extLst>
            </p:cNvPr>
            <p:cNvSpPr/>
            <p:nvPr/>
          </p:nvSpPr>
          <p:spPr>
            <a:xfrm>
              <a:off x="8574650" y="5164163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日结、月结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圆角矩形">
              <a:extLst>
                <a:ext uri="{FF2B5EF4-FFF2-40B4-BE49-F238E27FC236}">
                  <a16:creationId xmlns:a16="http://schemas.microsoft.com/office/drawing/2014/main" id="{9F8CDCF3-9D24-146B-B452-FB63BE71DFC2}"/>
                </a:ext>
              </a:extLst>
            </p:cNvPr>
            <p:cNvSpPr/>
            <p:nvPr/>
          </p:nvSpPr>
          <p:spPr>
            <a:xfrm>
              <a:off x="9571849" y="3547926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店长导航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圆角矩形">
              <a:extLst>
                <a:ext uri="{FF2B5EF4-FFF2-40B4-BE49-F238E27FC236}">
                  <a16:creationId xmlns:a16="http://schemas.microsoft.com/office/drawing/2014/main" id="{9ED28A72-D609-4791-AB6C-F5B751197A9E}"/>
                </a:ext>
              </a:extLst>
            </p:cNvPr>
            <p:cNvSpPr/>
            <p:nvPr/>
          </p:nvSpPr>
          <p:spPr>
            <a:xfrm>
              <a:off x="8574650" y="4839990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零售清机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6D615A19-8317-6C8D-11B8-CF6C8E5C0690}"/>
                </a:ext>
              </a:extLst>
            </p:cNvPr>
            <p:cNvSpPr/>
            <p:nvPr/>
          </p:nvSpPr>
          <p:spPr>
            <a:xfrm>
              <a:off x="9571849" y="5492544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日周月报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Rectangle 300">
              <a:extLst>
                <a:ext uri="{FF2B5EF4-FFF2-40B4-BE49-F238E27FC236}">
                  <a16:creationId xmlns:a16="http://schemas.microsoft.com/office/drawing/2014/main" id="{0165774A-A7AA-8249-2D4A-B5C24C8C82FF}"/>
                </a:ext>
              </a:extLst>
            </p:cNvPr>
            <p:cNvSpPr/>
            <p:nvPr/>
          </p:nvSpPr>
          <p:spPr>
            <a:xfrm>
              <a:off x="1775719" y="1596794"/>
              <a:ext cx="2968309" cy="1260990"/>
            </a:xfrm>
            <a:prstGeom prst="rect">
              <a:avLst/>
            </a:prstGeom>
            <a:solidFill>
              <a:srgbClr val="1D4C77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Rectangle 302">
              <a:extLst>
                <a:ext uri="{FF2B5EF4-FFF2-40B4-BE49-F238E27FC236}">
                  <a16:creationId xmlns:a16="http://schemas.microsoft.com/office/drawing/2014/main" id="{FB971FD8-367E-8BB6-1D43-27B3E0C93C77}"/>
                </a:ext>
              </a:extLst>
            </p:cNvPr>
            <p:cNvSpPr/>
            <p:nvPr/>
          </p:nvSpPr>
          <p:spPr>
            <a:xfrm>
              <a:off x="1769855" y="1185271"/>
              <a:ext cx="2974792" cy="420080"/>
            </a:xfrm>
            <a:prstGeom prst="rect">
              <a:avLst/>
            </a:prstGeom>
            <a:solidFill>
              <a:srgbClr val="0151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可视化…">
              <a:extLst>
                <a:ext uri="{FF2B5EF4-FFF2-40B4-BE49-F238E27FC236}">
                  <a16:creationId xmlns:a16="http://schemas.microsoft.com/office/drawing/2014/main" id="{AD0AB372-85EA-957A-E28D-3C663CC5974A}"/>
                </a:ext>
              </a:extLst>
            </p:cNvPr>
            <p:cNvSpPr txBox="1"/>
            <p:nvPr/>
          </p:nvSpPr>
          <p:spPr>
            <a:xfrm>
              <a:off x="2836293" y="1635749"/>
              <a:ext cx="800852" cy="256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/>
            <a:p>
              <a:pPr algn="ctr">
                <a:defRPr sz="1800" b="0">
                  <a:solidFill>
                    <a:srgbClr val="FC6A2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基础档案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圆角矩形">
              <a:extLst>
                <a:ext uri="{FF2B5EF4-FFF2-40B4-BE49-F238E27FC236}">
                  <a16:creationId xmlns:a16="http://schemas.microsoft.com/office/drawing/2014/main" id="{710F71D6-5D7E-5EE7-C25D-85053005D273}"/>
                </a:ext>
              </a:extLst>
            </p:cNvPr>
            <p:cNvSpPr/>
            <p:nvPr/>
          </p:nvSpPr>
          <p:spPr>
            <a:xfrm>
              <a:off x="3308837" y="3574478"/>
              <a:ext cx="965620" cy="199248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企微</a:t>
              </a: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钉钉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A5AE5AF4-AB97-AE50-9010-3C4AA242A72C}"/>
                </a:ext>
              </a:extLst>
            </p:cNvPr>
            <p:cNvSpPr/>
            <p:nvPr/>
          </p:nvSpPr>
          <p:spPr>
            <a:xfrm>
              <a:off x="2251343" y="2252121"/>
              <a:ext cx="928920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线下店员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圆角矩形">
              <a:extLst>
                <a:ext uri="{FF2B5EF4-FFF2-40B4-BE49-F238E27FC236}">
                  <a16:creationId xmlns:a16="http://schemas.microsoft.com/office/drawing/2014/main" id="{7A094C3B-F9FD-1806-5F3E-38F4D71CEBC2}"/>
                </a:ext>
              </a:extLst>
            </p:cNvPr>
            <p:cNvSpPr/>
            <p:nvPr/>
          </p:nvSpPr>
          <p:spPr>
            <a:xfrm>
              <a:off x="2218323" y="1945078"/>
              <a:ext cx="988693" cy="210601"/>
            </a:xfrm>
            <a:prstGeom prst="roundRect">
              <a:avLst>
                <a:gd name="adj" fmla="val 1356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人员档案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圆角矩形">
              <a:extLst>
                <a:ext uri="{FF2B5EF4-FFF2-40B4-BE49-F238E27FC236}">
                  <a16:creationId xmlns:a16="http://schemas.microsoft.com/office/drawing/2014/main" id="{BAEA65BE-310B-0801-7EEB-E6B7D6FB6A81}"/>
                </a:ext>
              </a:extLst>
            </p:cNvPr>
            <p:cNvSpPr/>
            <p:nvPr/>
          </p:nvSpPr>
          <p:spPr>
            <a:xfrm>
              <a:off x="2300768" y="5905808"/>
              <a:ext cx="900769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财务报表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8B2502EE-3F1C-9A81-653E-556F90324028}"/>
                </a:ext>
              </a:extLst>
            </p:cNvPr>
            <p:cNvSpPr/>
            <p:nvPr/>
          </p:nvSpPr>
          <p:spPr>
            <a:xfrm>
              <a:off x="3296942" y="5912819"/>
              <a:ext cx="970702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零售报表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圆角矩形">
              <a:extLst>
                <a:ext uri="{FF2B5EF4-FFF2-40B4-BE49-F238E27FC236}">
                  <a16:creationId xmlns:a16="http://schemas.microsoft.com/office/drawing/2014/main" id="{BC7D80DF-72DF-2AB0-FEA5-7D18F356A0AF}"/>
                </a:ext>
              </a:extLst>
            </p:cNvPr>
            <p:cNvSpPr/>
            <p:nvPr/>
          </p:nvSpPr>
          <p:spPr>
            <a:xfrm>
              <a:off x="5281244" y="5142273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出入库管理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圆角矩形">
              <a:extLst>
                <a:ext uri="{FF2B5EF4-FFF2-40B4-BE49-F238E27FC236}">
                  <a16:creationId xmlns:a16="http://schemas.microsoft.com/office/drawing/2014/main" id="{3F5A7CAF-0744-D965-DD44-4F975BDC6779}"/>
                </a:ext>
              </a:extLst>
            </p:cNvPr>
            <p:cNvSpPr/>
            <p:nvPr/>
          </p:nvSpPr>
          <p:spPr>
            <a:xfrm>
              <a:off x="5281244" y="5977556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库存监控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46AD9F86-A051-7752-272C-354FC620C9FC}"/>
                </a:ext>
              </a:extLst>
            </p:cNvPr>
            <p:cNvSpPr/>
            <p:nvPr/>
          </p:nvSpPr>
          <p:spPr>
            <a:xfrm>
              <a:off x="2268628" y="3293918"/>
              <a:ext cx="93543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内容自定义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圆角矩形">
              <a:extLst>
                <a:ext uri="{FF2B5EF4-FFF2-40B4-BE49-F238E27FC236}">
                  <a16:creationId xmlns:a16="http://schemas.microsoft.com/office/drawing/2014/main" id="{61835BA0-FFF2-C059-D4A5-2A3B18E3C206}"/>
                </a:ext>
              </a:extLst>
            </p:cNvPr>
            <p:cNvSpPr/>
            <p:nvPr/>
          </p:nvSpPr>
          <p:spPr>
            <a:xfrm>
              <a:off x="2268628" y="3563789"/>
              <a:ext cx="93543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层级自定义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">
              <a:extLst>
                <a:ext uri="{FF2B5EF4-FFF2-40B4-BE49-F238E27FC236}">
                  <a16:creationId xmlns:a16="http://schemas.microsoft.com/office/drawing/2014/main" id="{78BA90CA-AA85-70AA-2BC9-B246B2AFB194}"/>
                </a:ext>
              </a:extLst>
            </p:cNvPr>
            <p:cNvSpPr/>
            <p:nvPr/>
          </p:nvSpPr>
          <p:spPr>
            <a:xfrm>
              <a:off x="2268628" y="3835627"/>
              <a:ext cx="93543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条件自定义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圆角矩形">
              <a:extLst>
                <a:ext uri="{FF2B5EF4-FFF2-40B4-BE49-F238E27FC236}">
                  <a16:creationId xmlns:a16="http://schemas.microsoft.com/office/drawing/2014/main" id="{968C6523-AE56-AC23-2CAE-61750ED154AD}"/>
                </a:ext>
              </a:extLst>
            </p:cNvPr>
            <p:cNvSpPr/>
            <p:nvPr/>
          </p:nvSpPr>
          <p:spPr>
            <a:xfrm>
              <a:off x="3308091" y="3291647"/>
              <a:ext cx="96636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通知自定义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7CA30CC5-FE21-44B5-A7BA-4F3AEFB29967}"/>
                </a:ext>
              </a:extLst>
            </p:cNvPr>
            <p:cNvSpPr/>
            <p:nvPr/>
          </p:nvSpPr>
          <p:spPr>
            <a:xfrm>
              <a:off x="3288718" y="1941305"/>
              <a:ext cx="989694" cy="210601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权限管理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圆角矩形">
              <a:extLst>
                <a:ext uri="{FF2B5EF4-FFF2-40B4-BE49-F238E27FC236}">
                  <a16:creationId xmlns:a16="http://schemas.microsoft.com/office/drawing/2014/main" id="{6AF50828-FFE4-1603-F3D7-F474F2BA8206}"/>
                </a:ext>
              </a:extLst>
            </p:cNvPr>
            <p:cNvSpPr/>
            <p:nvPr/>
          </p:nvSpPr>
          <p:spPr>
            <a:xfrm>
              <a:off x="6244940" y="1940589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零售价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圆角矩形">
              <a:extLst>
                <a:ext uri="{FF2B5EF4-FFF2-40B4-BE49-F238E27FC236}">
                  <a16:creationId xmlns:a16="http://schemas.microsoft.com/office/drawing/2014/main" id="{95868B50-EAB4-EA90-E865-8150F3704374}"/>
                </a:ext>
              </a:extLst>
            </p:cNvPr>
            <p:cNvSpPr/>
            <p:nvPr/>
          </p:nvSpPr>
          <p:spPr>
            <a:xfrm>
              <a:off x="6245780" y="2221524"/>
              <a:ext cx="871155" cy="214530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零售最低价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E3494BCD-4B38-6F1C-4EBD-9A3423FEBCB6}"/>
                </a:ext>
              </a:extLst>
            </p:cNvPr>
            <p:cNvSpPr/>
            <p:nvPr/>
          </p:nvSpPr>
          <p:spPr>
            <a:xfrm>
              <a:off x="5298930" y="1940589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商品属性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圆角矩形">
              <a:extLst>
                <a:ext uri="{FF2B5EF4-FFF2-40B4-BE49-F238E27FC236}">
                  <a16:creationId xmlns:a16="http://schemas.microsoft.com/office/drawing/2014/main" id="{95330BF2-9EF8-9E27-9583-57E610D3859C}"/>
                </a:ext>
              </a:extLst>
            </p:cNvPr>
            <p:cNvSpPr/>
            <p:nvPr/>
          </p:nvSpPr>
          <p:spPr>
            <a:xfrm>
              <a:off x="5291312" y="2221603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商品编码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圆角矩形">
              <a:extLst>
                <a:ext uri="{FF2B5EF4-FFF2-40B4-BE49-F238E27FC236}">
                  <a16:creationId xmlns:a16="http://schemas.microsoft.com/office/drawing/2014/main" id="{A6E9BEEE-76C6-BC32-393E-4E21A75482D6}"/>
                </a:ext>
              </a:extLst>
            </p:cNvPr>
            <p:cNvSpPr/>
            <p:nvPr/>
          </p:nvSpPr>
          <p:spPr>
            <a:xfrm>
              <a:off x="5291312" y="2504375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富媒体资料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圆角矩形">
              <a:extLst>
                <a:ext uri="{FF2B5EF4-FFF2-40B4-BE49-F238E27FC236}">
                  <a16:creationId xmlns:a16="http://schemas.microsoft.com/office/drawing/2014/main" id="{02B05867-6070-357B-7544-962A4D0C6129}"/>
                </a:ext>
              </a:extLst>
            </p:cNvPr>
            <p:cNvSpPr/>
            <p:nvPr/>
          </p:nvSpPr>
          <p:spPr>
            <a:xfrm>
              <a:off x="6244940" y="2504375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上市日时间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可视化…">
              <a:extLst>
                <a:ext uri="{FF2B5EF4-FFF2-40B4-BE49-F238E27FC236}">
                  <a16:creationId xmlns:a16="http://schemas.microsoft.com/office/drawing/2014/main" id="{17997B28-06CC-3C92-868B-8FAFCB7CBDBF}"/>
                </a:ext>
              </a:extLst>
            </p:cNvPr>
            <p:cNvSpPr txBox="1"/>
            <p:nvPr/>
          </p:nvSpPr>
          <p:spPr>
            <a:xfrm>
              <a:off x="5763403" y="3011576"/>
              <a:ext cx="1002784" cy="256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/>
            <a:p>
              <a:pPr algn="ctr">
                <a:defRPr sz="1800" b="0">
                  <a:solidFill>
                    <a:srgbClr val="FC6A2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商品流管理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圆角矩形">
              <a:extLst>
                <a:ext uri="{FF2B5EF4-FFF2-40B4-BE49-F238E27FC236}">
                  <a16:creationId xmlns:a16="http://schemas.microsoft.com/office/drawing/2014/main" id="{07DA604F-3442-469D-D229-45CF16375377}"/>
                </a:ext>
              </a:extLst>
            </p:cNvPr>
            <p:cNvSpPr/>
            <p:nvPr/>
          </p:nvSpPr>
          <p:spPr>
            <a:xfrm>
              <a:off x="5286955" y="3292789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门店配货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圆角矩形">
              <a:extLst>
                <a:ext uri="{FF2B5EF4-FFF2-40B4-BE49-F238E27FC236}">
                  <a16:creationId xmlns:a16="http://schemas.microsoft.com/office/drawing/2014/main" id="{2358D634-4380-64EA-F5B1-7BA56E1B73D4}"/>
                </a:ext>
              </a:extLst>
            </p:cNvPr>
            <p:cNvSpPr/>
            <p:nvPr/>
          </p:nvSpPr>
          <p:spPr>
            <a:xfrm>
              <a:off x="5286955" y="3587454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门店补货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圆角矩形">
              <a:extLst>
                <a:ext uri="{FF2B5EF4-FFF2-40B4-BE49-F238E27FC236}">
                  <a16:creationId xmlns:a16="http://schemas.microsoft.com/office/drawing/2014/main" id="{57C6CD65-5B22-40E9-76A2-A08932E5959A}"/>
                </a:ext>
              </a:extLst>
            </p:cNvPr>
            <p:cNvSpPr/>
            <p:nvPr/>
          </p:nvSpPr>
          <p:spPr>
            <a:xfrm>
              <a:off x="5291312" y="3906413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零售业务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圆角矩形">
              <a:extLst>
                <a:ext uri="{FF2B5EF4-FFF2-40B4-BE49-F238E27FC236}">
                  <a16:creationId xmlns:a16="http://schemas.microsoft.com/office/drawing/2014/main" id="{BF24D16D-C9C4-719D-40D6-C426BBF3AD35}"/>
                </a:ext>
              </a:extLst>
            </p:cNvPr>
            <p:cNvSpPr/>
            <p:nvPr/>
          </p:nvSpPr>
          <p:spPr>
            <a:xfrm>
              <a:off x="6262882" y="3896207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售后服务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圆角矩形">
              <a:extLst>
                <a:ext uri="{FF2B5EF4-FFF2-40B4-BE49-F238E27FC236}">
                  <a16:creationId xmlns:a16="http://schemas.microsoft.com/office/drawing/2014/main" id="{6F128241-E82C-311B-7FD5-EAAF3EF1A5BB}"/>
                </a:ext>
              </a:extLst>
            </p:cNvPr>
            <p:cNvSpPr/>
            <p:nvPr/>
          </p:nvSpPr>
          <p:spPr>
            <a:xfrm>
              <a:off x="6262882" y="3292789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TW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门店</a:t>
              </a:r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铺货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圆角矩形">
              <a:extLst>
                <a:ext uri="{FF2B5EF4-FFF2-40B4-BE49-F238E27FC236}">
                  <a16:creationId xmlns:a16="http://schemas.microsoft.com/office/drawing/2014/main" id="{B7CA9C94-FF7B-1D4C-9262-971820C2D0D5}"/>
                </a:ext>
              </a:extLst>
            </p:cNvPr>
            <p:cNvSpPr/>
            <p:nvPr/>
          </p:nvSpPr>
          <p:spPr>
            <a:xfrm>
              <a:off x="6262882" y="3587454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门店调拨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可视化…">
              <a:extLst>
                <a:ext uri="{FF2B5EF4-FFF2-40B4-BE49-F238E27FC236}">
                  <a16:creationId xmlns:a16="http://schemas.microsoft.com/office/drawing/2014/main" id="{7D860DBE-D129-BA76-16FD-025E82F1C448}"/>
                </a:ext>
              </a:extLst>
            </p:cNvPr>
            <p:cNvSpPr txBox="1"/>
            <p:nvPr/>
          </p:nvSpPr>
          <p:spPr>
            <a:xfrm>
              <a:off x="5695675" y="4869303"/>
              <a:ext cx="1002784" cy="256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/>
            <a:p>
              <a:pPr algn="ctr">
                <a:defRPr sz="1800" b="0">
                  <a:solidFill>
                    <a:srgbClr val="FC6A2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库存管理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圆角矩形">
              <a:extLst>
                <a:ext uri="{FF2B5EF4-FFF2-40B4-BE49-F238E27FC236}">
                  <a16:creationId xmlns:a16="http://schemas.microsoft.com/office/drawing/2014/main" id="{D37780A7-D3C2-1F55-1187-19B03F9B6972}"/>
                </a:ext>
              </a:extLst>
            </p:cNvPr>
            <p:cNvSpPr/>
            <p:nvPr/>
          </p:nvSpPr>
          <p:spPr>
            <a:xfrm>
              <a:off x="5281244" y="5407381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按箱出入库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圆角矩形">
              <a:extLst>
                <a:ext uri="{FF2B5EF4-FFF2-40B4-BE49-F238E27FC236}">
                  <a16:creationId xmlns:a16="http://schemas.microsoft.com/office/drawing/2014/main" id="{B4CAD8BD-DFC1-7438-A939-1C4138EC8964}"/>
                </a:ext>
              </a:extLst>
            </p:cNvPr>
            <p:cNvSpPr/>
            <p:nvPr/>
          </p:nvSpPr>
          <p:spPr>
            <a:xfrm>
              <a:off x="5281244" y="5677252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按唯一码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可视化…">
              <a:extLst>
                <a:ext uri="{FF2B5EF4-FFF2-40B4-BE49-F238E27FC236}">
                  <a16:creationId xmlns:a16="http://schemas.microsoft.com/office/drawing/2014/main" id="{55556199-8F8C-252C-AEED-481C332FE48D}"/>
                </a:ext>
              </a:extLst>
            </p:cNvPr>
            <p:cNvSpPr txBox="1"/>
            <p:nvPr/>
          </p:nvSpPr>
          <p:spPr>
            <a:xfrm>
              <a:off x="8979282" y="3139977"/>
              <a:ext cx="1002784" cy="256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>
              <a:defPPr>
                <a:defRPr lang="zh-CN"/>
              </a:defPPr>
              <a:lvl1pPr algn="ctr">
                <a:defRPr sz="1200" b="1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门店管理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9" name="圆角矩形">
              <a:extLst>
                <a:ext uri="{FF2B5EF4-FFF2-40B4-BE49-F238E27FC236}">
                  <a16:creationId xmlns:a16="http://schemas.microsoft.com/office/drawing/2014/main" id="{B4F8C750-BBBE-976C-FB30-E89CEAB66C52}"/>
                </a:ext>
              </a:extLst>
            </p:cNvPr>
            <p:cNvSpPr/>
            <p:nvPr/>
          </p:nvSpPr>
          <p:spPr>
            <a:xfrm>
              <a:off x="2251343" y="2532322"/>
              <a:ext cx="928920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用户档案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圆角矩形">
              <a:extLst>
                <a:ext uri="{FF2B5EF4-FFF2-40B4-BE49-F238E27FC236}">
                  <a16:creationId xmlns:a16="http://schemas.microsoft.com/office/drawing/2014/main" id="{55B490D1-8E0E-C8DC-D80C-8B05C2558A14}"/>
                </a:ext>
              </a:extLst>
            </p:cNvPr>
            <p:cNvSpPr/>
            <p:nvPr/>
          </p:nvSpPr>
          <p:spPr>
            <a:xfrm>
              <a:off x="3309915" y="2252121"/>
              <a:ext cx="928920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TW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操作权限</a:t>
              </a:r>
            </a:p>
          </p:txBody>
        </p:sp>
        <p:sp>
          <p:nvSpPr>
            <p:cNvPr id="61" name="圆角矩形">
              <a:extLst>
                <a:ext uri="{FF2B5EF4-FFF2-40B4-BE49-F238E27FC236}">
                  <a16:creationId xmlns:a16="http://schemas.microsoft.com/office/drawing/2014/main" id="{ECCA66EC-DC60-6D35-0B14-206D11E11682}"/>
                </a:ext>
              </a:extLst>
            </p:cNvPr>
            <p:cNvSpPr/>
            <p:nvPr/>
          </p:nvSpPr>
          <p:spPr>
            <a:xfrm>
              <a:off x="3309915" y="2520061"/>
              <a:ext cx="928920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数据权限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可视化…">
              <a:extLst>
                <a:ext uri="{FF2B5EF4-FFF2-40B4-BE49-F238E27FC236}">
                  <a16:creationId xmlns:a16="http://schemas.microsoft.com/office/drawing/2014/main" id="{A72B279F-1186-0D08-49F4-E65CE2173FC0}"/>
                </a:ext>
              </a:extLst>
            </p:cNvPr>
            <p:cNvSpPr txBox="1"/>
            <p:nvPr/>
          </p:nvSpPr>
          <p:spPr>
            <a:xfrm>
              <a:off x="2467272" y="2955307"/>
              <a:ext cx="1610065" cy="256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/>
            <a:p>
              <a:pPr algn="ctr">
                <a:defRPr sz="1800" b="0">
                  <a:solidFill>
                    <a:srgbClr val="FC6A2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流程管理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审批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单据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圆角矩形">
              <a:extLst>
                <a:ext uri="{FF2B5EF4-FFF2-40B4-BE49-F238E27FC236}">
                  <a16:creationId xmlns:a16="http://schemas.microsoft.com/office/drawing/2014/main" id="{8AEBD3A0-0E06-3F5D-C58E-11A7381C10B2}"/>
                </a:ext>
              </a:extLst>
            </p:cNvPr>
            <p:cNvSpPr/>
            <p:nvPr/>
          </p:nvSpPr>
          <p:spPr>
            <a:xfrm>
              <a:off x="3321971" y="3835626"/>
              <a:ext cx="95248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 …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300">
              <a:extLst>
                <a:ext uri="{FF2B5EF4-FFF2-40B4-BE49-F238E27FC236}">
                  <a16:creationId xmlns:a16="http://schemas.microsoft.com/office/drawing/2014/main" id="{6D0F444B-06AE-827A-3455-C8D7F6C7EEB7}"/>
                </a:ext>
              </a:extLst>
            </p:cNvPr>
            <p:cNvSpPr/>
            <p:nvPr/>
          </p:nvSpPr>
          <p:spPr>
            <a:xfrm>
              <a:off x="1775719" y="4213295"/>
              <a:ext cx="2968309" cy="1254963"/>
            </a:xfrm>
            <a:prstGeom prst="rect">
              <a:avLst/>
            </a:prstGeom>
            <a:solidFill>
              <a:srgbClr val="1D4C77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圆角矩形">
              <a:extLst>
                <a:ext uri="{FF2B5EF4-FFF2-40B4-BE49-F238E27FC236}">
                  <a16:creationId xmlns:a16="http://schemas.microsoft.com/office/drawing/2014/main" id="{3882BB5C-1B72-B18E-29AA-915F0979E8B9}"/>
                </a:ext>
              </a:extLst>
            </p:cNvPr>
            <p:cNvSpPr/>
            <p:nvPr/>
          </p:nvSpPr>
          <p:spPr>
            <a:xfrm>
              <a:off x="3308837" y="4883746"/>
              <a:ext cx="965620" cy="199248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返利政策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圆角矩形">
              <a:extLst>
                <a:ext uri="{FF2B5EF4-FFF2-40B4-BE49-F238E27FC236}">
                  <a16:creationId xmlns:a16="http://schemas.microsoft.com/office/drawing/2014/main" id="{E538020F-B9EA-1E6E-178D-0F2A0F10A5F9}"/>
                </a:ext>
              </a:extLst>
            </p:cNvPr>
            <p:cNvSpPr/>
            <p:nvPr/>
          </p:nvSpPr>
          <p:spPr>
            <a:xfrm>
              <a:off x="2268628" y="4603186"/>
              <a:ext cx="93543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渠道对账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圆角矩形">
              <a:extLst>
                <a:ext uri="{FF2B5EF4-FFF2-40B4-BE49-F238E27FC236}">
                  <a16:creationId xmlns:a16="http://schemas.microsoft.com/office/drawing/2014/main" id="{AE281EB5-960F-D802-BF41-4BA70DC73A88}"/>
                </a:ext>
              </a:extLst>
            </p:cNvPr>
            <p:cNvSpPr/>
            <p:nvPr/>
          </p:nvSpPr>
          <p:spPr>
            <a:xfrm>
              <a:off x="2268628" y="4873057"/>
              <a:ext cx="93543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折扣体系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圆角矩形">
              <a:extLst>
                <a:ext uri="{FF2B5EF4-FFF2-40B4-BE49-F238E27FC236}">
                  <a16:creationId xmlns:a16="http://schemas.microsoft.com/office/drawing/2014/main" id="{CA830496-2ED8-4DCA-0C00-D54A5CB5F555}"/>
                </a:ext>
              </a:extLst>
            </p:cNvPr>
            <p:cNvSpPr/>
            <p:nvPr/>
          </p:nvSpPr>
          <p:spPr>
            <a:xfrm>
              <a:off x="2268628" y="5144895"/>
              <a:ext cx="93543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退货体系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圆角矩形">
              <a:extLst>
                <a:ext uri="{FF2B5EF4-FFF2-40B4-BE49-F238E27FC236}">
                  <a16:creationId xmlns:a16="http://schemas.microsoft.com/office/drawing/2014/main" id="{BB8305FF-C340-3712-FF2D-D56514A55D52}"/>
                </a:ext>
              </a:extLst>
            </p:cNvPr>
            <p:cNvSpPr/>
            <p:nvPr/>
          </p:nvSpPr>
          <p:spPr>
            <a:xfrm>
              <a:off x="3308091" y="4600915"/>
              <a:ext cx="96636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月结封账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可视化…">
              <a:extLst>
                <a:ext uri="{FF2B5EF4-FFF2-40B4-BE49-F238E27FC236}">
                  <a16:creationId xmlns:a16="http://schemas.microsoft.com/office/drawing/2014/main" id="{EBDB63D2-C60D-0CC5-3715-CF735F61AEA8}"/>
                </a:ext>
              </a:extLst>
            </p:cNvPr>
            <p:cNvSpPr txBox="1"/>
            <p:nvPr/>
          </p:nvSpPr>
          <p:spPr>
            <a:xfrm>
              <a:off x="2836293" y="4264575"/>
              <a:ext cx="800852" cy="256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/>
            <a:p>
              <a:pPr algn="ctr">
                <a:defRPr sz="1800" b="0">
                  <a:solidFill>
                    <a:srgbClr val="FC6A2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账务管理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圆角矩形">
              <a:extLst>
                <a:ext uri="{FF2B5EF4-FFF2-40B4-BE49-F238E27FC236}">
                  <a16:creationId xmlns:a16="http://schemas.microsoft.com/office/drawing/2014/main" id="{44F0847A-8A49-A2FC-A187-344F618D1D3F}"/>
                </a:ext>
              </a:extLst>
            </p:cNvPr>
            <p:cNvSpPr/>
            <p:nvPr/>
          </p:nvSpPr>
          <p:spPr>
            <a:xfrm>
              <a:off x="3308091" y="5144894"/>
              <a:ext cx="966366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区域调价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可视化…">
              <a:extLst>
                <a:ext uri="{FF2B5EF4-FFF2-40B4-BE49-F238E27FC236}">
                  <a16:creationId xmlns:a16="http://schemas.microsoft.com/office/drawing/2014/main" id="{81A2FC30-FCA1-0724-FC8D-562017233D76}"/>
                </a:ext>
              </a:extLst>
            </p:cNvPr>
            <p:cNvSpPr txBox="1"/>
            <p:nvPr/>
          </p:nvSpPr>
          <p:spPr>
            <a:xfrm>
              <a:off x="2468801" y="5601712"/>
              <a:ext cx="1609289" cy="256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/>
            <a:p>
              <a:pPr algn="ctr">
                <a:defRPr sz="1800" b="0">
                  <a:solidFill>
                    <a:srgbClr val="FC6A2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报表中心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(PC/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移动端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Rectangle 300">
              <a:extLst>
                <a:ext uri="{FF2B5EF4-FFF2-40B4-BE49-F238E27FC236}">
                  <a16:creationId xmlns:a16="http://schemas.microsoft.com/office/drawing/2014/main" id="{77C0632D-9EEF-D3ED-8EFB-08ACF8C1C447}"/>
                </a:ext>
              </a:extLst>
            </p:cNvPr>
            <p:cNvSpPr/>
            <p:nvPr/>
          </p:nvSpPr>
          <p:spPr>
            <a:xfrm>
              <a:off x="8011211" y="1613798"/>
              <a:ext cx="2968361" cy="1243985"/>
            </a:xfrm>
            <a:prstGeom prst="rect">
              <a:avLst/>
            </a:prstGeom>
            <a:solidFill>
              <a:srgbClr val="1D4C77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可视化…">
              <a:extLst>
                <a:ext uri="{FF2B5EF4-FFF2-40B4-BE49-F238E27FC236}">
                  <a16:creationId xmlns:a16="http://schemas.microsoft.com/office/drawing/2014/main" id="{4B47FDFD-234C-2B78-76B9-25B9C7836AC6}"/>
                </a:ext>
              </a:extLst>
            </p:cNvPr>
            <p:cNvSpPr txBox="1"/>
            <p:nvPr/>
          </p:nvSpPr>
          <p:spPr>
            <a:xfrm>
              <a:off x="8990255" y="1728979"/>
              <a:ext cx="1002784" cy="256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/>
            <a:p>
              <a:pPr algn="ctr">
                <a:defRPr sz="1800" b="0">
                  <a:solidFill>
                    <a:srgbClr val="FC6A21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基础档案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圆角矩形">
              <a:extLst>
                <a:ext uri="{FF2B5EF4-FFF2-40B4-BE49-F238E27FC236}">
                  <a16:creationId xmlns:a16="http://schemas.microsoft.com/office/drawing/2014/main" id="{E2AAA581-13D4-EA61-F05D-264CCA5270A5}"/>
                </a:ext>
              </a:extLst>
            </p:cNvPr>
            <p:cNvSpPr/>
            <p:nvPr/>
          </p:nvSpPr>
          <p:spPr>
            <a:xfrm>
              <a:off x="8554678" y="2099725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生命周期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圆角矩形">
              <a:extLst>
                <a:ext uri="{FF2B5EF4-FFF2-40B4-BE49-F238E27FC236}">
                  <a16:creationId xmlns:a16="http://schemas.microsoft.com/office/drawing/2014/main" id="{23C36551-164B-98C4-00AF-FC526E56796F}"/>
                </a:ext>
              </a:extLst>
            </p:cNvPr>
            <p:cNvSpPr/>
            <p:nvPr/>
          </p:nvSpPr>
          <p:spPr>
            <a:xfrm>
              <a:off x="9550736" y="2104353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业绩拆分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圆角矩形">
              <a:extLst>
                <a:ext uri="{FF2B5EF4-FFF2-40B4-BE49-F238E27FC236}">
                  <a16:creationId xmlns:a16="http://schemas.microsoft.com/office/drawing/2014/main" id="{2CF0CF3A-8074-201C-7264-9C11D75AD6B2}"/>
                </a:ext>
              </a:extLst>
            </p:cNvPr>
            <p:cNvSpPr/>
            <p:nvPr/>
          </p:nvSpPr>
          <p:spPr>
            <a:xfrm>
              <a:off x="8552559" y="2387499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商场结算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圆角矩形">
              <a:extLst>
                <a:ext uri="{FF2B5EF4-FFF2-40B4-BE49-F238E27FC236}">
                  <a16:creationId xmlns:a16="http://schemas.microsoft.com/office/drawing/2014/main" id="{2D8A3955-1B4B-5788-D537-BFD885F425C3}"/>
                </a:ext>
              </a:extLst>
            </p:cNvPr>
            <p:cNvSpPr/>
            <p:nvPr/>
          </p:nvSpPr>
          <p:spPr>
            <a:xfrm>
              <a:off x="9548617" y="2392127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店务信息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圆角矩形">
              <a:extLst>
                <a:ext uri="{FF2B5EF4-FFF2-40B4-BE49-F238E27FC236}">
                  <a16:creationId xmlns:a16="http://schemas.microsoft.com/office/drawing/2014/main" id="{0765CB3B-F428-6673-3ECE-BC55B632F4FB}"/>
                </a:ext>
              </a:extLst>
            </p:cNvPr>
            <p:cNvSpPr/>
            <p:nvPr/>
          </p:nvSpPr>
          <p:spPr>
            <a:xfrm>
              <a:off x="8574650" y="5488336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邻店库存查询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圆角矩形">
              <a:extLst>
                <a:ext uri="{FF2B5EF4-FFF2-40B4-BE49-F238E27FC236}">
                  <a16:creationId xmlns:a16="http://schemas.microsoft.com/office/drawing/2014/main" id="{6427C5F1-C082-23CE-17BB-5E031A365AD7}"/>
                </a:ext>
              </a:extLst>
            </p:cNvPr>
            <p:cNvSpPr/>
            <p:nvPr/>
          </p:nvSpPr>
          <p:spPr>
            <a:xfrm>
              <a:off x="9571849" y="5816650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业绩拆分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圆角矩形">
              <a:extLst>
                <a:ext uri="{FF2B5EF4-FFF2-40B4-BE49-F238E27FC236}">
                  <a16:creationId xmlns:a16="http://schemas.microsoft.com/office/drawing/2014/main" id="{65BCFE2C-1D21-5E90-C596-D6EBFEF445BC}"/>
                </a:ext>
              </a:extLst>
            </p:cNvPr>
            <p:cNvSpPr/>
            <p:nvPr/>
          </p:nvSpPr>
          <p:spPr>
            <a:xfrm>
              <a:off x="8583572" y="5812511"/>
              <a:ext cx="853310" cy="201877"/>
            </a:xfrm>
            <a:prstGeom prst="roundRect">
              <a:avLst>
                <a:gd name="adj" fmla="val 1077"/>
              </a:avLst>
            </a:prstGeom>
            <a:solidFill>
              <a:srgbClr val="4487B3"/>
            </a:solidFill>
            <a:ln w="3175" cap="flat">
              <a:noFill/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移动收银</a:t>
              </a:r>
              <a:endParaRPr lang="zh-TW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">
              <a:extLst>
                <a:ext uri="{FF2B5EF4-FFF2-40B4-BE49-F238E27FC236}">
                  <a16:creationId xmlns:a16="http://schemas.microsoft.com/office/drawing/2014/main" id="{08FD516B-7FF8-5737-1933-EA44DBA78E72}"/>
                </a:ext>
              </a:extLst>
            </p:cNvPr>
            <p:cNvSpPr/>
            <p:nvPr/>
          </p:nvSpPr>
          <p:spPr>
            <a:xfrm>
              <a:off x="8574650" y="3867471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店长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员权限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圆角矩形">
              <a:extLst>
                <a:ext uri="{FF2B5EF4-FFF2-40B4-BE49-F238E27FC236}">
                  <a16:creationId xmlns:a16="http://schemas.microsoft.com/office/drawing/2014/main" id="{4B36CF98-9FD7-A56A-2BB4-38CBD7B7212B}"/>
                </a:ext>
              </a:extLst>
            </p:cNvPr>
            <p:cNvSpPr/>
            <p:nvPr/>
          </p:nvSpPr>
          <p:spPr>
            <a:xfrm>
              <a:off x="8574650" y="4191644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货品权限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圆角矩形">
              <a:extLst>
                <a:ext uri="{FF2B5EF4-FFF2-40B4-BE49-F238E27FC236}">
                  <a16:creationId xmlns:a16="http://schemas.microsoft.com/office/drawing/2014/main" id="{8811304C-4A1C-200A-098B-5F3134847CCF}"/>
                </a:ext>
              </a:extLst>
            </p:cNvPr>
            <p:cNvSpPr/>
            <p:nvPr/>
          </p:nvSpPr>
          <p:spPr>
            <a:xfrm>
              <a:off x="8574650" y="4515817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门店权限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圆角矩形">
              <a:extLst>
                <a:ext uri="{FF2B5EF4-FFF2-40B4-BE49-F238E27FC236}">
                  <a16:creationId xmlns:a16="http://schemas.microsoft.com/office/drawing/2014/main" id="{9DCCC2A1-76FB-70EE-8F07-DA747D4D4A0C}"/>
                </a:ext>
              </a:extLst>
            </p:cNvPr>
            <p:cNvSpPr/>
            <p:nvPr/>
          </p:nvSpPr>
          <p:spPr>
            <a:xfrm>
              <a:off x="9571849" y="3872029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汇总分析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圆角矩形">
              <a:extLst>
                <a:ext uri="{FF2B5EF4-FFF2-40B4-BE49-F238E27FC236}">
                  <a16:creationId xmlns:a16="http://schemas.microsoft.com/office/drawing/2014/main" id="{BC076314-FE90-A99D-07FA-0A4F6C0BD212}"/>
                </a:ext>
              </a:extLst>
            </p:cNvPr>
            <p:cNvSpPr/>
            <p:nvPr/>
          </p:nvSpPr>
          <p:spPr>
            <a:xfrm>
              <a:off x="9571849" y="4196132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代办事项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圆角矩形">
              <a:extLst>
                <a:ext uri="{FF2B5EF4-FFF2-40B4-BE49-F238E27FC236}">
                  <a16:creationId xmlns:a16="http://schemas.microsoft.com/office/drawing/2014/main" id="{A9F5FC5B-0443-F655-58C4-443FA941A2C3}"/>
                </a:ext>
              </a:extLst>
            </p:cNvPr>
            <p:cNvSpPr/>
            <p:nvPr/>
          </p:nvSpPr>
          <p:spPr>
            <a:xfrm>
              <a:off x="9571849" y="4520235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员工业绩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圆角矩形">
              <a:extLst>
                <a:ext uri="{FF2B5EF4-FFF2-40B4-BE49-F238E27FC236}">
                  <a16:creationId xmlns:a16="http://schemas.microsoft.com/office/drawing/2014/main" id="{755B7B4B-F092-C989-A287-59829C77B5AE}"/>
                </a:ext>
              </a:extLst>
            </p:cNvPr>
            <p:cNvSpPr/>
            <p:nvPr/>
          </p:nvSpPr>
          <p:spPr>
            <a:xfrm>
              <a:off x="9571849" y="4844338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商品排行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圆角矩形">
              <a:extLst>
                <a:ext uri="{FF2B5EF4-FFF2-40B4-BE49-F238E27FC236}">
                  <a16:creationId xmlns:a16="http://schemas.microsoft.com/office/drawing/2014/main" id="{9ABAEEAA-9751-44DC-2141-B774B5000A78}"/>
                </a:ext>
              </a:extLst>
            </p:cNvPr>
            <p:cNvSpPr/>
            <p:nvPr/>
          </p:nvSpPr>
          <p:spPr>
            <a:xfrm>
              <a:off x="9571849" y="5168441"/>
              <a:ext cx="871154" cy="201877"/>
            </a:xfrm>
            <a:prstGeom prst="roundRect">
              <a:avLst>
                <a:gd name="adj" fmla="val 1077"/>
              </a:avLst>
            </a:prstGeom>
            <a:solidFill>
              <a:schemeClr val="bg1"/>
            </a:solidFill>
            <a:ln w="3175" cap="flat">
              <a:solidFill>
                <a:srgbClr val="404040"/>
              </a:solidFill>
              <a:prstDash val="solid"/>
              <a:miter lim="400000"/>
            </a:ln>
            <a:effectLst/>
          </p:spPr>
          <p:txBody>
            <a:bodyPr wrap="square" lIns="7531" tIns="7531" rIns="7531" bIns="7531" numCol="1" anchor="ctr">
              <a:noAutofit/>
            </a:bodyPr>
            <a:lstStyle/>
            <a:p>
              <a:pPr algn="ctr" defTabSz="340597">
                <a:defRPr sz="1200" b="0">
                  <a:solidFill>
                    <a:srgbClr val="232323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回访清单</a:t>
              </a:r>
              <a:endPara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469250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54561" y="1511540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4571104" y="1506996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未来的新零售</a:t>
            </a:r>
            <a:endParaRPr lang="zh-CN" altLang="en-US" sz="3200" b="1" kern="1200" dirty="0">
              <a:solidFill>
                <a:srgbClr val="00B0F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4571104" y="2371296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+mn-ea"/>
              </a:rPr>
              <a:t>现状分析</a:t>
            </a:r>
            <a:endParaRPr lang="zh-CN" altLang="en-US" sz="3200" b="1" kern="1200" dirty="0">
              <a:solidFill>
                <a:srgbClr val="FFFF00"/>
              </a:solidFill>
              <a:latin typeface="Arial" panose="020B0604020202020204" pitchFamily="34" charset="0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954561" y="2373548"/>
            <a:ext cx="616585" cy="52324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3954564" y="3260430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4571104" y="3262218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解决方案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" name="文本框 55">
            <a:extLst>
              <a:ext uri="{FF2B5EF4-FFF2-40B4-BE49-F238E27FC236}">
                <a16:creationId xmlns:a16="http://schemas.microsoft.com/office/drawing/2014/main" id="{391D75A5-615D-6E34-CF40-7E6452BD607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54561" y="4126518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</a:t>
            </a:r>
          </a:p>
        </p:txBody>
      </p:sp>
      <p:sp>
        <p:nvSpPr>
          <p:cNvPr id="3" name="文本框 56">
            <a:extLst>
              <a:ext uri="{FF2B5EF4-FFF2-40B4-BE49-F238E27FC236}">
                <a16:creationId xmlns:a16="http://schemas.microsoft.com/office/drawing/2014/main" id="{05B97B7B-7B9B-B9CC-90AF-E64F689AD10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571101" y="4128306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</a:rPr>
              <a:t>组织形式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618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6121" y="608922"/>
            <a:ext cx="6546294" cy="576263"/>
          </a:xfrm>
        </p:spPr>
        <p:txBody>
          <a:bodyPr>
            <a:noAutofit/>
          </a:bodyPr>
          <a:lstStyle/>
          <a:p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现状描述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燕尾形 5">
            <a:extLst>
              <a:ext uri="{FF2B5EF4-FFF2-40B4-BE49-F238E27FC236}">
                <a16:creationId xmlns:a16="http://schemas.microsoft.com/office/drawing/2014/main" id="{9AD94AB6-D4C4-4BEB-B79F-C4D463CAA7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3453861"/>
            <a:ext cx="2635938" cy="97246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kern="0" spc="20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系统孤岛化</a:t>
            </a:r>
            <a:endParaRPr lang="zh-CN" altLang="en-US" sz="20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8" name="燕尾形 6">
            <a:extLst>
              <a:ext uri="{FF2B5EF4-FFF2-40B4-BE49-F238E27FC236}">
                <a16:creationId xmlns:a16="http://schemas.microsoft.com/office/drawing/2014/main" id="{9FFF5C26-E543-4353-9ED9-B85629DB14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140616" y="3453861"/>
            <a:ext cx="863344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2">
                  <a:lumMod val="9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燕尾形 7">
            <a:extLst>
              <a:ext uri="{FF2B5EF4-FFF2-40B4-BE49-F238E27FC236}">
                <a16:creationId xmlns:a16="http://schemas.microsoft.com/office/drawing/2014/main" id="{4332DD90-CF7D-4BA2-8FD0-F588E89C9C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564971" y="3453859"/>
            <a:ext cx="2356903" cy="972463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spc="20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流程孤立</a:t>
            </a:r>
            <a:endParaRPr lang="zh-CN" altLang="en-US" sz="20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1" name="燕尾形 8">
            <a:extLst>
              <a:ext uri="{FF2B5EF4-FFF2-40B4-BE49-F238E27FC236}">
                <a16:creationId xmlns:a16="http://schemas.microsoft.com/office/drawing/2014/main" id="{730DF218-86DF-431E-9EA5-E3D3ED519DF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424825" y="3453863"/>
            <a:ext cx="863344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燕尾形 12">
            <a:extLst>
              <a:ext uri="{FF2B5EF4-FFF2-40B4-BE49-F238E27FC236}">
                <a16:creationId xmlns:a16="http://schemas.microsoft.com/office/drawing/2014/main" id="{5884D089-5F7E-46CD-B3C2-29EEDC75EEC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78104" y="3453861"/>
            <a:ext cx="2701839" cy="972463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spc="20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线上线下割裂</a:t>
            </a:r>
            <a:endParaRPr lang="zh-CN" altLang="en-US" sz="20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D99880CF-3C63-4177-959A-89764C6315D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0" y="4507731"/>
            <a:ext cx="2530894" cy="19453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79400" lvl="1" indent="-2794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业务部门自行决定建设业务系统</a:t>
            </a:r>
            <a:endParaRPr lang="en-US" altLang="zh-CN" sz="1400" spc="6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业务系统流程、数据不互通，相互割裂，无法形成统一的数据中心</a:t>
            </a:r>
            <a:endParaRPr lang="en-US" altLang="zh-CN" sz="1400" spc="6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6">
            <a:extLst>
              <a:ext uri="{FF2B5EF4-FFF2-40B4-BE49-F238E27FC236}">
                <a16:creationId xmlns:a16="http://schemas.microsoft.com/office/drawing/2014/main" id="{F286ECF2-D611-4302-9770-21C42D2D7E1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856496" y="4602060"/>
            <a:ext cx="2304307" cy="200921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79400" lvl="1" indent="-2794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线上、线下相互独立，互不联通</a:t>
            </a:r>
            <a:endParaRPr lang="en-US" altLang="zh-CN" sz="1400" spc="6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线上、线下仓库无法共享</a:t>
            </a:r>
            <a:endParaRPr lang="en-US" altLang="zh-CN" sz="1400" spc="6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矩形 19">
            <a:extLst>
              <a:ext uri="{FF2B5EF4-FFF2-40B4-BE49-F238E27FC236}">
                <a16:creationId xmlns:a16="http://schemas.microsoft.com/office/drawing/2014/main" id="{551B4716-0A12-4A8E-8622-A22DC7E0511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54591" y="1002874"/>
            <a:ext cx="2356902" cy="2220491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各业务系统相互独立，不统一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流程前驱和后继不连贯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部分流程不规范，如质检流程、入库流程等</a:t>
            </a:r>
            <a:endParaRPr lang="en-US" altLang="zh-CN" sz="1400" kern="0" spc="6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燕尾形 8">
            <a:extLst>
              <a:ext uri="{FF2B5EF4-FFF2-40B4-BE49-F238E27FC236}">
                <a16:creationId xmlns:a16="http://schemas.microsoft.com/office/drawing/2014/main" id="{B4146CBA-04DE-457B-96F2-4556BE89E1F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966167" y="3453861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燕尾形 12">
            <a:extLst>
              <a:ext uri="{FF2B5EF4-FFF2-40B4-BE49-F238E27FC236}">
                <a16:creationId xmlns:a16="http://schemas.microsoft.com/office/drawing/2014/main" id="{823B146E-8E1E-4F6F-9E80-8C3E5CE31F6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360836" y="3453859"/>
            <a:ext cx="2378019" cy="972463"/>
          </a:xfrm>
          <a:prstGeom prst="chevron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kern="0" spc="20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无运营中心</a:t>
            </a:r>
            <a:endParaRPr lang="zh-CN" altLang="en-US" sz="20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25" name="矩形 19">
            <a:extLst>
              <a:ext uri="{FF2B5EF4-FFF2-40B4-BE49-F238E27FC236}">
                <a16:creationId xmlns:a16="http://schemas.microsoft.com/office/drawing/2014/main" id="{4F0FEC25-ECEB-4B55-A64E-33EDD2740B7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160803" y="1591498"/>
            <a:ext cx="2656164" cy="174405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marL="279400" lvl="1" indent="-2794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kern="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数据不统一，数据获取耗时耗力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79400" lvl="1" indent="-279400" algn="l" font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140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无数据管理分析中心，无法支持运营决策支持</a:t>
            </a:r>
            <a:endParaRPr lang="en-US" altLang="zh-CN" sz="1400" kern="0" spc="6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燕尾形 8">
            <a:extLst>
              <a:ext uri="{FF2B5EF4-FFF2-40B4-BE49-F238E27FC236}">
                <a16:creationId xmlns:a16="http://schemas.microsoft.com/office/drawing/2014/main" id="{42F7D26E-962C-0F4B-DF38-957D18F12D6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9232360" y="3453861"/>
            <a:ext cx="1094690" cy="972463"/>
          </a:xfrm>
          <a:prstGeom prst="chevron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燕尾形 12">
            <a:extLst>
              <a:ext uri="{FF2B5EF4-FFF2-40B4-BE49-F238E27FC236}">
                <a16:creationId xmlns:a16="http://schemas.microsoft.com/office/drawing/2014/main" id="{9DAEAD3D-13DB-7B0E-E18F-7FAA9C450B7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627029" y="3453859"/>
            <a:ext cx="2550788" cy="97246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300" spc="200">
                <a:solidFill>
                  <a:schemeClr val="l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无供应商管理机制</a:t>
            </a:r>
            <a:endParaRPr lang="zh-CN" altLang="en-US" sz="1300" kern="0" spc="200" dirty="0">
              <a:solidFill>
                <a:schemeClr val="l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9" name="矩形 19">
            <a:extLst>
              <a:ext uri="{FF2B5EF4-FFF2-40B4-BE49-F238E27FC236}">
                <a16:creationId xmlns:a16="http://schemas.microsoft.com/office/drawing/2014/main" id="{D1F73C2B-10C7-1032-EED8-B6E3E49E8BB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9510504" y="4507730"/>
            <a:ext cx="2378020" cy="891055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marL="279400" lvl="1" indent="-279400" algn="l" fontAlgn="ctr">
              <a:lnSpc>
                <a:spcPct val="150000"/>
              </a:lnSpc>
              <a:spcBef>
                <a:spcPts val="0"/>
              </a:spcBef>
              <a:buSzPct val="100000"/>
              <a:buFont typeface="Wingdings" panose="05000000000000000000" charset="0"/>
              <a:buChar char="l"/>
            </a:pPr>
            <a:r>
              <a:rPr lang="zh-CN" altLang="en-US" sz="1400" spc="60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供应链无评估、准入、推出等门户管理机制</a:t>
            </a:r>
            <a:endParaRPr lang="zh-CN" altLang="en-US" sz="1400" kern="0" spc="60" dirty="0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057099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8191" y="590375"/>
            <a:ext cx="7843706" cy="576263"/>
          </a:xfrm>
        </p:spPr>
        <p:txBody>
          <a:bodyPr/>
          <a:lstStyle/>
          <a:p>
            <a:r>
              <a:rPr lang="zh-CN" altLang="en-US"/>
              <a:t>目前起步线下流程</a:t>
            </a:r>
            <a:r>
              <a:rPr lang="en-US" altLang="zh-CN"/>
              <a:t>--</a:t>
            </a:r>
            <a:r>
              <a:rPr lang="zh-CN" altLang="en-US" sz="2400"/>
              <a:t>订货发货</a:t>
            </a:r>
            <a:endParaRPr lang="zh-CN" alt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8595DC-9AA7-3509-1806-BC882A6D3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6" y="1120110"/>
            <a:ext cx="11725275" cy="555406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4B4897B-AC73-F0AD-DABF-14B1458F5D26}"/>
              </a:ext>
            </a:extLst>
          </p:cNvPr>
          <p:cNvSpPr/>
          <p:nvPr/>
        </p:nvSpPr>
        <p:spPr>
          <a:xfrm>
            <a:off x="3186259" y="3972385"/>
            <a:ext cx="2083324" cy="447219"/>
          </a:xfrm>
          <a:prstGeom prst="ellipse">
            <a:avLst/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无互通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,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转入线下</a:t>
            </a: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6B6385-2020-E6DB-2C3B-0DF0F1551A49}"/>
              </a:ext>
            </a:extLst>
          </p:cNvPr>
          <p:cNvSpPr/>
          <p:nvPr/>
        </p:nvSpPr>
        <p:spPr>
          <a:xfrm>
            <a:off x="5374848" y="4313321"/>
            <a:ext cx="2083324" cy="447219"/>
          </a:xfrm>
          <a:prstGeom prst="ellipse">
            <a:avLst/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无系统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,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转入线下</a:t>
            </a: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文本框 22">
            <a:extLst>
              <a:ext uri="{FF2B5EF4-FFF2-40B4-BE49-F238E27FC236}">
                <a16:creationId xmlns:a16="http://schemas.microsoft.com/office/drawing/2014/main" id="{B9914245-D72A-216A-777A-9683BF83992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113450" y="719130"/>
            <a:ext cx="2912300" cy="202084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rmAutofit lnSpcReduction="10000"/>
          </a:bodyPr>
          <a:lstStyle/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质检无电子化，入库无电子单据，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到货通知、财务付款无线上流程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生产等供应商无门户管理机制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743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8191" y="590375"/>
            <a:ext cx="7843706" cy="576263"/>
          </a:xfrm>
        </p:spPr>
        <p:txBody>
          <a:bodyPr/>
          <a:lstStyle/>
          <a:p>
            <a:r>
              <a:rPr lang="zh-CN" altLang="en-US"/>
              <a:t>目前新零售线上流程</a:t>
            </a:r>
            <a:r>
              <a:rPr lang="en-US" altLang="zh-CN"/>
              <a:t>--</a:t>
            </a:r>
            <a:r>
              <a:rPr lang="en-US" altLang="zh-CN" sz="2400"/>
              <a:t>C</a:t>
            </a:r>
            <a:r>
              <a:rPr lang="zh-CN" altLang="en-US" sz="2400"/>
              <a:t>端业务</a:t>
            </a:r>
            <a:endParaRPr lang="zh-CN" alt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EA79F-87AC-BF78-A22B-0D77C27AF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6638"/>
            <a:ext cx="9509183" cy="552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3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7306" y="800100"/>
            <a:ext cx="6853806" cy="576263"/>
          </a:xfrm>
        </p:spPr>
        <p:txBody>
          <a:bodyPr/>
          <a:lstStyle/>
          <a:p>
            <a:r>
              <a:rPr lang="zh-CN" altLang="en-US"/>
              <a:t>起步斑马</a:t>
            </a:r>
          </a:p>
        </p:txBody>
      </p:sp>
      <p:cxnSp>
        <p:nvCxnSpPr>
          <p:cNvPr id="11" name="直线连接符 8">
            <a:extLst>
              <a:ext uri="{FF2B5EF4-FFF2-40B4-BE49-F238E27FC236}">
                <a16:creationId xmlns:a16="http://schemas.microsoft.com/office/drawing/2014/main" id="{8956A170-5578-4F14-AD1A-C19CBF24D7E8}"/>
              </a:ext>
            </a:extLst>
          </p:cNvPr>
          <p:cNvCxnSpPr>
            <a:cxnSpLocks/>
          </p:cNvCxnSpPr>
          <p:nvPr/>
        </p:nvCxnSpPr>
        <p:spPr>
          <a:xfrm>
            <a:off x="6185355" y="2324939"/>
            <a:ext cx="0" cy="291818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26">
            <a:extLst>
              <a:ext uri="{FF2B5EF4-FFF2-40B4-BE49-F238E27FC236}">
                <a16:creationId xmlns:a16="http://schemas.microsoft.com/office/drawing/2014/main" id="{DDA08266-D9CD-44A4-8375-325BECC244D8}"/>
              </a:ext>
            </a:extLst>
          </p:cNvPr>
          <p:cNvSpPr txBox="1"/>
          <p:nvPr/>
        </p:nvSpPr>
        <p:spPr>
          <a:xfrm>
            <a:off x="3523575" y="2292103"/>
            <a:ext cx="25032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管理系统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27">
            <a:extLst>
              <a:ext uri="{FF2B5EF4-FFF2-40B4-BE49-F238E27FC236}">
                <a16:creationId xmlns:a16="http://schemas.microsoft.com/office/drawing/2014/main" id="{BC2F7A2D-2111-4C54-BC4B-0BCC1809BABE}"/>
              </a:ext>
            </a:extLst>
          </p:cNvPr>
          <p:cNvSpPr txBox="1"/>
          <p:nvPr/>
        </p:nvSpPr>
        <p:spPr>
          <a:xfrm>
            <a:off x="6813358" y="2292103"/>
            <a:ext cx="26662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问题描述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圆角矩形 30">
            <a:extLst>
              <a:ext uri="{FF2B5EF4-FFF2-40B4-BE49-F238E27FC236}">
                <a16:creationId xmlns:a16="http://schemas.microsoft.com/office/drawing/2014/main" id="{C9D41C63-A691-4089-87A9-B135D6592D81}"/>
              </a:ext>
            </a:extLst>
          </p:cNvPr>
          <p:cNvSpPr/>
          <p:nvPr/>
        </p:nvSpPr>
        <p:spPr>
          <a:xfrm>
            <a:off x="3679833" y="2699718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圆角矩形 31">
            <a:extLst>
              <a:ext uri="{FF2B5EF4-FFF2-40B4-BE49-F238E27FC236}">
                <a16:creationId xmlns:a16="http://schemas.microsoft.com/office/drawing/2014/main" id="{E705A0BF-7720-454B-9ED7-C7FFD805BC23}"/>
              </a:ext>
            </a:extLst>
          </p:cNvPr>
          <p:cNvSpPr/>
          <p:nvPr/>
        </p:nvSpPr>
        <p:spPr>
          <a:xfrm>
            <a:off x="6908457" y="2716976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iconfont-11899-5651343">
            <a:extLst>
              <a:ext uri="{FF2B5EF4-FFF2-40B4-BE49-F238E27FC236}">
                <a16:creationId xmlns:a16="http://schemas.microsoft.com/office/drawing/2014/main" id="{26881087-C380-43E1-8CD7-80AAEDD9AB22}"/>
              </a:ext>
            </a:extLst>
          </p:cNvPr>
          <p:cNvSpPr>
            <a:spLocks noChangeAspect="1"/>
          </p:cNvSpPr>
          <p:nvPr/>
        </p:nvSpPr>
        <p:spPr>
          <a:xfrm>
            <a:off x="3232573" y="2401101"/>
            <a:ext cx="297520" cy="297520"/>
          </a:xfrm>
          <a:custGeom>
            <a:avLst/>
            <a:gdLst>
              <a:gd name="T0" fmla="*/ 6526 w 10397"/>
              <a:gd name="T1" fmla="*/ 8233 h 10397"/>
              <a:gd name="T2" fmla="*/ 7000 w 10397"/>
              <a:gd name="T3" fmla="*/ 7343 h 10397"/>
              <a:gd name="T4" fmla="*/ 7729 w 10397"/>
              <a:gd name="T5" fmla="*/ 7018 h 10397"/>
              <a:gd name="T6" fmla="*/ 9897 w 10397"/>
              <a:gd name="T7" fmla="*/ 7558 h 10397"/>
              <a:gd name="T8" fmla="*/ 10390 w 10397"/>
              <a:gd name="T9" fmla="*/ 8188 h 10397"/>
              <a:gd name="T10" fmla="*/ 10391 w 10397"/>
              <a:gd name="T11" fmla="*/ 9096 h 10397"/>
              <a:gd name="T12" fmla="*/ 10397 w 10397"/>
              <a:gd name="T13" fmla="*/ 9096 h 10397"/>
              <a:gd name="T14" fmla="*/ 10397 w 10397"/>
              <a:gd name="T15" fmla="*/ 9723 h 10397"/>
              <a:gd name="T16" fmla="*/ 9715 w 10397"/>
              <a:gd name="T17" fmla="*/ 10373 h 10397"/>
              <a:gd name="T18" fmla="*/ 23 w 10397"/>
              <a:gd name="T19" fmla="*/ 682 h 10397"/>
              <a:gd name="T20" fmla="*/ 673 w 10397"/>
              <a:gd name="T21" fmla="*/ 0 h 10397"/>
              <a:gd name="T22" fmla="*/ 1301 w 10397"/>
              <a:gd name="T23" fmla="*/ 0 h 10397"/>
              <a:gd name="T24" fmla="*/ 1301 w 10397"/>
              <a:gd name="T25" fmla="*/ 2 h 10397"/>
              <a:gd name="T26" fmla="*/ 2189 w 10397"/>
              <a:gd name="T27" fmla="*/ 3 h 10397"/>
              <a:gd name="T28" fmla="*/ 2819 w 10397"/>
              <a:gd name="T29" fmla="*/ 496 h 10397"/>
              <a:gd name="T30" fmla="*/ 3360 w 10397"/>
              <a:gd name="T31" fmla="*/ 2663 h 10397"/>
              <a:gd name="T32" fmla="*/ 3035 w 10397"/>
              <a:gd name="T33" fmla="*/ 3395 h 10397"/>
              <a:gd name="T34" fmla="*/ 2158 w 10397"/>
              <a:gd name="T35" fmla="*/ 3860 h 10397"/>
              <a:gd name="T36" fmla="*/ 6526 w 10397"/>
              <a:gd name="T37" fmla="*/ 8233 h 10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97" h="10397">
                <a:moveTo>
                  <a:pt x="6526" y="8233"/>
                </a:moveTo>
                <a:lnTo>
                  <a:pt x="7000" y="7343"/>
                </a:lnTo>
                <a:cubicBezTo>
                  <a:pt x="7140" y="7081"/>
                  <a:pt x="7441" y="6947"/>
                  <a:pt x="7729" y="7018"/>
                </a:cubicBezTo>
                <a:lnTo>
                  <a:pt x="9897" y="7558"/>
                </a:lnTo>
                <a:cubicBezTo>
                  <a:pt x="10186" y="7631"/>
                  <a:pt x="10390" y="7891"/>
                  <a:pt x="10390" y="8188"/>
                </a:cubicBezTo>
                <a:lnTo>
                  <a:pt x="10391" y="9096"/>
                </a:lnTo>
                <a:lnTo>
                  <a:pt x="10397" y="9096"/>
                </a:lnTo>
                <a:lnTo>
                  <a:pt x="10397" y="9723"/>
                </a:lnTo>
                <a:cubicBezTo>
                  <a:pt x="10397" y="10095"/>
                  <a:pt x="10086" y="10397"/>
                  <a:pt x="9715" y="10373"/>
                </a:cubicBezTo>
                <a:cubicBezTo>
                  <a:pt x="4516" y="10036"/>
                  <a:pt x="360" y="5880"/>
                  <a:pt x="23" y="682"/>
                </a:cubicBezTo>
                <a:cubicBezTo>
                  <a:pt x="0" y="311"/>
                  <a:pt x="301" y="0"/>
                  <a:pt x="673" y="0"/>
                </a:cubicBezTo>
                <a:lnTo>
                  <a:pt x="1301" y="0"/>
                </a:lnTo>
                <a:lnTo>
                  <a:pt x="1301" y="2"/>
                </a:lnTo>
                <a:lnTo>
                  <a:pt x="2189" y="3"/>
                </a:lnTo>
                <a:cubicBezTo>
                  <a:pt x="2488" y="3"/>
                  <a:pt x="2748" y="207"/>
                  <a:pt x="2819" y="496"/>
                </a:cubicBezTo>
                <a:lnTo>
                  <a:pt x="3360" y="2663"/>
                </a:lnTo>
                <a:cubicBezTo>
                  <a:pt x="3432" y="2952"/>
                  <a:pt x="3298" y="3255"/>
                  <a:pt x="3035" y="3395"/>
                </a:cubicBezTo>
                <a:lnTo>
                  <a:pt x="2158" y="3860"/>
                </a:lnTo>
                <a:cubicBezTo>
                  <a:pt x="3062" y="5781"/>
                  <a:pt x="4606" y="7327"/>
                  <a:pt x="6526" y="8233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eeting_115918">
            <a:extLst>
              <a:ext uri="{FF2B5EF4-FFF2-40B4-BE49-F238E27FC236}">
                <a16:creationId xmlns:a16="http://schemas.microsoft.com/office/drawing/2014/main" id="{2242E505-D02F-4BD2-9E7D-3A3262D2E2FF}"/>
              </a:ext>
            </a:extLst>
          </p:cNvPr>
          <p:cNvSpPr>
            <a:spLocks noChangeAspect="1"/>
          </p:cNvSpPr>
          <p:nvPr/>
        </p:nvSpPr>
        <p:spPr>
          <a:xfrm>
            <a:off x="6436585" y="2344725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14">
            <a:extLst>
              <a:ext uri="{FF2B5EF4-FFF2-40B4-BE49-F238E27FC236}">
                <a16:creationId xmlns:a16="http://schemas.microsoft.com/office/drawing/2014/main" id="{7E0DAAB0-E574-1AD3-2E3E-505FFCC08B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67904" y="2940411"/>
            <a:ext cx="2866222" cy="2138336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342900" lvl="1" indent="-3429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吉客云提供线上系统管理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有赞提供线下门店系统管理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43757646-1568-CECE-F0E4-C111105A0B6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343886" y="2959445"/>
            <a:ext cx="4477909" cy="2434676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342900" lvl="1" indent="-3429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线上线下割裂，不互通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zh-CN" altLang="en-US" sz="2200" spc="140">
                <a:solidFill>
                  <a:schemeClr val="dk1">
                    <a:lumMod val="85000"/>
                    <a:lumOff val="1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起步股份层面无包含新零售、传统渠道销售、斑马等全渠道管理平台</a:t>
            </a:r>
            <a:endParaRPr lang="en-US" altLang="zh-CN" sz="2200" spc="140">
              <a:solidFill>
                <a:schemeClr val="dk1">
                  <a:lumMod val="85000"/>
                  <a:lumOff val="1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22" name="组合 28">
            <a:extLst>
              <a:ext uri="{FF2B5EF4-FFF2-40B4-BE49-F238E27FC236}">
                <a16:creationId xmlns:a16="http://schemas.microsoft.com/office/drawing/2014/main" id="{07CDE974-8C4F-3A2A-BF83-E514D2626490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 rot="5400000">
            <a:off x="2989330" y="1897192"/>
            <a:ext cx="643631" cy="766026"/>
            <a:chOff x="3121" y="7415"/>
            <a:chExt cx="1220" cy="1452"/>
          </a:xfrm>
        </p:grpSpPr>
        <p:sp>
          <p:nvSpPr>
            <p:cNvPr id="23" name="空心弧 24">
              <a:extLst>
                <a:ext uri="{FF2B5EF4-FFF2-40B4-BE49-F238E27FC236}">
                  <a16:creationId xmlns:a16="http://schemas.microsoft.com/office/drawing/2014/main" id="{97E979A1-D19E-1FD5-35DF-68A86A1D3B8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空心弧 26">
              <a:extLst>
                <a:ext uri="{FF2B5EF4-FFF2-40B4-BE49-F238E27FC236}">
                  <a16:creationId xmlns:a16="http://schemas.microsoft.com/office/drawing/2014/main" id="{BD62992D-0535-D1D0-D0A0-498CF45709C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1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5" name="文本框 27">
            <a:extLst>
              <a:ext uri="{FF2B5EF4-FFF2-40B4-BE49-F238E27FC236}">
                <a16:creationId xmlns:a16="http://schemas.microsoft.com/office/drawing/2014/main" id="{A1E72A99-03EA-5A60-A0BC-51FB53CA029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165010" y="2097140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 dirty="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grpSp>
        <p:nvGrpSpPr>
          <p:cNvPr id="26" name="组合 36">
            <a:extLst>
              <a:ext uri="{FF2B5EF4-FFF2-40B4-BE49-F238E27FC236}">
                <a16:creationId xmlns:a16="http://schemas.microsoft.com/office/drawing/2014/main" id="{4096FBDF-8F8A-889E-C5E5-36CFE2DB3FA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 rot="5400000">
            <a:off x="6047183" y="1897191"/>
            <a:ext cx="643631" cy="766026"/>
            <a:chOff x="3121" y="7415"/>
            <a:chExt cx="1220" cy="1452"/>
          </a:xfrm>
        </p:grpSpPr>
        <p:sp>
          <p:nvSpPr>
            <p:cNvPr id="27" name="空心弧 37">
              <a:extLst>
                <a:ext uri="{FF2B5EF4-FFF2-40B4-BE49-F238E27FC236}">
                  <a16:creationId xmlns:a16="http://schemas.microsoft.com/office/drawing/2014/main" id="{032E778A-B302-FA7B-7E05-D0EC205BA90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121" y="7415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dk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空心弧 38">
              <a:extLst>
                <a:ext uri="{FF2B5EF4-FFF2-40B4-BE49-F238E27FC236}">
                  <a16:creationId xmlns:a16="http://schemas.microsoft.com/office/drawing/2014/main" id="{CE39FC09-5378-6DB1-5BBE-BD1EF56D504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rot="10800000">
              <a:off x="3121" y="7647"/>
              <a:ext cx="1220" cy="1220"/>
            </a:xfrm>
            <a:prstGeom prst="blockArc">
              <a:avLst>
                <a:gd name="adj1" fmla="val 10800000"/>
                <a:gd name="adj2" fmla="val 0"/>
                <a:gd name="adj3" fmla="val 13278"/>
              </a:avLst>
            </a:prstGeom>
            <a:solidFill>
              <a:schemeClr val="accent2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9" name="文本框 39">
            <a:extLst>
              <a:ext uri="{FF2B5EF4-FFF2-40B4-BE49-F238E27FC236}">
                <a16:creationId xmlns:a16="http://schemas.microsoft.com/office/drawing/2014/main" id="{A4FA0377-73DF-BBD7-2673-F478CC77999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222862" y="2097139"/>
            <a:ext cx="292799" cy="382485"/>
          </a:xfrm>
          <a:prstGeom prst="rect">
            <a:avLst/>
          </a:prstGeom>
          <a:noFill/>
        </p:spPr>
        <p:txBody>
          <a:bodyPr wrap="square" rtlCol="0">
            <a:normAutofit fontScale="87500" lnSpcReduction="2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pc="100">
                <a:solidFill>
                  <a:schemeClr val="dk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82895186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7306" y="800100"/>
            <a:ext cx="6853806" cy="576263"/>
          </a:xfrm>
        </p:spPr>
        <p:txBody>
          <a:bodyPr/>
          <a:lstStyle/>
          <a:p>
            <a:r>
              <a:rPr lang="zh-CN" altLang="en-US"/>
              <a:t>现有业务系统架构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D5084-1F57-0A80-4D37-CD0BD24F0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4" y="1795243"/>
            <a:ext cx="7356795" cy="3565321"/>
          </a:xfrm>
          <a:prstGeom prst="rect">
            <a:avLst/>
          </a:prstGeom>
        </p:spPr>
      </p:pic>
      <p:sp>
        <p:nvSpPr>
          <p:cNvPr id="7" name="文本框 22">
            <a:extLst>
              <a:ext uri="{FF2B5EF4-FFF2-40B4-BE49-F238E27FC236}">
                <a16:creationId xmlns:a16="http://schemas.microsoft.com/office/drawing/2014/main" id="{4605900D-5E92-2C6A-E4A4-9E5002E819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777890" y="4693715"/>
            <a:ext cx="2912300" cy="1364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rmAutofit/>
          </a:bodyPr>
          <a:lstStyle/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q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各个板块不互通，品牌内部不互通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q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系统重复建设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40799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804660" y="1331658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4421203" y="1327114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未来的新零售</a:t>
            </a:r>
            <a:endParaRPr lang="zh-CN" altLang="en-US" sz="3200" b="1" kern="1200" dirty="0">
              <a:solidFill>
                <a:srgbClr val="00B0F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4421203" y="2208128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+mn-ea"/>
              </a:rPr>
              <a:t>现状分析</a:t>
            </a:r>
            <a:endParaRPr lang="zh-CN" altLang="en-US" sz="3200" b="1" kern="1200" dirty="0">
              <a:solidFill>
                <a:srgbClr val="00B0F0"/>
              </a:solidFill>
              <a:latin typeface="Arial" panose="020B0604020202020204" pitchFamily="34" charset="0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804660" y="2210380"/>
            <a:ext cx="616585" cy="52324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3804663" y="3080548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4421203" y="3082336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解决方案</a:t>
            </a:r>
            <a:endParaRPr lang="zh-CN" altLang="en-US" sz="3200" b="1" kern="1200" dirty="0">
              <a:solidFill>
                <a:srgbClr val="FFFF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" name="文本框 55">
            <a:extLst>
              <a:ext uri="{FF2B5EF4-FFF2-40B4-BE49-F238E27FC236}">
                <a16:creationId xmlns:a16="http://schemas.microsoft.com/office/drawing/2014/main" id="{D8EC9D1A-B621-416F-6540-82CA8DB1AA1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04660" y="3946636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</a:t>
            </a:r>
          </a:p>
        </p:txBody>
      </p:sp>
      <p:sp>
        <p:nvSpPr>
          <p:cNvPr id="3" name="文本框 56">
            <a:extLst>
              <a:ext uri="{FF2B5EF4-FFF2-40B4-BE49-F238E27FC236}">
                <a16:creationId xmlns:a16="http://schemas.microsoft.com/office/drawing/2014/main" id="{405258E5-D444-F22D-97D8-C449D34070B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421200" y="3948424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cs"/>
              </a:rPr>
              <a:t>组织形式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393964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9208" y="623600"/>
            <a:ext cx="8369299" cy="576263"/>
          </a:xfrm>
        </p:spPr>
        <p:txBody>
          <a:bodyPr>
            <a:noAutofit/>
          </a:bodyPr>
          <a:lstStyle/>
          <a:p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新零售全渠道架构</a:t>
            </a:r>
            <a:r>
              <a:rPr lang="en-US" altLang="zh-CN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40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诗和远方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642306-D786-9187-4D95-5CC72BF88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82" y="1199863"/>
            <a:ext cx="8369300" cy="5321300"/>
          </a:xfrm>
          <a:prstGeom prst="rect">
            <a:avLst/>
          </a:prstGeom>
        </p:spPr>
      </p:pic>
      <p:sp>
        <p:nvSpPr>
          <p:cNvPr id="13" name="文本框 22">
            <a:extLst>
              <a:ext uri="{FF2B5EF4-FFF2-40B4-BE49-F238E27FC236}">
                <a16:creationId xmlns:a16="http://schemas.microsoft.com/office/drawing/2014/main" id="{AB497C0F-D4CD-242F-8D5E-53468B44369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 rot="1082906">
            <a:off x="8816237" y="1561875"/>
            <a:ext cx="3463309" cy="1364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rmAutofit fontScale="92500" lnSpcReduction="20000"/>
          </a:bodyPr>
          <a:lstStyle/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SaaS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服务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一键开店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线上线下互联互通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数字化赋能品牌和加盟商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Explosion: 8 Points 13">
            <a:extLst>
              <a:ext uri="{FF2B5EF4-FFF2-40B4-BE49-F238E27FC236}">
                <a16:creationId xmlns:a16="http://schemas.microsoft.com/office/drawing/2014/main" id="{C30D1A08-ED6F-7B44-6582-A56968E5ECBA}"/>
              </a:ext>
            </a:extLst>
          </p:cNvPr>
          <p:cNvSpPr/>
          <p:nvPr/>
        </p:nvSpPr>
        <p:spPr>
          <a:xfrm>
            <a:off x="8210160" y="504876"/>
            <a:ext cx="1448347" cy="979646"/>
          </a:xfrm>
          <a:prstGeom prst="irregularSeal1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愿景</a:t>
            </a: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731796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9208" y="623600"/>
            <a:ext cx="8369299" cy="576263"/>
          </a:xfrm>
        </p:spPr>
        <p:txBody>
          <a:bodyPr>
            <a:noAutofit/>
          </a:bodyPr>
          <a:lstStyle/>
          <a:p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新零售全渠道架构</a:t>
            </a:r>
            <a:r>
              <a:rPr lang="en-US" altLang="zh-CN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 sz="240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诗和远方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F5E27-7D84-B02E-7469-162034AB2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0" y="1116834"/>
            <a:ext cx="12042296" cy="555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842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4851" y="682297"/>
            <a:ext cx="8347046" cy="576263"/>
          </a:xfrm>
        </p:spPr>
        <p:txBody>
          <a:bodyPr>
            <a:noAutofit/>
          </a:bodyPr>
          <a:lstStyle/>
          <a:p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眼前的麻烦</a:t>
            </a:r>
            <a:r>
              <a:rPr lang="en-US" altLang="zh-CN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第一阶段工作</a:t>
            </a:r>
            <a:r>
              <a:rPr lang="en-US" altLang="zh-CN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(2023Q1)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B268A-900E-4F6B-B3DD-0F71B24330B4}"/>
              </a:ext>
            </a:extLst>
          </p:cNvPr>
          <p:cNvSpPr txBox="1"/>
          <p:nvPr/>
        </p:nvSpPr>
        <p:spPr>
          <a:xfrm rot="636455">
            <a:off x="8495607" y="3492532"/>
            <a:ext cx="3742114" cy="2872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40080" lvl="1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400">
                <a:latin typeface="SimHei" panose="02010609060101010101" pitchFamily="49" charset="-122"/>
                <a:ea typeface="SimHei" panose="02010609060101010101" pitchFamily="49" charset="-122"/>
              </a:rPr>
              <a:t>最大限度保障业务不中断，利用现有资源</a:t>
            </a:r>
            <a:endParaRPr lang="en-US" altLang="zh-CN" sz="240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640080" lvl="1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400">
                <a:latin typeface="SimHei" panose="02010609060101010101" pitchFamily="49" charset="-122"/>
                <a:ea typeface="SimHei" panose="02010609060101010101" pitchFamily="49" charset="-122"/>
              </a:rPr>
              <a:t>最短时间、最小资源建设支持运营决策的运营管理中心</a:t>
            </a:r>
            <a:endParaRPr lang="en-US" altLang="zh-CN" sz="24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063308-BA9F-4CCE-F4CF-CBB3C424C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73" y="1971849"/>
            <a:ext cx="8148375" cy="3699109"/>
          </a:xfrm>
          <a:prstGeom prst="rect">
            <a:avLst/>
          </a:prstGeom>
        </p:spPr>
      </p:pic>
      <p:sp>
        <p:nvSpPr>
          <p:cNvPr id="13" name="文本框 22">
            <a:extLst>
              <a:ext uri="{FF2B5EF4-FFF2-40B4-BE49-F238E27FC236}">
                <a16:creationId xmlns:a16="http://schemas.microsoft.com/office/drawing/2014/main" id="{038175DA-98FA-561C-76E0-98F423E1F65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 rot="1082906">
            <a:off x="8472883" y="1473368"/>
            <a:ext cx="3463309" cy="1364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rmAutofit fontScale="92500" lnSpcReduction="20000"/>
          </a:bodyPr>
          <a:lstStyle/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统一物流平台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订货、供应链、质检、入库全流程电子化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为运营提供基于数据的可视化决策支持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Explosion: 8 Points 13">
            <a:extLst>
              <a:ext uri="{FF2B5EF4-FFF2-40B4-BE49-F238E27FC236}">
                <a16:creationId xmlns:a16="http://schemas.microsoft.com/office/drawing/2014/main" id="{C185A83A-00F2-EEC8-C32E-E0853FB9D0C4}"/>
              </a:ext>
            </a:extLst>
          </p:cNvPr>
          <p:cNvSpPr/>
          <p:nvPr/>
        </p:nvSpPr>
        <p:spPr>
          <a:xfrm>
            <a:off x="7855044" y="682297"/>
            <a:ext cx="1448347" cy="979646"/>
          </a:xfrm>
          <a:prstGeom prst="irregularSeal1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目标</a:t>
            </a: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414279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8840" y="766684"/>
            <a:ext cx="8347046" cy="576263"/>
          </a:xfrm>
        </p:spPr>
        <p:txBody>
          <a:bodyPr>
            <a:noAutofit/>
          </a:bodyPr>
          <a:lstStyle/>
          <a:p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眼前的麻烦</a:t>
            </a:r>
            <a:r>
              <a:rPr lang="en-US" altLang="zh-CN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第二阶段工作</a:t>
            </a:r>
            <a:r>
              <a:rPr lang="en-US" altLang="zh-CN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(2023Q2—2023Q4)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22">
            <a:extLst>
              <a:ext uri="{FF2B5EF4-FFF2-40B4-BE49-F238E27FC236}">
                <a16:creationId xmlns:a16="http://schemas.microsoft.com/office/drawing/2014/main" id="{038175DA-98FA-561C-76E0-98F423E1F65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 rot="1082906">
            <a:off x="8738425" y="1721709"/>
            <a:ext cx="3166680" cy="17535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rmAutofit lnSpcReduction="10000"/>
          </a:bodyPr>
          <a:lstStyle/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全渠道新零售平台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统一股份体系内所有新零售平台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全流程数字化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为下一步创新铺垫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Explosion: 8 Points 13">
            <a:extLst>
              <a:ext uri="{FF2B5EF4-FFF2-40B4-BE49-F238E27FC236}">
                <a16:creationId xmlns:a16="http://schemas.microsoft.com/office/drawing/2014/main" id="{C185A83A-00F2-EEC8-C32E-E0853FB9D0C4}"/>
              </a:ext>
            </a:extLst>
          </p:cNvPr>
          <p:cNvSpPr/>
          <p:nvPr/>
        </p:nvSpPr>
        <p:spPr>
          <a:xfrm>
            <a:off x="8340138" y="636907"/>
            <a:ext cx="1448347" cy="979646"/>
          </a:xfrm>
          <a:prstGeom prst="irregularSeal1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目标</a:t>
            </a: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06F29-1C9C-2DFD-B824-756A8E24F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87" y="1746330"/>
            <a:ext cx="8590502" cy="398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53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8840" y="766684"/>
            <a:ext cx="8347046" cy="576263"/>
          </a:xfrm>
        </p:spPr>
        <p:txBody>
          <a:bodyPr>
            <a:noAutofit/>
          </a:bodyPr>
          <a:lstStyle/>
          <a:p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科技创新</a:t>
            </a:r>
            <a:r>
              <a:rPr lang="en-US" altLang="zh-CN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业务创新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22">
            <a:extLst>
              <a:ext uri="{FF2B5EF4-FFF2-40B4-BE49-F238E27FC236}">
                <a16:creationId xmlns:a16="http://schemas.microsoft.com/office/drawing/2014/main" id="{038175DA-98FA-561C-76E0-98F423E1F65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 rot="1082906">
            <a:off x="8925005" y="1789622"/>
            <a:ext cx="3166680" cy="115048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rmAutofit fontScale="92500"/>
          </a:bodyPr>
          <a:lstStyle/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移动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POS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收款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基于数据数字化运营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数字化供应链金融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Explosion: 8 Points 13">
            <a:extLst>
              <a:ext uri="{FF2B5EF4-FFF2-40B4-BE49-F238E27FC236}">
                <a16:creationId xmlns:a16="http://schemas.microsoft.com/office/drawing/2014/main" id="{C185A83A-00F2-EEC8-C32E-E0853FB9D0C4}"/>
              </a:ext>
            </a:extLst>
          </p:cNvPr>
          <p:cNvSpPr/>
          <p:nvPr/>
        </p:nvSpPr>
        <p:spPr>
          <a:xfrm>
            <a:off x="8266105" y="766684"/>
            <a:ext cx="1448347" cy="979646"/>
          </a:xfrm>
          <a:prstGeom prst="irregularSeal1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方向</a:t>
            </a: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8A357-0D92-024F-5749-F88DDE556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7" y="1903638"/>
            <a:ext cx="8722984" cy="451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830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0604" y="720996"/>
            <a:ext cx="9870792" cy="576263"/>
          </a:xfrm>
        </p:spPr>
        <p:txBody>
          <a:bodyPr>
            <a:noAutofit/>
          </a:bodyPr>
          <a:lstStyle/>
          <a:p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技术架构</a:t>
            </a:r>
            <a:r>
              <a:rPr lang="en-US" altLang="zh-CN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--</a:t>
            </a:r>
            <a:r>
              <a:rPr lang="zh-CN" altLang="en-US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微服务架构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8E168D5-34B6-4EE3-8DA9-9D24A4D8B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821" y="1460153"/>
            <a:ext cx="9040106" cy="2051280"/>
          </a:xfrm>
        </p:spPr>
        <p:txBody>
          <a:bodyPr>
            <a:normAutofit/>
          </a:bodyPr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服务运行在被隔离的进程中，轻量级机制实现服务间通讯，围绕业务能力构建且可通过全自动化部署机制独立部署，支持不同语言开发，不同数据存储技术</a:t>
            </a:r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61D85-29F7-4AD5-9C98-D3EE560CB97F}"/>
              </a:ext>
            </a:extLst>
          </p:cNvPr>
          <p:cNvSpPr txBox="1"/>
          <p:nvPr/>
        </p:nvSpPr>
        <p:spPr>
          <a:xfrm>
            <a:off x="7760646" y="3674327"/>
            <a:ext cx="4148857" cy="2780248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1270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40080" lvl="1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sz="3200">
                <a:latin typeface="SimHei" panose="02010609060101010101" pitchFamily="49" charset="-122"/>
                <a:ea typeface="SimHei" panose="02010609060101010101" pitchFamily="49" charset="-122"/>
              </a:rPr>
              <a:t>可扩展</a:t>
            </a:r>
            <a:endParaRPr lang="en-US" altLang="zh-CN" sz="280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640080" lvl="1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sz="2800">
                <a:latin typeface="SimHei" panose="02010609060101010101" pitchFamily="49" charset="-122"/>
                <a:ea typeface="SimHei" panose="02010609060101010101" pitchFamily="49" charset="-122"/>
              </a:rPr>
              <a:t>可升级</a:t>
            </a:r>
            <a:endParaRPr lang="en-US" altLang="zh-CN" sz="280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640080" lvl="1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sz="2800">
                <a:latin typeface="SimHei" panose="02010609060101010101" pitchFamily="49" charset="-122"/>
                <a:ea typeface="SimHei" panose="02010609060101010101" pitchFamily="49" charset="-122"/>
              </a:rPr>
              <a:t>易维护</a:t>
            </a:r>
            <a:endParaRPr lang="en-US" altLang="zh-CN" sz="280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640080" lvl="1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zh-CN" altLang="en-US" sz="2800">
                <a:latin typeface="SimHei" panose="02010609060101010101" pitchFamily="49" charset="-122"/>
                <a:ea typeface="SimHei" panose="02010609060101010101" pitchFamily="49" charset="-122"/>
              </a:rPr>
              <a:t>故障和资源隔离</a:t>
            </a:r>
            <a:endParaRPr lang="en-US" altLang="zh-CN" sz="28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2439162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技术架构</a:t>
            </a:r>
            <a:r>
              <a:rPr lang="en-US" altLang="zh-CN"/>
              <a:t>--</a:t>
            </a:r>
            <a:r>
              <a:rPr lang="zh-CN" altLang="en-US"/>
              <a:t>云原生</a:t>
            </a:r>
          </a:p>
        </p:txBody>
      </p:sp>
      <p:sp>
        <p:nvSpPr>
          <p:cNvPr id="8" name="矩形 41">
            <a:extLst>
              <a:ext uri="{FF2B5EF4-FFF2-40B4-BE49-F238E27FC236}">
                <a16:creationId xmlns:a16="http://schemas.microsoft.com/office/drawing/2014/main" id="{D6C5B915-5492-4FD2-8FDC-337B45C84B51}"/>
              </a:ext>
            </a:extLst>
          </p:cNvPr>
          <p:cNvSpPr/>
          <p:nvPr/>
        </p:nvSpPr>
        <p:spPr>
          <a:xfrm>
            <a:off x="1831612" y="2408955"/>
            <a:ext cx="2652335" cy="14992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前后台分离</a:t>
            </a:r>
            <a:endParaRPr lang="en-US" altLang="zh-CN" sz="2000" kern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技术架构下沉</a:t>
            </a:r>
            <a:endParaRPr lang="en-US" altLang="zh-CN" sz="2000" kern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endParaRPr lang="zh-CN" altLang="en-US" sz="2000" kern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3">
            <a:extLst>
              <a:ext uri="{FF2B5EF4-FFF2-40B4-BE49-F238E27FC236}">
                <a16:creationId xmlns:a16="http://schemas.microsoft.com/office/drawing/2014/main" id="{6E2F2319-34D2-4986-BC1B-CDFBBFE109BE}"/>
              </a:ext>
            </a:extLst>
          </p:cNvPr>
          <p:cNvSpPr/>
          <p:nvPr/>
        </p:nvSpPr>
        <p:spPr>
          <a:xfrm>
            <a:off x="4964537" y="2408955"/>
            <a:ext cx="3206997" cy="14992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000" ker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业务组件垂直拆分</a:t>
            </a:r>
            <a:endParaRPr lang="en-US" altLang="zh-CN" sz="2000" kern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组件间高内聚、低耦合</a:t>
            </a:r>
            <a:endParaRPr lang="en-US" altLang="zh-CN" sz="200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组件重组复用</a:t>
            </a:r>
            <a:endParaRPr lang="en-US" altLang="zh-CN" sz="200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5">
            <a:extLst>
              <a:ext uri="{FF2B5EF4-FFF2-40B4-BE49-F238E27FC236}">
                <a16:creationId xmlns:a16="http://schemas.microsoft.com/office/drawing/2014/main" id="{34E40615-6945-40A9-B9AF-E74C2AD7E994}"/>
              </a:ext>
            </a:extLst>
          </p:cNvPr>
          <p:cNvSpPr/>
          <p:nvPr/>
        </p:nvSpPr>
        <p:spPr>
          <a:xfrm>
            <a:off x="8488599" y="2408955"/>
            <a:ext cx="2954097" cy="13750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000" ker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业务快速迭代</a:t>
            </a:r>
            <a:endParaRPr lang="en-US" altLang="zh-CN" sz="2000" kern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降低技术成本</a:t>
            </a:r>
            <a:endParaRPr lang="en-US" altLang="zh-CN" sz="200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000" ker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提升自动化运维效率</a:t>
            </a:r>
            <a:endParaRPr lang="zh-CN" altLang="en-US" sz="2000" kern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1" name="直线连接符 8">
            <a:extLst>
              <a:ext uri="{FF2B5EF4-FFF2-40B4-BE49-F238E27FC236}">
                <a16:creationId xmlns:a16="http://schemas.microsoft.com/office/drawing/2014/main" id="{8956A170-5578-4F14-AD1A-C19CBF24D7E8}"/>
              </a:ext>
            </a:extLst>
          </p:cNvPr>
          <p:cNvCxnSpPr>
            <a:cxnSpLocks/>
          </p:cNvCxnSpPr>
          <p:nvPr/>
        </p:nvCxnSpPr>
        <p:spPr>
          <a:xfrm>
            <a:off x="4784394" y="1829988"/>
            <a:ext cx="0" cy="257588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直线连接符 52">
            <a:extLst>
              <a:ext uri="{FF2B5EF4-FFF2-40B4-BE49-F238E27FC236}">
                <a16:creationId xmlns:a16="http://schemas.microsoft.com/office/drawing/2014/main" id="{4A18E0A7-1A05-48E4-8B3D-82906DCC303E}"/>
              </a:ext>
            </a:extLst>
          </p:cNvPr>
          <p:cNvCxnSpPr>
            <a:cxnSpLocks/>
          </p:cNvCxnSpPr>
          <p:nvPr/>
        </p:nvCxnSpPr>
        <p:spPr>
          <a:xfrm>
            <a:off x="8330067" y="1806600"/>
            <a:ext cx="0" cy="2824124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26">
            <a:extLst>
              <a:ext uri="{FF2B5EF4-FFF2-40B4-BE49-F238E27FC236}">
                <a16:creationId xmlns:a16="http://schemas.microsoft.com/office/drawing/2014/main" id="{DDA08266-D9CD-44A4-8375-325BECC244D8}"/>
              </a:ext>
            </a:extLst>
          </p:cNvPr>
          <p:cNvSpPr txBox="1"/>
          <p:nvPr/>
        </p:nvSpPr>
        <p:spPr>
          <a:xfrm>
            <a:off x="2122614" y="1797152"/>
            <a:ext cx="25032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技术与业务解耦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27">
            <a:extLst>
              <a:ext uri="{FF2B5EF4-FFF2-40B4-BE49-F238E27FC236}">
                <a16:creationId xmlns:a16="http://schemas.microsoft.com/office/drawing/2014/main" id="{BC2F7A2D-2111-4C54-BC4B-0BCC1809BABE}"/>
              </a:ext>
            </a:extLst>
          </p:cNvPr>
          <p:cNvSpPr txBox="1"/>
          <p:nvPr/>
        </p:nvSpPr>
        <p:spPr>
          <a:xfrm>
            <a:off x="5412397" y="1797152"/>
            <a:ext cx="275913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功能组件化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28">
            <a:extLst>
              <a:ext uri="{FF2B5EF4-FFF2-40B4-BE49-F238E27FC236}">
                <a16:creationId xmlns:a16="http://schemas.microsoft.com/office/drawing/2014/main" id="{12E67E66-BFE9-45B9-B51B-72DAFA153A02}"/>
              </a:ext>
            </a:extLst>
          </p:cNvPr>
          <p:cNvSpPr txBox="1"/>
          <p:nvPr/>
        </p:nvSpPr>
        <p:spPr>
          <a:xfrm>
            <a:off x="8913458" y="1755160"/>
            <a:ext cx="14670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经济因素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圆角矩形 30">
            <a:extLst>
              <a:ext uri="{FF2B5EF4-FFF2-40B4-BE49-F238E27FC236}">
                <a16:creationId xmlns:a16="http://schemas.microsoft.com/office/drawing/2014/main" id="{C9D41C63-A691-4089-87A9-B135D6592D81}"/>
              </a:ext>
            </a:extLst>
          </p:cNvPr>
          <p:cNvSpPr/>
          <p:nvPr/>
        </p:nvSpPr>
        <p:spPr>
          <a:xfrm>
            <a:off x="2208596" y="2214214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圆角矩形 31">
            <a:extLst>
              <a:ext uri="{FF2B5EF4-FFF2-40B4-BE49-F238E27FC236}">
                <a16:creationId xmlns:a16="http://schemas.microsoft.com/office/drawing/2014/main" id="{E705A0BF-7720-454B-9ED7-C7FFD805BC23}"/>
              </a:ext>
            </a:extLst>
          </p:cNvPr>
          <p:cNvSpPr/>
          <p:nvPr/>
        </p:nvSpPr>
        <p:spPr>
          <a:xfrm>
            <a:off x="5507496" y="2222025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圆角矩形 32">
            <a:extLst>
              <a:ext uri="{FF2B5EF4-FFF2-40B4-BE49-F238E27FC236}">
                <a16:creationId xmlns:a16="http://schemas.microsoft.com/office/drawing/2014/main" id="{4CA4082B-2732-4ECC-9E9C-1C932E7468F6}"/>
              </a:ext>
            </a:extLst>
          </p:cNvPr>
          <p:cNvSpPr/>
          <p:nvPr/>
        </p:nvSpPr>
        <p:spPr>
          <a:xfrm>
            <a:off x="8958069" y="2203670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iconfont-11899-5651343">
            <a:extLst>
              <a:ext uri="{FF2B5EF4-FFF2-40B4-BE49-F238E27FC236}">
                <a16:creationId xmlns:a16="http://schemas.microsoft.com/office/drawing/2014/main" id="{26881087-C380-43E1-8CD7-80AAEDD9AB22}"/>
              </a:ext>
            </a:extLst>
          </p:cNvPr>
          <p:cNvSpPr>
            <a:spLocks noChangeAspect="1"/>
          </p:cNvSpPr>
          <p:nvPr/>
        </p:nvSpPr>
        <p:spPr>
          <a:xfrm>
            <a:off x="1831612" y="1906150"/>
            <a:ext cx="297520" cy="297520"/>
          </a:xfrm>
          <a:custGeom>
            <a:avLst/>
            <a:gdLst>
              <a:gd name="T0" fmla="*/ 6526 w 10397"/>
              <a:gd name="T1" fmla="*/ 8233 h 10397"/>
              <a:gd name="T2" fmla="*/ 7000 w 10397"/>
              <a:gd name="T3" fmla="*/ 7343 h 10397"/>
              <a:gd name="T4" fmla="*/ 7729 w 10397"/>
              <a:gd name="T5" fmla="*/ 7018 h 10397"/>
              <a:gd name="T6" fmla="*/ 9897 w 10397"/>
              <a:gd name="T7" fmla="*/ 7558 h 10397"/>
              <a:gd name="T8" fmla="*/ 10390 w 10397"/>
              <a:gd name="T9" fmla="*/ 8188 h 10397"/>
              <a:gd name="T10" fmla="*/ 10391 w 10397"/>
              <a:gd name="T11" fmla="*/ 9096 h 10397"/>
              <a:gd name="T12" fmla="*/ 10397 w 10397"/>
              <a:gd name="T13" fmla="*/ 9096 h 10397"/>
              <a:gd name="T14" fmla="*/ 10397 w 10397"/>
              <a:gd name="T15" fmla="*/ 9723 h 10397"/>
              <a:gd name="T16" fmla="*/ 9715 w 10397"/>
              <a:gd name="T17" fmla="*/ 10373 h 10397"/>
              <a:gd name="T18" fmla="*/ 23 w 10397"/>
              <a:gd name="T19" fmla="*/ 682 h 10397"/>
              <a:gd name="T20" fmla="*/ 673 w 10397"/>
              <a:gd name="T21" fmla="*/ 0 h 10397"/>
              <a:gd name="T22" fmla="*/ 1301 w 10397"/>
              <a:gd name="T23" fmla="*/ 0 h 10397"/>
              <a:gd name="T24" fmla="*/ 1301 w 10397"/>
              <a:gd name="T25" fmla="*/ 2 h 10397"/>
              <a:gd name="T26" fmla="*/ 2189 w 10397"/>
              <a:gd name="T27" fmla="*/ 3 h 10397"/>
              <a:gd name="T28" fmla="*/ 2819 w 10397"/>
              <a:gd name="T29" fmla="*/ 496 h 10397"/>
              <a:gd name="T30" fmla="*/ 3360 w 10397"/>
              <a:gd name="T31" fmla="*/ 2663 h 10397"/>
              <a:gd name="T32" fmla="*/ 3035 w 10397"/>
              <a:gd name="T33" fmla="*/ 3395 h 10397"/>
              <a:gd name="T34" fmla="*/ 2158 w 10397"/>
              <a:gd name="T35" fmla="*/ 3860 h 10397"/>
              <a:gd name="T36" fmla="*/ 6526 w 10397"/>
              <a:gd name="T37" fmla="*/ 8233 h 10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97" h="10397">
                <a:moveTo>
                  <a:pt x="6526" y="8233"/>
                </a:moveTo>
                <a:lnTo>
                  <a:pt x="7000" y="7343"/>
                </a:lnTo>
                <a:cubicBezTo>
                  <a:pt x="7140" y="7081"/>
                  <a:pt x="7441" y="6947"/>
                  <a:pt x="7729" y="7018"/>
                </a:cubicBezTo>
                <a:lnTo>
                  <a:pt x="9897" y="7558"/>
                </a:lnTo>
                <a:cubicBezTo>
                  <a:pt x="10186" y="7631"/>
                  <a:pt x="10390" y="7891"/>
                  <a:pt x="10390" y="8188"/>
                </a:cubicBezTo>
                <a:lnTo>
                  <a:pt x="10391" y="9096"/>
                </a:lnTo>
                <a:lnTo>
                  <a:pt x="10397" y="9096"/>
                </a:lnTo>
                <a:lnTo>
                  <a:pt x="10397" y="9723"/>
                </a:lnTo>
                <a:cubicBezTo>
                  <a:pt x="10397" y="10095"/>
                  <a:pt x="10086" y="10397"/>
                  <a:pt x="9715" y="10373"/>
                </a:cubicBezTo>
                <a:cubicBezTo>
                  <a:pt x="4516" y="10036"/>
                  <a:pt x="360" y="5880"/>
                  <a:pt x="23" y="682"/>
                </a:cubicBezTo>
                <a:cubicBezTo>
                  <a:pt x="0" y="311"/>
                  <a:pt x="301" y="0"/>
                  <a:pt x="673" y="0"/>
                </a:cubicBezTo>
                <a:lnTo>
                  <a:pt x="1301" y="0"/>
                </a:lnTo>
                <a:lnTo>
                  <a:pt x="1301" y="2"/>
                </a:lnTo>
                <a:lnTo>
                  <a:pt x="2189" y="3"/>
                </a:lnTo>
                <a:cubicBezTo>
                  <a:pt x="2488" y="3"/>
                  <a:pt x="2748" y="207"/>
                  <a:pt x="2819" y="496"/>
                </a:cubicBezTo>
                <a:lnTo>
                  <a:pt x="3360" y="2663"/>
                </a:lnTo>
                <a:cubicBezTo>
                  <a:pt x="3432" y="2952"/>
                  <a:pt x="3298" y="3255"/>
                  <a:pt x="3035" y="3395"/>
                </a:cubicBezTo>
                <a:lnTo>
                  <a:pt x="2158" y="3860"/>
                </a:lnTo>
                <a:cubicBezTo>
                  <a:pt x="3062" y="5781"/>
                  <a:pt x="4606" y="7327"/>
                  <a:pt x="6526" y="8233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eeting_115918">
            <a:extLst>
              <a:ext uri="{FF2B5EF4-FFF2-40B4-BE49-F238E27FC236}">
                <a16:creationId xmlns:a16="http://schemas.microsoft.com/office/drawing/2014/main" id="{2242E505-D02F-4BD2-9E7D-3A3262D2E2FF}"/>
              </a:ext>
            </a:extLst>
          </p:cNvPr>
          <p:cNvSpPr>
            <a:spLocks noChangeAspect="1"/>
          </p:cNvSpPr>
          <p:nvPr/>
        </p:nvSpPr>
        <p:spPr>
          <a:xfrm>
            <a:off x="5035624" y="1849774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confont-11250-5318183">
            <a:extLst>
              <a:ext uri="{FF2B5EF4-FFF2-40B4-BE49-F238E27FC236}">
                <a16:creationId xmlns:a16="http://schemas.microsoft.com/office/drawing/2014/main" id="{2AE39932-9F6E-4531-BBD3-AA1563FD59CC}"/>
              </a:ext>
            </a:extLst>
          </p:cNvPr>
          <p:cNvSpPr>
            <a:spLocks noChangeAspect="1"/>
          </p:cNvSpPr>
          <p:nvPr/>
        </p:nvSpPr>
        <p:spPr>
          <a:xfrm>
            <a:off x="8488599" y="1829988"/>
            <a:ext cx="424859" cy="338554"/>
          </a:xfrm>
          <a:custGeom>
            <a:avLst/>
            <a:gdLst>
              <a:gd name="connsiteX0" fmla="*/ 147709 w 442433"/>
              <a:gd name="connsiteY0" fmla="*/ 328948 h 352558"/>
              <a:gd name="connsiteX1" fmla="*/ 209412 w 442433"/>
              <a:gd name="connsiteY1" fmla="*/ 328948 h 352558"/>
              <a:gd name="connsiteX2" fmla="*/ 209412 w 442433"/>
              <a:gd name="connsiteY2" fmla="*/ 328949 h 352558"/>
              <a:gd name="connsiteX3" fmla="*/ 233022 w 442433"/>
              <a:gd name="connsiteY3" fmla="*/ 328949 h 352558"/>
              <a:gd name="connsiteX4" fmla="*/ 233022 w 442433"/>
              <a:gd name="connsiteY4" fmla="*/ 328948 h 352558"/>
              <a:gd name="connsiteX5" fmla="*/ 294724 w 442433"/>
              <a:gd name="connsiteY5" fmla="*/ 328948 h 352558"/>
              <a:gd name="connsiteX6" fmla="*/ 294724 w 442433"/>
              <a:gd name="connsiteY6" fmla="*/ 352558 h 352558"/>
              <a:gd name="connsiteX7" fmla="*/ 147709 w 442433"/>
              <a:gd name="connsiteY7" fmla="*/ 352558 h 352558"/>
              <a:gd name="connsiteX8" fmla="*/ 161302 w 442433"/>
              <a:gd name="connsiteY8" fmla="*/ 203162 h 352558"/>
              <a:gd name="connsiteX9" fmla="*/ 184711 w 442433"/>
              <a:gd name="connsiteY9" fmla="*/ 203162 h 352558"/>
              <a:gd name="connsiteX10" fmla="*/ 184711 w 442433"/>
              <a:gd name="connsiteY10" fmla="*/ 232096 h 352558"/>
              <a:gd name="connsiteX11" fmla="*/ 156538 w 442433"/>
              <a:gd name="connsiteY11" fmla="*/ 226277 h 352558"/>
              <a:gd name="connsiteX12" fmla="*/ 235404 w 442433"/>
              <a:gd name="connsiteY12" fmla="*/ 135955 h 352558"/>
              <a:gd name="connsiteX13" fmla="*/ 253629 w 442433"/>
              <a:gd name="connsiteY13" fmla="*/ 159018 h 352558"/>
              <a:gd name="connsiteX14" fmla="*/ 231116 w 442433"/>
              <a:gd name="connsiteY14" fmla="*/ 176815 h 352558"/>
              <a:gd name="connsiteX15" fmla="*/ 212876 w 442433"/>
              <a:gd name="connsiteY15" fmla="*/ 153774 h 352558"/>
              <a:gd name="connsiteX16" fmla="*/ 211427 w 442433"/>
              <a:gd name="connsiteY16" fmla="*/ 105612 h 352558"/>
              <a:gd name="connsiteX17" fmla="*/ 211441 w 442433"/>
              <a:gd name="connsiteY17" fmla="*/ 105630 h 352558"/>
              <a:gd name="connsiteX18" fmla="*/ 203691 w 442433"/>
              <a:gd name="connsiteY18" fmla="*/ 143236 h 352558"/>
              <a:gd name="connsiteX19" fmla="*/ 188381 w 442433"/>
              <a:gd name="connsiteY19" fmla="*/ 123862 h 352558"/>
              <a:gd name="connsiteX20" fmla="*/ 294789 w 442433"/>
              <a:gd name="connsiteY20" fmla="*/ 88983 h 352558"/>
              <a:gd name="connsiteX21" fmla="*/ 313076 w 442433"/>
              <a:gd name="connsiteY21" fmla="*/ 112024 h 352558"/>
              <a:gd name="connsiteX22" fmla="*/ 304973 w 442433"/>
              <a:gd name="connsiteY22" fmla="*/ 118430 h 352558"/>
              <a:gd name="connsiteX23" fmla="*/ 294612 w 442433"/>
              <a:gd name="connsiteY23" fmla="*/ 118430 h 352558"/>
              <a:gd name="connsiteX24" fmla="*/ 294612 w 442433"/>
              <a:gd name="connsiteY24" fmla="*/ 89123 h 352558"/>
              <a:gd name="connsiteX25" fmla="*/ 294612 w 442433"/>
              <a:gd name="connsiteY25" fmla="*/ 88983 h 352558"/>
              <a:gd name="connsiteX26" fmla="*/ 294612 w 442433"/>
              <a:gd name="connsiteY26" fmla="*/ 89123 h 352558"/>
              <a:gd name="connsiteX27" fmla="*/ 235404 w 442433"/>
              <a:gd name="connsiteY27" fmla="*/ 135955 h 352558"/>
              <a:gd name="connsiteX28" fmla="*/ 211441 w 442433"/>
              <a:gd name="connsiteY28" fmla="*/ 105630 h 352558"/>
              <a:gd name="connsiteX29" fmla="*/ 211448 w 442433"/>
              <a:gd name="connsiteY29" fmla="*/ 105597 h 352558"/>
              <a:gd name="connsiteX30" fmla="*/ 182636 w 442433"/>
              <a:gd name="connsiteY30" fmla="*/ 99647 h 352558"/>
              <a:gd name="connsiteX31" fmla="*/ 161302 w 442433"/>
              <a:gd name="connsiteY31" fmla="*/ 203162 h 352558"/>
              <a:gd name="connsiteX32" fmla="*/ 44343 w 442433"/>
              <a:gd name="connsiteY32" fmla="*/ 203162 h 352558"/>
              <a:gd name="connsiteX33" fmla="*/ 44343 w 442433"/>
              <a:gd name="connsiteY33" fmla="*/ 232525 h 352558"/>
              <a:gd name="connsiteX34" fmla="*/ 184711 w 442433"/>
              <a:gd name="connsiteY34" fmla="*/ 232525 h 352558"/>
              <a:gd name="connsiteX35" fmla="*/ 184711 w 442433"/>
              <a:gd name="connsiteY35" fmla="*/ 232096 h 352558"/>
              <a:gd name="connsiteX36" fmla="*/ 185350 w 442433"/>
              <a:gd name="connsiteY36" fmla="*/ 232228 h 352558"/>
              <a:gd name="connsiteX37" fmla="*/ 203691 w 442433"/>
              <a:gd name="connsiteY37" fmla="*/ 143236 h 352558"/>
              <a:gd name="connsiteX38" fmla="*/ 230664 w 442433"/>
              <a:gd name="connsiteY38" fmla="*/ 177371 h 352558"/>
              <a:gd name="connsiteX39" fmla="*/ 253710 w 442433"/>
              <a:gd name="connsiteY39" fmla="*/ 159122 h 352558"/>
              <a:gd name="connsiteX40" fmla="*/ 253629 w 442433"/>
              <a:gd name="connsiteY40" fmla="*/ 159018 h 352558"/>
              <a:gd name="connsiteX41" fmla="*/ 304973 w 442433"/>
              <a:gd name="connsiteY41" fmla="*/ 118430 h 352558"/>
              <a:gd name="connsiteX42" fmla="*/ 399082 w 442433"/>
              <a:gd name="connsiteY42" fmla="*/ 118430 h 352558"/>
              <a:gd name="connsiteX43" fmla="*/ 399082 w 442433"/>
              <a:gd name="connsiteY43" fmla="*/ 88983 h 352558"/>
              <a:gd name="connsiteX44" fmla="*/ 294789 w 442433"/>
              <a:gd name="connsiteY44" fmla="*/ 88983 h 352558"/>
              <a:gd name="connsiteX45" fmla="*/ 17558 w 442433"/>
              <a:gd name="connsiteY45" fmla="*/ 23709 h 352558"/>
              <a:gd name="connsiteX46" fmla="*/ 424973 w 442433"/>
              <a:gd name="connsiteY46" fmla="*/ 23709 h 352558"/>
              <a:gd name="connsiteX47" fmla="*/ 424973 w 442433"/>
              <a:gd name="connsiteY47" fmla="*/ 282027 h 352558"/>
              <a:gd name="connsiteX48" fmla="*/ 233022 w 442433"/>
              <a:gd name="connsiteY48" fmla="*/ 282027 h 352558"/>
              <a:gd name="connsiteX49" fmla="*/ 233022 w 442433"/>
              <a:gd name="connsiteY49" fmla="*/ 328948 h 352558"/>
              <a:gd name="connsiteX50" fmla="*/ 209412 w 442433"/>
              <a:gd name="connsiteY50" fmla="*/ 328948 h 352558"/>
              <a:gd name="connsiteX51" fmla="*/ 209412 w 442433"/>
              <a:gd name="connsiteY51" fmla="*/ 282027 h 352558"/>
              <a:gd name="connsiteX52" fmla="*/ 17558 w 442433"/>
              <a:gd name="connsiteY52" fmla="*/ 282027 h 352558"/>
              <a:gd name="connsiteX53" fmla="*/ 0 w 442433"/>
              <a:gd name="connsiteY53" fmla="*/ 0 h 352558"/>
              <a:gd name="connsiteX54" fmla="*/ 442433 w 442433"/>
              <a:gd name="connsiteY54" fmla="*/ 0 h 352558"/>
              <a:gd name="connsiteX55" fmla="*/ 442433 w 442433"/>
              <a:gd name="connsiteY55" fmla="*/ 23709 h 352558"/>
              <a:gd name="connsiteX56" fmla="*/ 424973 w 442433"/>
              <a:gd name="connsiteY56" fmla="*/ 23709 h 352558"/>
              <a:gd name="connsiteX57" fmla="*/ 424973 w 442433"/>
              <a:gd name="connsiteY57" fmla="*/ 14880 h 352558"/>
              <a:gd name="connsiteX58" fmla="*/ 17558 w 442433"/>
              <a:gd name="connsiteY58" fmla="*/ 14880 h 352558"/>
              <a:gd name="connsiteX59" fmla="*/ 17558 w 442433"/>
              <a:gd name="connsiteY59" fmla="*/ 23709 h 352558"/>
              <a:gd name="connsiteX60" fmla="*/ 0 w 442433"/>
              <a:gd name="connsiteY60" fmla="*/ 23709 h 352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42433" h="352558">
                <a:moveTo>
                  <a:pt x="147709" y="328948"/>
                </a:moveTo>
                <a:lnTo>
                  <a:pt x="209412" y="328948"/>
                </a:lnTo>
                <a:lnTo>
                  <a:pt x="209412" y="328949"/>
                </a:lnTo>
                <a:lnTo>
                  <a:pt x="233022" y="328949"/>
                </a:lnTo>
                <a:lnTo>
                  <a:pt x="233022" y="328948"/>
                </a:lnTo>
                <a:lnTo>
                  <a:pt x="294724" y="328948"/>
                </a:lnTo>
                <a:lnTo>
                  <a:pt x="294724" y="352558"/>
                </a:lnTo>
                <a:lnTo>
                  <a:pt x="147709" y="352558"/>
                </a:lnTo>
                <a:close/>
                <a:moveTo>
                  <a:pt x="161302" y="203162"/>
                </a:moveTo>
                <a:lnTo>
                  <a:pt x="184711" y="203162"/>
                </a:lnTo>
                <a:lnTo>
                  <a:pt x="184711" y="232096"/>
                </a:lnTo>
                <a:lnTo>
                  <a:pt x="156538" y="226277"/>
                </a:lnTo>
                <a:close/>
                <a:moveTo>
                  <a:pt x="235404" y="135955"/>
                </a:moveTo>
                <a:lnTo>
                  <a:pt x="253629" y="159018"/>
                </a:lnTo>
                <a:lnTo>
                  <a:pt x="231116" y="176815"/>
                </a:lnTo>
                <a:lnTo>
                  <a:pt x="212876" y="153774"/>
                </a:lnTo>
                <a:close/>
                <a:moveTo>
                  <a:pt x="211427" y="105612"/>
                </a:moveTo>
                <a:lnTo>
                  <a:pt x="211441" y="105630"/>
                </a:lnTo>
                <a:lnTo>
                  <a:pt x="203691" y="143236"/>
                </a:lnTo>
                <a:lnTo>
                  <a:pt x="188381" y="123862"/>
                </a:lnTo>
                <a:close/>
                <a:moveTo>
                  <a:pt x="294789" y="88983"/>
                </a:moveTo>
                <a:lnTo>
                  <a:pt x="313076" y="112024"/>
                </a:lnTo>
                <a:lnTo>
                  <a:pt x="304973" y="118430"/>
                </a:lnTo>
                <a:lnTo>
                  <a:pt x="294612" y="118430"/>
                </a:lnTo>
                <a:lnTo>
                  <a:pt x="294612" y="89123"/>
                </a:lnTo>
                <a:close/>
                <a:moveTo>
                  <a:pt x="294612" y="88983"/>
                </a:moveTo>
                <a:lnTo>
                  <a:pt x="294612" y="89123"/>
                </a:lnTo>
                <a:lnTo>
                  <a:pt x="235404" y="135955"/>
                </a:lnTo>
                <a:lnTo>
                  <a:pt x="211441" y="105630"/>
                </a:lnTo>
                <a:lnTo>
                  <a:pt x="211448" y="105597"/>
                </a:lnTo>
                <a:lnTo>
                  <a:pt x="182636" y="99647"/>
                </a:lnTo>
                <a:lnTo>
                  <a:pt x="161302" y="203162"/>
                </a:lnTo>
                <a:lnTo>
                  <a:pt x="44343" y="203162"/>
                </a:lnTo>
                <a:lnTo>
                  <a:pt x="44343" y="232525"/>
                </a:lnTo>
                <a:lnTo>
                  <a:pt x="184711" y="232525"/>
                </a:lnTo>
                <a:lnTo>
                  <a:pt x="184711" y="232096"/>
                </a:lnTo>
                <a:lnTo>
                  <a:pt x="185350" y="232228"/>
                </a:lnTo>
                <a:lnTo>
                  <a:pt x="203691" y="143236"/>
                </a:lnTo>
                <a:lnTo>
                  <a:pt x="230664" y="177371"/>
                </a:lnTo>
                <a:lnTo>
                  <a:pt x="253710" y="159122"/>
                </a:lnTo>
                <a:lnTo>
                  <a:pt x="253629" y="159018"/>
                </a:lnTo>
                <a:lnTo>
                  <a:pt x="304973" y="118430"/>
                </a:lnTo>
                <a:lnTo>
                  <a:pt x="399082" y="118430"/>
                </a:lnTo>
                <a:lnTo>
                  <a:pt x="399082" y="88983"/>
                </a:lnTo>
                <a:lnTo>
                  <a:pt x="294789" y="88983"/>
                </a:lnTo>
                <a:close/>
                <a:moveTo>
                  <a:pt x="17558" y="23709"/>
                </a:moveTo>
                <a:lnTo>
                  <a:pt x="424973" y="23709"/>
                </a:lnTo>
                <a:lnTo>
                  <a:pt x="424973" y="282027"/>
                </a:lnTo>
                <a:lnTo>
                  <a:pt x="233022" y="282027"/>
                </a:lnTo>
                <a:lnTo>
                  <a:pt x="233022" y="328948"/>
                </a:lnTo>
                <a:lnTo>
                  <a:pt x="209412" y="328948"/>
                </a:lnTo>
                <a:lnTo>
                  <a:pt x="209412" y="282027"/>
                </a:lnTo>
                <a:lnTo>
                  <a:pt x="17558" y="282027"/>
                </a:lnTo>
                <a:close/>
                <a:moveTo>
                  <a:pt x="0" y="0"/>
                </a:moveTo>
                <a:lnTo>
                  <a:pt x="442433" y="0"/>
                </a:lnTo>
                <a:lnTo>
                  <a:pt x="442433" y="23709"/>
                </a:lnTo>
                <a:lnTo>
                  <a:pt x="424973" y="23709"/>
                </a:lnTo>
                <a:lnTo>
                  <a:pt x="424973" y="14880"/>
                </a:lnTo>
                <a:lnTo>
                  <a:pt x="17558" y="14880"/>
                </a:lnTo>
                <a:lnTo>
                  <a:pt x="17558" y="23709"/>
                </a:lnTo>
                <a:lnTo>
                  <a:pt x="0" y="23709"/>
                </a:ln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58488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804660" y="1331658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4421203" y="1327114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未来的新零售</a:t>
            </a:r>
            <a:endParaRPr lang="zh-CN" altLang="en-US" sz="3200" b="1" kern="1200" dirty="0">
              <a:solidFill>
                <a:srgbClr val="00B0F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4421203" y="2132863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  <a:sym typeface="+mn-ea"/>
              </a:rPr>
              <a:t>现状分析</a:t>
            </a:r>
            <a:endParaRPr lang="zh-CN" altLang="en-US" sz="3200" b="1" kern="1200" dirty="0">
              <a:solidFill>
                <a:srgbClr val="00B0F0"/>
              </a:solidFill>
              <a:latin typeface="Arial" panose="020B0604020202020204" pitchFamily="34" charset="0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804660" y="2135115"/>
            <a:ext cx="616585" cy="52324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3804660" y="3751511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</a:t>
            </a:r>
          </a:p>
        </p:txBody>
      </p:sp>
      <p:sp>
        <p:nvSpPr>
          <p:cNvPr id="57" name="文本框 56"/>
          <p:cNvSpPr txBox="1"/>
          <p:nvPr>
            <p:custDataLst>
              <p:tags r:id="rId7"/>
            </p:custDataLst>
          </p:nvPr>
        </p:nvSpPr>
        <p:spPr>
          <a:xfrm>
            <a:off x="4421200" y="3753299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FFFF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组织形式</a:t>
            </a:r>
            <a:endParaRPr lang="zh-CN" altLang="en-US" sz="3200" b="1" kern="1200" dirty="0">
              <a:solidFill>
                <a:srgbClr val="FFFF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" name="文本框 55">
            <a:extLst>
              <a:ext uri="{FF2B5EF4-FFF2-40B4-BE49-F238E27FC236}">
                <a16:creationId xmlns:a16="http://schemas.microsoft.com/office/drawing/2014/main" id="{D8EC9D1A-B621-416F-6540-82CA8DB1AA1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04660" y="2940399"/>
            <a:ext cx="616541" cy="523220"/>
          </a:xfrm>
          <a:prstGeom prst="rect">
            <a:avLst/>
          </a:prstGeom>
          <a:noFill/>
        </p:spPr>
        <p:txBody>
          <a:bodyPr wrap="square" r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1200" dirty="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</a:p>
        </p:txBody>
      </p:sp>
      <p:sp>
        <p:nvSpPr>
          <p:cNvPr id="3" name="文本框 56">
            <a:extLst>
              <a:ext uri="{FF2B5EF4-FFF2-40B4-BE49-F238E27FC236}">
                <a16:creationId xmlns:a16="http://schemas.microsoft.com/office/drawing/2014/main" id="{405258E5-D444-F22D-97D8-C449D34070B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421200" y="2942187"/>
            <a:ext cx="4244339" cy="5277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1200">
                <a:solidFill>
                  <a:srgbClr val="00B0F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解决方案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796563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组织形式</a:t>
            </a:r>
          </a:p>
        </p:txBody>
      </p:sp>
      <p:sp>
        <p:nvSpPr>
          <p:cNvPr id="8" name="矩形 41">
            <a:extLst>
              <a:ext uri="{FF2B5EF4-FFF2-40B4-BE49-F238E27FC236}">
                <a16:creationId xmlns:a16="http://schemas.microsoft.com/office/drawing/2014/main" id="{D6C5B915-5492-4FD2-8FDC-337B45C84B51}"/>
              </a:ext>
            </a:extLst>
          </p:cNvPr>
          <p:cNvSpPr/>
          <p:nvPr/>
        </p:nvSpPr>
        <p:spPr>
          <a:xfrm>
            <a:off x="1837231" y="2691268"/>
            <a:ext cx="4294074" cy="2016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对接股份下各业务团队需求</a:t>
            </a:r>
            <a:endParaRPr lang="en-US" altLang="zh-CN" sz="2200" kern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组建产品研发团队</a:t>
            </a:r>
            <a:endParaRPr lang="en-US" altLang="zh-CN" sz="2200" kern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向业务部门交付最终产品</a:t>
            </a:r>
            <a:endParaRPr lang="en-US" altLang="zh-CN" sz="2200" kern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3">
            <a:extLst>
              <a:ext uri="{FF2B5EF4-FFF2-40B4-BE49-F238E27FC236}">
                <a16:creationId xmlns:a16="http://schemas.microsoft.com/office/drawing/2014/main" id="{6E2F2319-34D2-4986-BC1B-CDFBBFE109BE}"/>
              </a:ext>
            </a:extLst>
          </p:cNvPr>
          <p:cNvSpPr/>
          <p:nvPr/>
        </p:nvSpPr>
        <p:spPr>
          <a:xfrm>
            <a:off x="6598469" y="2649634"/>
            <a:ext cx="4748981" cy="24470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自主决策，自行决定发展方向</a:t>
            </a:r>
            <a:endParaRPr lang="en-US" altLang="zh-CN" sz="2200" kern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为股份下所有实提供科技服务</a:t>
            </a:r>
            <a:endParaRPr lang="en-US" altLang="zh-CN" sz="220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独立核算</a:t>
            </a:r>
            <a:endParaRPr lang="en-US" altLang="zh-CN" sz="220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为同类型公司提供技术赋能服务</a:t>
            </a:r>
            <a:endParaRPr lang="en-US" altLang="zh-CN" sz="220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1" name="直线连接符 8">
            <a:extLst>
              <a:ext uri="{FF2B5EF4-FFF2-40B4-BE49-F238E27FC236}">
                <a16:creationId xmlns:a16="http://schemas.microsoft.com/office/drawing/2014/main" id="{8956A170-5578-4F14-AD1A-C19CBF24D7E8}"/>
              </a:ext>
            </a:extLst>
          </p:cNvPr>
          <p:cNvCxnSpPr>
            <a:cxnSpLocks/>
          </p:cNvCxnSpPr>
          <p:nvPr/>
        </p:nvCxnSpPr>
        <p:spPr>
          <a:xfrm>
            <a:off x="6131305" y="1849774"/>
            <a:ext cx="0" cy="324688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26">
            <a:extLst>
              <a:ext uri="{FF2B5EF4-FFF2-40B4-BE49-F238E27FC236}">
                <a16:creationId xmlns:a16="http://schemas.microsoft.com/office/drawing/2014/main" id="{DDA08266-D9CD-44A4-8375-325BECC244D8}"/>
              </a:ext>
            </a:extLst>
          </p:cNvPr>
          <p:cNvSpPr txBox="1"/>
          <p:nvPr/>
        </p:nvSpPr>
        <p:spPr>
          <a:xfrm>
            <a:off x="2122613" y="1797152"/>
            <a:ext cx="42182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信息中心</a:t>
            </a:r>
            <a:r>
              <a:rPr lang="en-US" altLang="zh-CN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支撑部门</a:t>
            </a:r>
            <a:r>
              <a:rPr lang="en-US" altLang="zh-CN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4" name="文本框 27">
            <a:extLst>
              <a:ext uri="{FF2B5EF4-FFF2-40B4-BE49-F238E27FC236}">
                <a16:creationId xmlns:a16="http://schemas.microsoft.com/office/drawing/2014/main" id="{BC2F7A2D-2111-4C54-BC4B-0BCC1809BABE}"/>
              </a:ext>
            </a:extLst>
          </p:cNvPr>
          <p:cNvSpPr txBox="1"/>
          <p:nvPr/>
        </p:nvSpPr>
        <p:spPr>
          <a:xfrm>
            <a:off x="7046325" y="1797152"/>
            <a:ext cx="275913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366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科技公司</a:t>
            </a:r>
            <a:endParaRPr lang="en-US" altLang="zh-CN" b="1" dirty="0">
              <a:solidFill>
                <a:srgbClr val="3366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圆角矩形 30">
            <a:extLst>
              <a:ext uri="{FF2B5EF4-FFF2-40B4-BE49-F238E27FC236}">
                <a16:creationId xmlns:a16="http://schemas.microsoft.com/office/drawing/2014/main" id="{C9D41C63-A691-4089-87A9-B135D6592D81}"/>
              </a:ext>
            </a:extLst>
          </p:cNvPr>
          <p:cNvSpPr/>
          <p:nvPr/>
        </p:nvSpPr>
        <p:spPr>
          <a:xfrm>
            <a:off x="2208596" y="2214214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圆角矩形 31">
            <a:extLst>
              <a:ext uri="{FF2B5EF4-FFF2-40B4-BE49-F238E27FC236}">
                <a16:creationId xmlns:a16="http://schemas.microsoft.com/office/drawing/2014/main" id="{E705A0BF-7720-454B-9ED7-C7FFD805BC23}"/>
              </a:ext>
            </a:extLst>
          </p:cNvPr>
          <p:cNvSpPr/>
          <p:nvPr/>
        </p:nvSpPr>
        <p:spPr>
          <a:xfrm>
            <a:off x="7141424" y="2222025"/>
            <a:ext cx="432000" cy="36000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iconfont-11899-5651343">
            <a:extLst>
              <a:ext uri="{FF2B5EF4-FFF2-40B4-BE49-F238E27FC236}">
                <a16:creationId xmlns:a16="http://schemas.microsoft.com/office/drawing/2014/main" id="{26881087-C380-43E1-8CD7-80AAEDD9AB22}"/>
              </a:ext>
            </a:extLst>
          </p:cNvPr>
          <p:cNvSpPr>
            <a:spLocks noChangeAspect="1"/>
          </p:cNvSpPr>
          <p:nvPr/>
        </p:nvSpPr>
        <p:spPr>
          <a:xfrm>
            <a:off x="1831612" y="1906150"/>
            <a:ext cx="297520" cy="297520"/>
          </a:xfrm>
          <a:custGeom>
            <a:avLst/>
            <a:gdLst>
              <a:gd name="T0" fmla="*/ 6526 w 10397"/>
              <a:gd name="T1" fmla="*/ 8233 h 10397"/>
              <a:gd name="T2" fmla="*/ 7000 w 10397"/>
              <a:gd name="T3" fmla="*/ 7343 h 10397"/>
              <a:gd name="T4" fmla="*/ 7729 w 10397"/>
              <a:gd name="T5" fmla="*/ 7018 h 10397"/>
              <a:gd name="T6" fmla="*/ 9897 w 10397"/>
              <a:gd name="T7" fmla="*/ 7558 h 10397"/>
              <a:gd name="T8" fmla="*/ 10390 w 10397"/>
              <a:gd name="T9" fmla="*/ 8188 h 10397"/>
              <a:gd name="T10" fmla="*/ 10391 w 10397"/>
              <a:gd name="T11" fmla="*/ 9096 h 10397"/>
              <a:gd name="T12" fmla="*/ 10397 w 10397"/>
              <a:gd name="T13" fmla="*/ 9096 h 10397"/>
              <a:gd name="T14" fmla="*/ 10397 w 10397"/>
              <a:gd name="T15" fmla="*/ 9723 h 10397"/>
              <a:gd name="T16" fmla="*/ 9715 w 10397"/>
              <a:gd name="T17" fmla="*/ 10373 h 10397"/>
              <a:gd name="T18" fmla="*/ 23 w 10397"/>
              <a:gd name="T19" fmla="*/ 682 h 10397"/>
              <a:gd name="T20" fmla="*/ 673 w 10397"/>
              <a:gd name="T21" fmla="*/ 0 h 10397"/>
              <a:gd name="T22" fmla="*/ 1301 w 10397"/>
              <a:gd name="T23" fmla="*/ 0 h 10397"/>
              <a:gd name="T24" fmla="*/ 1301 w 10397"/>
              <a:gd name="T25" fmla="*/ 2 h 10397"/>
              <a:gd name="T26" fmla="*/ 2189 w 10397"/>
              <a:gd name="T27" fmla="*/ 3 h 10397"/>
              <a:gd name="T28" fmla="*/ 2819 w 10397"/>
              <a:gd name="T29" fmla="*/ 496 h 10397"/>
              <a:gd name="T30" fmla="*/ 3360 w 10397"/>
              <a:gd name="T31" fmla="*/ 2663 h 10397"/>
              <a:gd name="T32" fmla="*/ 3035 w 10397"/>
              <a:gd name="T33" fmla="*/ 3395 h 10397"/>
              <a:gd name="T34" fmla="*/ 2158 w 10397"/>
              <a:gd name="T35" fmla="*/ 3860 h 10397"/>
              <a:gd name="T36" fmla="*/ 6526 w 10397"/>
              <a:gd name="T37" fmla="*/ 8233 h 10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97" h="10397">
                <a:moveTo>
                  <a:pt x="6526" y="8233"/>
                </a:moveTo>
                <a:lnTo>
                  <a:pt x="7000" y="7343"/>
                </a:lnTo>
                <a:cubicBezTo>
                  <a:pt x="7140" y="7081"/>
                  <a:pt x="7441" y="6947"/>
                  <a:pt x="7729" y="7018"/>
                </a:cubicBezTo>
                <a:lnTo>
                  <a:pt x="9897" y="7558"/>
                </a:lnTo>
                <a:cubicBezTo>
                  <a:pt x="10186" y="7631"/>
                  <a:pt x="10390" y="7891"/>
                  <a:pt x="10390" y="8188"/>
                </a:cubicBezTo>
                <a:lnTo>
                  <a:pt x="10391" y="9096"/>
                </a:lnTo>
                <a:lnTo>
                  <a:pt x="10397" y="9096"/>
                </a:lnTo>
                <a:lnTo>
                  <a:pt x="10397" y="9723"/>
                </a:lnTo>
                <a:cubicBezTo>
                  <a:pt x="10397" y="10095"/>
                  <a:pt x="10086" y="10397"/>
                  <a:pt x="9715" y="10373"/>
                </a:cubicBezTo>
                <a:cubicBezTo>
                  <a:pt x="4516" y="10036"/>
                  <a:pt x="360" y="5880"/>
                  <a:pt x="23" y="682"/>
                </a:cubicBezTo>
                <a:cubicBezTo>
                  <a:pt x="0" y="311"/>
                  <a:pt x="301" y="0"/>
                  <a:pt x="673" y="0"/>
                </a:cubicBezTo>
                <a:lnTo>
                  <a:pt x="1301" y="0"/>
                </a:lnTo>
                <a:lnTo>
                  <a:pt x="1301" y="2"/>
                </a:lnTo>
                <a:lnTo>
                  <a:pt x="2189" y="3"/>
                </a:lnTo>
                <a:cubicBezTo>
                  <a:pt x="2488" y="3"/>
                  <a:pt x="2748" y="207"/>
                  <a:pt x="2819" y="496"/>
                </a:cubicBezTo>
                <a:lnTo>
                  <a:pt x="3360" y="2663"/>
                </a:lnTo>
                <a:cubicBezTo>
                  <a:pt x="3432" y="2952"/>
                  <a:pt x="3298" y="3255"/>
                  <a:pt x="3035" y="3395"/>
                </a:cubicBezTo>
                <a:lnTo>
                  <a:pt x="2158" y="3860"/>
                </a:lnTo>
                <a:cubicBezTo>
                  <a:pt x="3062" y="5781"/>
                  <a:pt x="4606" y="7327"/>
                  <a:pt x="6526" y="8233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eeting_115918">
            <a:extLst>
              <a:ext uri="{FF2B5EF4-FFF2-40B4-BE49-F238E27FC236}">
                <a16:creationId xmlns:a16="http://schemas.microsoft.com/office/drawing/2014/main" id="{2242E505-D02F-4BD2-9E7D-3A3262D2E2FF}"/>
              </a:ext>
            </a:extLst>
          </p:cNvPr>
          <p:cNvSpPr>
            <a:spLocks noChangeAspect="1"/>
          </p:cNvSpPr>
          <p:nvPr/>
        </p:nvSpPr>
        <p:spPr>
          <a:xfrm>
            <a:off x="6669552" y="1849774"/>
            <a:ext cx="339026" cy="338554"/>
          </a:xfrm>
          <a:custGeom>
            <a:avLst/>
            <a:gdLst>
              <a:gd name="connsiteX0" fmla="*/ 199404 w 608416"/>
              <a:gd name="connsiteY0" fmla="*/ 274640 h 607568"/>
              <a:gd name="connsiteX1" fmla="*/ 409013 w 608416"/>
              <a:gd name="connsiteY1" fmla="*/ 274640 h 607568"/>
              <a:gd name="connsiteX2" fmla="*/ 426992 w 608416"/>
              <a:gd name="connsiteY2" fmla="*/ 292590 h 607568"/>
              <a:gd name="connsiteX3" fmla="*/ 409013 w 608416"/>
              <a:gd name="connsiteY3" fmla="*/ 310541 h 607568"/>
              <a:gd name="connsiteX4" fmla="*/ 322188 w 608416"/>
              <a:gd name="connsiteY4" fmla="*/ 310541 h 607568"/>
              <a:gd name="connsiteX5" fmla="*/ 322188 w 608416"/>
              <a:gd name="connsiteY5" fmla="*/ 589617 h 607568"/>
              <a:gd name="connsiteX6" fmla="*/ 304208 w 608416"/>
              <a:gd name="connsiteY6" fmla="*/ 607568 h 607568"/>
              <a:gd name="connsiteX7" fmla="*/ 286229 w 608416"/>
              <a:gd name="connsiteY7" fmla="*/ 589617 h 607568"/>
              <a:gd name="connsiteX8" fmla="*/ 286229 w 608416"/>
              <a:gd name="connsiteY8" fmla="*/ 310541 h 607568"/>
              <a:gd name="connsiteX9" fmla="*/ 199404 w 608416"/>
              <a:gd name="connsiteY9" fmla="*/ 310541 h 607568"/>
              <a:gd name="connsiteX10" fmla="*/ 181424 w 608416"/>
              <a:gd name="connsiteY10" fmla="*/ 292590 h 607568"/>
              <a:gd name="connsiteX11" fmla="*/ 199404 w 608416"/>
              <a:gd name="connsiteY11" fmla="*/ 274640 h 607568"/>
              <a:gd name="connsiteX12" fmla="*/ 538360 w 608416"/>
              <a:gd name="connsiteY12" fmla="*/ 210638 h 607568"/>
              <a:gd name="connsiteX13" fmla="*/ 601500 w 608416"/>
              <a:gd name="connsiteY13" fmla="*/ 273691 h 607568"/>
              <a:gd name="connsiteX14" fmla="*/ 601500 w 608416"/>
              <a:gd name="connsiteY14" fmla="*/ 418820 h 607568"/>
              <a:gd name="connsiteX15" fmla="*/ 541125 w 608416"/>
              <a:gd name="connsiteY15" fmla="*/ 479112 h 607568"/>
              <a:gd name="connsiteX16" fmla="*/ 462315 w 608416"/>
              <a:gd name="connsiteY16" fmla="*/ 479112 h 607568"/>
              <a:gd name="connsiteX17" fmla="*/ 462315 w 608416"/>
              <a:gd name="connsiteY17" fmla="*/ 586348 h 607568"/>
              <a:gd name="connsiteX18" fmla="*/ 447566 w 608416"/>
              <a:gd name="connsiteY18" fmla="*/ 601076 h 607568"/>
              <a:gd name="connsiteX19" fmla="*/ 377666 w 608416"/>
              <a:gd name="connsiteY19" fmla="*/ 601076 h 607568"/>
              <a:gd name="connsiteX20" fmla="*/ 362918 w 608416"/>
              <a:gd name="connsiteY20" fmla="*/ 586348 h 607568"/>
              <a:gd name="connsiteX21" fmla="*/ 362918 w 608416"/>
              <a:gd name="connsiteY21" fmla="*/ 431707 h 607568"/>
              <a:gd name="connsiteX22" fmla="*/ 413922 w 608416"/>
              <a:gd name="connsiteY22" fmla="*/ 380774 h 607568"/>
              <a:gd name="connsiteX23" fmla="*/ 475373 w 608416"/>
              <a:gd name="connsiteY23" fmla="*/ 380774 h 607568"/>
              <a:gd name="connsiteX24" fmla="*/ 475373 w 608416"/>
              <a:gd name="connsiteY24" fmla="*/ 273691 h 607568"/>
              <a:gd name="connsiteX25" fmla="*/ 538360 w 608416"/>
              <a:gd name="connsiteY25" fmla="*/ 210638 h 607568"/>
              <a:gd name="connsiteX26" fmla="*/ 70055 w 608416"/>
              <a:gd name="connsiteY26" fmla="*/ 210638 h 607568"/>
              <a:gd name="connsiteX27" fmla="*/ 133042 w 608416"/>
              <a:gd name="connsiteY27" fmla="*/ 273691 h 607568"/>
              <a:gd name="connsiteX28" fmla="*/ 133042 w 608416"/>
              <a:gd name="connsiteY28" fmla="*/ 380774 h 607568"/>
              <a:gd name="connsiteX29" fmla="*/ 194493 w 608416"/>
              <a:gd name="connsiteY29" fmla="*/ 380774 h 607568"/>
              <a:gd name="connsiteX30" fmla="*/ 245497 w 608416"/>
              <a:gd name="connsiteY30" fmla="*/ 431707 h 607568"/>
              <a:gd name="connsiteX31" fmla="*/ 245497 w 608416"/>
              <a:gd name="connsiteY31" fmla="*/ 586348 h 607568"/>
              <a:gd name="connsiteX32" fmla="*/ 230749 w 608416"/>
              <a:gd name="connsiteY32" fmla="*/ 601076 h 607568"/>
              <a:gd name="connsiteX33" fmla="*/ 160849 w 608416"/>
              <a:gd name="connsiteY33" fmla="*/ 601076 h 607568"/>
              <a:gd name="connsiteX34" fmla="*/ 146100 w 608416"/>
              <a:gd name="connsiteY34" fmla="*/ 586348 h 607568"/>
              <a:gd name="connsiteX35" fmla="*/ 146100 w 608416"/>
              <a:gd name="connsiteY35" fmla="*/ 479112 h 607568"/>
              <a:gd name="connsiteX36" fmla="*/ 67290 w 608416"/>
              <a:gd name="connsiteY36" fmla="*/ 479112 h 607568"/>
              <a:gd name="connsiteX37" fmla="*/ 6915 w 608416"/>
              <a:gd name="connsiteY37" fmla="*/ 418820 h 607568"/>
              <a:gd name="connsiteX38" fmla="*/ 6915 w 608416"/>
              <a:gd name="connsiteY38" fmla="*/ 273691 h 607568"/>
              <a:gd name="connsiteX39" fmla="*/ 70055 w 608416"/>
              <a:gd name="connsiteY39" fmla="*/ 210638 h 607568"/>
              <a:gd name="connsiteX40" fmla="*/ 349065 w 608416"/>
              <a:gd name="connsiteY40" fmla="*/ 71077 h 607568"/>
              <a:gd name="connsiteX41" fmla="*/ 336314 w 608416"/>
              <a:gd name="connsiteY41" fmla="*/ 76255 h 607568"/>
              <a:gd name="connsiteX42" fmla="*/ 289307 w 608416"/>
              <a:gd name="connsiteY42" fmla="*/ 123358 h 607568"/>
              <a:gd name="connsiteX43" fmla="*/ 272101 w 608416"/>
              <a:gd name="connsiteY43" fmla="*/ 106174 h 607568"/>
              <a:gd name="connsiteX44" fmla="*/ 246600 w 608416"/>
              <a:gd name="connsiteY44" fmla="*/ 106174 h 607568"/>
              <a:gd name="connsiteX45" fmla="*/ 246600 w 608416"/>
              <a:gd name="connsiteY45" fmla="*/ 131490 h 607568"/>
              <a:gd name="connsiteX46" fmla="*/ 276556 w 608416"/>
              <a:gd name="connsiteY46" fmla="*/ 161409 h 607568"/>
              <a:gd name="connsiteX47" fmla="*/ 289307 w 608416"/>
              <a:gd name="connsiteY47" fmla="*/ 166626 h 607568"/>
              <a:gd name="connsiteX48" fmla="*/ 301903 w 608416"/>
              <a:gd name="connsiteY48" fmla="*/ 161409 h 607568"/>
              <a:gd name="connsiteX49" fmla="*/ 361816 w 608416"/>
              <a:gd name="connsiteY49" fmla="*/ 101724 h 607568"/>
              <a:gd name="connsiteX50" fmla="*/ 361816 w 608416"/>
              <a:gd name="connsiteY50" fmla="*/ 76255 h 607568"/>
              <a:gd name="connsiteX51" fmla="*/ 349065 w 608416"/>
              <a:gd name="connsiteY51" fmla="*/ 71077 h 607568"/>
              <a:gd name="connsiteX52" fmla="*/ 538450 w 608416"/>
              <a:gd name="connsiteY52" fmla="*/ 33730 h 607568"/>
              <a:gd name="connsiteX53" fmla="*/ 608416 w 608416"/>
              <a:gd name="connsiteY53" fmla="*/ 103696 h 607568"/>
              <a:gd name="connsiteX54" fmla="*/ 538450 w 608416"/>
              <a:gd name="connsiteY54" fmla="*/ 173662 h 607568"/>
              <a:gd name="connsiteX55" fmla="*/ 468484 w 608416"/>
              <a:gd name="connsiteY55" fmla="*/ 103696 h 607568"/>
              <a:gd name="connsiteX56" fmla="*/ 538450 w 608416"/>
              <a:gd name="connsiteY56" fmla="*/ 33730 h 607568"/>
              <a:gd name="connsiteX57" fmla="*/ 70001 w 608416"/>
              <a:gd name="connsiteY57" fmla="*/ 33730 h 607568"/>
              <a:gd name="connsiteX58" fmla="*/ 140002 w 608416"/>
              <a:gd name="connsiteY58" fmla="*/ 103696 h 607568"/>
              <a:gd name="connsiteX59" fmla="*/ 70001 w 608416"/>
              <a:gd name="connsiteY59" fmla="*/ 173662 h 607568"/>
              <a:gd name="connsiteX60" fmla="*/ 0 w 608416"/>
              <a:gd name="connsiteY60" fmla="*/ 103696 h 607568"/>
              <a:gd name="connsiteX61" fmla="*/ 70001 w 608416"/>
              <a:gd name="connsiteY61" fmla="*/ 33730 h 607568"/>
              <a:gd name="connsiteX62" fmla="*/ 304208 w 608416"/>
              <a:gd name="connsiteY62" fmla="*/ 0 h 607568"/>
              <a:gd name="connsiteX63" fmla="*/ 423110 w 608416"/>
              <a:gd name="connsiteY63" fmla="*/ 118909 h 607568"/>
              <a:gd name="connsiteX64" fmla="*/ 304208 w 608416"/>
              <a:gd name="connsiteY64" fmla="*/ 237664 h 607568"/>
              <a:gd name="connsiteX65" fmla="*/ 185305 w 608416"/>
              <a:gd name="connsiteY65" fmla="*/ 118909 h 607568"/>
              <a:gd name="connsiteX66" fmla="*/ 304208 w 608416"/>
              <a:gd name="connsiteY6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416" h="607568">
                <a:moveTo>
                  <a:pt x="199404" y="274640"/>
                </a:moveTo>
                <a:lnTo>
                  <a:pt x="409013" y="274640"/>
                </a:lnTo>
                <a:cubicBezTo>
                  <a:pt x="418848" y="274640"/>
                  <a:pt x="426992" y="282771"/>
                  <a:pt x="426992" y="292590"/>
                </a:cubicBezTo>
                <a:cubicBezTo>
                  <a:pt x="426992" y="302563"/>
                  <a:pt x="418848" y="310541"/>
                  <a:pt x="409013" y="310541"/>
                </a:cubicBezTo>
                <a:lnTo>
                  <a:pt x="322188" y="310541"/>
                </a:lnTo>
                <a:lnTo>
                  <a:pt x="322188" y="589617"/>
                </a:lnTo>
                <a:cubicBezTo>
                  <a:pt x="322188" y="599437"/>
                  <a:pt x="314197" y="607568"/>
                  <a:pt x="304208" y="607568"/>
                </a:cubicBezTo>
                <a:cubicBezTo>
                  <a:pt x="294220" y="607568"/>
                  <a:pt x="286229" y="599437"/>
                  <a:pt x="286229" y="589617"/>
                </a:cubicBezTo>
                <a:lnTo>
                  <a:pt x="286229" y="310541"/>
                </a:lnTo>
                <a:lnTo>
                  <a:pt x="199404" y="310541"/>
                </a:lnTo>
                <a:cubicBezTo>
                  <a:pt x="189569" y="310541"/>
                  <a:pt x="181424" y="302563"/>
                  <a:pt x="181424" y="292590"/>
                </a:cubicBezTo>
                <a:cubicBezTo>
                  <a:pt x="181424" y="282771"/>
                  <a:pt x="189569" y="274640"/>
                  <a:pt x="199404" y="274640"/>
                </a:cubicBezTo>
                <a:close/>
                <a:moveTo>
                  <a:pt x="538360" y="210638"/>
                </a:moveTo>
                <a:cubicBezTo>
                  <a:pt x="573233" y="210638"/>
                  <a:pt x="601500" y="238866"/>
                  <a:pt x="601500" y="273691"/>
                </a:cubicBezTo>
                <a:lnTo>
                  <a:pt x="601500" y="418820"/>
                </a:lnTo>
                <a:cubicBezTo>
                  <a:pt x="601500" y="452111"/>
                  <a:pt x="574462" y="479112"/>
                  <a:pt x="541125" y="479112"/>
                </a:cubicBezTo>
                <a:lnTo>
                  <a:pt x="462315" y="479112"/>
                </a:lnTo>
                <a:lnTo>
                  <a:pt x="462315" y="586348"/>
                </a:lnTo>
                <a:cubicBezTo>
                  <a:pt x="462315" y="594479"/>
                  <a:pt x="455709" y="601076"/>
                  <a:pt x="447566" y="601076"/>
                </a:cubicBezTo>
                <a:lnTo>
                  <a:pt x="377666" y="601076"/>
                </a:lnTo>
                <a:cubicBezTo>
                  <a:pt x="369524" y="601076"/>
                  <a:pt x="362918" y="594479"/>
                  <a:pt x="362918" y="586348"/>
                </a:cubicBezTo>
                <a:lnTo>
                  <a:pt x="362918" y="431707"/>
                </a:lnTo>
                <a:cubicBezTo>
                  <a:pt x="362918" y="403633"/>
                  <a:pt x="385655" y="380774"/>
                  <a:pt x="413922" y="380774"/>
                </a:cubicBezTo>
                <a:lnTo>
                  <a:pt x="475373" y="380774"/>
                </a:lnTo>
                <a:lnTo>
                  <a:pt x="475373" y="273691"/>
                </a:lnTo>
                <a:cubicBezTo>
                  <a:pt x="475373" y="238866"/>
                  <a:pt x="503640" y="210638"/>
                  <a:pt x="538360" y="210638"/>
                </a:cubicBezTo>
                <a:close/>
                <a:moveTo>
                  <a:pt x="70055" y="210638"/>
                </a:moveTo>
                <a:cubicBezTo>
                  <a:pt x="104775" y="210638"/>
                  <a:pt x="133042" y="238866"/>
                  <a:pt x="133042" y="273691"/>
                </a:cubicBezTo>
                <a:lnTo>
                  <a:pt x="133042" y="380774"/>
                </a:lnTo>
                <a:lnTo>
                  <a:pt x="194493" y="380774"/>
                </a:lnTo>
                <a:cubicBezTo>
                  <a:pt x="222761" y="380774"/>
                  <a:pt x="245497" y="403633"/>
                  <a:pt x="245497" y="431707"/>
                </a:cubicBezTo>
                <a:lnTo>
                  <a:pt x="245497" y="586348"/>
                </a:lnTo>
                <a:cubicBezTo>
                  <a:pt x="245497" y="594479"/>
                  <a:pt x="238891" y="601076"/>
                  <a:pt x="230749" y="601076"/>
                </a:cubicBezTo>
                <a:lnTo>
                  <a:pt x="160849" y="601076"/>
                </a:lnTo>
                <a:cubicBezTo>
                  <a:pt x="152706" y="601076"/>
                  <a:pt x="146100" y="594479"/>
                  <a:pt x="146100" y="586348"/>
                </a:cubicBezTo>
                <a:lnTo>
                  <a:pt x="146100" y="479112"/>
                </a:lnTo>
                <a:lnTo>
                  <a:pt x="67290" y="479112"/>
                </a:lnTo>
                <a:cubicBezTo>
                  <a:pt x="33953" y="479112"/>
                  <a:pt x="6915" y="452111"/>
                  <a:pt x="6915" y="418820"/>
                </a:cubicBezTo>
                <a:lnTo>
                  <a:pt x="6915" y="273691"/>
                </a:lnTo>
                <a:cubicBezTo>
                  <a:pt x="6915" y="238866"/>
                  <a:pt x="35182" y="210638"/>
                  <a:pt x="70055" y="210638"/>
                </a:cubicBezTo>
                <a:close/>
                <a:moveTo>
                  <a:pt x="349065" y="71077"/>
                </a:moveTo>
                <a:cubicBezTo>
                  <a:pt x="344457" y="71077"/>
                  <a:pt x="339848" y="72803"/>
                  <a:pt x="336314" y="76255"/>
                </a:cubicBezTo>
                <a:lnTo>
                  <a:pt x="289307" y="123358"/>
                </a:lnTo>
                <a:lnTo>
                  <a:pt x="272101" y="106174"/>
                </a:lnTo>
                <a:cubicBezTo>
                  <a:pt x="265034" y="99116"/>
                  <a:pt x="253667" y="99116"/>
                  <a:pt x="246600" y="106174"/>
                </a:cubicBezTo>
                <a:cubicBezTo>
                  <a:pt x="239687" y="113232"/>
                  <a:pt x="239687" y="124586"/>
                  <a:pt x="246600" y="131490"/>
                </a:cubicBezTo>
                <a:lnTo>
                  <a:pt x="276556" y="161409"/>
                </a:lnTo>
                <a:cubicBezTo>
                  <a:pt x="280089" y="164938"/>
                  <a:pt x="284698" y="166626"/>
                  <a:pt x="289307" y="166626"/>
                </a:cubicBezTo>
                <a:cubicBezTo>
                  <a:pt x="293915" y="166626"/>
                  <a:pt x="298524" y="164938"/>
                  <a:pt x="301903" y="161409"/>
                </a:cubicBezTo>
                <a:lnTo>
                  <a:pt x="361816" y="101724"/>
                </a:lnTo>
                <a:cubicBezTo>
                  <a:pt x="368728" y="94667"/>
                  <a:pt x="368728" y="83313"/>
                  <a:pt x="361816" y="76255"/>
                </a:cubicBezTo>
                <a:cubicBezTo>
                  <a:pt x="358282" y="72803"/>
                  <a:pt x="353674" y="71077"/>
                  <a:pt x="349065" y="71077"/>
                </a:cubicBezTo>
                <a:close/>
                <a:moveTo>
                  <a:pt x="538450" y="33730"/>
                </a:moveTo>
                <a:cubicBezTo>
                  <a:pt x="577091" y="33730"/>
                  <a:pt x="608416" y="65055"/>
                  <a:pt x="608416" y="103696"/>
                </a:cubicBezTo>
                <a:cubicBezTo>
                  <a:pt x="608416" y="142337"/>
                  <a:pt x="577091" y="173662"/>
                  <a:pt x="538450" y="173662"/>
                </a:cubicBezTo>
                <a:cubicBezTo>
                  <a:pt x="499809" y="173662"/>
                  <a:pt x="468484" y="142337"/>
                  <a:pt x="468484" y="103696"/>
                </a:cubicBezTo>
                <a:cubicBezTo>
                  <a:pt x="468484" y="65055"/>
                  <a:pt x="499809" y="33730"/>
                  <a:pt x="538450" y="33730"/>
                </a:cubicBezTo>
                <a:close/>
                <a:moveTo>
                  <a:pt x="70001" y="33730"/>
                </a:moveTo>
                <a:cubicBezTo>
                  <a:pt x="108661" y="33730"/>
                  <a:pt x="140002" y="65055"/>
                  <a:pt x="140002" y="103696"/>
                </a:cubicBezTo>
                <a:cubicBezTo>
                  <a:pt x="140002" y="142337"/>
                  <a:pt x="108661" y="173662"/>
                  <a:pt x="70001" y="173662"/>
                </a:cubicBezTo>
                <a:cubicBezTo>
                  <a:pt x="31341" y="173662"/>
                  <a:pt x="0" y="142337"/>
                  <a:pt x="0" y="103696"/>
                </a:cubicBezTo>
                <a:cubicBezTo>
                  <a:pt x="0" y="65055"/>
                  <a:pt x="31341" y="33730"/>
                  <a:pt x="70001" y="33730"/>
                </a:cubicBezTo>
                <a:close/>
                <a:moveTo>
                  <a:pt x="304208" y="0"/>
                </a:moveTo>
                <a:cubicBezTo>
                  <a:pt x="369804" y="0"/>
                  <a:pt x="423110" y="53394"/>
                  <a:pt x="423110" y="118909"/>
                </a:cubicBezTo>
                <a:cubicBezTo>
                  <a:pt x="423110" y="184424"/>
                  <a:pt x="369804" y="237664"/>
                  <a:pt x="304208" y="237664"/>
                </a:cubicBezTo>
                <a:cubicBezTo>
                  <a:pt x="238612" y="237664"/>
                  <a:pt x="185305" y="184424"/>
                  <a:pt x="185305" y="118909"/>
                </a:cubicBezTo>
                <a:cubicBezTo>
                  <a:pt x="185305" y="53394"/>
                  <a:pt x="238612" y="0"/>
                  <a:pt x="304208" y="0"/>
                </a:cubicBezTo>
                <a:close/>
              </a:path>
            </a:pathLst>
          </a:custGeom>
          <a:solidFill>
            <a:srgbClr val="366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22">
            <a:extLst>
              <a:ext uri="{FF2B5EF4-FFF2-40B4-BE49-F238E27FC236}">
                <a16:creationId xmlns:a16="http://schemas.microsoft.com/office/drawing/2014/main" id="{1C8C8D2E-BF2B-582F-D830-D754CB355F7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 rot="21086391">
            <a:off x="1496488" y="4767815"/>
            <a:ext cx="4491585" cy="131196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rmAutofit fontScale="85000" lnSpcReduction="10000"/>
          </a:bodyPr>
          <a:lstStyle/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20+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规模产品研发团队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(500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万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年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30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万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年机房租赁</a:t>
            </a:r>
            <a:endParaRPr lang="en-US" altLang="zh-CN" sz="2200" spc="14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500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800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万左右新系统采购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(1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次性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</a:p>
        </p:txBody>
      </p:sp>
      <p:sp>
        <p:nvSpPr>
          <p:cNvPr id="5" name="文本框 22">
            <a:extLst>
              <a:ext uri="{FF2B5EF4-FFF2-40B4-BE49-F238E27FC236}">
                <a16:creationId xmlns:a16="http://schemas.microsoft.com/office/drawing/2014/main" id="{6081104C-E30B-24C1-DD4D-01E9CFF82AE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 rot="21086391">
            <a:off x="7008786" y="5034224"/>
            <a:ext cx="5221128" cy="101937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rmAutofit/>
          </a:bodyPr>
          <a:lstStyle/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40+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规模产品研发团队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(1000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万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年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</a:p>
          <a:p>
            <a:pPr marL="342900" lvl="1" indent="-342900" algn="l" fontAlgn="ctr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500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万左右私有云建设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(1</a:t>
            </a:r>
            <a:r>
              <a:rPr lang="zh-CN" altLang="en-US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次性</a:t>
            </a:r>
            <a:r>
              <a:rPr lang="en-US" altLang="zh-CN" sz="2200" spc="14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38784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16050" y="2178050"/>
            <a:ext cx="9467850" cy="2514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3200">
                <a:latin typeface="Candara Light" panose="020E0502030303020204" pitchFamily="34" charset="0"/>
              </a:rPr>
              <a:t>Before you become a leader,all is to grow yourself;</a:t>
            </a:r>
          </a:p>
          <a:p>
            <a:r>
              <a:rPr lang="en-US" altLang="zh-CN" sz="3200">
                <a:latin typeface="Candara Light" panose="020E0502030303020204" pitchFamily="34" charset="0"/>
              </a:rPr>
              <a:t>after you become a leader,all is to grow your team.</a:t>
            </a:r>
          </a:p>
        </p:txBody>
      </p:sp>
    </p:spTree>
    <p:extLst>
      <p:ext uri="{BB962C8B-B14F-4D97-AF65-F5344CB8AC3E}">
        <p14:creationId xmlns:p14="http://schemas.microsoft.com/office/powerpoint/2010/main" val="289990384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18885_4*l_h_i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文化定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18885_4*l_h_a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运营方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18885_4*l_h_a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18885_4*l_h_i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05830_1*m_h_i*1_1_2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5830_1*m_h_i*1_2_2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05830_1*m_h_i*1_1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05830_1*m_h_i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6"/>
  <p:tag name="KSO_WM_UNIT_ID" val="diagram20205830_1*m_h_i*1_1_6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7"/>
  <p:tag name="KSO_WM_UNIT_ID" val="diagram20205830_1*m_h_i*1_1_7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830_1*m_h_i*1_2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05830_1*m_h_i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6"/>
  <p:tag name="KSO_WM_UNIT_ID" val="diagram20205830_1*m_h_i*1_2_6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7"/>
  <p:tag name="KSO_WM_UNIT_ID" val="diagram20205830_1*m_h_i*1_2_7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8"/>
  <p:tag name="KSO_WM_UNIT_ID" val="diagram20205830_1*m_h_i*1_1_8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LINE_FORE_SCHEMECOLOR_INDEX_BRIGHTNESS" val="0.5"/>
  <p:tag name="KSO_WM_UNIT_LINE_FORE_SCHEMECOLOR_INDEX" val="13"/>
  <p:tag name="KSO_WM_UNIT_LINE_FILL_TYPE" val="2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8"/>
  <p:tag name="KSO_WM_UNIT_ID" val="diagram20205830_1*m_h_i*1_2_8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LINE_FORE_SCHEMECOLOR_INDEX_BRIGHTNESS" val="0.5"/>
  <p:tag name="KSO_WM_UNIT_LINE_FORE_SCHEMECOLOR_INDEX" val="13"/>
  <p:tag name="KSO_WM_UNIT_LINE_FILL_TYPE" val="2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5830_1*m_h_i*1_2_2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830_1*m_h_i*1_2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8"/>
  <p:tag name="KSO_WM_UNIT_ID" val="diagram20205830_1*m_h_i*1_2_8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LINE_FORE_SCHEMECOLOR_INDEX_BRIGHTNESS" val="0.5"/>
  <p:tag name="KSO_WM_UNIT_LINE_FORE_SCHEMECOLOR_INDEX" val="13"/>
  <p:tag name="KSO_WM_UNIT_LINE_FILL_TYPE" val="2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05830_1*m_h_i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5830_1*m_h_i*1_2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5830_1*m_h_i*1_2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5830_1*m_h_i*1_2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5830_1*m_h_i*1_2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205830_1*m_h_i*1_1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5"/>
  <p:tag name="KSO_WM_UNIT_ID" val="diagram20205830_1*m_h_i*1_1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05830_1*m_h_i*1_1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05830_1*m_h_i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830_1*m_h_i*1_2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05830_1*m_h_i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830_1*m_h_i*1_2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05830_1*m_h_i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5830_1*m_h_i*1_2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5830_1*m_h_i*1_2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5830_1*m_h_i*1_2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5830_1*m_h_i*1_2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205830_1*m_h_i*1_1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5"/>
  <p:tag name="KSO_WM_UNIT_ID" val="diagram20205830_1*m_h_i*1_1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18885_4*l_h_i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文化定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18885_4*l_h_a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运营方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18885_4*l_h_a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18885_4*l_h_i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10775_4*m_h_a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10775_4*m_h_i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10775_4*m_h_a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0775_4*m_h_i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10775_4*m_h_a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10775_4*m_h_f*1_1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10775_4*m_h_f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0775_4*m_h_i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10775_4*m_h_a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10775_4*m_h_i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_INDEX" val="1"/>
  <p:tag name="KSO_WM_UNIT_PRESET_TEXT_LEN" val="4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10775_4*m_h_a*1_3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6"/>
  <p:tag name="KSO_WM_UNIT_TEXT_FILL_TYPE" val="1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_INDEX" val="4"/>
  <p:tag name="KSO_WM_UNIT_PRESET_TEXT_LEN" val="12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10775_4*m_h_f*1_2_1"/>
  <p:tag name="KSO_WM_TEMPLATE_CATEGORY" val="diagram"/>
  <p:tag name="KSO_WM_TEMPLATE_INDEX" val="2021077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830_1*m_h_f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05830_1*m_h_i*1_1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05830_1*m_h_i*1_1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830_1*m_h_i*1_2_3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USESOURCEFORMAT_APPL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05830_1*m_h_i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05830_1*m_h_i*1_2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5"/>
  <p:tag name="KSO_WM_UNIT_ID" val="diagram20205830_1*m_h_i*1_2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205830_1*m_h_i*1_1_4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5"/>
  <p:tag name="KSO_WM_UNIT_ID" val="diagram20205830_1*m_h_i*1_1_5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18885_4*l_h_i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文化定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18885_4*l_h_a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运营方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18885_4*l_h_a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18885_4*l_h_i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18885_4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18885"/>
  <p:tag name="KSO_WM_SLIDE_LAYOUT" val="a_l"/>
  <p:tag name="KSO_WM_SLIDE_LAYOUT_CNT" val="1_1"/>
  <p:tag name="KSO_WM_TEMPLATE_SUBCATEGORY" val="0"/>
  <p:tag name="KSO_WM_TEMPLATE_MASTER_TYPE" val="1"/>
  <p:tag name="KSO_WM_TEMPLATE_COLOR_TYPE" val="0"/>
  <p:tag name="KSO_WM_SPECIAL_SOURCE" val="bdnul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18885_4*l_h_i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文化定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18885_4*l_h_a*1_1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运营方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18885_4*l_h_a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18885_4*l_h_i*1_2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18885_4*l_h_i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USESOURCEFORMAT_APPLY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企业效果预估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18885_4*l_h_a*1_3_1"/>
  <p:tag name="KSO_WM_TEMPLATE_CATEGORY" val="custom"/>
  <p:tag name="KSO_WM_TEMPLATE_INDEX" val="2021888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830_1*m_h_f*1_2_1"/>
  <p:tag name="KSO_WM_TEMPLATE_CATEGORY" val="diagram"/>
  <p:tag name="KSO_WM_TEMPLATE_INDEX" val="20205830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theme/theme1.xml><?xml version="1.0" encoding="utf-8"?>
<a:theme xmlns:a="http://schemas.openxmlformats.org/drawingml/2006/main" name="White">
  <a:themeElements>
    <a:clrScheme name="极客邦">
      <a:dk1>
        <a:srgbClr val="4D4D4D"/>
      </a:dk1>
      <a:lt1>
        <a:sysClr val="window" lastClr="FFFFFF"/>
      </a:lt1>
      <a:dk2>
        <a:srgbClr val="44546A"/>
      </a:dk2>
      <a:lt2>
        <a:srgbClr val="E7E6E6"/>
      </a:lt2>
      <a:accent1>
        <a:srgbClr val="1D5E9E"/>
      </a:accent1>
      <a:accent2>
        <a:srgbClr val="198743"/>
      </a:accent2>
      <a:accent3>
        <a:srgbClr val="EA5429"/>
      </a:accent3>
      <a:accent4>
        <a:srgbClr val="E60012"/>
      </a:accent4>
      <a:accent5>
        <a:srgbClr val="4472C4"/>
      </a:accent5>
      <a:accent6>
        <a:srgbClr val="70AD47"/>
      </a:accent6>
      <a:hlink>
        <a:srgbClr val="00B0F0"/>
      </a:hlink>
      <a:folHlink>
        <a:srgbClr val="FFFFFF"/>
      </a:folHlink>
    </a:clrScheme>
    <a:fontScheme name="极客邦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46FBE2B-B011-4643-89D7-4E51E37BBDB2}" vid="{8EF7A4E8-5DDA-5242-A16E-CB225224F7D0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TGO新模板</Template>
  <TotalTime>2555</TotalTime>
  <Words>1109</Words>
  <Application>Microsoft Macintosh PowerPoint</Application>
  <PresentationFormat>Widescreen</PresentationFormat>
  <Paragraphs>233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Candara Light</vt:lpstr>
      <vt:lpstr>DengXian</vt:lpstr>
      <vt:lpstr>KaiTi</vt:lpstr>
      <vt:lpstr>微软雅黑</vt:lpstr>
      <vt:lpstr>微软雅黑</vt:lpstr>
      <vt:lpstr>SimHei</vt:lpstr>
      <vt:lpstr>Arial</vt:lpstr>
      <vt:lpstr>Calibri</vt:lpstr>
      <vt:lpstr>Helvetica Neue</vt:lpstr>
      <vt:lpstr>Wingdings</vt:lpstr>
      <vt:lpstr>White</vt:lpstr>
      <vt:lpstr>PowerPoint Presentation</vt:lpstr>
      <vt:lpstr>PowerPoint Presentation</vt:lpstr>
      <vt:lpstr>新零售愿景</vt:lpstr>
      <vt:lpstr>新零售的优势</vt:lpstr>
      <vt:lpstr>新零售的优势</vt:lpstr>
      <vt:lpstr>新零售：通过场景将人和或链接在一起</vt:lpstr>
      <vt:lpstr>PowerPoint Presentation</vt:lpstr>
      <vt:lpstr>现状描述</vt:lpstr>
      <vt:lpstr>目前起步线下流程--订货发货</vt:lpstr>
      <vt:lpstr>目前新零售线上流程--C端业务</vt:lpstr>
      <vt:lpstr>起步斑马</vt:lpstr>
      <vt:lpstr>现有业务系统架构</vt:lpstr>
      <vt:lpstr>PowerPoint Presentation</vt:lpstr>
      <vt:lpstr>新零售全渠道架构--诗和远方</vt:lpstr>
      <vt:lpstr>新零售全渠道架构--诗和远方</vt:lpstr>
      <vt:lpstr>眼前的麻烦:第一阶段工作(2023Q1)</vt:lpstr>
      <vt:lpstr>眼前的麻烦:第二阶段工作(2023Q2—2023Q4)</vt:lpstr>
      <vt:lpstr>科技创新+业务创新</vt:lpstr>
      <vt:lpstr>技术架构--微服务架构</vt:lpstr>
      <vt:lpstr>技术架构--云原生</vt:lpstr>
      <vt:lpstr>PowerPoint Presentation</vt:lpstr>
      <vt:lpstr>组织形式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Ng Frank</cp:lastModifiedBy>
  <cp:revision>119</cp:revision>
  <dcterms:created xsi:type="dcterms:W3CDTF">2019-06-10T12:16:29Z</dcterms:created>
  <dcterms:modified xsi:type="dcterms:W3CDTF">2022-12-22T07:49:18Z</dcterms:modified>
</cp:coreProperties>
</file>