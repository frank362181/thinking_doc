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3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459" r:id="rId3"/>
    <p:sldId id="485" r:id="rId4"/>
    <p:sldId id="486" r:id="rId5"/>
    <p:sldId id="463" r:id="rId6"/>
    <p:sldId id="464" r:id="rId7"/>
    <p:sldId id="261" r:id="rId8"/>
    <p:sldId id="476" r:id="rId9"/>
    <p:sldId id="483" r:id="rId10"/>
    <p:sldId id="480" r:id="rId11"/>
    <p:sldId id="487" r:id="rId12"/>
    <p:sldId id="460" r:id="rId13"/>
    <p:sldId id="488" r:id="rId14"/>
    <p:sldId id="489" r:id="rId15"/>
    <p:sldId id="490" r:id="rId16"/>
    <p:sldId id="491" r:id="rId17"/>
    <p:sldId id="281" r:id="rId18"/>
    <p:sldId id="492" r:id="rId19"/>
    <p:sldId id="493" r:id="rId20"/>
    <p:sldId id="494" r:id="rId21"/>
    <p:sldId id="495" r:id="rId22"/>
    <p:sldId id="496" r:id="rId23"/>
    <p:sldId id="497" r:id="rId24"/>
    <p:sldId id="498" r:id="rId25"/>
    <p:sldId id="499" r:id="rId26"/>
    <p:sldId id="500" r:id="rId27"/>
    <p:sldId id="501" r:id="rId28"/>
    <p:sldId id="502" r:id="rId29"/>
    <p:sldId id="503" r:id="rId30"/>
    <p:sldId id="510" r:id="rId31"/>
    <p:sldId id="505" r:id="rId32"/>
    <p:sldId id="512" r:id="rId33"/>
    <p:sldId id="513" r:id="rId34"/>
    <p:sldId id="514" r:id="rId35"/>
    <p:sldId id="515" r:id="rId36"/>
    <p:sldId id="516" r:id="rId37"/>
    <p:sldId id="504" r:id="rId38"/>
    <p:sldId id="511" r:id="rId39"/>
    <p:sldId id="506" r:id="rId40"/>
    <p:sldId id="507" r:id="rId41"/>
    <p:sldId id="508" r:id="rId42"/>
    <p:sldId id="509" r:id="rId43"/>
    <p:sldId id="260" r:id="rId44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43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86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429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572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715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858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8001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9144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26"/>
  </p:normalViewPr>
  <p:slideViewPr>
    <p:cSldViewPr snapToGrid="0" showGuides="1">
      <p:cViewPr varScale="1">
        <p:scale>
          <a:sx n="101" d="100"/>
          <a:sy n="101" d="100"/>
        </p:scale>
        <p:origin x="3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2E603-5D1B-4CBE-8096-20BCEF5B30C0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9F8B3-A901-43B7-8EA2-FB7D82D10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3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7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18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69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623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5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8992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5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7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5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3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83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75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70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64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9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78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31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40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3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28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26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755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596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79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580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95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29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85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623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772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655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3" y="5693664"/>
            <a:ext cx="3278234" cy="11123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905" y="5905096"/>
            <a:ext cx="3630629" cy="90095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5" y="100723"/>
            <a:ext cx="2577583" cy="8746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26" name="Shape 26"/>
          <p:cNvSpPr>
            <a:spLocks noGrp="1"/>
          </p:cNvSpPr>
          <p:nvPr>
            <p:ph type="pic" sz="half" idx="13"/>
          </p:nvPr>
        </p:nvSpPr>
        <p:spPr>
          <a:xfrm>
            <a:off x="6582990" y="552450"/>
            <a:ext cx="4762501" cy="5753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825500" y="552450"/>
            <a:ext cx="5111750" cy="280670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xfrm>
            <a:off x="825500" y="3422650"/>
            <a:ext cx="5111750" cy="2882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844550" y="1592262"/>
            <a:ext cx="10502900" cy="4630737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pic" sz="half" idx="13"/>
          </p:nvPr>
        </p:nvSpPr>
        <p:spPr>
          <a:xfrm>
            <a:off x="6584950" y="1592263"/>
            <a:ext cx="4762500" cy="46307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half" idx="1"/>
          </p:nvPr>
        </p:nvSpPr>
        <p:spPr>
          <a:xfrm>
            <a:off x="844550" y="1592263"/>
            <a:ext cx="5003800" cy="4630737"/>
          </a:xfrm>
          <a:prstGeom prst="rect">
            <a:avLst/>
          </a:prstGeom>
        </p:spPr>
        <p:txBody>
          <a:bodyPr>
            <a:normAutofit/>
          </a:bodyPr>
          <a:lstStyle>
            <a:lvl1pPr marL="2794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4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5588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8382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1176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3970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body" idx="1"/>
          </p:nvPr>
        </p:nvSpPr>
        <p:spPr>
          <a:xfrm>
            <a:off x="844550" y="1268413"/>
            <a:ext cx="10502900" cy="4694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pic" sz="quarter" idx="13"/>
          </p:nvPr>
        </p:nvSpPr>
        <p:spPr>
          <a:xfrm>
            <a:off x="7880350" y="3851200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pic" sz="quarter" idx="14"/>
          </p:nvPr>
        </p:nvSpPr>
        <p:spPr>
          <a:xfrm>
            <a:off x="7880350" y="1268414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pic" idx="15"/>
          </p:nvPr>
        </p:nvSpPr>
        <p:spPr>
          <a:xfrm>
            <a:off x="603250" y="1268414"/>
            <a:ext cx="7086600" cy="50307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949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9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2" name="Shape 82"/>
          <p:cNvSpPr>
            <a:spLocks noGrp="1"/>
          </p:cNvSpPr>
          <p:nvPr>
            <p:ph type="body" sz="quarter" idx="14"/>
          </p:nvPr>
        </p:nvSpPr>
        <p:spPr>
          <a:xfrm>
            <a:off x="1193800" y="2312760"/>
            <a:ext cx="981075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3" name="Shape 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3809" y="5720492"/>
            <a:ext cx="4356100" cy="508000"/>
          </a:xfrm>
          <a:prstGeom prst="rect">
            <a:avLst/>
          </a:prstGeom>
        </p:spPr>
      </p:pic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矩形 1"/>
          <p:cNvSpPr/>
          <p:nvPr userDrawn="1"/>
        </p:nvSpPr>
        <p:spPr>
          <a:xfrm>
            <a:off x="5099573" y="5835992"/>
            <a:ext cx="19928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https://tgo.geekbang.org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800101"/>
            <a:ext cx="10502900" cy="5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在此输入标题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557338"/>
            <a:ext cx="10502900" cy="4665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正</a:t>
            </a:r>
            <a:r>
              <a:rPr lang="zh-CN" altLang="en-US" dirty="0"/>
              <a:t>文</a:t>
            </a:r>
            <a:r>
              <a:rPr dirty="0" err="1"/>
              <a:t>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5926113" y="6540500"/>
            <a:ext cx="33342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CC498-0EB8-7A91-28D5-2F40D1EA49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37987" y="6672580"/>
            <a:ext cx="7381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/>
  <p:txStyles>
    <p:title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1pPr>
      <a:lvl2pPr marL="635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2pPr>
      <a:lvl3pPr marL="952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3pPr>
      <a:lvl4pPr marL="1270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4pPr>
      <a:lvl5pPr marL="1587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tags" Target="../tags/tag55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5" Type="http://schemas.openxmlformats.org/officeDocument/2006/relationships/slideLayout" Target="../slideLayouts/slideLayout5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tags" Target="../tags/tag54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tags" Target="../tags/tag58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tags" Target="../tags/tag57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tags" Target="../tags/tag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408545" y="1672637"/>
            <a:ext cx="5437386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7000" dirty="0">
                <a:latin typeface="DengXian" charset="-122"/>
                <a:ea typeface="DengXian" charset="-122"/>
                <a:cs typeface="DengXian" charset="-122"/>
              </a:rPr>
              <a:t>企业数据治理</a:t>
            </a:r>
            <a:endParaRPr sz="7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9730458" y="3245652"/>
            <a:ext cx="1652697" cy="999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20000"/>
              </a:lnSpc>
            </a:pPr>
            <a:r>
              <a:rPr lang="zh-CN" altLang="en-US" sz="2800" dirty="0"/>
              <a:t>吴万港</a:t>
            </a:r>
            <a:endParaRPr lang="en-US" altLang="zh-CN" sz="2800" dirty="0"/>
          </a:p>
          <a:p>
            <a:pPr algn="r"/>
            <a:r>
              <a:rPr lang="en-US" sz="2800" dirty="0"/>
              <a:t>2024.4.17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211421" y="230211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3827964" y="2297574"/>
            <a:ext cx="4983527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</a:rPr>
              <a:t>企业数据治理范围和内容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1959" y="682757"/>
            <a:ext cx="10469660" cy="576263"/>
          </a:xfrm>
        </p:spPr>
        <p:txBody>
          <a:bodyPr>
            <a:no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治理范围和内容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3299" y="2150829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存储治理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86805" y="215082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88533" y="2150829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算力治理</a:t>
            </a: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730DF218-86DF-431E-9EA5-E3D3ED519D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32039" y="215082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5884D089-5F7E-46CD-B3C2-29EEDC75EE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433770" y="2150829"/>
            <a:ext cx="3036464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质量治理</a:t>
            </a: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43298" y="1460631"/>
            <a:ext cx="2473858" cy="6602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数据存储、归档、迁移、删除等操作的规范和管理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6">
            <a:extLst>
              <a:ext uri="{FF2B5EF4-FFF2-40B4-BE49-F238E27FC236}">
                <a16:creationId xmlns:a16="http://schemas.microsoft.com/office/drawing/2014/main" id="{F286ECF2-D611-4302-9770-21C42D2D7E1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433769" y="3264110"/>
            <a:ext cx="3036465" cy="159364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保证可信度和可靠性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提高质量水平和标准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减少错误和缺陷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增强信任和信用</a:t>
            </a: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id="{54C3DF15-91B2-4387-A308-B3658F9C86D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321716" y="5257127"/>
            <a:ext cx="2434734" cy="1363880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7">
            <a:extLst>
              <a:ext uri="{FF2B5EF4-FFF2-40B4-BE49-F238E27FC236}">
                <a16:creationId xmlns:a16="http://schemas.microsoft.com/office/drawing/2014/main" id="{B5B589F8-541A-4ADA-AF11-BEB2718D577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07422" y="5357358"/>
            <a:ext cx="2349028" cy="1181566"/>
          </a:xfrm>
          <a:prstGeom prst="rect">
            <a:avLst/>
          </a:prstGeom>
          <a:ln>
            <a:noFill/>
          </a:ln>
        </p:spPr>
        <p:txBody>
          <a:bodyPr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6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处理海量数据</a:t>
            </a:r>
            <a:endParaRPr lang="en-US" altLang="zh-CN" sz="16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6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适应需求变化</a:t>
            </a:r>
            <a:endParaRPr lang="en-US" altLang="zh-CN" sz="16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6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保护隐私和敏感习性</a:t>
            </a:r>
          </a:p>
        </p:txBody>
      </p:sp>
      <p:sp>
        <p:nvSpPr>
          <p:cNvPr id="3" name="矩形 13">
            <a:extLst>
              <a:ext uri="{FF2B5EF4-FFF2-40B4-BE49-F238E27FC236}">
                <a16:creationId xmlns:a16="http://schemas.microsoft.com/office/drawing/2014/main" id="{02418101-4673-B602-7055-5BCB89239ED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321716" y="3123292"/>
            <a:ext cx="2434734" cy="2009218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可用性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完整性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一致性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安全性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优化存储成本和效率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满足访问需求和合规需求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13">
            <a:extLst>
              <a:ext uri="{FF2B5EF4-FFF2-40B4-BE49-F238E27FC236}">
                <a16:creationId xmlns:a16="http://schemas.microsoft.com/office/drawing/2014/main" id="{59F595F2-9D0F-A2C2-B2AE-C11839A9D05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249408" y="1490577"/>
            <a:ext cx="2473858" cy="6602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数据处理、分析、挖掘、可视化等操作规范和管理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2166BF24-7997-4F88-3BBE-33D90DF42FF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397305" y="5254162"/>
            <a:ext cx="2434734" cy="1363880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89A6A497-6A4B-4DB3-D7D5-26F1A6061D8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483011" y="5354393"/>
            <a:ext cx="2349028" cy="1181566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4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选择分析工具和方法</a:t>
            </a:r>
            <a:endParaRPr lang="en-US" altLang="zh-CN" sz="14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kumimoji="0" lang="zh-CN" altLang="en-US" sz="1400" kern="1200" cap="none" spc="14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提高分析速度和准确性</a:t>
            </a:r>
            <a:endParaRPr kumimoji="0" lang="en-US" altLang="zh-CN" sz="14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kumimoji="0" lang="zh-CN" altLang="en-US" sz="1400" kern="1200" cap="none" spc="14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评估分析效果和影响</a:t>
            </a:r>
          </a:p>
        </p:txBody>
      </p:sp>
      <p:sp>
        <p:nvSpPr>
          <p:cNvPr id="9" name="矩形 13">
            <a:extLst>
              <a:ext uri="{FF2B5EF4-FFF2-40B4-BE49-F238E27FC236}">
                <a16:creationId xmlns:a16="http://schemas.microsoft.com/office/drawing/2014/main" id="{B916AC7E-2E4F-01E0-2F1E-FA8A63DA81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97305" y="3120327"/>
            <a:ext cx="2434734" cy="20092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保证数据价值和质量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提高分析能力和效果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支持决策和创新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提升竞争力和价值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13">
            <a:extLst>
              <a:ext uri="{FF2B5EF4-FFF2-40B4-BE49-F238E27FC236}">
                <a16:creationId xmlns:a16="http://schemas.microsoft.com/office/drawing/2014/main" id="{F7D70F7F-C675-9926-47D2-20B454C463E4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379384" y="1327858"/>
            <a:ext cx="2473858" cy="660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数据质量、准确性、完整性、一致性、时效性等方面的规范和管理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5">
            <a:extLst>
              <a:ext uri="{FF2B5EF4-FFF2-40B4-BE49-F238E27FC236}">
                <a16:creationId xmlns:a16="http://schemas.microsoft.com/office/drawing/2014/main" id="{301CA6CA-3009-C994-3D95-34B47D4DF89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494558" y="5254162"/>
            <a:ext cx="2434734" cy="1363880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7">
            <a:extLst>
              <a:ext uri="{FF2B5EF4-FFF2-40B4-BE49-F238E27FC236}">
                <a16:creationId xmlns:a16="http://schemas.microsoft.com/office/drawing/2014/main" id="{E3A4ECBB-192C-C91D-60B2-AF65B268607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580264" y="5354393"/>
            <a:ext cx="2349028" cy="1181566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4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定义和衡量数据质量</a:t>
            </a:r>
            <a:endParaRPr lang="en-US" altLang="zh-CN" sz="14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kumimoji="0" lang="zh-CN" altLang="en-US" sz="1400" kern="1200" cap="none" spc="14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检测和改进数据质量</a:t>
            </a:r>
            <a:endParaRPr kumimoji="0" lang="en-US" altLang="zh-CN" sz="14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4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处理数据质量和风险</a:t>
            </a:r>
            <a:endParaRPr kumimoji="0" lang="zh-CN" altLang="en-US" sz="14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40522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1959" y="682757"/>
            <a:ext cx="10469660" cy="576263"/>
          </a:xfrm>
        </p:spPr>
        <p:txBody>
          <a:bodyPr>
            <a:no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治理范围和内容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19699" y="2169879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指标治理</a:t>
            </a: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63205" y="2169879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964933" y="2169879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安全治理</a:t>
            </a:r>
            <a:endParaRPr lang="zh-CN" altLang="en-US" sz="28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819698" y="1479681"/>
            <a:ext cx="2473858" cy="6602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数据指标、度量、维度、报表等方面操作的规范和管理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id="{54C3DF15-91B2-4387-A308-B3658F9C86D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6845" y="4923752"/>
            <a:ext cx="2434734" cy="1363880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7">
            <a:extLst>
              <a:ext uri="{FF2B5EF4-FFF2-40B4-BE49-F238E27FC236}">
                <a16:creationId xmlns:a16="http://schemas.microsoft.com/office/drawing/2014/main" id="{B5B589F8-541A-4ADA-AF11-BEB2718D577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032551" y="5023983"/>
            <a:ext cx="2349028" cy="1181566"/>
          </a:xfrm>
          <a:prstGeom prst="rect">
            <a:avLst/>
          </a:prstGeom>
          <a:ln>
            <a:noFill/>
          </a:ln>
        </p:spPr>
        <p:txBody>
          <a:bodyPr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6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定义合适的指标</a:t>
            </a:r>
            <a:endParaRPr lang="en-US" altLang="zh-CN" sz="16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6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定义指标含义和用途</a:t>
            </a:r>
            <a:endParaRPr lang="en-US" altLang="zh-CN" sz="16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6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维护指标变化和调整</a:t>
            </a:r>
          </a:p>
        </p:txBody>
      </p:sp>
      <p:sp>
        <p:nvSpPr>
          <p:cNvPr id="4" name="矩形 13">
            <a:extLst>
              <a:ext uri="{FF2B5EF4-FFF2-40B4-BE49-F238E27FC236}">
                <a16:creationId xmlns:a16="http://schemas.microsoft.com/office/drawing/2014/main" id="{59F595F2-9D0F-A2C2-B2AE-C11839A9D05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925808" y="1509627"/>
            <a:ext cx="2684792" cy="6602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数据的安全、保密、合规、审计等方面的操作规范和管理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2166BF24-7997-4F88-3BBE-33D90DF42FF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022434" y="4920787"/>
            <a:ext cx="2434734" cy="1363880"/>
          </a:xfrm>
          <a:prstGeom prst="rect">
            <a:avLst/>
          </a:prstGeom>
          <a:noFill/>
          <a:ln w="6350">
            <a:solidFill>
              <a:schemeClr val="accent1">
                <a:alpha val="2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89A6A497-6A4B-4DB3-D7D5-26F1A6061D8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08140" y="5021018"/>
            <a:ext cx="2349028" cy="1181566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4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识别安全威胁和风险</a:t>
            </a:r>
            <a:endParaRPr lang="en-US" altLang="zh-CN" sz="14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4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防范安全威胁和风险</a:t>
            </a:r>
            <a:endParaRPr kumimoji="0" lang="en-US" altLang="zh-CN" sz="1400" kern="1200" cap="none" spc="140" noProof="0" dirty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lang="zh-CN" altLang="en-US" sz="1400" spc="140" dirty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定义安全策略和措施</a:t>
            </a:r>
            <a:endParaRPr lang="en-US" altLang="zh-CN" sz="1400" spc="140" dirty="0">
              <a:solidFill>
                <a:schemeClr val="dk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>
                  <a:lumMod val="75000"/>
                  <a:lumOff val="25000"/>
                </a:srgbClr>
              </a:buClr>
              <a:buSzPct val="90000"/>
              <a:buFont typeface="Wingdings" panose="05000000000000000000" pitchFamily="2" charset="2"/>
              <a:buChar char="p"/>
            </a:pPr>
            <a:r>
              <a:rPr kumimoji="0" lang="zh-CN" altLang="en-US" sz="1400" kern="1200" cap="none" spc="14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记录和追踪安全时间和处理</a:t>
            </a:r>
          </a:p>
        </p:txBody>
      </p:sp>
      <p:sp>
        <p:nvSpPr>
          <p:cNvPr id="15" name="矩形 19">
            <a:extLst>
              <a:ext uri="{FF2B5EF4-FFF2-40B4-BE49-F238E27FC236}">
                <a16:creationId xmlns:a16="http://schemas.microsoft.com/office/drawing/2014/main" id="{76B0B020-B6ED-54D1-C410-FBB162D2685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946845" y="3180375"/>
            <a:ext cx="2346711" cy="1067775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指标体系和标准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统一计算和展示方式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提供分析和评估依据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9">
            <a:extLst>
              <a:ext uri="{FF2B5EF4-FFF2-40B4-BE49-F238E27FC236}">
                <a16:creationId xmlns:a16="http://schemas.microsoft.com/office/drawing/2014/main" id="{25511178-1CFC-74EC-69D2-F7CF89DE446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980461" y="3151867"/>
            <a:ext cx="2706927" cy="1258208"/>
          </a:xfrm>
          <a:prstGeom prst="rect">
            <a:avLst/>
          </a:prstGeom>
        </p:spPr>
        <p:txBody>
          <a:bodyPr wrap="square" anchor="b">
            <a:normAutofit lnSpcReduction="10000"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防止泄露、篡改、损失、滥用等；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遵守法律法规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保障权益</a:t>
            </a:r>
          </a:p>
        </p:txBody>
      </p:sp>
    </p:spTree>
    <p:extLst>
      <p:ext uri="{BB962C8B-B14F-4D97-AF65-F5344CB8AC3E}">
        <p14:creationId xmlns:p14="http://schemas.microsoft.com/office/powerpoint/2010/main" val="67607104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>
            <p:custDataLst>
              <p:tags r:id="rId2"/>
            </p:custDataLst>
          </p:nvPr>
        </p:nvSpPr>
        <p:spPr>
          <a:xfrm>
            <a:off x="4357182" y="2455153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数据治理背景</a:t>
            </a:r>
          </a:p>
        </p:txBody>
      </p:sp>
      <p:sp>
        <p:nvSpPr>
          <p:cNvPr id="42" name="文本框 41"/>
          <p:cNvSpPr txBox="1"/>
          <p:nvPr>
            <p:custDataLst>
              <p:tags r:id="rId3"/>
            </p:custDataLst>
          </p:nvPr>
        </p:nvSpPr>
        <p:spPr>
          <a:xfrm>
            <a:off x="3740639" y="2457405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618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550" y="800100"/>
            <a:ext cx="3673959" cy="576263"/>
          </a:xfrm>
        </p:spPr>
        <p:txBody>
          <a:bodyPr/>
          <a:lstStyle/>
          <a:p>
            <a:pPr algn="l"/>
            <a:r>
              <a:rPr lang="zh-CN" altLang="en-US" dirty="0"/>
              <a:t>数据治理背景</a:t>
            </a:r>
          </a:p>
        </p:txBody>
      </p:sp>
      <p:sp>
        <p:nvSpPr>
          <p:cNvPr id="4" name="任意多边形 13">
            <a:extLst>
              <a:ext uri="{FF2B5EF4-FFF2-40B4-BE49-F238E27FC236}">
                <a16:creationId xmlns:a16="http://schemas.microsoft.com/office/drawing/2014/main" id="{2F3CF6BE-B22A-4D23-9B27-073C6656F3D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9610" y="1884453"/>
            <a:ext cx="3777657" cy="3497236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80921487-F1B5-4885-90D5-0395379770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70494" y="2527383"/>
            <a:ext cx="3367456" cy="2289060"/>
          </a:xfrm>
          <a:prstGeom prst="rect">
            <a:avLst/>
          </a:prstGeom>
          <a:noFill/>
        </p:spPr>
        <p:txBody>
          <a:bodyPr wrap="square" rtlCol="0" anchor="ctr" anchorCtr="0">
            <a:normAutofit fontScale="85000" lnSpcReduction="20000"/>
          </a:bodyPr>
          <a:lstStyle/>
          <a:p>
            <a:pPr marL="4064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2400" spc="14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数据治理是一种管理概念，从数据全链路的视角出发，采用多种手段从多维度对数据进行治理，从而提高数据的质量，打造健康的数据管理体系</a:t>
            </a:r>
            <a:endParaRPr lang="en-US" altLang="zh-CN" sz="2400" spc="14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任意多边形 21">
            <a:extLst>
              <a:ext uri="{FF2B5EF4-FFF2-40B4-BE49-F238E27FC236}">
                <a16:creationId xmlns:a16="http://schemas.microsoft.com/office/drawing/2014/main" id="{1C60D65A-7057-42DC-A1DB-21463C0359F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05139" y="1884453"/>
            <a:ext cx="3518158" cy="3496945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9" name="组合 28">
            <a:extLst>
              <a:ext uri="{FF2B5EF4-FFF2-40B4-BE49-F238E27FC236}">
                <a16:creationId xmlns:a16="http://schemas.microsoft.com/office/drawing/2014/main" id="{95AFF610-1BAD-4412-B983-1E83F6C00FC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 rot="5400000">
            <a:off x="384500" y="5456603"/>
            <a:ext cx="643631" cy="766026"/>
            <a:chOff x="3121" y="7415"/>
            <a:chExt cx="1220" cy="1452"/>
          </a:xfrm>
        </p:grpSpPr>
        <p:sp>
          <p:nvSpPr>
            <p:cNvPr id="10" name="空心弧 24">
              <a:extLst>
                <a:ext uri="{FF2B5EF4-FFF2-40B4-BE49-F238E27FC236}">
                  <a16:creationId xmlns:a16="http://schemas.microsoft.com/office/drawing/2014/main" id="{A77A74E5-175E-4223-8EBE-395E41150E4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空心弧 26">
              <a:extLst>
                <a:ext uri="{FF2B5EF4-FFF2-40B4-BE49-F238E27FC236}">
                  <a16:creationId xmlns:a16="http://schemas.microsoft.com/office/drawing/2014/main" id="{E43F7B1F-AF1D-423A-A6D5-71A5298D651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2" name="文本框 27">
            <a:extLst>
              <a:ext uri="{FF2B5EF4-FFF2-40B4-BE49-F238E27FC236}">
                <a16:creationId xmlns:a16="http://schemas.microsoft.com/office/drawing/2014/main" id="{B0A813E3-6689-4316-A11C-D990D7E7CD0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180" y="5656551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13" name="椭圆 29">
            <a:extLst>
              <a:ext uri="{FF2B5EF4-FFF2-40B4-BE49-F238E27FC236}">
                <a16:creationId xmlns:a16="http://schemas.microsoft.com/office/drawing/2014/main" id="{80364B0F-BCC5-4990-8261-0B28172B8FD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53136" y="5730937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椭圆 30">
            <a:extLst>
              <a:ext uri="{FF2B5EF4-FFF2-40B4-BE49-F238E27FC236}">
                <a16:creationId xmlns:a16="http://schemas.microsoft.com/office/drawing/2014/main" id="{B7FBA235-ED59-4C54-B072-DBA03F42465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3697" y="5730937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5" name="组合 36">
            <a:extLst>
              <a:ext uri="{FF2B5EF4-FFF2-40B4-BE49-F238E27FC236}">
                <a16:creationId xmlns:a16="http://schemas.microsoft.com/office/drawing/2014/main" id="{392072E4-9B8E-4A4E-9701-67DDB18FEE4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 rot="5400000">
            <a:off x="4214960" y="5417006"/>
            <a:ext cx="643631" cy="766026"/>
            <a:chOff x="3121" y="7415"/>
            <a:chExt cx="1220" cy="1452"/>
          </a:xfrm>
          <a:solidFill>
            <a:schemeClr val="tx2">
              <a:lumMod val="75000"/>
            </a:schemeClr>
          </a:solidFill>
        </p:grpSpPr>
        <p:sp>
          <p:nvSpPr>
            <p:cNvPr id="16" name="空心弧 37">
              <a:extLst>
                <a:ext uri="{FF2B5EF4-FFF2-40B4-BE49-F238E27FC236}">
                  <a16:creationId xmlns:a16="http://schemas.microsoft.com/office/drawing/2014/main" id="{EAF16C86-30D0-421D-8033-C988DA411963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grpFill/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空心弧 38">
              <a:extLst>
                <a:ext uri="{FF2B5EF4-FFF2-40B4-BE49-F238E27FC236}">
                  <a16:creationId xmlns:a16="http://schemas.microsoft.com/office/drawing/2014/main" id="{B0B7D246-B2E9-4888-BBF7-73D8C53E49F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grpFill/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8" name="文本框 39">
            <a:extLst>
              <a:ext uri="{FF2B5EF4-FFF2-40B4-BE49-F238E27FC236}">
                <a16:creationId xmlns:a16="http://schemas.microsoft.com/office/drawing/2014/main" id="{2010F98B-73A4-4613-A595-1C3D3529486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90639" y="5616954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19" name="椭圆 40">
            <a:extLst>
              <a:ext uri="{FF2B5EF4-FFF2-40B4-BE49-F238E27FC236}">
                <a16:creationId xmlns:a16="http://schemas.microsoft.com/office/drawing/2014/main" id="{8BA21AD9-EDA7-4257-AD2D-999DAD25D8D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837949" y="5730937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椭圆 47">
            <a:extLst>
              <a:ext uri="{FF2B5EF4-FFF2-40B4-BE49-F238E27FC236}">
                <a16:creationId xmlns:a16="http://schemas.microsoft.com/office/drawing/2014/main" id="{5275AB85-353B-4F1A-829B-2DBF49BAED0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794699" y="5691339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1" name="直接连接符 48">
            <a:extLst>
              <a:ext uri="{FF2B5EF4-FFF2-40B4-BE49-F238E27FC236}">
                <a16:creationId xmlns:a16="http://schemas.microsoft.com/office/drawing/2014/main" id="{92824459-4075-4047-8D2F-E2AB41C7CF19}"/>
              </a:ext>
            </a:extLst>
          </p:cNvPr>
          <p:cNvCxnSpPr>
            <a:cxnSpLocks/>
            <a:stCxn id="14" idx="6"/>
          </p:cNvCxnSpPr>
          <p:nvPr>
            <p:custDataLst>
              <p:tags r:id="rId12"/>
            </p:custDataLst>
          </p:nvPr>
        </p:nvCxnSpPr>
        <p:spPr>
          <a:xfrm>
            <a:off x="1151054" y="5839616"/>
            <a:ext cx="5398274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49">
            <a:extLst>
              <a:ext uri="{FF2B5EF4-FFF2-40B4-BE49-F238E27FC236}">
                <a16:creationId xmlns:a16="http://schemas.microsoft.com/office/drawing/2014/main" id="{0BEF169A-6C19-460F-AF6E-D6B0BD7A8C9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6191188" y="5839616"/>
            <a:ext cx="4439276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6">
            <a:extLst>
              <a:ext uri="{FF2B5EF4-FFF2-40B4-BE49-F238E27FC236}">
                <a16:creationId xmlns:a16="http://schemas.microsoft.com/office/drawing/2014/main" id="{28236146-3A88-4724-A042-2A668FE66B41}"/>
              </a:ext>
            </a:extLst>
          </p:cNvPr>
          <p:cNvSpPr txBox="1"/>
          <p:nvPr/>
        </p:nvSpPr>
        <p:spPr>
          <a:xfrm>
            <a:off x="852978" y="2075648"/>
            <a:ext cx="24550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数据治理定义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6">
            <a:extLst>
              <a:ext uri="{FF2B5EF4-FFF2-40B4-BE49-F238E27FC236}">
                <a16:creationId xmlns:a16="http://schemas.microsoft.com/office/drawing/2014/main" id="{E1FB19C0-0859-4FB9-86BE-A4359A34D3AA}"/>
              </a:ext>
            </a:extLst>
          </p:cNvPr>
          <p:cNvSpPr txBox="1"/>
          <p:nvPr/>
        </p:nvSpPr>
        <p:spPr>
          <a:xfrm>
            <a:off x="4342859" y="2041717"/>
            <a:ext cx="31818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治理背景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14">
            <a:extLst>
              <a:ext uri="{FF2B5EF4-FFF2-40B4-BE49-F238E27FC236}">
                <a16:creationId xmlns:a16="http://schemas.microsoft.com/office/drawing/2014/main" id="{F29650F6-EA94-4D43-B5B9-04FF1DF4B39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181334" y="2552702"/>
            <a:ext cx="3108139" cy="2265239"/>
          </a:xfrm>
          <a:prstGeom prst="rect">
            <a:avLst/>
          </a:prstGeom>
          <a:noFill/>
        </p:spPr>
        <p:txBody>
          <a:bodyPr wrap="square" rtlCol="0" anchor="ctr" anchorCtr="0">
            <a:normAutofit fontScale="85000" lnSpcReduction="20000"/>
          </a:bodyPr>
          <a:lstStyle/>
          <a:p>
            <a:pPr marL="4064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2400" spc="14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各模块规范性差、交互有问题、数据增长迅速，对存储和算力消耗很多、数据质量差、延迟高、口径不统一、准确性无法保证</a:t>
            </a:r>
            <a:endParaRPr lang="en-US" altLang="zh-CN" sz="2400" spc="14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任意多边形 21">
            <a:extLst>
              <a:ext uri="{FF2B5EF4-FFF2-40B4-BE49-F238E27FC236}">
                <a16:creationId xmlns:a16="http://schemas.microsoft.com/office/drawing/2014/main" id="{25090398-03CD-A523-8D57-B7B3E437C05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807364" y="1884453"/>
            <a:ext cx="3518158" cy="3496945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7" name="组合 36">
            <a:extLst>
              <a:ext uri="{FF2B5EF4-FFF2-40B4-BE49-F238E27FC236}">
                <a16:creationId xmlns:a16="http://schemas.microsoft.com/office/drawing/2014/main" id="{DC314AB0-9D4B-EB8A-0844-43547B63169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 rot="5400000">
            <a:off x="7847599" y="5417006"/>
            <a:ext cx="643631" cy="766026"/>
            <a:chOff x="3121" y="7415"/>
            <a:chExt cx="1220" cy="1452"/>
          </a:xfrm>
        </p:grpSpPr>
        <p:sp>
          <p:nvSpPr>
            <p:cNvPr id="8" name="空心弧 37">
              <a:extLst>
                <a:ext uri="{FF2B5EF4-FFF2-40B4-BE49-F238E27FC236}">
                  <a16:creationId xmlns:a16="http://schemas.microsoft.com/office/drawing/2014/main" id="{D06E4BEE-DA00-EE22-3E39-55A54E6E5D3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空心弧 38">
              <a:extLst>
                <a:ext uri="{FF2B5EF4-FFF2-40B4-BE49-F238E27FC236}">
                  <a16:creationId xmlns:a16="http://schemas.microsoft.com/office/drawing/2014/main" id="{8654B882-B541-0224-78CD-FAD7B67F845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5" name="文本框 39">
            <a:extLst>
              <a:ext uri="{FF2B5EF4-FFF2-40B4-BE49-F238E27FC236}">
                <a16:creationId xmlns:a16="http://schemas.microsoft.com/office/drawing/2014/main" id="{7CDB4AF5-1189-F1DC-F049-2FE193D84C28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023278" y="5616954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</a:p>
        </p:txBody>
      </p:sp>
      <p:sp>
        <p:nvSpPr>
          <p:cNvPr id="26" name="文本框 26">
            <a:extLst>
              <a:ext uri="{FF2B5EF4-FFF2-40B4-BE49-F238E27FC236}">
                <a16:creationId xmlns:a16="http://schemas.microsoft.com/office/drawing/2014/main" id="{8AC227DC-3423-23EF-D0F9-C38A9E580F86}"/>
              </a:ext>
            </a:extLst>
          </p:cNvPr>
          <p:cNvSpPr txBox="1"/>
          <p:nvPr/>
        </p:nvSpPr>
        <p:spPr>
          <a:xfrm>
            <a:off x="7975498" y="2041717"/>
            <a:ext cx="31818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治理范围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14">
            <a:extLst>
              <a:ext uri="{FF2B5EF4-FFF2-40B4-BE49-F238E27FC236}">
                <a16:creationId xmlns:a16="http://schemas.microsoft.com/office/drawing/2014/main" id="{917CDDAC-63CE-19C5-F1E8-2DCE267C2D7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7807364" y="2527383"/>
            <a:ext cx="3031189" cy="1890282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pPr marL="4064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2000" spc="140" dirty="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包括数据接入、平台产品、底层架构、数据仓库、数据可视化、指标口径等</a:t>
            </a:r>
            <a:endParaRPr lang="en-US" altLang="zh-CN" sz="2000" spc="14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12880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数据治理背景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88E121-78BF-906A-8B60-D4552ACB9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35" y="1376363"/>
            <a:ext cx="9345329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3405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3797792" y="265129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4414332" y="2653086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存储治理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9396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1" y="800100"/>
            <a:ext cx="4714873" cy="576263"/>
          </a:xfrm>
        </p:spPr>
        <p:txBody>
          <a:bodyPr/>
          <a:lstStyle/>
          <a:p>
            <a:pPr algn="l"/>
            <a:r>
              <a:rPr lang="zh-CN" altLang="en-US" dirty="0"/>
              <a:t>存储治理</a:t>
            </a:r>
            <a:r>
              <a:rPr lang="en-US" altLang="zh-CN" dirty="0"/>
              <a:t>--</a:t>
            </a:r>
            <a:r>
              <a:rPr lang="zh-CN" altLang="en-US" sz="2000" dirty="0"/>
              <a:t>现状和背景</a:t>
            </a:r>
          </a:p>
        </p:txBody>
      </p:sp>
      <p:sp>
        <p:nvSpPr>
          <p:cNvPr id="8" name="矩形 41">
            <a:extLst>
              <a:ext uri="{FF2B5EF4-FFF2-40B4-BE49-F238E27FC236}">
                <a16:creationId xmlns:a16="http://schemas.microsoft.com/office/drawing/2014/main" id="{D6C5B915-5492-4FD2-8FDC-337B45C84B51}"/>
              </a:ext>
            </a:extLst>
          </p:cNvPr>
          <p:cNvSpPr/>
          <p:nvPr/>
        </p:nvSpPr>
        <p:spPr>
          <a:xfrm>
            <a:off x="672285" y="2303290"/>
            <a:ext cx="5538015" cy="162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数据增长数据快，存储成本成本增加</a:t>
            </a:r>
            <a:endParaRPr lang="en-US" altLang="zh-CN" sz="18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数据增长不可控，年度预算和存储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无法稳定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价值不可衡量，导致无法决策交付</a:t>
            </a:r>
            <a:endParaRPr lang="en-US" altLang="zh-CN" sz="18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zh-CN" altLang="en-US" sz="20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3">
            <a:extLst>
              <a:ext uri="{FF2B5EF4-FFF2-40B4-BE49-F238E27FC236}">
                <a16:creationId xmlns:a16="http://schemas.microsoft.com/office/drawing/2014/main" id="{6E2F2319-34D2-4986-BC1B-CDFBBFE109BE}"/>
              </a:ext>
            </a:extLst>
          </p:cNvPr>
          <p:cNvSpPr/>
          <p:nvPr/>
        </p:nvSpPr>
        <p:spPr>
          <a:xfrm>
            <a:off x="6210300" y="2303291"/>
            <a:ext cx="5680889" cy="1621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建立数据增长预测及评估体系，数据增长可预测</a:t>
            </a:r>
            <a:endParaRPr lang="en-US" altLang="zh-CN" sz="18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建立数据畅销及应急治理体系，数据增长可控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数据价值评估体系，资产价值可衡量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降低数据存储成本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2" name="直线连接符 52">
            <a:extLst>
              <a:ext uri="{FF2B5EF4-FFF2-40B4-BE49-F238E27FC236}">
                <a16:creationId xmlns:a16="http://schemas.microsoft.com/office/drawing/2014/main" id="{4A18E0A7-1A05-48E4-8B3D-82906DCC303E}"/>
              </a:ext>
            </a:extLst>
          </p:cNvPr>
          <p:cNvCxnSpPr>
            <a:cxnSpLocks/>
          </p:cNvCxnSpPr>
          <p:nvPr/>
        </p:nvCxnSpPr>
        <p:spPr>
          <a:xfrm>
            <a:off x="5844042" y="1691488"/>
            <a:ext cx="0" cy="219050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26">
            <a:extLst>
              <a:ext uri="{FF2B5EF4-FFF2-40B4-BE49-F238E27FC236}">
                <a16:creationId xmlns:a16="http://schemas.microsoft.com/office/drawing/2014/main" id="{DDA08266-D9CD-44A4-8375-325BECC244D8}"/>
              </a:ext>
            </a:extLst>
          </p:cNvPr>
          <p:cNvSpPr txBox="1"/>
          <p:nvPr/>
        </p:nvSpPr>
        <p:spPr>
          <a:xfrm>
            <a:off x="963288" y="1691488"/>
            <a:ext cx="25032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需求背景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27">
            <a:extLst>
              <a:ext uri="{FF2B5EF4-FFF2-40B4-BE49-F238E27FC236}">
                <a16:creationId xmlns:a16="http://schemas.microsoft.com/office/drawing/2014/main" id="{BC2F7A2D-2111-4C54-BC4B-0BCC1809BABE}"/>
              </a:ext>
            </a:extLst>
          </p:cNvPr>
          <p:cNvSpPr txBox="1"/>
          <p:nvPr/>
        </p:nvSpPr>
        <p:spPr>
          <a:xfrm>
            <a:off x="6658161" y="1691488"/>
            <a:ext cx="275913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必要性</a:t>
            </a:r>
            <a:r>
              <a:rPr lang="en-US" altLang="zh-CN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价值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30">
            <a:extLst>
              <a:ext uri="{FF2B5EF4-FFF2-40B4-BE49-F238E27FC236}">
                <a16:creationId xmlns:a16="http://schemas.microsoft.com/office/drawing/2014/main" id="{C9D41C63-A691-4089-87A9-B135D6592D81}"/>
              </a:ext>
            </a:extLst>
          </p:cNvPr>
          <p:cNvSpPr/>
          <p:nvPr/>
        </p:nvSpPr>
        <p:spPr>
          <a:xfrm>
            <a:off x="1049270" y="2108550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圆角矩形 31">
            <a:extLst>
              <a:ext uri="{FF2B5EF4-FFF2-40B4-BE49-F238E27FC236}">
                <a16:creationId xmlns:a16="http://schemas.microsoft.com/office/drawing/2014/main" id="{E705A0BF-7720-454B-9ED7-C7FFD805BC23}"/>
              </a:ext>
            </a:extLst>
          </p:cNvPr>
          <p:cNvSpPr/>
          <p:nvPr/>
        </p:nvSpPr>
        <p:spPr>
          <a:xfrm>
            <a:off x="6753260" y="2116361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confont-11899-5651343">
            <a:extLst>
              <a:ext uri="{FF2B5EF4-FFF2-40B4-BE49-F238E27FC236}">
                <a16:creationId xmlns:a16="http://schemas.microsoft.com/office/drawing/2014/main" id="{26881087-C380-43E1-8CD7-80AAEDD9AB22}"/>
              </a:ext>
            </a:extLst>
          </p:cNvPr>
          <p:cNvSpPr>
            <a:spLocks noChangeAspect="1"/>
          </p:cNvSpPr>
          <p:nvPr/>
        </p:nvSpPr>
        <p:spPr>
          <a:xfrm>
            <a:off x="672286" y="1800486"/>
            <a:ext cx="297520" cy="297520"/>
          </a:xfrm>
          <a:custGeom>
            <a:avLst/>
            <a:gdLst>
              <a:gd name="T0" fmla="*/ 6526 w 10397"/>
              <a:gd name="T1" fmla="*/ 8233 h 10397"/>
              <a:gd name="T2" fmla="*/ 7000 w 10397"/>
              <a:gd name="T3" fmla="*/ 7343 h 10397"/>
              <a:gd name="T4" fmla="*/ 7729 w 10397"/>
              <a:gd name="T5" fmla="*/ 7018 h 10397"/>
              <a:gd name="T6" fmla="*/ 9897 w 10397"/>
              <a:gd name="T7" fmla="*/ 7558 h 10397"/>
              <a:gd name="T8" fmla="*/ 10390 w 10397"/>
              <a:gd name="T9" fmla="*/ 8188 h 10397"/>
              <a:gd name="T10" fmla="*/ 10391 w 10397"/>
              <a:gd name="T11" fmla="*/ 9096 h 10397"/>
              <a:gd name="T12" fmla="*/ 10397 w 10397"/>
              <a:gd name="T13" fmla="*/ 9096 h 10397"/>
              <a:gd name="T14" fmla="*/ 10397 w 10397"/>
              <a:gd name="T15" fmla="*/ 9723 h 10397"/>
              <a:gd name="T16" fmla="*/ 9715 w 10397"/>
              <a:gd name="T17" fmla="*/ 10373 h 10397"/>
              <a:gd name="T18" fmla="*/ 23 w 10397"/>
              <a:gd name="T19" fmla="*/ 682 h 10397"/>
              <a:gd name="T20" fmla="*/ 673 w 10397"/>
              <a:gd name="T21" fmla="*/ 0 h 10397"/>
              <a:gd name="T22" fmla="*/ 1301 w 10397"/>
              <a:gd name="T23" fmla="*/ 0 h 10397"/>
              <a:gd name="T24" fmla="*/ 1301 w 10397"/>
              <a:gd name="T25" fmla="*/ 2 h 10397"/>
              <a:gd name="T26" fmla="*/ 2189 w 10397"/>
              <a:gd name="T27" fmla="*/ 3 h 10397"/>
              <a:gd name="T28" fmla="*/ 2819 w 10397"/>
              <a:gd name="T29" fmla="*/ 496 h 10397"/>
              <a:gd name="T30" fmla="*/ 3360 w 10397"/>
              <a:gd name="T31" fmla="*/ 2663 h 10397"/>
              <a:gd name="T32" fmla="*/ 3035 w 10397"/>
              <a:gd name="T33" fmla="*/ 3395 h 10397"/>
              <a:gd name="T34" fmla="*/ 2158 w 10397"/>
              <a:gd name="T35" fmla="*/ 3860 h 10397"/>
              <a:gd name="T36" fmla="*/ 6526 w 10397"/>
              <a:gd name="T37" fmla="*/ 8233 h 10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97" h="10397">
                <a:moveTo>
                  <a:pt x="6526" y="8233"/>
                </a:moveTo>
                <a:lnTo>
                  <a:pt x="7000" y="7343"/>
                </a:lnTo>
                <a:cubicBezTo>
                  <a:pt x="7140" y="7081"/>
                  <a:pt x="7441" y="6947"/>
                  <a:pt x="7729" y="7018"/>
                </a:cubicBezTo>
                <a:lnTo>
                  <a:pt x="9897" y="7558"/>
                </a:lnTo>
                <a:cubicBezTo>
                  <a:pt x="10186" y="7631"/>
                  <a:pt x="10390" y="7891"/>
                  <a:pt x="10390" y="8188"/>
                </a:cubicBezTo>
                <a:lnTo>
                  <a:pt x="10391" y="9096"/>
                </a:lnTo>
                <a:lnTo>
                  <a:pt x="10397" y="9096"/>
                </a:lnTo>
                <a:lnTo>
                  <a:pt x="10397" y="9723"/>
                </a:lnTo>
                <a:cubicBezTo>
                  <a:pt x="10397" y="10095"/>
                  <a:pt x="10086" y="10397"/>
                  <a:pt x="9715" y="10373"/>
                </a:cubicBezTo>
                <a:cubicBezTo>
                  <a:pt x="4516" y="10036"/>
                  <a:pt x="360" y="5880"/>
                  <a:pt x="23" y="682"/>
                </a:cubicBezTo>
                <a:cubicBezTo>
                  <a:pt x="0" y="311"/>
                  <a:pt x="301" y="0"/>
                  <a:pt x="673" y="0"/>
                </a:cubicBezTo>
                <a:lnTo>
                  <a:pt x="1301" y="0"/>
                </a:lnTo>
                <a:lnTo>
                  <a:pt x="1301" y="2"/>
                </a:lnTo>
                <a:lnTo>
                  <a:pt x="2189" y="3"/>
                </a:lnTo>
                <a:cubicBezTo>
                  <a:pt x="2488" y="3"/>
                  <a:pt x="2748" y="207"/>
                  <a:pt x="2819" y="496"/>
                </a:cubicBezTo>
                <a:lnTo>
                  <a:pt x="3360" y="2663"/>
                </a:lnTo>
                <a:cubicBezTo>
                  <a:pt x="3432" y="2952"/>
                  <a:pt x="3298" y="3255"/>
                  <a:pt x="3035" y="3395"/>
                </a:cubicBezTo>
                <a:lnTo>
                  <a:pt x="2158" y="3860"/>
                </a:lnTo>
                <a:cubicBezTo>
                  <a:pt x="3062" y="5781"/>
                  <a:pt x="4606" y="7327"/>
                  <a:pt x="6526" y="8233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eeting_115918">
            <a:extLst>
              <a:ext uri="{FF2B5EF4-FFF2-40B4-BE49-F238E27FC236}">
                <a16:creationId xmlns:a16="http://schemas.microsoft.com/office/drawing/2014/main" id="{2242E505-D02F-4BD2-9E7D-3A3262D2E2FF}"/>
              </a:ext>
            </a:extLst>
          </p:cNvPr>
          <p:cNvSpPr>
            <a:spLocks noChangeAspect="1"/>
          </p:cNvSpPr>
          <p:nvPr/>
        </p:nvSpPr>
        <p:spPr>
          <a:xfrm>
            <a:off x="6281388" y="1744110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5848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1959" y="682757"/>
            <a:ext cx="10469660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43324" y="2757600"/>
            <a:ext cx="3036464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增长可控</a:t>
            </a: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86830" y="2757600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488558" y="2757600"/>
            <a:ext cx="3036464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价值可衡量</a:t>
            </a: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730DF218-86DF-431E-9EA5-E3D3ED519D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032064" y="2757600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5884D089-5F7E-46CD-B3C2-29EEDC75EE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633795" y="2757600"/>
            <a:ext cx="3036464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kern="0" spc="200" dirty="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成本可降低</a:t>
            </a: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43323" y="3870881"/>
            <a:ext cx="3036465" cy="11583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建立增长预测机制，评估和监控体系，通过生命周期管理及规则治理实现数据存储自动化，检测异常增长</a:t>
            </a:r>
            <a:endParaRPr lang="en-US" altLang="zh-CN" sz="140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6">
            <a:extLst>
              <a:ext uri="{FF2B5EF4-FFF2-40B4-BE49-F238E27FC236}">
                <a16:creationId xmlns:a16="http://schemas.microsoft.com/office/drawing/2014/main" id="{F286ECF2-D611-4302-9770-21C42D2D7E1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33794" y="3870881"/>
            <a:ext cx="3036465" cy="8954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kern="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根据数据价值及数据利用率建立数据周期性压缩机制，减少存储成本，建立冷热存储机制</a:t>
            </a:r>
            <a:endParaRPr lang="en-US" altLang="zh-CN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矩形 19">
            <a:extLst>
              <a:ext uri="{FF2B5EF4-FFF2-40B4-BE49-F238E27FC236}">
                <a16:creationId xmlns:a16="http://schemas.microsoft.com/office/drawing/2014/main" id="{551B4716-0A12-4A8E-8622-A22DC7E051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488557" y="1458183"/>
            <a:ext cx="3036465" cy="1100254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1400" spc="60" dirty="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资产盘点实现数据应用业务及服务划分，建立数据价值评估体系，针对不同价值数据进行分类存储保障及治理，并按应用业务划分建立成本分摊机制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066057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1" y="800100"/>
            <a:ext cx="4714873" cy="576263"/>
          </a:xfrm>
        </p:spPr>
        <p:txBody>
          <a:bodyPr/>
          <a:lstStyle/>
          <a:p>
            <a:pPr algn="l"/>
            <a:r>
              <a:rPr lang="zh-CN" altLang="en-US" dirty="0"/>
              <a:t>存储治理</a:t>
            </a:r>
            <a:r>
              <a:rPr lang="en-US" altLang="zh-CN" dirty="0"/>
              <a:t>--</a:t>
            </a:r>
            <a:r>
              <a:rPr lang="zh-CN" altLang="en-US" sz="2000" dirty="0"/>
              <a:t>解决方案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254569-B0BA-A1C0-5504-A0C284D6BB9F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84469" y="1693146"/>
            <a:ext cx="755767" cy="3361753"/>
          </a:xfrm>
          <a:prstGeom prst="rect">
            <a:avLst/>
          </a:prstGeom>
        </p:spPr>
      </p:pic>
      <p:sp>
        <p:nvSpPr>
          <p:cNvPr id="4" name="TextBox 13">
            <a:extLst>
              <a:ext uri="{FF2B5EF4-FFF2-40B4-BE49-F238E27FC236}">
                <a16:creationId xmlns:a16="http://schemas.microsoft.com/office/drawing/2014/main" id="{0E56822B-0A71-00F5-CD9E-BD80906BC0AA}"/>
              </a:ext>
            </a:extLst>
          </p:cNvPr>
          <p:cNvSpPr txBox="1"/>
          <p:nvPr/>
        </p:nvSpPr>
        <p:spPr>
          <a:xfrm>
            <a:off x="1569720" y="3226435"/>
            <a:ext cx="2152015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文件治理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前置库治理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实时接入</a:t>
            </a:r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494BE846-AB31-9A39-D46F-9402EC7F9266}"/>
              </a:ext>
            </a:extLst>
          </p:cNvPr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4102325" y="1693782"/>
            <a:ext cx="780487" cy="3471708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392EBFF1-DE17-BB84-C9F3-EF70D73AD77E}"/>
              </a:ext>
            </a:extLst>
          </p:cNvPr>
          <p:cNvSpPr txBox="1"/>
          <p:nvPr/>
        </p:nvSpPr>
        <p:spPr>
          <a:xfrm>
            <a:off x="4699000" y="3141980"/>
            <a:ext cx="2466975" cy="1292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zh-CN" altLang="en-US" dirty="0"/>
              <a:t>生命周期管理</a:t>
            </a:r>
          </a:p>
          <a:p>
            <a:pPr algn="l"/>
            <a:r>
              <a:rPr lang="zh-CN" altLang="en-US" dirty="0"/>
              <a:t>冷数据治理</a:t>
            </a:r>
          </a:p>
          <a:p>
            <a:pPr algn="l"/>
            <a:r>
              <a:rPr lang="zh-CN" altLang="en-US" dirty="0"/>
              <a:t>无效数据治理</a:t>
            </a:r>
          </a:p>
          <a:p>
            <a:pPr algn="l"/>
            <a:r>
              <a:rPr lang="zh-CN" altLang="en-US" dirty="0">
                <a:sym typeface="+mn-ea"/>
              </a:rPr>
              <a:t>数据评估体系</a:t>
            </a:r>
            <a:endParaRPr lang="zh-CN" altLang="en-US" dirty="0"/>
          </a:p>
        </p:txBody>
      </p:sp>
      <p:pic>
        <p:nvPicPr>
          <p:cNvPr id="7" name="图片 7">
            <a:extLst>
              <a:ext uri="{FF2B5EF4-FFF2-40B4-BE49-F238E27FC236}">
                <a16:creationId xmlns:a16="http://schemas.microsoft.com/office/drawing/2014/main" id="{38E674A6-B8F3-E467-C181-0321FFAC57F3}"/>
              </a:ext>
            </a:extLst>
          </p:cNvPr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7279339" y="1693146"/>
            <a:ext cx="780487" cy="3471708"/>
          </a:xfrm>
          <a:prstGeom prst="rect">
            <a:avLst/>
          </a:prstGeom>
        </p:spPr>
      </p:pic>
      <p:sp>
        <p:nvSpPr>
          <p:cNvPr id="10" name="TextBox 13">
            <a:extLst>
              <a:ext uri="{FF2B5EF4-FFF2-40B4-BE49-F238E27FC236}">
                <a16:creationId xmlns:a16="http://schemas.microsoft.com/office/drawing/2014/main" id="{5CFBCED5-9357-F515-A35B-428C7F122068}"/>
              </a:ext>
            </a:extLst>
          </p:cNvPr>
          <p:cNvSpPr txBox="1"/>
          <p:nvPr/>
        </p:nvSpPr>
        <p:spPr>
          <a:xfrm>
            <a:off x="8072120" y="3155315"/>
            <a:ext cx="1770380" cy="1577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数据资产目录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数据增长预测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数据价值评估</a:t>
            </a:r>
            <a:endParaRPr lang="en-US" altLang="zh-CN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线上化治理</a:t>
            </a:r>
            <a:endParaRPr lang="en-US" altLang="zh-CN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数据奖惩机制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267C428-8D5E-7A66-41A0-5E224195A0FE}"/>
              </a:ext>
            </a:extLst>
          </p:cNvPr>
          <p:cNvSpPr txBox="1"/>
          <p:nvPr/>
        </p:nvSpPr>
        <p:spPr>
          <a:xfrm>
            <a:off x="1740535" y="2103120"/>
            <a:ext cx="13963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rgbClr val="959B9D"/>
                </a:solidFill>
              </a:rPr>
              <a:t>运动式治理</a:t>
            </a:r>
          </a:p>
        </p:txBody>
      </p:sp>
      <p:pic>
        <p:nvPicPr>
          <p:cNvPr id="15" name="图片 22">
            <a:extLst>
              <a:ext uri="{FF2B5EF4-FFF2-40B4-BE49-F238E27FC236}">
                <a16:creationId xmlns:a16="http://schemas.microsoft.com/office/drawing/2014/main" id="{2D96587A-FAC7-19F8-1D3F-DFBACB1E0853}"/>
              </a:ext>
            </a:extLst>
          </p:cNvPr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2259523" y="2600507"/>
            <a:ext cx="357589" cy="40667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BF9A9423-147A-FA69-C4A1-1CA52811F3C6}"/>
              </a:ext>
            </a:extLst>
          </p:cNvPr>
          <p:cNvSpPr txBox="1"/>
          <p:nvPr/>
        </p:nvSpPr>
        <p:spPr>
          <a:xfrm>
            <a:off x="4993005" y="2142490"/>
            <a:ext cx="13976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accent6"/>
                </a:solidFill>
              </a:rPr>
              <a:t>自动化治理</a:t>
            </a:r>
          </a:p>
        </p:txBody>
      </p:sp>
      <p:pic>
        <p:nvPicPr>
          <p:cNvPr id="21" name="图片 24">
            <a:extLst>
              <a:ext uri="{FF2B5EF4-FFF2-40B4-BE49-F238E27FC236}">
                <a16:creationId xmlns:a16="http://schemas.microsoft.com/office/drawing/2014/main" id="{CA99CC7F-34E9-4C57-ACC1-BF941B97E318}"/>
              </a:ext>
            </a:extLst>
          </p:cNvPr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5522979" y="2630593"/>
            <a:ext cx="337609" cy="337609"/>
          </a:xfrm>
          <a:prstGeom prst="rect">
            <a:avLst/>
          </a:prstGeom>
        </p:spPr>
      </p:pic>
      <p:sp>
        <p:nvSpPr>
          <p:cNvPr id="22" name="TextBox 18">
            <a:extLst>
              <a:ext uri="{FF2B5EF4-FFF2-40B4-BE49-F238E27FC236}">
                <a16:creationId xmlns:a16="http://schemas.microsoft.com/office/drawing/2014/main" id="{1AD41860-A0F9-B9D4-164C-61B18DB6C7E5}"/>
              </a:ext>
            </a:extLst>
          </p:cNvPr>
          <p:cNvSpPr txBox="1"/>
          <p:nvPr/>
        </p:nvSpPr>
        <p:spPr>
          <a:xfrm>
            <a:off x="8090755" y="2141855"/>
            <a:ext cx="12642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rgbClr val="3E87CC"/>
                </a:solidFill>
              </a:rPr>
              <a:t>智能化治理</a:t>
            </a:r>
          </a:p>
        </p:txBody>
      </p:sp>
      <p:pic>
        <p:nvPicPr>
          <p:cNvPr id="23" name="图片 26">
            <a:extLst>
              <a:ext uri="{FF2B5EF4-FFF2-40B4-BE49-F238E27FC236}">
                <a16:creationId xmlns:a16="http://schemas.microsoft.com/office/drawing/2014/main" id="{D0F21F4B-F299-70BC-16F9-95A1C719EA3E}"/>
              </a:ext>
            </a:extLst>
          </p:cNvPr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66968" y="2640118"/>
            <a:ext cx="439219" cy="337609"/>
          </a:xfrm>
          <a:prstGeom prst="rect">
            <a:avLst/>
          </a:prstGeom>
        </p:spPr>
      </p:pic>
      <p:sp>
        <p:nvSpPr>
          <p:cNvPr id="24" name="三角形 29">
            <a:extLst>
              <a:ext uri="{FF2B5EF4-FFF2-40B4-BE49-F238E27FC236}">
                <a16:creationId xmlns:a16="http://schemas.microsoft.com/office/drawing/2014/main" id="{7EF623C7-7E3B-0745-432E-AEB9BACB57D2}"/>
              </a:ext>
            </a:extLst>
          </p:cNvPr>
          <p:cNvSpPr/>
          <p:nvPr/>
        </p:nvSpPr>
        <p:spPr>
          <a:xfrm rot="5400000">
            <a:off x="3701485" y="2576731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三角形 30">
            <a:extLst>
              <a:ext uri="{FF2B5EF4-FFF2-40B4-BE49-F238E27FC236}">
                <a16:creationId xmlns:a16="http://schemas.microsoft.com/office/drawing/2014/main" id="{BC6FDBDD-7B03-524D-9264-9B7A9B4BF357}"/>
              </a:ext>
            </a:extLst>
          </p:cNvPr>
          <p:cNvSpPr/>
          <p:nvPr/>
        </p:nvSpPr>
        <p:spPr>
          <a:xfrm rot="5400000">
            <a:off x="6859968" y="2583480"/>
            <a:ext cx="1627309" cy="788568"/>
          </a:xfrm>
          <a:prstGeom prst="triangle">
            <a:avLst>
              <a:gd name="adj" fmla="val 50739"/>
            </a:avLst>
          </a:prstGeom>
          <a:solidFill>
            <a:srgbClr val="3E8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文本框 32">
            <a:extLst>
              <a:ext uri="{FF2B5EF4-FFF2-40B4-BE49-F238E27FC236}">
                <a16:creationId xmlns:a16="http://schemas.microsoft.com/office/drawing/2014/main" id="{B4BB8E6C-7B58-B9B3-9F62-72E4C6C24656}"/>
              </a:ext>
            </a:extLst>
          </p:cNvPr>
          <p:cNvSpPr txBox="1"/>
          <p:nvPr/>
        </p:nvSpPr>
        <p:spPr>
          <a:xfrm>
            <a:off x="4167492" y="2776282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02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7" name="文本框 33">
            <a:extLst>
              <a:ext uri="{FF2B5EF4-FFF2-40B4-BE49-F238E27FC236}">
                <a16:creationId xmlns:a16="http://schemas.microsoft.com/office/drawing/2014/main" id="{F4579D29-56E1-4E33-124B-6B161530DCC5}"/>
              </a:ext>
            </a:extLst>
          </p:cNvPr>
          <p:cNvSpPr txBox="1"/>
          <p:nvPr/>
        </p:nvSpPr>
        <p:spPr>
          <a:xfrm>
            <a:off x="7354827" y="278679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03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8" name="三角形 35">
            <a:extLst>
              <a:ext uri="{FF2B5EF4-FFF2-40B4-BE49-F238E27FC236}">
                <a16:creationId xmlns:a16="http://schemas.microsoft.com/office/drawing/2014/main" id="{CC798C60-1BEE-F581-49E8-E8475B3354D3}"/>
              </a:ext>
            </a:extLst>
          </p:cNvPr>
          <p:cNvSpPr/>
          <p:nvPr/>
        </p:nvSpPr>
        <p:spPr>
          <a:xfrm rot="5400000">
            <a:off x="576916" y="2542693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36">
            <a:extLst>
              <a:ext uri="{FF2B5EF4-FFF2-40B4-BE49-F238E27FC236}">
                <a16:creationId xmlns:a16="http://schemas.microsoft.com/office/drawing/2014/main" id="{25685F77-9F04-2250-4217-7B215A7F6BC3}"/>
              </a:ext>
            </a:extLst>
          </p:cNvPr>
          <p:cNvSpPr txBox="1"/>
          <p:nvPr/>
        </p:nvSpPr>
        <p:spPr>
          <a:xfrm>
            <a:off x="1090420" y="274102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01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02717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全链路治理手段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A8379-99E9-387E-8509-0FFAF224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111" y="1433200"/>
            <a:ext cx="5543864" cy="490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7099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全生命周期管理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08FDC-1A75-2819-ACC7-290FC5C92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1" y="1914333"/>
            <a:ext cx="8873134" cy="32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57159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数据资产目录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B786D-024E-60C1-0A9E-897288417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404" y="1347497"/>
            <a:ext cx="6925642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0204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数据价值评估体系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C8A9A-F43E-63E2-E0D1-934B9F798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131" y="1700054"/>
            <a:ext cx="7963393" cy="287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43820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3769208" y="2583442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4385749" y="2585230"/>
            <a:ext cx="2843718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算力治理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56391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74ECDB-D010-D739-E465-572D97D09F15}"/>
              </a:ext>
            </a:extLst>
          </p:cNvPr>
          <p:cNvSpPr/>
          <p:nvPr/>
        </p:nvSpPr>
        <p:spPr>
          <a:xfrm>
            <a:off x="514350" y="4610101"/>
            <a:ext cx="5191125" cy="1551315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FD517E-9244-822F-4B79-0EBF0889D020}"/>
              </a:ext>
            </a:extLst>
          </p:cNvPr>
          <p:cNvSpPr/>
          <p:nvPr/>
        </p:nvSpPr>
        <p:spPr>
          <a:xfrm>
            <a:off x="501632" y="2954011"/>
            <a:ext cx="5191125" cy="1551315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EF8856-ADD5-F5A0-C1D6-3CFD0FB27C21}"/>
              </a:ext>
            </a:extLst>
          </p:cNvPr>
          <p:cNvSpPr/>
          <p:nvPr/>
        </p:nvSpPr>
        <p:spPr>
          <a:xfrm>
            <a:off x="514350" y="1258560"/>
            <a:ext cx="5191125" cy="1551315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350" y="682297"/>
            <a:ext cx="48101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问题分析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8E168D5-34B6-4EE3-8DA9-9D24A4D8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795" y="1325236"/>
            <a:ext cx="4930805" cy="1360814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存量任务多、增长快，平台上有大量异常（或无效）任务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新增任务无“查重”检测机制，平台存在冗余或相似任务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存在没人使用（无价值）的任务，长期空跑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平台缺乏任务治理产品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6DCA451D-0145-1E62-3F30-18D1C829712E}"/>
              </a:ext>
            </a:extLst>
          </p:cNvPr>
          <p:cNvSpPr txBox="1">
            <a:spLocks/>
          </p:cNvSpPr>
          <p:nvPr/>
        </p:nvSpPr>
        <p:spPr>
          <a:xfrm>
            <a:off x="631791" y="3058786"/>
            <a:ext cx="4930805" cy="1046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数据倾斜等慢任务，缺乏诊断工具，优化工具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计算引擎使用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MR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引擎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算力利用率不高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69F8C3A-9AA7-BDAB-9656-A604383EACBD}"/>
              </a:ext>
            </a:extLst>
          </p:cNvPr>
          <p:cNvSpPr txBox="1">
            <a:spLocks/>
          </p:cNvSpPr>
          <p:nvPr/>
        </p:nvSpPr>
        <p:spPr>
          <a:xfrm>
            <a:off x="631791" y="4649462"/>
            <a:ext cx="4930805" cy="1154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缺少算力量化指标，任务价值量化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算力使用粗放，资源成本意识弱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算力使用需要精细化运营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EC4BAE-8427-0948-A547-8769DE5D5EC6}"/>
              </a:ext>
            </a:extLst>
          </p:cNvPr>
          <p:cNvCxnSpPr/>
          <p:nvPr/>
        </p:nvCxnSpPr>
        <p:spPr>
          <a:xfrm>
            <a:off x="5692757" y="1914525"/>
            <a:ext cx="1308118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BE0F08-10A5-3FAC-8FDA-C1E1018F9C04}"/>
              </a:ext>
            </a:extLst>
          </p:cNvPr>
          <p:cNvCxnSpPr/>
          <p:nvPr/>
        </p:nvCxnSpPr>
        <p:spPr>
          <a:xfrm>
            <a:off x="5692757" y="3695700"/>
            <a:ext cx="1308118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6850CD-8982-98FC-1B62-C19EE0917441}"/>
              </a:ext>
            </a:extLst>
          </p:cNvPr>
          <p:cNvCxnSpPr/>
          <p:nvPr/>
        </p:nvCxnSpPr>
        <p:spPr>
          <a:xfrm>
            <a:off x="5705475" y="5419725"/>
            <a:ext cx="1308118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259E14-ECBD-481C-B149-6120157A18FE}"/>
              </a:ext>
            </a:extLst>
          </p:cNvPr>
          <p:cNvSpPr/>
          <p:nvPr/>
        </p:nvSpPr>
        <p:spPr>
          <a:xfrm>
            <a:off x="7013594" y="4610101"/>
            <a:ext cx="4546612" cy="15513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C796A8-8224-A10C-8327-25DE3231E934}"/>
              </a:ext>
            </a:extLst>
          </p:cNvPr>
          <p:cNvSpPr/>
          <p:nvPr/>
        </p:nvSpPr>
        <p:spPr>
          <a:xfrm>
            <a:off x="7000876" y="2954011"/>
            <a:ext cx="4546612" cy="15513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DEDA3A-1A0A-6A88-A65A-67587F36A3AB}"/>
              </a:ext>
            </a:extLst>
          </p:cNvPr>
          <p:cNvSpPr/>
          <p:nvPr/>
        </p:nvSpPr>
        <p:spPr>
          <a:xfrm>
            <a:off x="7013594" y="1258560"/>
            <a:ext cx="4546612" cy="15513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CE9AFE55-00ED-E536-3D9B-D2BF392F613A}"/>
              </a:ext>
            </a:extLst>
          </p:cNvPr>
          <p:cNvSpPr txBox="1">
            <a:spLocks/>
          </p:cNvSpPr>
          <p:nvPr/>
        </p:nvSpPr>
        <p:spPr>
          <a:xfrm>
            <a:off x="7131039" y="1325236"/>
            <a:ext cx="4318612" cy="13608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 fontScale="85000" lnSpcReduction="1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专题一：提高有效算力占比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获取无效任务（异常、冗余）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建立治理规则引擎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效果评估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建立识别，治理，分析闭环产品</a:t>
            </a: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0DEE0C86-8EF0-4F00-05C4-A7EDABCC2B4A}"/>
              </a:ext>
            </a:extLst>
          </p:cNvPr>
          <p:cNvSpPr txBox="1">
            <a:spLocks/>
          </p:cNvSpPr>
          <p:nvPr/>
        </p:nvSpPr>
        <p:spPr>
          <a:xfrm>
            <a:off x="7131035" y="3058786"/>
            <a:ext cx="4318612" cy="10464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 fontScale="85000" lnSpcReduction="2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专题二：提升平台计算资源利用效率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Hive-&gt;Spark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迁移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Hive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优化诊断工作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任务分发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4634CAC1-7559-7A8D-063C-A2C63E003C90}"/>
              </a:ext>
            </a:extLst>
          </p:cNvPr>
          <p:cNvSpPr txBox="1">
            <a:spLocks/>
          </p:cNvSpPr>
          <p:nvPr/>
        </p:nvSpPr>
        <p:spPr>
          <a:xfrm>
            <a:off x="7131035" y="4649462"/>
            <a:ext cx="4318612" cy="11541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 fontScale="92500" lnSpcReduction="20000"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专题三：建立算力增长可控体系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算力量化、任务价值量化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治理效果评估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算力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任务健康度检测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1427981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整体架构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4E61A-E5AB-3E52-745F-91FDD8A37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1347497"/>
            <a:ext cx="10467975" cy="480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19573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任务治理流程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1C7A3-3C41-ACE4-5D72-067D8A2E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17" y="1285752"/>
            <a:ext cx="10502007" cy="536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44050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--HiveSQL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SparkSQL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迁移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A6EE3-86FB-5D0F-DF59-88711303A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59" y="1504726"/>
            <a:ext cx="4877481" cy="29434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6CA770-9476-6E6C-FB02-8DF9AFA8A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59" y="4667149"/>
            <a:ext cx="4153480" cy="1838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6A6D87-A2BC-4895-A907-C74426DA1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962" y="4448175"/>
            <a:ext cx="3829584" cy="18671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D52892-E3AD-250E-7FAE-ED3276712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529" y="1504726"/>
            <a:ext cx="4276946" cy="214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16230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--Hive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优化诊断工具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ABDE85-0BDC-CCDC-B0FB-0BCDFCD12BAA}"/>
              </a:ext>
            </a:extLst>
          </p:cNvPr>
          <p:cNvSpPr/>
          <p:nvPr/>
        </p:nvSpPr>
        <p:spPr>
          <a:xfrm>
            <a:off x="1666874" y="3031727"/>
            <a:ext cx="2257425" cy="7945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rgbClr val="FFFFFF"/>
                </a:solidFill>
              </a:rPr>
              <a:t>通过调度获取任务</a:t>
            </a:r>
            <a:r>
              <a:rPr lang="en-US" altLang="zh-CN" sz="2000" dirty="0">
                <a:solidFill>
                  <a:srgbClr val="FFFFFF"/>
                </a:solidFill>
              </a:rPr>
              <a:t>Application ID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C13159-BF21-7D18-A901-7F0D67BE819F}"/>
              </a:ext>
            </a:extLst>
          </p:cNvPr>
          <p:cNvSpPr/>
          <p:nvPr/>
        </p:nvSpPr>
        <p:spPr>
          <a:xfrm>
            <a:off x="4762500" y="3201986"/>
            <a:ext cx="1857376" cy="4540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rgbClr val="FFFFFF"/>
                </a:solidFill>
              </a:rPr>
              <a:t>获取日志信息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0A746D-D006-7F74-5D79-A1881FC9ADC3}"/>
              </a:ext>
            </a:extLst>
          </p:cNvPr>
          <p:cNvSpPr/>
          <p:nvPr/>
        </p:nvSpPr>
        <p:spPr>
          <a:xfrm>
            <a:off x="7458077" y="2478802"/>
            <a:ext cx="2286000" cy="385921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File Merge </a:t>
            </a: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耗时异常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FC7C52-7A15-F443-72CB-E1580E2ADBA5}"/>
              </a:ext>
            </a:extLst>
          </p:cNvPr>
          <p:cNvSpPr/>
          <p:nvPr/>
        </p:nvSpPr>
        <p:spPr>
          <a:xfrm>
            <a:off x="7458077" y="1945402"/>
            <a:ext cx="2286000" cy="385921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Loading Data </a:t>
            </a: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耗时异常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F84C9C-5126-AD3D-6F0B-A4A77D458AE2}"/>
              </a:ext>
            </a:extLst>
          </p:cNvPr>
          <p:cNvSpPr/>
          <p:nvPr/>
        </p:nvSpPr>
        <p:spPr>
          <a:xfrm>
            <a:off x="7458077" y="3036014"/>
            <a:ext cx="2286000" cy="385921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Map </a:t>
            </a: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端数据倾斜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1B482B-DA08-01F0-9CA8-376CE9F5676A}"/>
              </a:ext>
            </a:extLst>
          </p:cNvPr>
          <p:cNvSpPr/>
          <p:nvPr/>
        </p:nvSpPr>
        <p:spPr>
          <a:xfrm>
            <a:off x="7458077" y="3552667"/>
            <a:ext cx="2286000" cy="385921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Reduce </a:t>
            </a: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端数据倾斜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86298E-67FB-F4BE-4A7F-8477CB440849}"/>
              </a:ext>
            </a:extLst>
          </p:cNvPr>
          <p:cNvSpPr/>
          <p:nvPr/>
        </p:nvSpPr>
        <p:spPr>
          <a:xfrm>
            <a:off x="7458077" y="4164727"/>
            <a:ext cx="2286000" cy="385921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切片耗时异常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298E4B-AF70-A697-A623-2317686580CF}"/>
              </a:ext>
            </a:extLst>
          </p:cNvPr>
          <p:cNvSpPr/>
          <p:nvPr/>
        </p:nvSpPr>
        <p:spPr>
          <a:xfrm>
            <a:off x="7458077" y="4707652"/>
            <a:ext cx="2286000" cy="385921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重复使用大表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F3751C-A2B3-CE54-3059-0B6F80BDDEF5}"/>
              </a:ext>
            </a:extLst>
          </p:cNvPr>
          <p:cNvCxnSpPr>
            <a:cxnSpLocks/>
          </p:cNvCxnSpPr>
          <p:nvPr/>
        </p:nvCxnSpPr>
        <p:spPr>
          <a:xfrm>
            <a:off x="409575" y="3429000"/>
            <a:ext cx="12572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B3E0E41A-7950-A3D4-5480-DC603A39D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0" y="2827381"/>
            <a:ext cx="1038225" cy="5762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超时任务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CD5396-1B03-F7E0-407B-3CDEE85CF8C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900488" y="3428999"/>
            <a:ext cx="86201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A870550-5D68-12D4-D0FB-FEF78ADD0FEC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6619876" y="2138363"/>
            <a:ext cx="838201" cy="129063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CA78672-0C68-3419-C4A8-3B16636C5A0B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6619876" y="2671763"/>
            <a:ext cx="838201" cy="7572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7E14143-9C50-CF4B-AA89-F25976A84482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6619876" y="3228975"/>
            <a:ext cx="838201" cy="2000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F0F254D-33C0-74CF-DFC3-13CAFCC932EC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6619876" y="3428999"/>
            <a:ext cx="838201" cy="3166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C0E55D9-5B11-32E8-A334-3640AA7C3C59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6619876" y="3428999"/>
            <a:ext cx="838201" cy="9286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0BEFD81-09AF-4ECD-9BC0-BF6FA86F1A0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6619876" y="3428999"/>
            <a:ext cx="838201" cy="1471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DED50D9-2EA0-94BD-3B19-E4B64081BD4E}"/>
              </a:ext>
            </a:extLst>
          </p:cNvPr>
          <p:cNvSpPr/>
          <p:nvPr/>
        </p:nvSpPr>
        <p:spPr>
          <a:xfrm>
            <a:off x="10001253" y="3144260"/>
            <a:ext cx="581025" cy="816814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01A96A8-7E23-DEA3-CC13-921CAE160861}"/>
              </a:ext>
            </a:extLst>
          </p:cNvPr>
          <p:cNvSpPr/>
          <p:nvPr/>
        </p:nvSpPr>
        <p:spPr>
          <a:xfrm>
            <a:off x="10677529" y="1822808"/>
            <a:ext cx="466722" cy="34597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800" dirty="0">
                <a:solidFill>
                  <a:srgbClr val="FFFFFF"/>
                </a:solidFill>
              </a:rPr>
              <a:t>根据问题类型选择优化策略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61193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建立算力增长可控体系</a:t>
            </a:r>
          </a:p>
        </p:txBody>
      </p:sp>
      <p:sp>
        <p:nvSpPr>
          <p:cNvPr id="22" name="文本框 22">
            <a:extLst>
              <a:ext uri="{FF2B5EF4-FFF2-40B4-BE49-F238E27FC236}">
                <a16:creationId xmlns:a16="http://schemas.microsoft.com/office/drawing/2014/main" id="{5AA607C2-84EF-D6B1-BA88-3B2B7825732B}"/>
              </a:ext>
            </a:extLst>
          </p:cNvPr>
          <p:cNvSpPr txBox="1"/>
          <p:nvPr/>
        </p:nvSpPr>
        <p:spPr>
          <a:xfrm>
            <a:off x="323850" y="1492188"/>
            <a:ext cx="4913630" cy="13379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全局视角：算力使用现状是否健康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什么时间该增加机器？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增加多少机器？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文本框 2">
            <a:extLst>
              <a:ext uri="{FF2B5EF4-FFF2-40B4-BE49-F238E27FC236}">
                <a16:creationId xmlns:a16="http://schemas.microsoft.com/office/drawing/2014/main" id="{8C0537BE-E404-C553-178B-F5AD70A48A93}"/>
              </a:ext>
            </a:extLst>
          </p:cNvPr>
          <p:cNvSpPr txBox="1"/>
          <p:nvPr/>
        </p:nvSpPr>
        <p:spPr>
          <a:xfrm>
            <a:off x="1886902" y="3162300"/>
            <a:ext cx="8418196" cy="2536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算力增长的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4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个阶段：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L0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无治理：算力不可量化</a:t>
            </a:r>
            <a:endParaRPr 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L1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初步可控：任务消耗算力可采集量化，实现治理产品闭环，算力成本可分摊</a:t>
            </a:r>
            <a:endParaRPr 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L2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中等可控：算力增长趋势可预估，算力价值可量化，计算效率大幅提升，算力扩容流程产品化</a:t>
            </a:r>
            <a:endParaRPr 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L3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完全可控：算力分配实现自动化弹性伸缩，任务的智能诊断与优化</a:t>
            </a:r>
            <a:endParaRPr 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1990759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3769208" y="2583442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</a:t>
            </a: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4385749" y="2585230"/>
            <a:ext cx="2843718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质量治理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328547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整体架构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681AC-B470-B3A2-8B14-8F9385E99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71328"/>
            <a:ext cx="11372850" cy="461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3410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管理平台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FAF58-85B3-F290-4E0E-8E105EB53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57103"/>
            <a:ext cx="11296650" cy="232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29766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隐患排查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7B7BB-D9CA-3E4B-15D3-2439670AA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528575"/>
            <a:ext cx="10868025" cy="28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97834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监控报警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05C2B-3FA5-393A-9711-396511523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95153"/>
            <a:ext cx="9982200" cy="419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67423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质量分析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964C4D-E7E3-2640-0D9D-F5891756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85774"/>
            <a:ext cx="10306050" cy="288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67071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质量透明度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F9D19-7949-D7A6-18C9-BB8C12744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471339"/>
            <a:ext cx="9582150" cy="436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89743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3769208" y="2583442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06</a:t>
            </a: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4385749" y="2585230"/>
            <a:ext cx="2843718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指标治理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894098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2A9E8-E82A-8A28-140A-CC9FE7C52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85" y="1418974"/>
            <a:ext cx="10406715" cy="3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633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整体框架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8C8F9-6948-263B-8100-B77EA169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85752"/>
            <a:ext cx="10915650" cy="475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40198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一站式指标平台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51172-760E-4C5B-6D4B-5994FD8F7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695257"/>
            <a:ext cx="10406694" cy="32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57814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监控平台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384AF-A51D-F4BB-358B-ED2A85E2F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9" y="1561886"/>
            <a:ext cx="9697006" cy="35244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56DF8F-661E-A8F2-E435-521CEA80ABF2}"/>
              </a:ext>
            </a:extLst>
          </p:cNvPr>
          <p:cNvSpPr/>
          <p:nvPr/>
        </p:nvSpPr>
        <p:spPr>
          <a:xfrm>
            <a:off x="1466850" y="5218515"/>
            <a:ext cx="3838575" cy="658336"/>
          </a:xfrm>
          <a:prstGeom prst="round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HIVE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C29E4D-61DE-FBA0-0F86-80C94DBE4AF4}"/>
              </a:ext>
            </a:extLst>
          </p:cNvPr>
          <p:cNvSpPr/>
          <p:nvPr/>
        </p:nvSpPr>
        <p:spPr>
          <a:xfrm>
            <a:off x="5428972" y="5218515"/>
            <a:ext cx="3838575" cy="658336"/>
          </a:xfrm>
          <a:prstGeom prst="round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自定义</a:t>
            </a: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SQL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6BE671-AD6B-159F-5BC5-FAE8385F9DF4}"/>
              </a:ext>
            </a:extLst>
          </p:cNvPr>
          <p:cNvSpPr/>
          <p:nvPr/>
        </p:nvSpPr>
        <p:spPr>
          <a:xfrm>
            <a:off x="594895" y="5362484"/>
            <a:ext cx="810181" cy="385921"/>
          </a:xfrm>
          <a:prstGeom prst="roundRect">
            <a:avLst/>
          </a:prstGeom>
          <a:solidFill>
            <a:srgbClr val="7030A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数据源</a:t>
            </a:r>
          </a:p>
        </p:txBody>
      </p:sp>
    </p:spTree>
    <p:extLst>
      <p:ext uri="{BB962C8B-B14F-4D97-AF65-F5344CB8AC3E}">
        <p14:creationId xmlns:p14="http://schemas.microsoft.com/office/powerpoint/2010/main" val="350823251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准确性监控架构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56DF8F-661E-A8F2-E435-521CEA80ABF2}"/>
              </a:ext>
            </a:extLst>
          </p:cNvPr>
          <p:cNvSpPr/>
          <p:nvPr/>
        </p:nvSpPr>
        <p:spPr>
          <a:xfrm>
            <a:off x="1905000" y="5218515"/>
            <a:ext cx="3400425" cy="658336"/>
          </a:xfrm>
          <a:prstGeom prst="round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HIVE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C29E4D-61DE-FBA0-0F86-80C94DBE4AF4}"/>
              </a:ext>
            </a:extLst>
          </p:cNvPr>
          <p:cNvSpPr/>
          <p:nvPr/>
        </p:nvSpPr>
        <p:spPr>
          <a:xfrm>
            <a:off x="5686425" y="5218515"/>
            <a:ext cx="3581122" cy="658336"/>
          </a:xfrm>
          <a:prstGeom prst="round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自定义</a:t>
            </a: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SQL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6BE671-AD6B-159F-5BC5-FAE8385F9DF4}"/>
              </a:ext>
            </a:extLst>
          </p:cNvPr>
          <p:cNvSpPr/>
          <p:nvPr/>
        </p:nvSpPr>
        <p:spPr>
          <a:xfrm>
            <a:off x="594895" y="5362484"/>
            <a:ext cx="810181" cy="385921"/>
          </a:xfrm>
          <a:prstGeom prst="roundRect">
            <a:avLst/>
          </a:prstGeom>
          <a:solidFill>
            <a:srgbClr val="7030A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数据源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8F577-5115-6B24-D47E-598DFD2E1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95" y="1438275"/>
            <a:ext cx="8791297" cy="36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9046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一致性监控架构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3A939-B12A-6AB7-0BB6-EE9CC882B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1" y="1480882"/>
            <a:ext cx="9806573" cy="431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1771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3769208" y="2583442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07</a:t>
            </a: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4385749" y="2585230"/>
            <a:ext cx="2843718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安全治理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48479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安全架构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D84DC-3FD7-9D0E-FE79-3146CE794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61893"/>
            <a:ext cx="10925175" cy="392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94874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安全操作规范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A73A9-AA1B-8264-6603-B52D21AD2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95" y="997620"/>
            <a:ext cx="4500855" cy="5191526"/>
          </a:xfrm>
          <a:prstGeom prst="rect">
            <a:avLst/>
          </a:prstGeom>
        </p:spPr>
      </p:pic>
      <p:sp>
        <p:nvSpPr>
          <p:cNvPr id="5" name="文本框 27">
            <a:extLst>
              <a:ext uri="{FF2B5EF4-FFF2-40B4-BE49-F238E27FC236}">
                <a16:creationId xmlns:a16="http://schemas.microsoft.com/office/drawing/2014/main" id="{430CB12A-EF6B-1C12-4D1D-0479A38C83C2}"/>
              </a:ext>
            </a:extLst>
          </p:cNvPr>
          <p:cNvSpPr txBox="1"/>
          <p:nvPr/>
        </p:nvSpPr>
        <p:spPr>
          <a:xfrm>
            <a:off x="853023" y="1815313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数据生产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meeting_115918">
            <a:extLst>
              <a:ext uri="{FF2B5EF4-FFF2-40B4-BE49-F238E27FC236}">
                <a16:creationId xmlns:a16="http://schemas.microsoft.com/office/drawing/2014/main" id="{2FB3EDD9-2CBE-6657-01D0-3C06FFB34668}"/>
              </a:ext>
            </a:extLst>
          </p:cNvPr>
          <p:cNvSpPr>
            <a:spLocks noChangeAspect="1"/>
          </p:cNvSpPr>
          <p:nvPr/>
        </p:nvSpPr>
        <p:spPr>
          <a:xfrm>
            <a:off x="476250" y="1867935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22">
            <a:extLst>
              <a:ext uri="{FF2B5EF4-FFF2-40B4-BE49-F238E27FC236}">
                <a16:creationId xmlns:a16="http://schemas.microsoft.com/office/drawing/2014/main" id="{88F9F8B7-6250-8C67-55F2-6BEE62F9760F}"/>
              </a:ext>
            </a:extLst>
          </p:cNvPr>
          <p:cNvSpPr txBox="1"/>
          <p:nvPr/>
        </p:nvSpPr>
        <p:spPr>
          <a:xfrm>
            <a:off x="2381250" y="1815313"/>
            <a:ext cx="4300831" cy="4589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资产明确、安全定级、数据脱敏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文本框 27">
            <a:extLst>
              <a:ext uri="{FF2B5EF4-FFF2-40B4-BE49-F238E27FC236}">
                <a16:creationId xmlns:a16="http://schemas.microsoft.com/office/drawing/2014/main" id="{5BC40D9E-91BB-6DDC-0385-2A3AB9F593AC}"/>
              </a:ext>
            </a:extLst>
          </p:cNvPr>
          <p:cNvSpPr txBox="1"/>
          <p:nvPr/>
        </p:nvSpPr>
        <p:spPr>
          <a:xfrm>
            <a:off x="853023" y="2970092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数据存储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eeting_115918">
            <a:extLst>
              <a:ext uri="{FF2B5EF4-FFF2-40B4-BE49-F238E27FC236}">
                <a16:creationId xmlns:a16="http://schemas.microsoft.com/office/drawing/2014/main" id="{9491619A-B726-E4B3-95BA-CD75C8F8AD60}"/>
              </a:ext>
            </a:extLst>
          </p:cNvPr>
          <p:cNvSpPr>
            <a:spLocks noChangeAspect="1"/>
          </p:cNvSpPr>
          <p:nvPr/>
        </p:nvSpPr>
        <p:spPr>
          <a:xfrm>
            <a:off x="476250" y="3022714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22">
            <a:extLst>
              <a:ext uri="{FF2B5EF4-FFF2-40B4-BE49-F238E27FC236}">
                <a16:creationId xmlns:a16="http://schemas.microsoft.com/office/drawing/2014/main" id="{48546D28-D047-E4F1-6215-00F845D92CE4}"/>
              </a:ext>
            </a:extLst>
          </p:cNvPr>
          <p:cNvSpPr txBox="1"/>
          <p:nvPr/>
        </p:nvSpPr>
        <p:spPr>
          <a:xfrm>
            <a:off x="2381250" y="2970092"/>
            <a:ext cx="4300831" cy="4589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严禁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C3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、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C4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级敏感数据明文落地存储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文本框 27">
            <a:extLst>
              <a:ext uri="{FF2B5EF4-FFF2-40B4-BE49-F238E27FC236}">
                <a16:creationId xmlns:a16="http://schemas.microsoft.com/office/drawing/2014/main" id="{E8EE7DEA-B0DA-D9BB-DDB7-5E0823361EE0}"/>
              </a:ext>
            </a:extLst>
          </p:cNvPr>
          <p:cNvSpPr txBox="1"/>
          <p:nvPr/>
        </p:nvSpPr>
        <p:spPr>
          <a:xfrm>
            <a:off x="853023" y="4245225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数据使用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meeting_115918">
            <a:extLst>
              <a:ext uri="{FF2B5EF4-FFF2-40B4-BE49-F238E27FC236}">
                <a16:creationId xmlns:a16="http://schemas.microsoft.com/office/drawing/2014/main" id="{D50DE5C4-7FD3-6432-106B-D2D50245BF48}"/>
              </a:ext>
            </a:extLst>
          </p:cNvPr>
          <p:cNvSpPr>
            <a:spLocks noChangeAspect="1"/>
          </p:cNvSpPr>
          <p:nvPr/>
        </p:nvSpPr>
        <p:spPr>
          <a:xfrm>
            <a:off x="476250" y="4297847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22">
            <a:extLst>
              <a:ext uri="{FF2B5EF4-FFF2-40B4-BE49-F238E27FC236}">
                <a16:creationId xmlns:a16="http://schemas.microsoft.com/office/drawing/2014/main" id="{40B058B8-45F6-9EC5-293D-75D5C3AC5756}"/>
              </a:ext>
            </a:extLst>
          </p:cNvPr>
          <p:cNvSpPr txBox="1"/>
          <p:nvPr/>
        </p:nvSpPr>
        <p:spPr>
          <a:xfrm>
            <a:off x="2381250" y="4245225"/>
            <a:ext cx="4300831" cy="874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审批前置、最少必要、最小期限、数据脱敏、用户授权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4896209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动态加解密</a:t>
            </a:r>
          </a:p>
        </p:txBody>
      </p:sp>
      <p:sp>
        <p:nvSpPr>
          <p:cNvPr id="3" name="文本框 27">
            <a:extLst>
              <a:ext uri="{FF2B5EF4-FFF2-40B4-BE49-F238E27FC236}">
                <a16:creationId xmlns:a16="http://schemas.microsoft.com/office/drawing/2014/main" id="{B225AE6D-520B-E6C9-5E8A-52C884A762F5}"/>
              </a:ext>
            </a:extLst>
          </p:cNvPr>
          <p:cNvSpPr txBox="1"/>
          <p:nvPr/>
        </p:nvSpPr>
        <p:spPr>
          <a:xfrm>
            <a:off x="853023" y="1472413"/>
            <a:ext cx="1528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敏感数据地图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meeting_115918">
            <a:extLst>
              <a:ext uri="{FF2B5EF4-FFF2-40B4-BE49-F238E27FC236}">
                <a16:creationId xmlns:a16="http://schemas.microsoft.com/office/drawing/2014/main" id="{7E70BD67-CE4D-AD73-ED73-3026C3D207FF}"/>
              </a:ext>
            </a:extLst>
          </p:cNvPr>
          <p:cNvSpPr>
            <a:spLocks noChangeAspect="1"/>
          </p:cNvSpPr>
          <p:nvPr/>
        </p:nvSpPr>
        <p:spPr>
          <a:xfrm>
            <a:off x="476250" y="1525035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22">
            <a:extLst>
              <a:ext uri="{FF2B5EF4-FFF2-40B4-BE49-F238E27FC236}">
                <a16:creationId xmlns:a16="http://schemas.microsoft.com/office/drawing/2014/main" id="{BFE9EC2F-3EB6-A381-6DC4-0F9AE864352A}"/>
              </a:ext>
            </a:extLst>
          </p:cNvPr>
          <p:cNvSpPr txBox="1"/>
          <p:nvPr/>
        </p:nvSpPr>
        <p:spPr>
          <a:xfrm>
            <a:off x="2381250" y="1472413"/>
            <a:ext cx="4300831" cy="874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敏感数据识别准确率，建设隐私数据明文扫描与校准能力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文本框 27">
            <a:extLst>
              <a:ext uri="{FF2B5EF4-FFF2-40B4-BE49-F238E27FC236}">
                <a16:creationId xmlns:a16="http://schemas.microsoft.com/office/drawing/2014/main" id="{3ECDC04B-36FB-4794-8A1C-1BE1E334DFB5}"/>
              </a:ext>
            </a:extLst>
          </p:cNvPr>
          <p:cNvSpPr txBox="1"/>
          <p:nvPr/>
        </p:nvSpPr>
        <p:spPr>
          <a:xfrm>
            <a:off x="853023" y="2627192"/>
            <a:ext cx="1528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KMS</a:t>
            </a: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密钥托管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meeting_115918">
            <a:extLst>
              <a:ext uri="{FF2B5EF4-FFF2-40B4-BE49-F238E27FC236}">
                <a16:creationId xmlns:a16="http://schemas.microsoft.com/office/drawing/2014/main" id="{BD4C3934-BD6C-DDF0-1C48-ED6DB1F35A12}"/>
              </a:ext>
            </a:extLst>
          </p:cNvPr>
          <p:cNvSpPr>
            <a:spLocks noChangeAspect="1"/>
          </p:cNvSpPr>
          <p:nvPr/>
        </p:nvSpPr>
        <p:spPr>
          <a:xfrm>
            <a:off x="476250" y="2679814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22">
            <a:extLst>
              <a:ext uri="{FF2B5EF4-FFF2-40B4-BE49-F238E27FC236}">
                <a16:creationId xmlns:a16="http://schemas.microsoft.com/office/drawing/2014/main" id="{4EB94927-13BC-5EC0-4C54-898DD3716874}"/>
              </a:ext>
            </a:extLst>
          </p:cNvPr>
          <p:cNvSpPr txBox="1"/>
          <p:nvPr/>
        </p:nvSpPr>
        <p:spPr>
          <a:xfrm>
            <a:off x="2381250" y="2627192"/>
            <a:ext cx="4300831" cy="874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密钥生命周期管理，统一使用接口，授权管控、审计追溯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文本框 27">
            <a:extLst>
              <a:ext uri="{FF2B5EF4-FFF2-40B4-BE49-F238E27FC236}">
                <a16:creationId xmlns:a16="http://schemas.microsoft.com/office/drawing/2014/main" id="{4F74B2CB-BA8D-7F16-5307-5DCF776B18FA}"/>
              </a:ext>
            </a:extLst>
          </p:cNvPr>
          <p:cNvSpPr txBox="1"/>
          <p:nvPr/>
        </p:nvSpPr>
        <p:spPr>
          <a:xfrm>
            <a:off x="853023" y="3902325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数据使用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meeting_115918">
            <a:extLst>
              <a:ext uri="{FF2B5EF4-FFF2-40B4-BE49-F238E27FC236}">
                <a16:creationId xmlns:a16="http://schemas.microsoft.com/office/drawing/2014/main" id="{3C099DDB-1405-A4DD-C26B-E1F9BE950D05}"/>
              </a:ext>
            </a:extLst>
          </p:cNvPr>
          <p:cNvSpPr>
            <a:spLocks noChangeAspect="1"/>
          </p:cNvSpPr>
          <p:nvPr/>
        </p:nvSpPr>
        <p:spPr>
          <a:xfrm>
            <a:off x="476250" y="3954947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22">
            <a:extLst>
              <a:ext uri="{FF2B5EF4-FFF2-40B4-BE49-F238E27FC236}">
                <a16:creationId xmlns:a16="http://schemas.microsoft.com/office/drawing/2014/main" id="{D24A1AAA-CA0F-D3E4-E9B2-A8DF9E96DB96}"/>
              </a:ext>
            </a:extLst>
          </p:cNvPr>
          <p:cNvSpPr txBox="1"/>
          <p:nvPr/>
        </p:nvSpPr>
        <p:spPr>
          <a:xfrm>
            <a:off x="2381250" y="3902325"/>
            <a:ext cx="4300831" cy="874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对称加密：下游解密出明文使用，动态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哈希加密：检索、关联匹配使用，固定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文本框 27">
            <a:extLst>
              <a:ext uri="{FF2B5EF4-FFF2-40B4-BE49-F238E27FC236}">
                <a16:creationId xmlns:a16="http://schemas.microsoft.com/office/drawing/2014/main" id="{C75AA362-57E8-1F8F-2947-115E73A8B100}"/>
              </a:ext>
            </a:extLst>
          </p:cNvPr>
          <p:cNvSpPr txBox="1"/>
          <p:nvPr/>
        </p:nvSpPr>
        <p:spPr>
          <a:xfrm>
            <a:off x="853023" y="5195604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数据脱敏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meeting_115918">
            <a:extLst>
              <a:ext uri="{FF2B5EF4-FFF2-40B4-BE49-F238E27FC236}">
                <a16:creationId xmlns:a16="http://schemas.microsoft.com/office/drawing/2014/main" id="{80C8386C-A4DA-81CB-56F7-4AD9A5AA6ABA}"/>
              </a:ext>
            </a:extLst>
          </p:cNvPr>
          <p:cNvSpPr>
            <a:spLocks noChangeAspect="1"/>
          </p:cNvSpPr>
          <p:nvPr/>
        </p:nvSpPr>
        <p:spPr>
          <a:xfrm>
            <a:off x="476250" y="5248226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22">
            <a:extLst>
              <a:ext uri="{FF2B5EF4-FFF2-40B4-BE49-F238E27FC236}">
                <a16:creationId xmlns:a16="http://schemas.microsoft.com/office/drawing/2014/main" id="{8C38D1D9-EB53-66F2-155F-D95EDB686AA2}"/>
              </a:ext>
            </a:extLst>
          </p:cNvPr>
          <p:cNvSpPr txBox="1"/>
          <p:nvPr/>
        </p:nvSpPr>
        <p:spPr>
          <a:xfrm>
            <a:off x="2381250" y="5195604"/>
            <a:ext cx="4300831" cy="874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脱敏建设覆盖身份证号、手机号等隐私数据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E4C23E-7348-6C17-464A-9D05FC12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558" y="1301017"/>
            <a:ext cx="4715533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57902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敏感数据处理服务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81A00-22D2-B22C-492B-25E5CB4F9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92" y="1476116"/>
            <a:ext cx="5800725" cy="435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29926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250" y="709489"/>
            <a:ext cx="5800725" cy="576263"/>
          </a:xfrm>
        </p:spPr>
        <p:txBody>
          <a:bodyPr>
            <a:noAutofit/>
          </a:bodyPr>
          <a:lstStyle/>
          <a:p>
            <a:pPr algn="l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安全治理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安全审计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D5BE0-655A-1B7B-61A3-7BD3C0BA3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436" y="974247"/>
            <a:ext cx="5039428" cy="5115639"/>
          </a:xfrm>
          <a:prstGeom prst="rect">
            <a:avLst/>
          </a:prstGeom>
        </p:spPr>
      </p:pic>
      <p:sp>
        <p:nvSpPr>
          <p:cNvPr id="5" name="文本框 27">
            <a:extLst>
              <a:ext uri="{FF2B5EF4-FFF2-40B4-BE49-F238E27FC236}">
                <a16:creationId xmlns:a16="http://schemas.microsoft.com/office/drawing/2014/main" id="{9F024F05-ABD9-A6E4-FAB6-8F056290AA8C}"/>
              </a:ext>
            </a:extLst>
          </p:cNvPr>
          <p:cNvSpPr txBox="1"/>
          <p:nvPr/>
        </p:nvSpPr>
        <p:spPr>
          <a:xfrm>
            <a:off x="853023" y="2377288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开发泄露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meeting_115918">
            <a:extLst>
              <a:ext uri="{FF2B5EF4-FFF2-40B4-BE49-F238E27FC236}">
                <a16:creationId xmlns:a16="http://schemas.microsoft.com/office/drawing/2014/main" id="{EEB5160B-7DC7-E20A-4B2F-3C540F4961F1}"/>
              </a:ext>
            </a:extLst>
          </p:cNvPr>
          <p:cNvSpPr>
            <a:spLocks noChangeAspect="1"/>
          </p:cNvSpPr>
          <p:nvPr/>
        </p:nvSpPr>
        <p:spPr>
          <a:xfrm>
            <a:off x="476250" y="2429910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22">
            <a:extLst>
              <a:ext uri="{FF2B5EF4-FFF2-40B4-BE49-F238E27FC236}">
                <a16:creationId xmlns:a16="http://schemas.microsoft.com/office/drawing/2014/main" id="{F6E7CCF7-E4CC-D032-8B00-C3C4D2FBB9BE}"/>
              </a:ext>
            </a:extLst>
          </p:cNvPr>
          <p:cNvSpPr txBox="1"/>
          <p:nvPr/>
        </p:nvSpPr>
        <p:spPr>
          <a:xfrm>
            <a:off x="2381250" y="2377288"/>
            <a:ext cx="4300831" cy="4589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开发平台无法下载、到处任何数据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文本框 27">
            <a:extLst>
              <a:ext uri="{FF2B5EF4-FFF2-40B4-BE49-F238E27FC236}">
                <a16:creationId xmlns:a16="http://schemas.microsoft.com/office/drawing/2014/main" id="{AD7D0BCF-96DA-1F37-D0C0-37BA7EAA5274}"/>
              </a:ext>
            </a:extLst>
          </p:cNvPr>
          <p:cNvSpPr txBox="1"/>
          <p:nvPr/>
        </p:nvSpPr>
        <p:spPr>
          <a:xfrm>
            <a:off x="853023" y="3532067"/>
            <a:ext cx="15282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审计平台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eeting_115918">
            <a:extLst>
              <a:ext uri="{FF2B5EF4-FFF2-40B4-BE49-F238E27FC236}">
                <a16:creationId xmlns:a16="http://schemas.microsoft.com/office/drawing/2014/main" id="{5262E772-036E-DF35-3088-341161EEB48B}"/>
              </a:ext>
            </a:extLst>
          </p:cNvPr>
          <p:cNvSpPr>
            <a:spLocks noChangeAspect="1"/>
          </p:cNvSpPr>
          <p:nvPr/>
        </p:nvSpPr>
        <p:spPr>
          <a:xfrm>
            <a:off x="476250" y="3584689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22">
            <a:extLst>
              <a:ext uri="{FF2B5EF4-FFF2-40B4-BE49-F238E27FC236}">
                <a16:creationId xmlns:a16="http://schemas.microsoft.com/office/drawing/2014/main" id="{AFCF370E-5CBC-5811-B10F-978A7D16899A}"/>
              </a:ext>
            </a:extLst>
          </p:cNvPr>
          <p:cNvSpPr txBox="1"/>
          <p:nvPr/>
        </p:nvSpPr>
        <p:spPr>
          <a:xfrm>
            <a:off x="2381250" y="3532067"/>
            <a:ext cx="4300831" cy="4589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用户行为日志接入安全审计系统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0583864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10775_4*m_h_f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4638_1*l_i*1_1"/>
  <p:tag name="KSO_WM_TEMPLATE_CATEGORY" val="diagram"/>
  <p:tag name="KSO_WM_TEMPLATE_INDEX" val="20204638"/>
  <p:tag name="KSO_WM_UNIT_LAYERLEVEL" val="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4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4638_1*l_h_f*1_2_1"/>
  <p:tag name="KSO_WM_TEMPLATE_CATEGORY" val="diagram"/>
  <p:tag name="KSO_WM_TEMPLATE_INDEX" val="20204638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5830_1*m_h_i*1_1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5830_1*m_h_i*1_2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5830_1*m_h_i*1_1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5830_1*m_h_i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6"/>
  <p:tag name="KSO_WM_UNIT_ID" val="diagram20205830_1*m_h_i*1_1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7"/>
  <p:tag name="KSO_WM_UNIT_ID" val="diagram20205830_1*m_h_i*1_1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5830_1*m_h_i*1_2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7"/>
  <p:tag name="KSO_WM_UNIT_ID" val="diagram20205830_1*m_h_i*1_2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8"/>
  <p:tag name="KSO_WM_UNIT_ID" val="diagram20205830_1*m_h_i*1_1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8"/>
  <p:tag name="KSO_WM_UNIT_ID" val="diagram20205830_1*m_h_i*1_2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5830_1*m_h_i*1_2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5830_1*m_h_i*1_1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5830_1*m_h_i*1_1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10775_4*m_h_f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theme/theme1.xml><?xml version="1.0" encoding="utf-8"?>
<a:theme xmlns:a="http://schemas.openxmlformats.org/drawingml/2006/main" name="White">
  <a:themeElements>
    <a:clrScheme name="极客邦">
      <a:dk1>
        <a:srgbClr val="4D4D4D"/>
      </a:dk1>
      <a:lt1>
        <a:sysClr val="window" lastClr="FFFFFF"/>
      </a:lt1>
      <a:dk2>
        <a:srgbClr val="44546A"/>
      </a:dk2>
      <a:lt2>
        <a:srgbClr val="E7E6E6"/>
      </a:lt2>
      <a:accent1>
        <a:srgbClr val="1D5E9E"/>
      </a:accent1>
      <a:accent2>
        <a:srgbClr val="198743"/>
      </a:accent2>
      <a:accent3>
        <a:srgbClr val="EA5429"/>
      </a:accent3>
      <a:accent4>
        <a:srgbClr val="E60012"/>
      </a:accent4>
      <a:accent5>
        <a:srgbClr val="4472C4"/>
      </a:accent5>
      <a:accent6>
        <a:srgbClr val="70AD47"/>
      </a:accent6>
      <a:hlink>
        <a:srgbClr val="00B0F0"/>
      </a:hlink>
      <a:folHlink>
        <a:srgbClr val="FFFFFF"/>
      </a:folHlink>
    </a:clrScheme>
    <a:fontScheme name="极客邦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46FBE2B-B011-4643-89D7-4E51E37BBDB2}" vid="{8EF7A4E8-5DDA-5242-A16E-CB225224F7D0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TGO新模板</Template>
  <TotalTime>1757</TotalTime>
  <Words>2113</Words>
  <Application>Microsoft Office PowerPoint</Application>
  <PresentationFormat>Widescreen</PresentationFormat>
  <Paragraphs>206</Paragraphs>
  <Slides>43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DengXian</vt:lpstr>
      <vt:lpstr>Helvetica Neue</vt:lpstr>
      <vt:lpstr>Microsoft YaHei</vt:lpstr>
      <vt:lpstr>Arial</vt:lpstr>
      <vt:lpstr>Calibri</vt:lpstr>
      <vt:lpstr>Wingdings</vt:lpstr>
      <vt:lpstr>White</vt:lpstr>
      <vt:lpstr>PowerPoint Presentation</vt:lpstr>
      <vt:lpstr>PowerPoint Presentation</vt:lpstr>
      <vt:lpstr>治理范围和内容</vt:lpstr>
      <vt:lpstr>治理范围和内容</vt:lpstr>
      <vt:lpstr>PowerPoint Presentation</vt:lpstr>
      <vt:lpstr>数据治理背景</vt:lpstr>
      <vt:lpstr>数据治理背景</vt:lpstr>
      <vt:lpstr>PowerPoint Presentation</vt:lpstr>
      <vt:lpstr>存储治理--现状和背景</vt:lpstr>
      <vt:lpstr>存储治理--目标</vt:lpstr>
      <vt:lpstr>存储治理--解决方案</vt:lpstr>
      <vt:lpstr>存储治理--全链路治理手段</vt:lpstr>
      <vt:lpstr>存储治理--全生命周期管理</vt:lpstr>
      <vt:lpstr>存储治理--数据资产目录</vt:lpstr>
      <vt:lpstr>存储治理--数据价值评估体系</vt:lpstr>
      <vt:lpstr>PowerPoint Presentation</vt:lpstr>
      <vt:lpstr>算力治理--问题分析</vt:lpstr>
      <vt:lpstr>算力治理--整体架构</vt:lpstr>
      <vt:lpstr>算力治理--任务治理流程</vt:lpstr>
      <vt:lpstr>算力治理--HiveSQL向SparkSQL迁移</vt:lpstr>
      <vt:lpstr>算力治理--Hive优化诊断工具</vt:lpstr>
      <vt:lpstr>算力治理--建立算力增长可控体系</vt:lpstr>
      <vt:lpstr>PowerPoint Presentation</vt:lpstr>
      <vt:lpstr>质量治理--整体架构</vt:lpstr>
      <vt:lpstr>质量治理--管理平台</vt:lpstr>
      <vt:lpstr>质量治理--隐患排查</vt:lpstr>
      <vt:lpstr>质量治理--监控报警</vt:lpstr>
      <vt:lpstr>质量治理--质量分析</vt:lpstr>
      <vt:lpstr>质量治理--质量透明度</vt:lpstr>
      <vt:lpstr>PowerPoint Presentation</vt:lpstr>
      <vt:lpstr>指标治理--背景</vt:lpstr>
      <vt:lpstr>指标治理--整体框架</vt:lpstr>
      <vt:lpstr>指标治理--一站式指标平台</vt:lpstr>
      <vt:lpstr>指标治理--监控平台</vt:lpstr>
      <vt:lpstr>指标治理--准确性监控架构</vt:lpstr>
      <vt:lpstr>指标治理--一致性监控架构</vt:lpstr>
      <vt:lpstr>PowerPoint Presentation</vt:lpstr>
      <vt:lpstr>安全治理--安全架构</vt:lpstr>
      <vt:lpstr>安全治理--安全操作规范</vt:lpstr>
      <vt:lpstr>安全治理--动态加解密</vt:lpstr>
      <vt:lpstr>安全治理--敏感数据处理服务</vt:lpstr>
      <vt:lpstr>安全治理--安全审计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Wu, Frank</cp:lastModifiedBy>
  <cp:revision>69</cp:revision>
  <dcterms:created xsi:type="dcterms:W3CDTF">2019-06-10T12:16:29Z</dcterms:created>
  <dcterms:modified xsi:type="dcterms:W3CDTF">2024-04-27T13:11:55Z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4d2e7b-2917-4cd7-87a4-c132be958a8e_Enabled">
    <vt:lpwstr>true</vt:lpwstr>
  </property>
  <property fmtid="{D5CDD505-2E9C-101B-9397-08002B2CF9AE}" pid="3" name="MSIP_Label_224d2e7b-2917-4cd7-87a4-c132be958a8e_SetDate">
    <vt:lpwstr>2024-04-23T04:18:09Z</vt:lpwstr>
  </property>
  <property fmtid="{D5CDD505-2E9C-101B-9397-08002B2CF9AE}" pid="4" name="MSIP_Label_224d2e7b-2917-4cd7-87a4-c132be958a8e_Method">
    <vt:lpwstr>Privileged</vt:lpwstr>
  </property>
  <property fmtid="{D5CDD505-2E9C-101B-9397-08002B2CF9AE}" pid="5" name="MSIP_Label_224d2e7b-2917-4cd7-87a4-c132be958a8e_Name">
    <vt:lpwstr>224d2e7b-2917-4cd7-87a4-c132be958a8e</vt:lpwstr>
  </property>
  <property fmtid="{D5CDD505-2E9C-101B-9397-08002B2CF9AE}" pid="6" name="MSIP_Label_224d2e7b-2917-4cd7-87a4-c132be958a8e_SiteId">
    <vt:lpwstr>19e2b708-bf12-4375-9719-8dec42771b3e</vt:lpwstr>
  </property>
  <property fmtid="{D5CDD505-2E9C-101B-9397-08002B2CF9AE}" pid="7" name="MSIP_Label_224d2e7b-2917-4cd7-87a4-c132be958a8e_ActionId">
    <vt:lpwstr>1411a011-4fd9-425c-a17e-6e79bbbe23a3</vt:lpwstr>
  </property>
  <property fmtid="{D5CDD505-2E9C-101B-9397-08002B2CF9AE}" pid="8" name="MSIP_Label_224d2e7b-2917-4cd7-87a4-c132be958a8e_ContentBits">
    <vt:lpwstr>2</vt:lpwstr>
  </property>
  <property fmtid="{D5CDD505-2E9C-101B-9397-08002B2CF9AE}" pid="9" name="ClassificationContentMarkingFooterLocations">
    <vt:lpwstr>White:6</vt:lpwstr>
  </property>
  <property fmtid="{D5CDD505-2E9C-101B-9397-08002B2CF9AE}" pid="10" name="ClassificationContentMarkingFooterText">
    <vt:lpwstr>Internal Use Only</vt:lpwstr>
  </property>
</Properties>
</file>