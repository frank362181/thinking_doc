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402" r:id="rId3"/>
    <p:sldId id="374" r:id="rId4"/>
    <p:sldId id="403" r:id="rId5"/>
    <p:sldId id="375" r:id="rId6"/>
    <p:sldId id="376" r:id="rId7"/>
    <p:sldId id="377" r:id="rId8"/>
    <p:sldId id="378" r:id="rId9"/>
    <p:sldId id="379" r:id="rId10"/>
    <p:sldId id="355" r:id="rId11"/>
    <p:sldId id="293" r:id="rId12"/>
    <p:sldId id="380" r:id="rId13"/>
    <p:sldId id="381" r:id="rId14"/>
    <p:sldId id="382" r:id="rId15"/>
    <p:sldId id="281" r:id="rId16"/>
    <p:sldId id="276" r:id="rId17"/>
    <p:sldId id="283" r:id="rId18"/>
    <p:sldId id="384" r:id="rId19"/>
    <p:sldId id="390" r:id="rId20"/>
    <p:sldId id="386" r:id="rId21"/>
    <p:sldId id="391" r:id="rId22"/>
    <p:sldId id="274" r:id="rId23"/>
    <p:sldId id="385" r:id="rId24"/>
    <p:sldId id="387" r:id="rId25"/>
    <p:sldId id="401" r:id="rId26"/>
    <p:sldId id="388" r:id="rId27"/>
    <p:sldId id="295" r:id="rId28"/>
    <p:sldId id="392" r:id="rId29"/>
    <p:sldId id="389" r:id="rId30"/>
    <p:sldId id="26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3669C9"/>
    <a:srgbClr val="FF486C"/>
    <a:srgbClr val="3FAEB6"/>
    <a:srgbClr val="F17254"/>
    <a:srgbClr val="A93E6A"/>
    <a:srgbClr val="4CB4C0"/>
    <a:srgbClr val="80528B"/>
    <a:srgbClr val="3E87CC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64" autoAdjust="0"/>
    <p:restoredTop sz="96182" autoAdjust="0"/>
  </p:normalViewPr>
  <p:slideViewPr>
    <p:cSldViewPr snapToGrid="0">
      <p:cViewPr varScale="1">
        <p:scale>
          <a:sx n="104" d="100"/>
          <a:sy n="104" d="100"/>
        </p:scale>
        <p:origin x="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8685B-2620-4544-8746-366E9F5B9FB5}" type="doc">
      <dgm:prSet loTypeId="urn:microsoft.com/office/officeart/2005/8/layout/pyramid2#1" qsTypeId="urn:microsoft.com/office/officeart/2005/8/quickstyle/simple3#1" csTypeId="urn:microsoft.com/office/officeart/2005/8/colors/accent1_2#1"/>
      <dgm:spPr/>
      <dgm:t>
        <a:bodyPr/>
        <a:lstStyle/>
        <a:p>
          <a:endParaRPr altLang="en-US"/>
        </a:p>
      </dgm:t>
    </dgm:pt>
    <dgm:pt modelId="{ECB0FB4D-904B-414D-9517-78E39E0EA40B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600" b="0" i="0" u="none" baseline="0">
              <a:rtl val="0"/>
            </a:rPr>
            <a:t>精于高并发（几十万QPS/几万TPS）系统的开发设计</a:t>
          </a:r>
          <a:endParaRPr altLang="en-US" sz="1600"/>
        </a:p>
      </dgm:t>
    </dgm:pt>
    <dgm:pt modelId="{809DC489-0F41-4101-A056-858C988069D4}" type="parTrans" cxnId="{C15CAFD9-0AE8-4923-AD4D-15CA7AE700B8}">
      <dgm:prSet/>
      <dgm:spPr/>
    </dgm:pt>
    <dgm:pt modelId="{ECCFE4CF-A88B-4F9A-A2EB-DFF754B3F8E1}" type="sibTrans" cxnId="{C15CAFD9-0AE8-4923-AD4D-15CA7AE700B8}">
      <dgm:prSet/>
      <dgm:spPr/>
    </dgm:pt>
    <dgm:pt modelId="{A680E8A3-0159-4B73-9C19-14AF35E68E76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600" b="0" i="0" u="none" baseline="0">
              <a:rtl val="0"/>
            </a:rPr>
            <a:t>专注于云计算、大数据治理、人工智能、区块链等基础技术，以及基础技术在金融、工业互联网、企业数字化转型等领域的应用</a:t>
          </a:r>
          <a:endParaRPr altLang="en-US" sz="1600"/>
        </a:p>
      </dgm:t>
    </dgm:pt>
    <dgm:pt modelId="{8FFE5A0F-A421-4201-B26E-3AA622C0C5E3}" type="parTrans" cxnId="{99E1B9D3-AC37-4ED6-A891-E5CACB56EFB3}">
      <dgm:prSet/>
      <dgm:spPr/>
    </dgm:pt>
    <dgm:pt modelId="{C9D038B4-F9D2-43E6-ACA7-B2DD76B5AA7D}" type="sibTrans" cxnId="{99E1B9D3-AC37-4ED6-A891-E5CACB56EFB3}">
      <dgm:prSet/>
      <dgm:spPr/>
    </dgm:pt>
    <dgm:pt modelId="{BBA380D2-0264-4ECD-A1AA-D69119898CE7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600" b="0" i="0" u="none" baseline="0">
              <a:rtl val="0"/>
            </a:rPr>
            <a:t>专注于大数据、云计算、AI等领域，善于将此类技术应用于消费贷款、个贷、中小微企业信用贷款等领域应用落地</a:t>
          </a:r>
          <a:endParaRPr altLang="en-US" sz="1600"/>
        </a:p>
      </dgm:t>
    </dgm:pt>
    <dgm:pt modelId="{CDAA24A5-6764-4D3A-B6AF-68B89FF9FBD0}" type="parTrans" cxnId="{C64EF659-74EB-430F-B85E-D94A9280C82C}">
      <dgm:prSet/>
      <dgm:spPr/>
    </dgm:pt>
    <dgm:pt modelId="{38A3AD4A-B4C4-4A23-BAE7-3C10A9A4F43F}" type="sibTrans" cxnId="{C64EF659-74EB-430F-B85E-D94A9280C82C}">
      <dgm:prSet/>
      <dgm:spPr/>
    </dgm:pt>
    <dgm:pt modelId="{B9CFE935-8096-49FD-9F72-2D6999A0FB3F}" type="pres">
      <dgm:prSet presAssocID="{22E8685B-2620-4544-8746-366E9F5B9FB5}" presName="compositeShape" presStyleCnt="0">
        <dgm:presLayoutVars>
          <dgm:dir/>
          <dgm:resizeHandles/>
        </dgm:presLayoutVars>
      </dgm:prSet>
      <dgm:spPr/>
    </dgm:pt>
    <dgm:pt modelId="{A2213991-EBA4-4454-8502-1AE886A62C69}" type="pres">
      <dgm:prSet presAssocID="{22E8685B-2620-4544-8746-366E9F5B9FB5}" presName="pyramid" presStyleLbl="node1" presStyleIdx="0" presStyleCnt="1"/>
      <dgm:spPr/>
    </dgm:pt>
    <dgm:pt modelId="{D5AC58E1-FC6D-4F95-A03C-FC64EC245434}" type="pres">
      <dgm:prSet presAssocID="{22E8685B-2620-4544-8746-366E9F5B9FB5}" presName="theList" presStyleCnt="0"/>
      <dgm:spPr/>
    </dgm:pt>
    <dgm:pt modelId="{55DEBB06-CF0D-4E21-AE86-BEC82EB50540}" type="pres">
      <dgm:prSet presAssocID="{ECB0FB4D-904B-414D-9517-78E39E0EA40B}" presName="aNode" presStyleLbl="fgAcc1" presStyleIdx="0" presStyleCnt="3">
        <dgm:presLayoutVars>
          <dgm:bulletEnabled val="1"/>
        </dgm:presLayoutVars>
      </dgm:prSet>
      <dgm:spPr/>
    </dgm:pt>
    <dgm:pt modelId="{F03DC88C-1FC6-4703-9FD9-460F4900F6CD}" type="pres">
      <dgm:prSet presAssocID="{ECB0FB4D-904B-414D-9517-78E39E0EA40B}" presName="aSpace" presStyleCnt="0"/>
      <dgm:spPr/>
    </dgm:pt>
    <dgm:pt modelId="{60BA464F-150D-4475-AB61-58D5623B3A43}" type="pres">
      <dgm:prSet presAssocID="{A680E8A3-0159-4B73-9C19-14AF35E68E76}" presName="aNode" presStyleLbl="fgAcc1" presStyleIdx="1" presStyleCnt="3">
        <dgm:presLayoutVars>
          <dgm:bulletEnabled val="1"/>
        </dgm:presLayoutVars>
      </dgm:prSet>
      <dgm:spPr/>
    </dgm:pt>
    <dgm:pt modelId="{4A9E9638-A03B-4A9A-B2C4-01BFF5EB3445}" type="pres">
      <dgm:prSet presAssocID="{A680E8A3-0159-4B73-9C19-14AF35E68E76}" presName="aSpace" presStyleCnt="0"/>
      <dgm:spPr/>
    </dgm:pt>
    <dgm:pt modelId="{57CA7699-BC24-4FDA-878B-0E541CB55117}" type="pres">
      <dgm:prSet presAssocID="{BBA380D2-0264-4ECD-A1AA-D69119898CE7}" presName="aNode" presStyleLbl="fgAcc1" presStyleIdx="2" presStyleCnt="3">
        <dgm:presLayoutVars>
          <dgm:bulletEnabled val="1"/>
        </dgm:presLayoutVars>
      </dgm:prSet>
      <dgm:spPr/>
    </dgm:pt>
    <dgm:pt modelId="{D06FA0B6-2637-4EA6-9845-768D5466CC40}" type="pres">
      <dgm:prSet presAssocID="{BBA380D2-0264-4ECD-A1AA-D69119898CE7}" presName="aSpace" presStyleCnt="0"/>
      <dgm:spPr/>
    </dgm:pt>
  </dgm:ptLst>
  <dgm:cxnLst>
    <dgm:cxn modelId="{2F58120D-11D6-4055-A2CE-507CD57141FC}" type="presOf" srcId="{A680E8A3-0159-4B73-9C19-14AF35E68E76}" destId="{60BA464F-150D-4475-AB61-58D5623B3A43}" srcOrd="0" destOrd="0" presId="urn:microsoft.com/office/officeart/2005/8/layout/pyramid2#1"/>
    <dgm:cxn modelId="{FD27941B-0152-48D6-B3BF-ABBA4BBAE17F}" type="presOf" srcId="{22E8685B-2620-4544-8746-366E9F5B9FB5}" destId="{B9CFE935-8096-49FD-9F72-2D6999A0FB3F}" srcOrd="0" destOrd="0" presId="urn:microsoft.com/office/officeart/2005/8/layout/pyramid2#1"/>
    <dgm:cxn modelId="{F35DD753-E0E8-4994-8739-51187DD1A9E0}" type="presOf" srcId="{ECB0FB4D-904B-414D-9517-78E39E0EA40B}" destId="{55DEBB06-CF0D-4E21-AE86-BEC82EB50540}" srcOrd="0" destOrd="0" presId="urn:microsoft.com/office/officeart/2005/8/layout/pyramid2#1"/>
    <dgm:cxn modelId="{C64EF659-74EB-430F-B85E-D94A9280C82C}" srcId="{22E8685B-2620-4544-8746-366E9F5B9FB5}" destId="{BBA380D2-0264-4ECD-A1AA-D69119898CE7}" srcOrd="2" destOrd="0" parTransId="{CDAA24A5-6764-4D3A-B6AF-68B89FF9FBD0}" sibTransId="{38A3AD4A-B4C4-4A23-BAE7-3C10A9A4F43F}"/>
    <dgm:cxn modelId="{9906F2D2-12A6-4E1F-8948-DE845B0DB28A}" type="presOf" srcId="{BBA380D2-0264-4ECD-A1AA-D69119898CE7}" destId="{57CA7699-BC24-4FDA-878B-0E541CB55117}" srcOrd="0" destOrd="0" presId="urn:microsoft.com/office/officeart/2005/8/layout/pyramid2#1"/>
    <dgm:cxn modelId="{99E1B9D3-AC37-4ED6-A891-E5CACB56EFB3}" srcId="{22E8685B-2620-4544-8746-366E9F5B9FB5}" destId="{A680E8A3-0159-4B73-9C19-14AF35E68E76}" srcOrd="1" destOrd="0" parTransId="{8FFE5A0F-A421-4201-B26E-3AA622C0C5E3}" sibTransId="{C9D038B4-F9D2-43E6-ACA7-B2DD76B5AA7D}"/>
    <dgm:cxn modelId="{C15CAFD9-0AE8-4923-AD4D-15CA7AE700B8}" srcId="{22E8685B-2620-4544-8746-366E9F5B9FB5}" destId="{ECB0FB4D-904B-414D-9517-78E39E0EA40B}" srcOrd="0" destOrd="0" parTransId="{809DC489-0F41-4101-A056-858C988069D4}" sibTransId="{ECCFE4CF-A88B-4F9A-A2EB-DFF754B3F8E1}"/>
    <dgm:cxn modelId="{FCF0F836-36A5-4CCD-B048-64B170BF5AB1}" type="presParOf" srcId="{B9CFE935-8096-49FD-9F72-2D6999A0FB3F}" destId="{A2213991-EBA4-4454-8502-1AE886A62C69}" srcOrd="0" destOrd="0" presId="urn:microsoft.com/office/officeart/2005/8/layout/pyramid2#1"/>
    <dgm:cxn modelId="{12084C13-0DB7-4CC9-B0EB-BA2EFB60E093}" type="presParOf" srcId="{B9CFE935-8096-49FD-9F72-2D6999A0FB3F}" destId="{D5AC58E1-FC6D-4F95-A03C-FC64EC245434}" srcOrd="1" destOrd="0" presId="urn:microsoft.com/office/officeart/2005/8/layout/pyramid2#1"/>
    <dgm:cxn modelId="{60502924-75B7-4A54-8FBF-DCA6B9380B36}" type="presParOf" srcId="{D5AC58E1-FC6D-4F95-A03C-FC64EC245434}" destId="{55DEBB06-CF0D-4E21-AE86-BEC82EB50540}" srcOrd="0" destOrd="0" presId="urn:microsoft.com/office/officeart/2005/8/layout/pyramid2#1"/>
    <dgm:cxn modelId="{72612C42-1FF0-4438-BF66-750733E9EF3D}" type="presParOf" srcId="{D5AC58E1-FC6D-4F95-A03C-FC64EC245434}" destId="{F03DC88C-1FC6-4703-9FD9-460F4900F6CD}" srcOrd="1" destOrd="0" presId="urn:microsoft.com/office/officeart/2005/8/layout/pyramid2#1"/>
    <dgm:cxn modelId="{A2351EAF-4860-4875-88FD-BAE90161F7AD}" type="presParOf" srcId="{D5AC58E1-FC6D-4F95-A03C-FC64EC245434}" destId="{60BA464F-150D-4475-AB61-58D5623B3A43}" srcOrd="2" destOrd="0" presId="urn:microsoft.com/office/officeart/2005/8/layout/pyramid2#1"/>
    <dgm:cxn modelId="{C43B4B8F-D5C3-497C-9E46-AE69627F61C2}" type="presParOf" srcId="{D5AC58E1-FC6D-4F95-A03C-FC64EC245434}" destId="{4A9E9638-A03B-4A9A-B2C4-01BFF5EB3445}" srcOrd="3" destOrd="0" presId="urn:microsoft.com/office/officeart/2005/8/layout/pyramid2#1"/>
    <dgm:cxn modelId="{3D651427-F26C-43D0-8B48-935DB7A2818E}" type="presParOf" srcId="{D5AC58E1-FC6D-4F95-A03C-FC64EC245434}" destId="{57CA7699-BC24-4FDA-878B-0E541CB55117}" srcOrd="4" destOrd="0" presId="urn:microsoft.com/office/officeart/2005/8/layout/pyramid2#1"/>
    <dgm:cxn modelId="{0DB6F8BF-1E52-4937-A8C1-A6B216659A0C}" type="presParOf" srcId="{D5AC58E1-FC6D-4F95-A03C-FC64EC245434}" destId="{D06FA0B6-2637-4EA6-9845-768D5466CC40}" srcOrd="5" destOrd="0" presId="urn:microsoft.com/office/officeart/2005/8/layout/pyramid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13991-EBA4-4454-8502-1AE886A62C69}">
      <dsp:nvSpPr>
        <dsp:cNvPr id="0" name=""/>
        <dsp:cNvSpPr/>
      </dsp:nvSpPr>
      <dsp:spPr>
        <a:xfrm>
          <a:off x="507174" y="0"/>
          <a:ext cx="4917440" cy="491744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5DEBB06-CF0D-4E21-AE86-BEC82EB50540}">
      <dsp:nvSpPr>
        <dsp:cNvPr id="0" name=""/>
        <dsp:cNvSpPr/>
      </dsp:nvSpPr>
      <dsp:spPr bwMode="white">
        <a:xfrm>
          <a:off x="2965894" y="494385"/>
          <a:ext cx="3196336" cy="11640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0" i="0" u="none" kern="1200" baseline="0">
              <a:rtl val="0"/>
            </a:rPr>
            <a:t>精于高并发（几十万QPS/几万TPS）系统的开发设计</a:t>
          </a:r>
          <a:endParaRPr altLang="en-US" sz="1600" kern="1200"/>
        </a:p>
      </dsp:txBody>
      <dsp:txXfrm>
        <a:off x="3022718" y="551209"/>
        <a:ext cx="3082688" cy="1050402"/>
      </dsp:txXfrm>
    </dsp:sp>
    <dsp:sp modelId="{60BA464F-150D-4475-AB61-58D5623B3A43}">
      <dsp:nvSpPr>
        <dsp:cNvPr id="0" name=""/>
        <dsp:cNvSpPr/>
      </dsp:nvSpPr>
      <dsp:spPr bwMode="white">
        <a:xfrm>
          <a:off x="2965894" y="1803941"/>
          <a:ext cx="3196336" cy="11640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0" i="0" u="none" kern="1200" baseline="0">
              <a:rtl val="0"/>
            </a:rPr>
            <a:t>专注于云计算、大数据治理、人工智能、区块链等基础技术，以及基础技术在金融、工业互联网、企业数字化转型等领域的应用</a:t>
          </a:r>
          <a:endParaRPr altLang="en-US" sz="1600" kern="1200"/>
        </a:p>
      </dsp:txBody>
      <dsp:txXfrm>
        <a:off x="3022718" y="1860765"/>
        <a:ext cx="3082688" cy="1050402"/>
      </dsp:txXfrm>
    </dsp:sp>
    <dsp:sp modelId="{57CA7699-BC24-4FDA-878B-0E541CB55117}">
      <dsp:nvSpPr>
        <dsp:cNvPr id="0" name=""/>
        <dsp:cNvSpPr/>
      </dsp:nvSpPr>
      <dsp:spPr bwMode="white">
        <a:xfrm>
          <a:off x="2965894" y="3113498"/>
          <a:ext cx="3196336" cy="11640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0" i="0" u="none" kern="1200" baseline="0">
              <a:rtl val="0"/>
            </a:rPr>
            <a:t>专注于大数据、云计算、AI等领域，善于将此类技术应用于消费贷款、个贷、中小微企业信用贷款等领域应用落地</a:t>
          </a:r>
          <a:endParaRPr altLang="en-US" sz="1600" kern="1200"/>
        </a:p>
      </dsp:txBody>
      <dsp:txXfrm>
        <a:off x="3022718" y="3170322"/>
        <a:ext cx="3082688" cy="1050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#1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dir/>
      <dgm:resizeHandles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2024/4/24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2024/4/24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3486"/>
            <a:ext cx="12192000" cy="6858000"/>
          </a:xfrm>
          <a:prstGeom prst="rect">
            <a:avLst/>
          </a:prstGeom>
        </p:spPr>
      </p:pic>
      <p:sp>
        <p:nvSpPr>
          <p:cNvPr id="8" name="îśḷiḍè"/>
          <p:cNvSpPr/>
          <p:nvPr userDrawn="1"/>
        </p:nvSpPr>
        <p:spPr>
          <a:xfrm>
            <a:off x="1" y="0"/>
            <a:ext cx="7563756" cy="6858000"/>
          </a:xfrm>
          <a:custGeom>
            <a:avLst/>
            <a:gdLst>
              <a:gd name="connsiteX0" fmla="*/ 0 w 6937433"/>
              <a:gd name="connsiteY0" fmla="*/ 0 h 6858000"/>
              <a:gd name="connsiteX1" fmla="*/ 4758970 w 6937433"/>
              <a:gd name="connsiteY1" fmla="*/ 0 h 6858000"/>
              <a:gd name="connsiteX2" fmla="*/ 6937433 w 6937433"/>
              <a:gd name="connsiteY2" fmla="*/ 4191623 h 6858000"/>
              <a:gd name="connsiteX3" fmla="*/ 4818406 w 6937433"/>
              <a:gd name="connsiteY3" fmla="*/ 6858000 h 6858000"/>
              <a:gd name="connsiteX4" fmla="*/ 0 w 6937433"/>
              <a:gd name="connsiteY4" fmla="*/ 6858000 h 6858000"/>
              <a:gd name="connsiteX0-1" fmla="*/ 0 w 7726088"/>
              <a:gd name="connsiteY0-2" fmla="*/ 0 h 6858000"/>
              <a:gd name="connsiteX1-3" fmla="*/ 4758970 w 7726088"/>
              <a:gd name="connsiteY1-4" fmla="*/ 0 h 6858000"/>
              <a:gd name="connsiteX2-5" fmla="*/ 7726088 w 7726088"/>
              <a:gd name="connsiteY2-6" fmla="*/ 2762873 h 6858000"/>
              <a:gd name="connsiteX3-7" fmla="*/ 4818406 w 7726088"/>
              <a:gd name="connsiteY3-8" fmla="*/ 6858000 h 6858000"/>
              <a:gd name="connsiteX4-9" fmla="*/ 0 w 7726088"/>
              <a:gd name="connsiteY4-10" fmla="*/ 6858000 h 6858000"/>
              <a:gd name="connsiteX5" fmla="*/ 0 w 7726088"/>
              <a:gd name="connsiteY5" fmla="*/ 0 h 6858000"/>
              <a:gd name="connsiteX0-11" fmla="*/ 0 w 7475152"/>
              <a:gd name="connsiteY0-12" fmla="*/ 0 h 6858000"/>
              <a:gd name="connsiteX1-13" fmla="*/ 4758970 w 7475152"/>
              <a:gd name="connsiteY1-14" fmla="*/ 0 h 6858000"/>
              <a:gd name="connsiteX2-15" fmla="*/ 7475152 w 7475152"/>
              <a:gd name="connsiteY2-16" fmla="*/ 3562973 h 6858000"/>
              <a:gd name="connsiteX3-17" fmla="*/ 4818406 w 7475152"/>
              <a:gd name="connsiteY3-18" fmla="*/ 6858000 h 6858000"/>
              <a:gd name="connsiteX4-19" fmla="*/ 0 w 7475152"/>
              <a:gd name="connsiteY4-20" fmla="*/ 6858000 h 6858000"/>
              <a:gd name="connsiteX5-21" fmla="*/ 0 w 7475152"/>
              <a:gd name="connsiteY5-22" fmla="*/ 0 h 6858000"/>
              <a:gd name="connsiteX0-23" fmla="*/ 0 w 7116672"/>
              <a:gd name="connsiteY0-24" fmla="*/ 0 h 6858000"/>
              <a:gd name="connsiteX1-25" fmla="*/ 4758970 w 7116672"/>
              <a:gd name="connsiteY1-26" fmla="*/ 0 h 6858000"/>
              <a:gd name="connsiteX2-27" fmla="*/ 7116672 w 7116672"/>
              <a:gd name="connsiteY2-28" fmla="*/ 3905873 h 6858000"/>
              <a:gd name="connsiteX3-29" fmla="*/ 4818406 w 7116672"/>
              <a:gd name="connsiteY3-30" fmla="*/ 6858000 h 6858000"/>
              <a:gd name="connsiteX4-31" fmla="*/ 0 w 7116672"/>
              <a:gd name="connsiteY4-32" fmla="*/ 6858000 h 6858000"/>
              <a:gd name="connsiteX5-33" fmla="*/ 0 w 7116672"/>
              <a:gd name="connsiteY5-34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7116672" h="6858000">
                <a:moveTo>
                  <a:pt x="0" y="0"/>
                </a:moveTo>
                <a:lnTo>
                  <a:pt x="4758970" y="0"/>
                </a:lnTo>
                <a:lnTo>
                  <a:pt x="7116672" y="3905873"/>
                </a:lnTo>
                <a:lnTo>
                  <a:pt x="481840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í$ļíḍê"/>
          <p:cNvSpPr/>
          <p:nvPr userDrawn="1"/>
        </p:nvSpPr>
        <p:spPr>
          <a:xfrm>
            <a:off x="0" y="0"/>
            <a:ext cx="7840092" cy="6858000"/>
          </a:xfrm>
          <a:custGeom>
            <a:avLst/>
            <a:gdLst>
              <a:gd name="connsiteX0" fmla="*/ 0 w 6937433"/>
              <a:gd name="connsiteY0" fmla="*/ 0 h 6858000"/>
              <a:gd name="connsiteX1" fmla="*/ 4758970 w 6937433"/>
              <a:gd name="connsiteY1" fmla="*/ 0 h 6858000"/>
              <a:gd name="connsiteX2" fmla="*/ 6937433 w 6937433"/>
              <a:gd name="connsiteY2" fmla="*/ 4191623 h 6858000"/>
              <a:gd name="connsiteX3" fmla="*/ 4818406 w 6937433"/>
              <a:gd name="connsiteY3" fmla="*/ 6858000 h 6858000"/>
              <a:gd name="connsiteX4" fmla="*/ 0 w 6937433"/>
              <a:gd name="connsiteY4" fmla="*/ 6858000 h 6858000"/>
              <a:gd name="connsiteX0-1" fmla="*/ 0 w 7726088"/>
              <a:gd name="connsiteY0-2" fmla="*/ 0 h 6858000"/>
              <a:gd name="connsiteX1-3" fmla="*/ 4758970 w 7726088"/>
              <a:gd name="connsiteY1-4" fmla="*/ 0 h 6858000"/>
              <a:gd name="connsiteX2-5" fmla="*/ 7726088 w 7726088"/>
              <a:gd name="connsiteY2-6" fmla="*/ 2762873 h 6858000"/>
              <a:gd name="connsiteX3-7" fmla="*/ 4818406 w 7726088"/>
              <a:gd name="connsiteY3-8" fmla="*/ 6858000 h 6858000"/>
              <a:gd name="connsiteX4-9" fmla="*/ 0 w 7726088"/>
              <a:gd name="connsiteY4-10" fmla="*/ 6858000 h 6858000"/>
              <a:gd name="connsiteX5" fmla="*/ 0 w 7726088"/>
              <a:gd name="connsiteY5" fmla="*/ 0 h 6858000"/>
              <a:gd name="connsiteX0-11" fmla="*/ 0 w 7475152"/>
              <a:gd name="connsiteY0-12" fmla="*/ 0 h 6858000"/>
              <a:gd name="connsiteX1-13" fmla="*/ 4758970 w 7475152"/>
              <a:gd name="connsiteY1-14" fmla="*/ 0 h 6858000"/>
              <a:gd name="connsiteX2-15" fmla="*/ 7475152 w 7475152"/>
              <a:gd name="connsiteY2-16" fmla="*/ 3562973 h 6858000"/>
              <a:gd name="connsiteX3-17" fmla="*/ 4818406 w 7475152"/>
              <a:gd name="connsiteY3-18" fmla="*/ 6858000 h 6858000"/>
              <a:gd name="connsiteX4-19" fmla="*/ 0 w 7475152"/>
              <a:gd name="connsiteY4-20" fmla="*/ 6858000 h 6858000"/>
              <a:gd name="connsiteX5-21" fmla="*/ 0 w 7475152"/>
              <a:gd name="connsiteY5-22" fmla="*/ 0 h 6858000"/>
              <a:gd name="connsiteX0-23" fmla="*/ 0 w 7116672"/>
              <a:gd name="connsiteY0-24" fmla="*/ 0 h 6858000"/>
              <a:gd name="connsiteX1-25" fmla="*/ 4758970 w 7116672"/>
              <a:gd name="connsiteY1-26" fmla="*/ 0 h 6858000"/>
              <a:gd name="connsiteX2-27" fmla="*/ 7116672 w 7116672"/>
              <a:gd name="connsiteY2-28" fmla="*/ 3905873 h 6858000"/>
              <a:gd name="connsiteX3-29" fmla="*/ 4818406 w 7116672"/>
              <a:gd name="connsiteY3-30" fmla="*/ 6858000 h 6858000"/>
              <a:gd name="connsiteX4-31" fmla="*/ 0 w 7116672"/>
              <a:gd name="connsiteY4-32" fmla="*/ 6858000 h 6858000"/>
              <a:gd name="connsiteX5-33" fmla="*/ 0 w 7116672"/>
              <a:gd name="connsiteY5-34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7116672" h="6858000">
                <a:moveTo>
                  <a:pt x="0" y="0"/>
                </a:moveTo>
                <a:lnTo>
                  <a:pt x="4758970" y="0"/>
                </a:lnTo>
                <a:lnTo>
                  <a:pt x="7116672" y="3905873"/>
                </a:lnTo>
                <a:lnTo>
                  <a:pt x="481840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673099" y="5464017"/>
            <a:ext cx="56388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673099" y="2177752"/>
            <a:ext cx="5638801" cy="2686348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73099" y="705893"/>
            <a:ext cx="563880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1002164"/>
            <a:ext cx="563880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38" r="31682"/>
          <a:stretch>
            <a:fillRect/>
          </a:stretch>
        </p:blipFill>
        <p:spPr>
          <a:xfrm>
            <a:off x="8513190" y="0"/>
            <a:ext cx="3678809" cy="5155902"/>
          </a:xfrm>
          <a:prstGeom prst="rect">
            <a:avLst/>
          </a:prstGeom>
        </p:spPr>
      </p:pic>
      <p:pic>
        <p:nvPicPr>
          <p:cNvPr id="6" name="图片 5" descr="图片包含 游戏机, 画&#10;&#10;描述已自动生成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12"/>
          <a:stretch>
            <a:fillRect/>
          </a:stretch>
        </p:blipFill>
        <p:spPr>
          <a:xfrm>
            <a:off x="7696199" y="3247866"/>
            <a:ext cx="4495800" cy="36279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890"/>
            <a:ext cx="12192000" cy="6858000"/>
          </a:xfrm>
          <a:prstGeom prst="rect">
            <a:avLst/>
          </a:prstGeom>
        </p:spPr>
      </p:pic>
      <p:sp>
        <p:nvSpPr>
          <p:cNvPr id="6" name="iSlïḋè"/>
          <p:cNvSpPr/>
          <p:nvPr userDrawn="1"/>
        </p:nvSpPr>
        <p:spPr>
          <a:xfrm>
            <a:off x="0" y="0"/>
            <a:ext cx="12192000" cy="6849110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标题 19"/>
          <p:cNvSpPr>
            <a:spLocks noGrp="1"/>
          </p:cNvSpPr>
          <p:nvPr>
            <p:ph type="title"/>
          </p:nvPr>
        </p:nvSpPr>
        <p:spPr>
          <a:xfrm>
            <a:off x="2580698" y="2571408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0"/>
          <p:cNvSpPr>
            <a:spLocks noGrp="1"/>
          </p:cNvSpPr>
          <p:nvPr>
            <p:ph type="body" idx="1"/>
          </p:nvPr>
        </p:nvSpPr>
        <p:spPr>
          <a:xfrm>
            <a:off x="2581814" y="3466758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îsḻiḑè"/>
          <p:cNvSpPr/>
          <p:nvPr userDrawn="1"/>
        </p:nvSpPr>
        <p:spPr>
          <a:xfrm flipH="1">
            <a:off x="8597357" y="-452532"/>
            <a:ext cx="5385342" cy="5964814"/>
          </a:xfrm>
          <a:prstGeom prst="chevron">
            <a:avLst>
              <a:gd name="adj" fmla="val 45685"/>
            </a:avLst>
          </a:prstGeom>
          <a:solidFill>
            <a:srgbClr val="00B4FF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îṩlîḓè"/>
          <p:cNvSpPr/>
          <p:nvPr userDrawn="1"/>
        </p:nvSpPr>
        <p:spPr>
          <a:xfrm flipH="1">
            <a:off x="7644331" y="3019083"/>
            <a:ext cx="4501977" cy="4986397"/>
          </a:xfrm>
          <a:prstGeom prst="chevron">
            <a:avLst>
              <a:gd name="adj" fmla="val 53302"/>
            </a:avLst>
          </a:prstGeom>
          <a:solidFill>
            <a:srgbClr val="00B4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 userDrawn="1"/>
        </p:nvSpPr>
        <p:spPr>
          <a:xfrm>
            <a:off x="0" y="1662546"/>
            <a:ext cx="1787236" cy="5195454"/>
          </a:xfrm>
          <a:prstGeom prst="rtTriangle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>
            <a:off x="5403297" y="0"/>
            <a:ext cx="8049450" cy="6616678"/>
          </a:xfrm>
          <a:prstGeom prst="parallelogram">
            <a:avLst>
              <a:gd name="adj" fmla="val 52368"/>
            </a:avLst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0" y="6616678"/>
            <a:ext cx="12192000" cy="241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Rectangle 3"/>
          <p:cNvSpPr txBox="1">
            <a:spLocks noChangeArrowheads="1"/>
          </p:cNvSpPr>
          <p:nvPr userDrawn="1"/>
        </p:nvSpPr>
        <p:spPr bwMode="auto">
          <a:xfrm>
            <a:off x="0" y="6649586"/>
            <a:ext cx="12192000" cy="4058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algn="ctr"/>
            <a:r>
              <a: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</a:t>
            </a:r>
            <a:r>
              <a:rPr lang="en-US" altLang="zh-CN" sz="8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2020 BCC.Global All Rights Reserved.</a:t>
            </a:r>
            <a:endParaRPr lang="zh-CN" altLang="zh-CN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406932"/>
            <a:ext cx="3831779" cy="358567"/>
          </a:xfrm>
        </p:spPr>
        <p:txBody>
          <a:bodyPr/>
          <a:lstStyle>
            <a:lvl1pPr algn="l">
              <a:defRPr sz="2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464861" y="531590"/>
            <a:ext cx="2459328" cy="233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20" i="1" dirty="0">
                <a:solidFill>
                  <a:srgbClr val="4D4D4D"/>
                </a:solidFill>
              </a:rPr>
              <a:t>Your Research Partner in China since 2008</a:t>
            </a:r>
            <a:endParaRPr kumimoji="1" lang="zh-CN" altLang="en-US" sz="920" dirty="0">
              <a:solidFill>
                <a:srgbClr val="4D4D4D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6866" y="319791"/>
            <a:ext cx="2256533" cy="174285"/>
          </a:xfrm>
          <a:prstGeom prst="rect">
            <a:avLst/>
          </a:prstGeom>
        </p:spPr>
      </p:pic>
      <p:cxnSp>
        <p:nvCxnSpPr>
          <p:cNvPr id="19" name="直线连接符 18"/>
          <p:cNvCxnSpPr/>
          <p:nvPr userDrawn="1"/>
        </p:nvCxnSpPr>
        <p:spPr>
          <a:xfrm>
            <a:off x="756979" y="150628"/>
            <a:ext cx="0" cy="7164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890"/>
            <a:ext cx="12192000" cy="6858000"/>
          </a:xfrm>
          <a:prstGeom prst="rect">
            <a:avLst/>
          </a:prstGeom>
        </p:spPr>
      </p:pic>
      <p:sp>
        <p:nvSpPr>
          <p:cNvPr id="9" name="i$ḷiḓè"/>
          <p:cNvSpPr/>
          <p:nvPr userDrawn="1"/>
        </p:nvSpPr>
        <p:spPr>
          <a:xfrm flipH="1">
            <a:off x="4628242" y="0"/>
            <a:ext cx="7563756" cy="6858000"/>
          </a:xfrm>
          <a:custGeom>
            <a:avLst/>
            <a:gdLst>
              <a:gd name="connsiteX0" fmla="*/ 0 w 6937433"/>
              <a:gd name="connsiteY0" fmla="*/ 0 h 6858000"/>
              <a:gd name="connsiteX1" fmla="*/ 4758970 w 6937433"/>
              <a:gd name="connsiteY1" fmla="*/ 0 h 6858000"/>
              <a:gd name="connsiteX2" fmla="*/ 6937433 w 6937433"/>
              <a:gd name="connsiteY2" fmla="*/ 4191623 h 6858000"/>
              <a:gd name="connsiteX3" fmla="*/ 4818406 w 6937433"/>
              <a:gd name="connsiteY3" fmla="*/ 6858000 h 6858000"/>
              <a:gd name="connsiteX4" fmla="*/ 0 w 6937433"/>
              <a:gd name="connsiteY4" fmla="*/ 6858000 h 6858000"/>
              <a:gd name="connsiteX0-1" fmla="*/ 0 w 7726088"/>
              <a:gd name="connsiteY0-2" fmla="*/ 0 h 6858000"/>
              <a:gd name="connsiteX1-3" fmla="*/ 4758970 w 7726088"/>
              <a:gd name="connsiteY1-4" fmla="*/ 0 h 6858000"/>
              <a:gd name="connsiteX2-5" fmla="*/ 7726088 w 7726088"/>
              <a:gd name="connsiteY2-6" fmla="*/ 2762873 h 6858000"/>
              <a:gd name="connsiteX3-7" fmla="*/ 4818406 w 7726088"/>
              <a:gd name="connsiteY3-8" fmla="*/ 6858000 h 6858000"/>
              <a:gd name="connsiteX4-9" fmla="*/ 0 w 7726088"/>
              <a:gd name="connsiteY4-10" fmla="*/ 6858000 h 6858000"/>
              <a:gd name="connsiteX5" fmla="*/ 0 w 7726088"/>
              <a:gd name="connsiteY5" fmla="*/ 0 h 6858000"/>
              <a:gd name="connsiteX0-11" fmla="*/ 0 w 7475152"/>
              <a:gd name="connsiteY0-12" fmla="*/ 0 h 6858000"/>
              <a:gd name="connsiteX1-13" fmla="*/ 4758970 w 7475152"/>
              <a:gd name="connsiteY1-14" fmla="*/ 0 h 6858000"/>
              <a:gd name="connsiteX2-15" fmla="*/ 7475152 w 7475152"/>
              <a:gd name="connsiteY2-16" fmla="*/ 3562973 h 6858000"/>
              <a:gd name="connsiteX3-17" fmla="*/ 4818406 w 7475152"/>
              <a:gd name="connsiteY3-18" fmla="*/ 6858000 h 6858000"/>
              <a:gd name="connsiteX4-19" fmla="*/ 0 w 7475152"/>
              <a:gd name="connsiteY4-20" fmla="*/ 6858000 h 6858000"/>
              <a:gd name="connsiteX5-21" fmla="*/ 0 w 7475152"/>
              <a:gd name="connsiteY5-22" fmla="*/ 0 h 6858000"/>
              <a:gd name="connsiteX0-23" fmla="*/ 0 w 7116672"/>
              <a:gd name="connsiteY0-24" fmla="*/ 0 h 6858000"/>
              <a:gd name="connsiteX1-25" fmla="*/ 4758970 w 7116672"/>
              <a:gd name="connsiteY1-26" fmla="*/ 0 h 6858000"/>
              <a:gd name="connsiteX2-27" fmla="*/ 7116672 w 7116672"/>
              <a:gd name="connsiteY2-28" fmla="*/ 3905873 h 6858000"/>
              <a:gd name="connsiteX3-29" fmla="*/ 4818406 w 7116672"/>
              <a:gd name="connsiteY3-30" fmla="*/ 6858000 h 6858000"/>
              <a:gd name="connsiteX4-31" fmla="*/ 0 w 7116672"/>
              <a:gd name="connsiteY4-32" fmla="*/ 6858000 h 6858000"/>
              <a:gd name="connsiteX5-33" fmla="*/ 0 w 7116672"/>
              <a:gd name="connsiteY5-34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7116672" h="6858000">
                <a:moveTo>
                  <a:pt x="0" y="0"/>
                </a:moveTo>
                <a:lnTo>
                  <a:pt x="4758970" y="0"/>
                </a:lnTo>
                <a:lnTo>
                  <a:pt x="7116672" y="3905873"/>
                </a:lnTo>
                <a:lnTo>
                  <a:pt x="481840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iṥļiďé"/>
          <p:cNvSpPr/>
          <p:nvPr userDrawn="1"/>
        </p:nvSpPr>
        <p:spPr>
          <a:xfrm flipH="1">
            <a:off x="4351907" y="0"/>
            <a:ext cx="7840092" cy="6858000"/>
          </a:xfrm>
          <a:custGeom>
            <a:avLst/>
            <a:gdLst>
              <a:gd name="connsiteX0" fmla="*/ 0 w 6937433"/>
              <a:gd name="connsiteY0" fmla="*/ 0 h 6858000"/>
              <a:gd name="connsiteX1" fmla="*/ 4758970 w 6937433"/>
              <a:gd name="connsiteY1" fmla="*/ 0 h 6858000"/>
              <a:gd name="connsiteX2" fmla="*/ 6937433 w 6937433"/>
              <a:gd name="connsiteY2" fmla="*/ 4191623 h 6858000"/>
              <a:gd name="connsiteX3" fmla="*/ 4818406 w 6937433"/>
              <a:gd name="connsiteY3" fmla="*/ 6858000 h 6858000"/>
              <a:gd name="connsiteX4" fmla="*/ 0 w 6937433"/>
              <a:gd name="connsiteY4" fmla="*/ 6858000 h 6858000"/>
              <a:gd name="connsiteX0-1" fmla="*/ 0 w 7726088"/>
              <a:gd name="connsiteY0-2" fmla="*/ 0 h 6858000"/>
              <a:gd name="connsiteX1-3" fmla="*/ 4758970 w 7726088"/>
              <a:gd name="connsiteY1-4" fmla="*/ 0 h 6858000"/>
              <a:gd name="connsiteX2-5" fmla="*/ 7726088 w 7726088"/>
              <a:gd name="connsiteY2-6" fmla="*/ 2762873 h 6858000"/>
              <a:gd name="connsiteX3-7" fmla="*/ 4818406 w 7726088"/>
              <a:gd name="connsiteY3-8" fmla="*/ 6858000 h 6858000"/>
              <a:gd name="connsiteX4-9" fmla="*/ 0 w 7726088"/>
              <a:gd name="connsiteY4-10" fmla="*/ 6858000 h 6858000"/>
              <a:gd name="connsiteX5" fmla="*/ 0 w 7726088"/>
              <a:gd name="connsiteY5" fmla="*/ 0 h 6858000"/>
              <a:gd name="connsiteX0-11" fmla="*/ 0 w 7475152"/>
              <a:gd name="connsiteY0-12" fmla="*/ 0 h 6858000"/>
              <a:gd name="connsiteX1-13" fmla="*/ 4758970 w 7475152"/>
              <a:gd name="connsiteY1-14" fmla="*/ 0 h 6858000"/>
              <a:gd name="connsiteX2-15" fmla="*/ 7475152 w 7475152"/>
              <a:gd name="connsiteY2-16" fmla="*/ 3562973 h 6858000"/>
              <a:gd name="connsiteX3-17" fmla="*/ 4818406 w 7475152"/>
              <a:gd name="connsiteY3-18" fmla="*/ 6858000 h 6858000"/>
              <a:gd name="connsiteX4-19" fmla="*/ 0 w 7475152"/>
              <a:gd name="connsiteY4-20" fmla="*/ 6858000 h 6858000"/>
              <a:gd name="connsiteX5-21" fmla="*/ 0 w 7475152"/>
              <a:gd name="connsiteY5-22" fmla="*/ 0 h 6858000"/>
              <a:gd name="connsiteX0-23" fmla="*/ 0 w 7116672"/>
              <a:gd name="connsiteY0-24" fmla="*/ 0 h 6858000"/>
              <a:gd name="connsiteX1-25" fmla="*/ 4758970 w 7116672"/>
              <a:gd name="connsiteY1-26" fmla="*/ 0 h 6858000"/>
              <a:gd name="connsiteX2-27" fmla="*/ 7116672 w 7116672"/>
              <a:gd name="connsiteY2-28" fmla="*/ 3905873 h 6858000"/>
              <a:gd name="connsiteX3-29" fmla="*/ 4818406 w 7116672"/>
              <a:gd name="connsiteY3-30" fmla="*/ 6858000 h 6858000"/>
              <a:gd name="connsiteX4-31" fmla="*/ 0 w 7116672"/>
              <a:gd name="connsiteY4-32" fmla="*/ 6858000 h 6858000"/>
              <a:gd name="connsiteX5-33" fmla="*/ 0 w 7116672"/>
              <a:gd name="connsiteY5-34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7116672" h="6858000">
                <a:moveTo>
                  <a:pt x="0" y="0"/>
                </a:moveTo>
                <a:lnTo>
                  <a:pt x="4758970" y="0"/>
                </a:lnTo>
                <a:lnTo>
                  <a:pt x="7116672" y="3905873"/>
                </a:lnTo>
                <a:lnTo>
                  <a:pt x="481840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 12"/>
          <p:cNvSpPr>
            <a:spLocks noGrp="1"/>
          </p:cNvSpPr>
          <p:nvPr>
            <p:ph type="ctrTitle" hasCustomPrompt="1"/>
          </p:nvPr>
        </p:nvSpPr>
        <p:spPr>
          <a:xfrm>
            <a:off x="673100" y="1985963"/>
            <a:ext cx="10845798" cy="162150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 hasCustomPrompt="1"/>
          </p:nvPr>
        </p:nvSpPr>
        <p:spPr>
          <a:xfrm>
            <a:off x="673100" y="4292199"/>
            <a:ext cx="108457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1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673102" y="3995928"/>
            <a:ext cx="10845798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pic>
        <p:nvPicPr>
          <p:cNvPr id="17" name="图片 16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38" r="31682"/>
          <a:stretch>
            <a:fillRect/>
          </a:stretch>
        </p:blipFill>
        <p:spPr>
          <a:xfrm rot="10800000">
            <a:off x="-2" y="8890"/>
            <a:ext cx="3678809" cy="5155902"/>
          </a:xfrm>
          <a:prstGeom prst="rect">
            <a:avLst/>
          </a:prstGeom>
        </p:spPr>
      </p:pic>
      <p:pic>
        <p:nvPicPr>
          <p:cNvPr id="18" name="图片 17" descr="图片包含 游戏机, 画&#10;&#10;描述已自动生成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2" b="27312"/>
          <a:stretch>
            <a:fillRect/>
          </a:stretch>
        </p:blipFill>
        <p:spPr>
          <a:xfrm rot="10800000">
            <a:off x="-3" y="3247866"/>
            <a:ext cx="3678810" cy="36279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2C919-36F7-1AAE-EE59-31FFA888A6E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37987" y="6672580"/>
            <a:ext cx="7381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18" Type="http://schemas.openxmlformats.org/officeDocument/2006/relationships/image" Target="../media/image45.png"/><Relationship Id="rId3" Type="http://schemas.openxmlformats.org/officeDocument/2006/relationships/image" Target="../media/image30.svg"/><Relationship Id="rId21" Type="http://schemas.openxmlformats.org/officeDocument/2006/relationships/image" Target="../media/image48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17" Type="http://schemas.openxmlformats.org/officeDocument/2006/relationships/image" Target="../media/image44.svg"/><Relationship Id="rId25" Type="http://schemas.openxmlformats.org/officeDocument/2006/relationships/image" Target="../media/image52.sv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24" Type="http://schemas.openxmlformats.org/officeDocument/2006/relationships/image" Target="../media/image51.png"/><Relationship Id="rId5" Type="http://schemas.openxmlformats.org/officeDocument/2006/relationships/image" Target="../media/image32.svg"/><Relationship Id="rId15" Type="http://schemas.openxmlformats.org/officeDocument/2006/relationships/image" Target="../media/image42.svg"/><Relationship Id="rId23" Type="http://schemas.openxmlformats.org/officeDocument/2006/relationships/image" Target="../media/image50.svg"/><Relationship Id="rId10" Type="http://schemas.openxmlformats.org/officeDocument/2006/relationships/image" Target="../media/image37.png"/><Relationship Id="rId19" Type="http://schemas.openxmlformats.org/officeDocument/2006/relationships/image" Target="../media/image46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59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9525" imgH="9525" progId="TCLayout.ActiveDocument.1">
                  <p:embed/>
                </p:oleObj>
              </mc:Choice>
              <mc:Fallback>
                <p:oleObj name="think-cell Slide" r:id="rId3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Microsoft YaHei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592455" y="2750185"/>
            <a:ext cx="5264785" cy="756920"/>
          </a:xfrm>
        </p:spPr>
        <p:txBody>
          <a:bodyPr>
            <a:noAutofit/>
          </a:bodyPr>
          <a:lstStyle/>
          <a:p>
            <a:pPr algn="l"/>
            <a:r>
              <a:rPr lang="zh-CN" altLang="en-US" sz="3200" i="1" dirty="0">
                <a:solidFill>
                  <a:srgbClr val="4D4D4D"/>
                </a:solidFill>
              </a:rPr>
              <a:t>数据中台建设思路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2774315" y="3659505"/>
            <a:ext cx="2957830" cy="580390"/>
          </a:xfrm>
        </p:spPr>
        <p:txBody>
          <a:bodyPr/>
          <a:lstStyle/>
          <a:p>
            <a:pPr algn="r"/>
            <a:r>
              <a:rPr lang="zh-CN" altLang="en-US"/>
              <a:t>吴万港</a:t>
            </a:r>
          </a:p>
          <a:p>
            <a:pPr algn="r"/>
            <a:r>
              <a:rPr lang="en-US" altLang="zh-CN"/>
              <a:t>2021.10.28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</a:t>
            </a:fld>
            <a:endParaRPr lang="zh-CN" altLang="en-US" dirty="0"/>
          </a:p>
        </p:txBody>
      </p:sp>
      <p:graphicFrame>
        <p:nvGraphicFramePr>
          <p:cNvPr id="26" name="图示 25"/>
          <p:cNvGraphicFramePr/>
          <p:nvPr/>
        </p:nvGraphicFramePr>
        <p:xfrm>
          <a:off x="3699510" y="1294130"/>
          <a:ext cx="6669405" cy="4917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765" y="1294130"/>
            <a:ext cx="2984500" cy="491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460783" y="2161079"/>
            <a:ext cx="2352980" cy="2352980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50000"/>
              </a:prstClr>
            </a:outerShdw>
          </a:effectLst>
        </p:grpSpPr>
        <p:sp>
          <p:nvSpPr>
            <p:cNvPr id="6" name="同心圆 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sp>
        <p:nvSpPr>
          <p:cNvPr id="21506" name="矩形 6"/>
          <p:cNvSpPr/>
          <p:nvPr/>
        </p:nvSpPr>
        <p:spPr>
          <a:xfrm>
            <a:off x="1709103" y="2827655"/>
            <a:ext cx="2138362" cy="8620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defTabSz="933450"/>
            <a:r>
              <a:rPr lang="zh-CN" altLang="en-US" sz="50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目 录</a:t>
            </a:r>
          </a:p>
        </p:txBody>
      </p:sp>
      <p:sp>
        <p:nvSpPr>
          <p:cNvPr id="21507" name="Rectangle 4"/>
          <p:cNvSpPr txBox="1"/>
          <p:nvPr/>
        </p:nvSpPr>
        <p:spPr>
          <a:xfrm>
            <a:off x="1923415" y="3599180"/>
            <a:ext cx="1373188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68571" tIns="34285" rIns="68571" bIns="34285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CATALOG</a:t>
            </a:r>
          </a:p>
        </p:txBody>
      </p:sp>
      <p:sp>
        <p:nvSpPr>
          <p:cNvPr id="9" name="TextBox 64"/>
          <p:cNvSpPr txBox="1"/>
          <p:nvPr/>
        </p:nvSpPr>
        <p:spPr>
          <a:xfrm>
            <a:off x="5307965" y="1792541"/>
            <a:ext cx="3679825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fontAlgn="ctr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PART 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01    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关于数据中台</a:t>
            </a:r>
          </a:p>
        </p:txBody>
      </p:sp>
      <p:sp>
        <p:nvSpPr>
          <p:cNvPr id="11" name="TextBox 64"/>
          <p:cNvSpPr txBox="1"/>
          <p:nvPr/>
        </p:nvSpPr>
        <p:spPr>
          <a:xfrm>
            <a:off x="5307965" y="2640107"/>
            <a:ext cx="4136390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fontAlgn="ctr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PART 02 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  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数据中台能力调查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4549140" y="1660619"/>
            <a:ext cx="5257800" cy="635000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549140" y="2530569"/>
            <a:ext cx="5257800" cy="636588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TextBox 64"/>
          <p:cNvSpPr txBox="1"/>
          <p:nvPr/>
        </p:nvSpPr>
        <p:spPr>
          <a:xfrm>
            <a:off x="5307965" y="3511645"/>
            <a:ext cx="4136390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fontAlgn="ctr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PART 03  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   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数据中台架构</a:t>
            </a:r>
          </a:p>
        </p:txBody>
      </p:sp>
      <p:sp>
        <p:nvSpPr>
          <p:cNvPr id="13" name="圆角矩形 29"/>
          <p:cNvSpPr/>
          <p:nvPr/>
        </p:nvSpPr>
        <p:spPr>
          <a:xfrm>
            <a:off x="4549140" y="3402107"/>
            <a:ext cx="5257800" cy="636588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4" name="TextBox 64"/>
          <p:cNvSpPr txBox="1"/>
          <p:nvPr/>
        </p:nvSpPr>
        <p:spPr>
          <a:xfrm>
            <a:off x="5307965" y="4383183"/>
            <a:ext cx="4136390" cy="429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fontAlgn="ctr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PART 04  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   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总结</a:t>
            </a:r>
          </a:p>
        </p:txBody>
      </p:sp>
      <p:sp>
        <p:nvSpPr>
          <p:cNvPr id="15" name="圆角矩形 29"/>
          <p:cNvSpPr/>
          <p:nvPr/>
        </p:nvSpPr>
        <p:spPr>
          <a:xfrm>
            <a:off x="4549140" y="4273645"/>
            <a:ext cx="5257800" cy="636588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5585460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关于数据中台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85670" y="2274948"/>
            <a:ext cx="101775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数据中台是一套可持续</a:t>
            </a:r>
            <a:r>
              <a:rPr lang="en-US" altLang="zh-CN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“</a:t>
            </a:r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让企业的数据用起来</a:t>
            </a:r>
            <a:r>
              <a:rPr lang="en-US" altLang="zh-CN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”</a:t>
            </a:r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的机制，一种战略选择和组织形式，是依据企业的业务模式和组织架构，以有型的产品和实施方法论为基础，构建一套持续不断把数据变成资产并服务于业务的机制。</a:t>
            </a:r>
          </a:p>
          <a:p>
            <a:pPr algn="just"/>
            <a:endParaRPr lang="zh-CN" altLang="en-US" sz="2400" dirty="0">
              <a:solidFill>
                <a:srgbClr val="44444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5585460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关于数据中台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85825" y="1084580"/>
            <a:ext cx="8680450" cy="47275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66275" y="3019425"/>
            <a:ext cx="25533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从左到右流动</a:t>
            </a:r>
          </a:p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从业务中来</a:t>
            </a:r>
          </a:p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抽象业务</a:t>
            </a:r>
          </a:p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应用于业务</a:t>
            </a:r>
          </a:p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服务于业务</a:t>
            </a:r>
          </a:p>
          <a:p>
            <a:pPr algn="just"/>
            <a:endParaRPr lang="zh-CN" altLang="en-US" sz="2400" dirty="0">
              <a:solidFill>
                <a:srgbClr val="44444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5585460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数据中台能力</a:t>
            </a:r>
            <a:r>
              <a:rPr lang="en-US" altLang="zh-CN" sz="2600" dirty="0">
                <a:solidFill>
                  <a:srgbClr val="3366CC"/>
                </a:solidFill>
              </a:rPr>
              <a:t>---</a:t>
            </a:r>
            <a:r>
              <a:rPr lang="zh-CN" altLang="en-US" sz="2000" dirty="0">
                <a:solidFill>
                  <a:srgbClr val="3366CC"/>
                </a:solidFill>
              </a:rPr>
              <a:t>整合和管理能力调查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" y="1219835"/>
            <a:ext cx="3290570" cy="491998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/>
        </p:nvSpPr>
        <p:spPr>
          <a:xfrm>
            <a:off x="4299585" y="1156970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数据丰富和完善：合并及完善多样的数据源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299585" y="1677670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管理渐变：可视化任务配置以及丰富的监控管理功能</a:t>
            </a: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4299585" y="2198370"/>
            <a:ext cx="6181725" cy="730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</a:pPr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数据集成与运营：数据中台能够接入、转换、写入或缓存多种来源的数据</a:t>
            </a:r>
          </a:p>
        </p:txBody>
      </p:sp>
      <p:sp>
        <p:nvSpPr>
          <p:cNvPr id="10" name="标题 1"/>
          <p:cNvSpPr>
            <a:spLocks noGrp="1"/>
          </p:cNvSpPr>
          <p:nvPr/>
        </p:nvSpPr>
        <p:spPr>
          <a:xfrm>
            <a:off x="4299585" y="3196590"/>
            <a:ext cx="6181725" cy="730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</a:pPr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数据目录与治理：数据用户可以方便定位所需数据，理解数据</a:t>
            </a: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4299585" y="4194810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数据安全：确保数据的访问权限</a:t>
            </a:r>
          </a:p>
        </p:txBody>
      </p:sp>
      <p:sp>
        <p:nvSpPr>
          <p:cNvPr id="13" name="标题 1"/>
          <p:cNvSpPr>
            <a:spLocks noGrp="1"/>
          </p:cNvSpPr>
          <p:nvPr/>
        </p:nvSpPr>
        <p:spPr>
          <a:xfrm>
            <a:off x="4299585" y="4754245"/>
            <a:ext cx="6181725" cy="730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</a:pPr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数据可用：用户便捷、可扩展访问异构数据，高可用性和高易用性</a:t>
            </a:r>
          </a:p>
        </p:txBody>
      </p:sp>
      <p:sp>
        <p:nvSpPr>
          <p:cNvPr id="14" name="标题 1"/>
          <p:cNvSpPr>
            <a:spLocks noGrp="1"/>
          </p:cNvSpPr>
          <p:nvPr/>
        </p:nvSpPr>
        <p:spPr>
          <a:xfrm>
            <a:off x="4299585" y="5617845"/>
            <a:ext cx="6181725" cy="730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</a:pPr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灵活部署：支持本地部署，公有云、私有云、混合云等模式部署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5585460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数据中台能力</a:t>
            </a:r>
            <a:r>
              <a:rPr lang="en-US" altLang="zh-CN" sz="2600" dirty="0">
                <a:solidFill>
                  <a:srgbClr val="3366CC"/>
                </a:solidFill>
              </a:rPr>
              <a:t>--</a:t>
            </a:r>
            <a:r>
              <a:rPr lang="en-US" altLang="zh-CN" sz="2000" dirty="0">
                <a:solidFill>
                  <a:srgbClr val="3366CC"/>
                </a:solidFill>
              </a:rPr>
              <a:t>-</a:t>
            </a:r>
            <a:r>
              <a:rPr lang="zh-CN" altLang="en-US" sz="2000" dirty="0">
                <a:solidFill>
                  <a:srgbClr val="3366CC"/>
                </a:solidFill>
              </a:rPr>
              <a:t>资产化能力调查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299585" y="1260475"/>
            <a:ext cx="6181725" cy="462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完善的安全访问控制</a:t>
            </a: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4299585" y="2084705"/>
            <a:ext cx="6181725" cy="445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</a:pPr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完善的数据质量保障体系</a:t>
            </a: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4299585" y="289242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规范、紧密结合业务的可扩展标签体系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35" y="1156970"/>
            <a:ext cx="3307080" cy="377444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4299585" y="3649980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面向业务主题的资产平台</a:t>
            </a:r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4299585" y="4406900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智能的数据映射功能，简化数据资产生成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5585460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数据中台能力</a:t>
            </a:r>
            <a:r>
              <a:rPr lang="en-US" altLang="zh-CN" sz="2600" dirty="0">
                <a:solidFill>
                  <a:srgbClr val="3366CC"/>
                </a:solidFill>
              </a:rPr>
              <a:t>---</a:t>
            </a:r>
            <a:r>
              <a:rPr lang="zh-CN" altLang="en-US" sz="2000" dirty="0">
                <a:solidFill>
                  <a:srgbClr val="3366CC"/>
                </a:solidFill>
              </a:rPr>
              <a:t>服务化能力调查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299585" y="1260475"/>
            <a:ext cx="6181725" cy="462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提供自然语言处理等人工智能服务</a:t>
            </a: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4299585" y="1932940"/>
            <a:ext cx="6181725" cy="445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</a:pPr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丰富的数据分析功能</a:t>
            </a: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4299585" y="258889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友好可视化服务能力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299585" y="330898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便捷、快速的开发环境，便于业务人员开发数据应用</a:t>
            </a:r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4299585" y="393382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提供实时流数据分析能力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260475"/>
            <a:ext cx="3311525" cy="3759200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/>
        </p:nvSpPr>
        <p:spPr>
          <a:xfrm>
            <a:off x="4299585" y="455866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预测分析、机器学习等高级服务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5585460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数据中台能力</a:t>
            </a:r>
            <a:r>
              <a:rPr lang="en-US" altLang="zh-CN" sz="2600" dirty="0">
                <a:solidFill>
                  <a:srgbClr val="3366CC"/>
                </a:solidFill>
              </a:rPr>
              <a:t>---</a:t>
            </a:r>
            <a:r>
              <a:rPr lang="zh-CN" altLang="en-US" sz="2000" dirty="0">
                <a:solidFill>
                  <a:srgbClr val="3366CC"/>
                </a:solidFill>
              </a:rPr>
              <a:t>价值变现能力调查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28625"/>
            <a:ext cx="315595" cy="23495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299585" y="1260475"/>
            <a:ext cx="6181725" cy="462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数据应用的管理能力</a:t>
            </a: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4299585" y="1932940"/>
            <a:ext cx="6181725" cy="445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00000"/>
              </a:lnSpc>
            </a:pPr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数据洞察直接驱动业务行动的路径</a:t>
            </a: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4299585" y="263080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跨业务场景的能力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299585" y="325564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普适性业务能力</a:t>
            </a:r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4299585" y="393382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基于场景的数据应用</a:t>
            </a:r>
            <a:endParaRPr lang="en-US" altLang="zh-CN" sz="2000" b="0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299585" y="4558665"/>
            <a:ext cx="6181725" cy="426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业务行动效果评估功能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261110"/>
            <a:ext cx="3299460" cy="3723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669290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数据中台能力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价值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878847" y="1045444"/>
            <a:ext cx="1059688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总结：数据中台是把生产资料转变为生产数据生产力的过程</a:t>
            </a:r>
            <a:r>
              <a:rPr lang="en-US" altLang="zh-CN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---</a:t>
            </a:r>
            <a:r>
              <a:rPr lang="zh-CN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数据驱动决策、运营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85670" y="2078866"/>
            <a:ext cx="400748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业务价值 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336303" y="2117601"/>
            <a:ext cx="391604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技术价值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85825" y="2717800"/>
            <a:ext cx="363347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业务创新、形成核心壁垒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418853" y="2717766"/>
            <a:ext cx="5055138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3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r>
              <a:rPr lang="zh-CN" altLang="en-US" sz="1800" dirty="0">
                <a:sym typeface="+mn-ea"/>
              </a:rPr>
              <a:t>成本低、能力多、应用广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965100" y="2449449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418450" y="2449449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85825" y="3456940"/>
            <a:ext cx="491363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以客户为中心，用洞察驱动企业稳健行动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以数据为基础，直观大规模商业模式创新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盘活全量数据，构筑坚实壁垒持续领先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36030" y="3456940"/>
            <a:ext cx="539623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支持多数据处理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丰富标签数据，减低管理成本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数据价值不仅体现准确度，更体现业务系统效果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支持跨主题域访问数据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支持复制，且支持快速复用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数据中台能力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能力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3845156" y="1804921"/>
            <a:ext cx="1926544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kumimoji="1"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数据可视服务</a:t>
            </a:r>
            <a:endParaRPr dirty="0"/>
          </a:p>
          <a:p>
            <a:r>
              <a:rPr lang="zh-CN" dirty="0"/>
              <a:t>数据开发平台</a:t>
            </a:r>
            <a:endParaRPr dirty="0"/>
          </a:p>
          <a:p>
            <a:r>
              <a:rPr lang="en-US" dirty="0"/>
              <a:t>AI</a:t>
            </a:r>
            <a:r>
              <a:rPr lang="zh-CN" altLang="en-US" dirty="0"/>
              <a:t>服务能力</a:t>
            </a:r>
            <a:endParaRPr dirty="0"/>
          </a:p>
          <a:p>
            <a:r>
              <a:rPr lang="zh-CN" dirty="0"/>
              <a:t>数据分析能力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37867" y="1447854"/>
            <a:ext cx="1555115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服务可视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920461" y="1775460"/>
            <a:ext cx="174053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kumimoji="1"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r>
              <a:rPr lang="zh-CN" dirty="0"/>
              <a:t>管理便捷</a:t>
            </a:r>
            <a:endParaRPr dirty="0"/>
          </a:p>
          <a:p>
            <a:r>
              <a:rPr lang="zh-CN" dirty="0"/>
              <a:t>集成与运营</a:t>
            </a:r>
            <a:endParaRPr dirty="0"/>
          </a:p>
          <a:p>
            <a:r>
              <a:rPr lang="zh-CN" dirty="0"/>
              <a:t>确保访问权限</a:t>
            </a:r>
            <a:endParaRPr dirty="0"/>
          </a:p>
          <a:p>
            <a:r>
              <a:rPr lang="zh-CN" dirty="0"/>
              <a:t>数据可用</a:t>
            </a:r>
            <a:endParaRPr dirty="0"/>
          </a:p>
        </p:txBody>
      </p:sp>
      <p:sp>
        <p:nvSpPr>
          <p:cNvPr id="52" name="TextBox 30"/>
          <p:cNvSpPr txBox="1"/>
          <p:nvPr/>
        </p:nvSpPr>
        <p:spPr>
          <a:xfrm>
            <a:off x="7013172" y="1447854"/>
            <a:ext cx="1555115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汇聚整合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9770745" y="1935480"/>
            <a:ext cx="20878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kumimoji="1"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r>
              <a:rPr lang="zh-CN" dirty="0"/>
              <a:t>跨部门实现业务价值</a:t>
            </a:r>
            <a:endParaRPr dirty="0"/>
          </a:p>
          <a:p>
            <a:r>
              <a:rPr lang="zh-CN" dirty="0"/>
              <a:t>数据应用管理</a:t>
            </a:r>
            <a:endParaRPr dirty="0"/>
          </a:p>
          <a:p>
            <a:r>
              <a:rPr lang="zh-CN" dirty="0"/>
              <a:t>洞察驱动业务的路径</a:t>
            </a:r>
          </a:p>
          <a:p>
            <a:r>
              <a:rPr lang="zh-CN" dirty="0"/>
              <a:t>面向场景的数据应用</a:t>
            </a:r>
          </a:p>
        </p:txBody>
      </p:sp>
      <p:sp>
        <p:nvSpPr>
          <p:cNvPr id="57" name="TextBox 30"/>
          <p:cNvSpPr txBox="1"/>
          <p:nvPr/>
        </p:nvSpPr>
        <p:spPr>
          <a:xfrm>
            <a:off x="9820132" y="1447854"/>
            <a:ext cx="1555115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价值变现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32249" y="1804921"/>
            <a:ext cx="174053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标签体系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智能的数据映射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质量保障体系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完善的安全防控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731135" y="1406525"/>
            <a:ext cx="989330" cy="2679700"/>
          </a:xfrm>
          <a:prstGeom prst="rect">
            <a:avLst/>
          </a:prstGeom>
        </p:spPr>
      </p:pic>
      <p:sp>
        <p:nvSpPr>
          <p:cNvPr id="25" name="TextBox 30"/>
          <p:cNvSpPr txBox="1"/>
          <p:nvPr/>
        </p:nvSpPr>
        <p:spPr>
          <a:xfrm>
            <a:off x="1000178" y="1447854"/>
            <a:ext cx="1555115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rgbClr val="3366CC"/>
                </a:solidFill>
              </a:rPr>
              <a:t>提纯加工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5876290" y="1406525"/>
            <a:ext cx="989330" cy="267970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687435" y="1406525"/>
            <a:ext cx="98933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991235"/>
            <a:ext cx="1101725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中台与应用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80055"/>
            <a:ext cx="10828655" cy="3388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365885"/>
            <a:ext cx="10828020" cy="1511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全局架构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223770"/>
            <a:ext cx="10885805" cy="26682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129030"/>
            <a:ext cx="10828020" cy="10947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892040"/>
            <a:ext cx="10828020" cy="1779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29870"/>
            <a:ext cx="7839075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数据中台架构</a:t>
            </a:r>
            <a:r>
              <a:rPr lang="en-US" altLang="zh-CN" sz="2600" dirty="0">
                <a:solidFill>
                  <a:srgbClr val="3366CC"/>
                </a:solidFill>
              </a:rPr>
              <a:t>--</a:t>
            </a:r>
            <a:r>
              <a:rPr lang="zh-CN" altLang="en-US" sz="2000" dirty="0">
                <a:solidFill>
                  <a:srgbClr val="3366CC"/>
                </a:solidFill>
              </a:rPr>
              <a:t>数据汇聚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381635"/>
            <a:ext cx="716915" cy="24447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18708" y="1198741"/>
            <a:ext cx="10321359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>
              <a:buClrTx/>
              <a:buSzTx/>
              <a:buFontTx/>
            </a:pPr>
            <a:r>
              <a:rPr lang="zh-CN" altLang="en-US" sz="1800" b="1" dirty="0">
                <a:solidFill>
                  <a:srgbClr val="2C5BC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数据汇聚</a:t>
            </a:r>
          </a:p>
          <a:p>
            <a:pPr algn="just"/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数据数据中台的核心工具，把各种异构网络、异构数据源的数据方便地采集到数据中台进行集中存储，为后续的加工建模做准备。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algn="just"/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just">
              <a:buClrTx/>
              <a:buSzTx/>
              <a:buFontTx/>
            </a:pPr>
            <a:r>
              <a:rPr lang="zh-CN" altLang="en-US" sz="1800" b="1" dirty="0">
                <a:solidFill>
                  <a:srgbClr val="2C5BC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数据汇聚方式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903450" y="2922657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14475" y="3063875"/>
            <a:ext cx="29140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数据库同步；</a:t>
            </a:r>
            <a:endParaRPr lang="en-US" altLang="zh-CN" sz="15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285750" indent="-28575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埋点；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网络爬虫；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消息队列。</a:t>
            </a:r>
            <a:endParaRPr lang="en-US" altLang="zh-CN" sz="15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iconfont-1043-183947"/>
          <p:cNvSpPr>
            <a:spLocks noChangeAspect="1"/>
          </p:cNvSpPr>
          <p:nvPr/>
        </p:nvSpPr>
        <p:spPr>
          <a:xfrm>
            <a:off x="953285" y="3201358"/>
            <a:ext cx="420219" cy="362573"/>
          </a:xfrm>
          <a:custGeom>
            <a:avLst/>
            <a:gdLst>
              <a:gd name="T0" fmla="*/ 1197 w 14835"/>
              <a:gd name="T1" fmla="*/ 7808 h 12800"/>
              <a:gd name="T2" fmla="*/ 509 w 14835"/>
              <a:gd name="T3" fmla="*/ 1705 h 12800"/>
              <a:gd name="T4" fmla="*/ 14835 w 14835"/>
              <a:gd name="T5" fmla="*/ 12800 h 12800"/>
              <a:gd name="T6" fmla="*/ 4278 w 14835"/>
              <a:gd name="T7" fmla="*/ 8013 h 12800"/>
              <a:gd name="T8" fmla="*/ 4278 w 14835"/>
              <a:gd name="T9" fmla="*/ 5817 h 12800"/>
              <a:gd name="T10" fmla="*/ 4278 w 14835"/>
              <a:gd name="T11" fmla="*/ 3430 h 12800"/>
              <a:gd name="T12" fmla="*/ 2214 w 14835"/>
              <a:gd name="T13" fmla="*/ 3981 h 12800"/>
              <a:gd name="T14" fmla="*/ 2214 w 14835"/>
              <a:gd name="T15" fmla="*/ 6417 h 12800"/>
              <a:gd name="T16" fmla="*/ 2214 w 14835"/>
              <a:gd name="T17" fmla="*/ 11666 h 12800"/>
              <a:gd name="T18" fmla="*/ 4133 w 14835"/>
              <a:gd name="T19" fmla="*/ 5722 h 12800"/>
              <a:gd name="T20" fmla="*/ 2863 w 14835"/>
              <a:gd name="T21" fmla="*/ 3331 h 12800"/>
              <a:gd name="T22" fmla="*/ 2358 w 14835"/>
              <a:gd name="T23" fmla="*/ 4075 h 12800"/>
              <a:gd name="T24" fmla="*/ 2358 w 14835"/>
              <a:gd name="T25" fmla="*/ 4808 h 12800"/>
              <a:gd name="T26" fmla="*/ 4133 w 14835"/>
              <a:gd name="T27" fmla="*/ 4990 h 12800"/>
              <a:gd name="T28" fmla="*/ 7286 w 14835"/>
              <a:gd name="T29" fmla="*/ 11905 h 12800"/>
              <a:gd name="T30" fmla="*/ 7527 w 14835"/>
              <a:gd name="T31" fmla="*/ 7453 h 12800"/>
              <a:gd name="T32" fmla="*/ 7527 w 14835"/>
              <a:gd name="T33" fmla="*/ 5034 h 12800"/>
              <a:gd name="T34" fmla="*/ 7257 w 14835"/>
              <a:gd name="T35" fmla="*/ 4795 h 12800"/>
              <a:gd name="T36" fmla="*/ 5463 w 14835"/>
              <a:gd name="T37" fmla="*/ 5124 h 12800"/>
              <a:gd name="T38" fmla="*/ 5463 w 14835"/>
              <a:gd name="T39" fmla="*/ 6096 h 12800"/>
              <a:gd name="T40" fmla="*/ 5463 w 14835"/>
              <a:gd name="T41" fmla="*/ 7560 h 12800"/>
              <a:gd name="T42" fmla="*/ 5703 w 14835"/>
              <a:gd name="T43" fmla="*/ 11905 h 12800"/>
              <a:gd name="T44" fmla="*/ 6965 w 14835"/>
              <a:gd name="T45" fmla="*/ 8016 h 12800"/>
              <a:gd name="T46" fmla="*/ 5740 w 14835"/>
              <a:gd name="T47" fmla="*/ 8016 h 12800"/>
              <a:gd name="T48" fmla="*/ 5608 w 14835"/>
              <a:gd name="T49" fmla="*/ 5220 h 12800"/>
              <a:gd name="T50" fmla="*/ 7336 w 14835"/>
              <a:gd name="T51" fmla="*/ 4955 h 12800"/>
              <a:gd name="T52" fmla="*/ 7382 w 14835"/>
              <a:gd name="T53" fmla="*/ 6133 h 12800"/>
              <a:gd name="T54" fmla="*/ 8712 w 14835"/>
              <a:gd name="T55" fmla="*/ 11665 h 12800"/>
              <a:gd name="T56" fmla="*/ 10776 w 14835"/>
              <a:gd name="T57" fmla="*/ 7133 h 12800"/>
              <a:gd name="T58" fmla="*/ 10776 w 14835"/>
              <a:gd name="T59" fmla="*/ 4776 h 12800"/>
              <a:gd name="T60" fmla="*/ 10776 w 14835"/>
              <a:gd name="T61" fmla="*/ 3712 h 12800"/>
              <a:gd name="T62" fmla="*/ 10774 w 14835"/>
              <a:gd name="T63" fmla="*/ 2250 h 12800"/>
              <a:gd name="T64" fmla="*/ 10756 w 14835"/>
              <a:gd name="T65" fmla="*/ 1473 h 12800"/>
              <a:gd name="T66" fmla="*/ 10005 w 14835"/>
              <a:gd name="T67" fmla="*/ 1314 h 12800"/>
              <a:gd name="T68" fmla="*/ 8710 w 14835"/>
              <a:gd name="T69" fmla="*/ 1564 h 12800"/>
              <a:gd name="T70" fmla="*/ 10630 w 14835"/>
              <a:gd name="T71" fmla="*/ 3858 h 12800"/>
              <a:gd name="T72" fmla="*/ 10630 w 14835"/>
              <a:gd name="T73" fmla="*/ 2886 h 12800"/>
              <a:gd name="T74" fmla="*/ 10630 w 14835"/>
              <a:gd name="T75" fmla="*/ 2154 h 12800"/>
              <a:gd name="T76" fmla="*/ 8854 w 14835"/>
              <a:gd name="T77" fmla="*/ 3197 h 12800"/>
              <a:gd name="T78" fmla="*/ 9359 w 14835"/>
              <a:gd name="T79" fmla="*/ 1467 h 12800"/>
              <a:gd name="T80" fmla="*/ 12202 w 14835"/>
              <a:gd name="T81" fmla="*/ 11905 h 12800"/>
              <a:gd name="T82" fmla="*/ 14025 w 14835"/>
              <a:gd name="T83" fmla="*/ 6080 h 12800"/>
              <a:gd name="T84" fmla="*/ 14025 w 14835"/>
              <a:gd name="T85" fmla="*/ 4855 h 12800"/>
              <a:gd name="T86" fmla="*/ 14025 w 14835"/>
              <a:gd name="T87" fmla="*/ 3391 h 12800"/>
              <a:gd name="T88" fmla="*/ 13764 w 14835"/>
              <a:gd name="T89" fmla="*/ 2920 h 12800"/>
              <a:gd name="T90" fmla="*/ 12299 w 14835"/>
              <a:gd name="T91" fmla="*/ 2921 h 12800"/>
              <a:gd name="T92" fmla="*/ 11962 w 14835"/>
              <a:gd name="T93" fmla="*/ 3991 h 12800"/>
              <a:gd name="T94" fmla="*/ 11962 w 14835"/>
              <a:gd name="T95" fmla="*/ 6382 h 12800"/>
              <a:gd name="T96" fmla="*/ 11962 w 14835"/>
              <a:gd name="T97" fmla="*/ 8275 h 12800"/>
              <a:gd name="T98" fmla="*/ 13880 w 14835"/>
              <a:gd name="T99" fmla="*/ 6161 h 12800"/>
              <a:gd name="T100" fmla="*/ 12202 w 14835"/>
              <a:gd name="T101" fmla="*/ 3066 h 12800"/>
              <a:gd name="T102" fmla="*/ 12106 w 14835"/>
              <a:gd name="T103" fmla="*/ 4339 h 12800"/>
              <a:gd name="T104" fmla="*/ 12106 w 14835"/>
              <a:gd name="T105" fmla="*/ 5071 h 12800"/>
              <a:gd name="T106" fmla="*/ 13880 w 14835"/>
              <a:gd name="T107" fmla="*/ 4267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835" h="12800">
                <a:moveTo>
                  <a:pt x="509" y="12292"/>
                </a:moveTo>
                <a:lnTo>
                  <a:pt x="509" y="10860"/>
                </a:lnTo>
                <a:lnTo>
                  <a:pt x="1197" y="10860"/>
                </a:lnTo>
                <a:lnTo>
                  <a:pt x="1197" y="10352"/>
                </a:lnTo>
                <a:lnTo>
                  <a:pt x="509" y="10352"/>
                </a:lnTo>
                <a:lnTo>
                  <a:pt x="509" y="7808"/>
                </a:lnTo>
                <a:lnTo>
                  <a:pt x="1197" y="7808"/>
                </a:lnTo>
                <a:lnTo>
                  <a:pt x="1197" y="7300"/>
                </a:lnTo>
                <a:lnTo>
                  <a:pt x="509" y="7300"/>
                </a:lnTo>
                <a:lnTo>
                  <a:pt x="509" y="4756"/>
                </a:lnTo>
                <a:lnTo>
                  <a:pt x="1197" y="4756"/>
                </a:lnTo>
                <a:lnTo>
                  <a:pt x="1197" y="4248"/>
                </a:lnTo>
                <a:lnTo>
                  <a:pt x="509" y="4248"/>
                </a:lnTo>
                <a:lnTo>
                  <a:pt x="509" y="1705"/>
                </a:lnTo>
                <a:lnTo>
                  <a:pt x="1197" y="1705"/>
                </a:lnTo>
                <a:lnTo>
                  <a:pt x="1197" y="1196"/>
                </a:lnTo>
                <a:lnTo>
                  <a:pt x="509" y="1196"/>
                </a:lnTo>
                <a:lnTo>
                  <a:pt x="509" y="0"/>
                </a:lnTo>
                <a:lnTo>
                  <a:pt x="0" y="0"/>
                </a:lnTo>
                <a:lnTo>
                  <a:pt x="0" y="12800"/>
                </a:lnTo>
                <a:lnTo>
                  <a:pt x="14835" y="12800"/>
                </a:lnTo>
                <a:lnTo>
                  <a:pt x="14835" y="12292"/>
                </a:lnTo>
                <a:lnTo>
                  <a:pt x="509" y="12292"/>
                </a:lnTo>
                <a:close/>
                <a:moveTo>
                  <a:pt x="2454" y="11905"/>
                </a:moveTo>
                <a:lnTo>
                  <a:pt x="4037" y="11905"/>
                </a:lnTo>
                <a:cubicBezTo>
                  <a:pt x="4169" y="11905"/>
                  <a:pt x="4278" y="11797"/>
                  <a:pt x="4278" y="11665"/>
                </a:cubicBezTo>
                <a:lnTo>
                  <a:pt x="4278" y="8440"/>
                </a:lnTo>
                <a:lnTo>
                  <a:pt x="4278" y="8013"/>
                </a:lnTo>
                <a:lnTo>
                  <a:pt x="4278" y="7773"/>
                </a:lnTo>
                <a:lnTo>
                  <a:pt x="4278" y="7281"/>
                </a:lnTo>
                <a:lnTo>
                  <a:pt x="4278" y="7041"/>
                </a:lnTo>
                <a:lnTo>
                  <a:pt x="4278" y="6651"/>
                </a:lnTo>
                <a:lnTo>
                  <a:pt x="4278" y="6549"/>
                </a:lnTo>
                <a:lnTo>
                  <a:pt x="4278" y="6310"/>
                </a:lnTo>
                <a:lnTo>
                  <a:pt x="4278" y="5817"/>
                </a:lnTo>
                <a:lnTo>
                  <a:pt x="4278" y="5577"/>
                </a:lnTo>
                <a:lnTo>
                  <a:pt x="4278" y="5086"/>
                </a:lnTo>
                <a:lnTo>
                  <a:pt x="4278" y="4846"/>
                </a:lnTo>
                <a:lnTo>
                  <a:pt x="4278" y="4353"/>
                </a:lnTo>
                <a:lnTo>
                  <a:pt x="4278" y="4113"/>
                </a:lnTo>
                <a:lnTo>
                  <a:pt x="4278" y="3621"/>
                </a:lnTo>
                <a:lnTo>
                  <a:pt x="4278" y="3430"/>
                </a:lnTo>
                <a:lnTo>
                  <a:pt x="4278" y="3426"/>
                </a:lnTo>
                <a:cubicBezTo>
                  <a:pt x="4278" y="3294"/>
                  <a:pt x="4169" y="3186"/>
                  <a:pt x="4037" y="3186"/>
                </a:cubicBezTo>
                <a:lnTo>
                  <a:pt x="2454" y="3186"/>
                </a:lnTo>
                <a:cubicBezTo>
                  <a:pt x="2322" y="3186"/>
                  <a:pt x="2214" y="3294"/>
                  <a:pt x="2214" y="3426"/>
                </a:cubicBezTo>
                <a:lnTo>
                  <a:pt x="2214" y="3430"/>
                </a:lnTo>
                <a:lnTo>
                  <a:pt x="2214" y="3488"/>
                </a:lnTo>
                <a:lnTo>
                  <a:pt x="2214" y="3981"/>
                </a:lnTo>
                <a:lnTo>
                  <a:pt x="2214" y="4220"/>
                </a:lnTo>
                <a:lnTo>
                  <a:pt x="2214" y="4713"/>
                </a:lnTo>
                <a:lnTo>
                  <a:pt x="2214" y="4953"/>
                </a:lnTo>
                <a:lnTo>
                  <a:pt x="2214" y="5444"/>
                </a:lnTo>
                <a:lnTo>
                  <a:pt x="2214" y="5684"/>
                </a:lnTo>
                <a:lnTo>
                  <a:pt x="2214" y="6177"/>
                </a:lnTo>
                <a:lnTo>
                  <a:pt x="2214" y="6417"/>
                </a:lnTo>
                <a:lnTo>
                  <a:pt x="2214" y="6652"/>
                </a:lnTo>
                <a:lnTo>
                  <a:pt x="2214" y="6909"/>
                </a:lnTo>
                <a:lnTo>
                  <a:pt x="2214" y="7149"/>
                </a:lnTo>
                <a:lnTo>
                  <a:pt x="2214" y="7642"/>
                </a:lnTo>
                <a:lnTo>
                  <a:pt x="2214" y="7882"/>
                </a:lnTo>
                <a:lnTo>
                  <a:pt x="2214" y="8442"/>
                </a:lnTo>
                <a:lnTo>
                  <a:pt x="2214" y="11666"/>
                </a:lnTo>
                <a:cubicBezTo>
                  <a:pt x="2214" y="11797"/>
                  <a:pt x="2322" y="11905"/>
                  <a:pt x="2454" y="11905"/>
                </a:cubicBezTo>
                <a:close/>
                <a:moveTo>
                  <a:pt x="4133" y="6431"/>
                </a:moveTo>
                <a:cubicBezTo>
                  <a:pt x="4104" y="6418"/>
                  <a:pt x="4071" y="6410"/>
                  <a:pt x="4037" y="6410"/>
                </a:cubicBezTo>
                <a:lnTo>
                  <a:pt x="3684" y="6410"/>
                </a:lnTo>
                <a:lnTo>
                  <a:pt x="4133" y="5962"/>
                </a:lnTo>
                <a:lnTo>
                  <a:pt x="4133" y="6431"/>
                </a:lnTo>
                <a:close/>
                <a:moveTo>
                  <a:pt x="4133" y="5722"/>
                </a:moveTo>
                <a:lnTo>
                  <a:pt x="3445" y="6411"/>
                </a:lnTo>
                <a:lnTo>
                  <a:pt x="2952" y="6411"/>
                </a:lnTo>
                <a:lnTo>
                  <a:pt x="4133" y="5229"/>
                </a:lnTo>
                <a:lnTo>
                  <a:pt x="4133" y="5722"/>
                </a:lnTo>
                <a:close/>
                <a:moveTo>
                  <a:pt x="2358" y="3426"/>
                </a:moveTo>
                <a:cubicBezTo>
                  <a:pt x="2358" y="3375"/>
                  <a:pt x="2402" y="3331"/>
                  <a:pt x="2454" y="3331"/>
                </a:cubicBezTo>
                <a:lnTo>
                  <a:pt x="2863" y="3331"/>
                </a:lnTo>
                <a:lnTo>
                  <a:pt x="2358" y="3836"/>
                </a:lnTo>
                <a:lnTo>
                  <a:pt x="2358" y="3426"/>
                </a:lnTo>
                <a:close/>
                <a:moveTo>
                  <a:pt x="2358" y="4075"/>
                </a:moveTo>
                <a:lnTo>
                  <a:pt x="3103" y="3331"/>
                </a:lnTo>
                <a:lnTo>
                  <a:pt x="3596" y="3331"/>
                </a:lnTo>
                <a:lnTo>
                  <a:pt x="2358" y="4568"/>
                </a:lnTo>
                <a:lnTo>
                  <a:pt x="2358" y="4075"/>
                </a:lnTo>
                <a:close/>
                <a:moveTo>
                  <a:pt x="2358" y="4808"/>
                </a:moveTo>
                <a:lnTo>
                  <a:pt x="3836" y="3331"/>
                </a:lnTo>
                <a:lnTo>
                  <a:pt x="4037" y="3331"/>
                </a:lnTo>
                <a:cubicBezTo>
                  <a:pt x="4089" y="3331"/>
                  <a:pt x="4133" y="3374"/>
                  <a:pt x="4133" y="3426"/>
                </a:cubicBezTo>
                <a:lnTo>
                  <a:pt x="4133" y="3525"/>
                </a:lnTo>
                <a:lnTo>
                  <a:pt x="2358" y="5300"/>
                </a:lnTo>
                <a:lnTo>
                  <a:pt x="2358" y="4808"/>
                </a:lnTo>
                <a:close/>
                <a:moveTo>
                  <a:pt x="2358" y="5540"/>
                </a:moveTo>
                <a:lnTo>
                  <a:pt x="4133" y="3765"/>
                </a:lnTo>
                <a:lnTo>
                  <a:pt x="4133" y="4257"/>
                </a:lnTo>
                <a:lnTo>
                  <a:pt x="2358" y="6033"/>
                </a:lnTo>
                <a:lnTo>
                  <a:pt x="2358" y="5540"/>
                </a:lnTo>
                <a:close/>
                <a:moveTo>
                  <a:pt x="4133" y="4497"/>
                </a:moveTo>
                <a:lnTo>
                  <a:pt x="4133" y="4990"/>
                </a:lnTo>
                <a:lnTo>
                  <a:pt x="2712" y="6411"/>
                </a:lnTo>
                <a:lnTo>
                  <a:pt x="2454" y="6411"/>
                </a:lnTo>
                <a:cubicBezTo>
                  <a:pt x="2420" y="6411"/>
                  <a:pt x="2388" y="6418"/>
                  <a:pt x="2358" y="6431"/>
                </a:cubicBezTo>
                <a:lnTo>
                  <a:pt x="2358" y="6272"/>
                </a:lnTo>
                <a:lnTo>
                  <a:pt x="4133" y="4497"/>
                </a:lnTo>
                <a:close/>
                <a:moveTo>
                  <a:pt x="5703" y="11905"/>
                </a:moveTo>
                <a:lnTo>
                  <a:pt x="7286" y="11905"/>
                </a:lnTo>
                <a:cubicBezTo>
                  <a:pt x="7418" y="11905"/>
                  <a:pt x="7527" y="11797"/>
                  <a:pt x="7527" y="11665"/>
                </a:cubicBezTo>
                <a:lnTo>
                  <a:pt x="7527" y="10049"/>
                </a:lnTo>
                <a:lnTo>
                  <a:pt x="7527" y="8274"/>
                </a:lnTo>
                <a:lnTo>
                  <a:pt x="7527" y="8256"/>
                </a:lnTo>
                <a:lnTo>
                  <a:pt x="7527" y="8186"/>
                </a:lnTo>
                <a:lnTo>
                  <a:pt x="7527" y="7693"/>
                </a:lnTo>
                <a:lnTo>
                  <a:pt x="7527" y="7453"/>
                </a:lnTo>
                <a:lnTo>
                  <a:pt x="7527" y="6961"/>
                </a:lnTo>
                <a:lnTo>
                  <a:pt x="7527" y="6721"/>
                </a:lnTo>
                <a:lnTo>
                  <a:pt x="7527" y="6229"/>
                </a:lnTo>
                <a:lnTo>
                  <a:pt x="7527" y="5989"/>
                </a:lnTo>
                <a:lnTo>
                  <a:pt x="7527" y="5497"/>
                </a:lnTo>
                <a:lnTo>
                  <a:pt x="7527" y="5257"/>
                </a:lnTo>
                <a:lnTo>
                  <a:pt x="7527" y="5034"/>
                </a:lnTo>
                <a:cubicBezTo>
                  <a:pt x="7527" y="4961"/>
                  <a:pt x="7492" y="4895"/>
                  <a:pt x="7439" y="4851"/>
                </a:cubicBezTo>
                <a:lnTo>
                  <a:pt x="7439" y="4851"/>
                </a:lnTo>
                <a:lnTo>
                  <a:pt x="7439" y="4851"/>
                </a:lnTo>
                <a:cubicBezTo>
                  <a:pt x="7419" y="4834"/>
                  <a:pt x="7396" y="4820"/>
                  <a:pt x="7371" y="4810"/>
                </a:cubicBezTo>
                <a:cubicBezTo>
                  <a:pt x="7369" y="4810"/>
                  <a:pt x="7368" y="4810"/>
                  <a:pt x="7366" y="4809"/>
                </a:cubicBezTo>
                <a:cubicBezTo>
                  <a:pt x="7342" y="4800"/>
                  <a:pt x="7315" y="4795"/>
                  <a:pt x="7286" y="4795"/>
                </a:cubicBezTo>
                <a:lnTo>
                  <a:pt x="7257" y="4795"/>
                </a:lnTo>
                <a:lnTo>
                  <a:pt x="6764" y="4795"/>
                </a:lnTo>
                <a:lnTo>
                  <a:pt x="6524" y="4795"/>
                </a:lnTo>
                <a:lnTo>
                  <a:pt x="6032" y="4795"/>
                </a:lnTo>
                <a:lnTo>
                  <a:pt x="5792" y="4795"/>
                </a:lnTo>
                <a:lnTo>
                  <a:pt x="5703" y="4795"/>
                </a:lnTo>
                <a:cubicBezTo>
                  <a:pt x="5571" y="4795"/>
                  <a:pt x="5463" y="4903"/>
                  <a:pt x="5463" y="5035"/>
                </a:cubicBezTo>
                <a:lnTo>
                  <a:pt x="5463" y="5124"/>
                </a:lnTo>
                <a:lnTo>
                  <a:pt x="5463" y="5124"/>
                </a:lnTo>
                <a:lnTo>
                  <a:pt x="5463" y="5364"/>
                </a:lnTo>
                <a:lnTo>
                  <a:pt x="5463" y="5364"/>
                </a:lnTo>
                <a:lnTo>
                  <a:pt x="5463" y="5856"/>
                </a:lnTo>
                <a:lnTo>
                  <a:pt x="5463" y="5856"/>
                </a:lnTo>
                <a:lnTo>
                  <a:pt x="5463" y="6096"/>
                </a:lnTo>
                <a:lnTo>
                  <a:pt x="5463" y="6096"/>
                </a:lnTo>
                <a:lnTo>
                  <a:pt x="5463" y="6588"/>
                </a:lnTo>
                <a:lnTo>
                  <a:pt x="5463" y="6588"/>
                </a:lnTo>
                <a:lnTo>
                  <a:pt x="5463" y="6828"/>
                </a:lnTo>
                <a:lnTo>
                  <a:pt x="5463" y="6828"/>
                </a:lnTo>
                <a:lnTo>
                  <a:pt x="5463" y="7320"/>
                </a:lnTo>
                <a:lnTo>
                  <a:pt x="5463" y="7320"/>
                </a:lnTo>
                <a:lnTo>
                  <a:pt x="5463" y="7560"/>
                </a:lnTo>
                <a:lnTo>
                  <a:pt x="5463" y="7560"/>
                </a:lnTo>
                <a:lnTo>
                  <a:pt x="5463" y="8053"/>
                </a:lnTo>
                <a:lnTo>
                  <a:pt x="5463" y="8053"/>
                </a:lnTo>
                <a:lnTo>
                  <a:pt x="5463" y="8256"/>
                </a:lnTo>
                <a:lnTo>
                  <a:pt x="5463" y="8274"/>
                </a:lnTo>
                <a:lnTo>
                  <a:pt x="5463" y="11665"/>
                </a:lnTo>
                <a:cubicBezTo>
                  <a:pt x="5463" y="11797"/>
                  <a:pt x="5571" y="11905"/>
                  <a:pt x="5703" y="11905"/>
                </a:cubicBezTo>
                <a:close/>
                <a:moveTo>
                  <a:pt x="7382" y="8036"/>
                </a:moveTo>
                <a:cubicBezTo>
                  <a:pt x="7353" y="8023"/>
                  <a:pt x="7321" y="8016"/>
                  <a:pt x="7287" y="8016"/>
                </a:cubicBezTo>
                <a:lnTo>
                  <a:pt x="7204" y="8016"/>
                </a:lnTo>
                <a:lnTo>
                  <a:pt x="7382" y="7837"/>
                </a:lnTo>
                <a:lnTo>
                  <a:pt x="7382" y="8036"/>
                </a:lnTo>
                <a:close/>
                <a:moveTo>
                  <a:pt x="7382" y="7598"/>
                </a:moveTo>
                <a:lnTo>
                  <a:pt x="6965" y="8016"/>
                </a:lnTo>
                <a:lnTo>
                  <a:pt x="6472" y="8016"/>
                </a:lnTo>
                <a:lnTo>
                  <a:pt x="7383" y="7105"/>
                </a:lnTo>
                <a:lnTo>
                  <a:pt x="7383" y="7598"/>
                </a:lnTo>
                <a:lnTo>
                  <a:pt x="7382" y="7598"/>
                </a:lnTo>
                <a:close/>
                <a:moveTo>
                  <a:pt x="7382" y="6866"/>
                </a:moveTo>
                <a:lnTo>
                  <a:pt x="6232" y="8016"/>
                </a:lnTo>
                <a:lnTo>
                  <a:pt x="5740" y="8016"/>
                </a:lnTo>
                <a:lnTo>
                  <a:pt x="7382" y="6373"/>
                </a:lnTo>
                <a:lnTo>
                  <a:pt x="7382" y="6866"/>
                </a:lnTo>
                <a:close/>
                <a:moveTo>
                  <a:pt x="5608" y="5220"/>
                </a:moveTo>
                <a:lnTo>
                  <a:pt x="5888" y="4939"/>
                </a:lnTo>
                <a:lnTo>
                  <a:pt x="6380" y="4939"/>
                </a:lnTo>
                <a:lnTo>
                  <a:pt x="5608" y="5712"/>
                </a:lnTo>
                <a:lnTo>
                  <a:pt x="5608" y="5220"/>
                </a:lnTo>
                <a:close/>
                <a:moveTo>
                  <a:pt x="5608" y="5951"/>
                </a:moveTo>
                <a:lnTo>
                  <a:pt x="6620" y="4939"/>
                </a:lnTo>
                <a:lnTo>
                  <a:pt x="7112" y="4939"/>
                </a:lnTo>
                <a:lnTo>
                  <a:pt x="5608" y="6444"/>
                </a:lnTo>
                <a:lnTo>
                  <a:pt x="5608" y="5951"/>
                </a:lnTo>
                <a:close/>
                <a:moveTo>
                  <a:pt x="5608" y="6684"/>
                </a:moveTo>
                <a:lnTo>
                  <a:pt x="7336" y="4955"/>
                </a:lnTo>
                <a:cubicBezTo>
                  <a:pt x="7363" y="4972"/>
                  <a:pt x="7382" y="5002"/>
                  <a:pt x="7382" y="5035"/>
                </a:cubicBezTo>
                <a:lnTo>
                  <a:pt x="7382" y="5402"/>
                </a:lnTo>
                <a:lnTo>
                  <a:pt x="5608" y="7176"/>
                </a:lnTo>
                <a:lnTo>
                  <a:pt x="5608" y="6684"/>
                </a:lnTo>
                <a:close/>
                <a:moveTo>
                  <a:pt x="5608" y="7416"/>
                </a:moveTo>
                <a:lnTo>
                  <a:pt x="7382" y="5641"/>
                </a:lnTo>
                <a:lnTo>
                  <a:pt x="7382" y="6133"/>
                </a:lnTo>
                <a:lnTo>
                  <a:pt x="5608" y="7908"/>
                </a:lnTo>
                <a:lnTo>
                  <a:pt x="5608" y="7416"/>
                </a:lnTo>
                <a:close/>
                <a:moveTo>
                  <a:pt x="8712" y="7000"/>
                </a:moveTo>
                <a:lnTo>
                  <a:pt x="8712" y="7240"/>
                </a:lnTo>
                <a:lnTo>
                  <a:pt x="8712" y="7732"/>
                </a:lnTo>
                <a:lnTo>
                  <a:pt x="8712" y="7972"/>
                </a:lnTo>
                <a:lnTo>
                  <a:pt x="8712" y="11665"/>
                </a:lnTo>
                <a:cubicBezTo>
                  <a:pt x="8712" y="11797"/>
                  <a:pt x="8820" y="11906"/>
                  <a:pt x="8953" y="11906"/>
                </a:cubicBezTo>
                <a:lnTo>
                  <a:pt x="10535" y="11906"/>
                </a:lnTo>
                <a:cubicBezTo>
                  <a:pt x="10667" y="11906"/>
                  <a:pt x="10776" y="11797"/>
                  <a:pt x="10776" y="11665"/>
                </a:cubicBezTo>
                <a:lnTo>
                  <a:pt x="10776" y="8105"/>
                </a:lnTo>
                <a:lnTo>
                  <a:pt x="10776" y="7865"/>
                </a:lnTo>
                <a:lnTo>
                  <a:pt x="10776" y="7373"/>
                </a:lnTo>
                <a:lnTo>
                  <a:pt x="10776" y="7133"/>
                </a:lnTo>
                <a:lnTo>
                  <a:pt x="10776" y="6641"/>
                </a:lnTo>
                <a:lnTo>
                  <a:pt x="10776" y="6401"/>
                </a:lnTo>
                <a:lnTo>
                  <a:pt x="10776" y="5908"/>
                </a:lnTo>
                <a:lnTo>
                  <a:pt x="10776" y="5669"/>
                </a:lnTo>
                <a:lnTo>
                  <a:pt x="10776" y="5176"/>
                </a:lnTo>
                <a:lnTo>
                  <a:pt x="10776" y="4936"/>
                </a:lnTo>
                <a:lnTo>
                  <a:pt x="10776" y="4776"/>
                </a:lnTo>
                <a:cubicBezTo>
                  <a:pt x="10776" y="4770"/>
                  <a:pt x="10774" y="4764"/>
                  <a:pt x="10774" y="4757"/>
                </a:cubicBezTo>
                <a:lnTo>
                  <a:pt x="10774" y="4446"/>
                </a:lnTo>
                <a:lnTo>
                  <a:pt x="10776" y="4443"/>
                </a:lnTo>
                <a:lnTo>
                  <a:pt x="10776" y="4204"/>
                </a:lnTo>
                <a:lnTo>
                  <a:pt x="10774" y="4206"/>
                </a:lnTo>
                <a:lnTo>
                  <a:pt x="10774" y="3714"/>
                </a:lnTo>
                <a:lnTo>
                  <a:pt x="10776" y="3712"/>
                </a:lnTo>
                <a:lnTo>
                  <a:pt x="10776" y="3472"/>
                </a:lnTo>
                <a:lnTo>
                  <a:pt x="10774" y="3474"/>
                </a:lnTo>
                <a:lnTo>
                  <a:pt x="10774" y="2981"/>
                </a:lnTo>
                <a:lnTo>
                  <a:pt x="10776" y="2980"/>
                </a:lnTo>
                <a:lnTo>
                  <a:pt x="10776" y="2740"/>
                </a:lnTo>
                <a:lnTo>
                  <a:pt x="10774" y="2742"/>
                </a:lnTo>
                <a:lnTo>
                  <a:pt x="10774" y="2250"/>
                </a:lnTo>
                <a:lnTo>
                  <a:pt x="10776" y="2248"/>
                </a:lnTo>
                <a:lnTo>
                  <a:pt x="10776" y="2008"/>
                </a:lnTo>
                <a:lnTo>
                  <a:pt x="10774" y="2010"/>
                </a:lnTo>
                <a:lnTo>
                  <a:pt x="10774" y="1564"/>
                </a:lnTo>
                <a:cubicBezTo>
                  <a:pt x="10774" y="1549"/>
                  <a:pt x="10772" y="1535"/>
                  <a:pt x="10770" y="1522"/>
                </a:cubicBezTo>
                <a:lnTo>
                  <a:pt x="10772" y="1519"/>
                </a:lnTo>
                <a:cubicBezTo>
                  <a:pt x="10770" y="1502"/>
                  <a:pt x="10762" y="1488"/>
                  <a:pt x="10756" y="1473"/>
                </a:cubicBezTo>
                <a:cubicBezTo>
                  <a:pt x="10755" y="1472"/>
                  <a:pt x="10755" y="1471"/>
                  <a:pt x="10755" y="1470"/>
                </a:cubicBezTo>
                <a:cubicBezTo>
                  <a:pt x="10739" y="1430"/>
                  <a:pt x="10717" y="1393"/>
                  <a:pt x="10684" y="1367"/>
                </a:cubicBezTo>
                <a:lnTo>
                  <a:pt x="10678" y="1373"/>
                </a:lnTo>
                <a:cubicBezTo>
                  <a:pt x="10638" y="1342"/>
                  <a:pt x="10588" y="1323"/>
                  <a:pt x="10534" y="1323"/>
                </a:cubicBezTo>
                <a:lnTo>
                  <a:pt x="10236" y="1323"/>
                </a:lnTo>
                <a:lnTo>
                  <a:pt x="10245" y="1314"/>
                </a:lnTo>
                <a:lnTo>
                  <a:pt x="10005" y="1314"/>
                </a:lnTo>
                <a:lnTo>
                  <a:pt x="9996" y="1323"/>
                </a:lnTo>
                <a:lnTo>
                  <a:pt x="9503" y="1323"/>
                </a:lnTo>
                <a:lnTo>
                  <a:pt x="9513" y="1314"/>
                </a:lnTo>
                <a:lnTo>
                  <a:pt x="9273" y="1314"/>
                </a:lnTo>
                <a:lnTo>
                  <a:pt x="9263" y="1323"/>
                </a:lnTo>
                <a:lnTo>
                  <a:pt x="8950" y="1323"/>
                </a:lnTo>
                <a:cubicBezTo>
                  <a:pt x="8818" y="1323"/>
                  <a:pt x="8710" y="1431"/>
                  <a:pt x="8710" y="1564"/>
                </a:cubicBezTo>
                <a:lnTo>
                  <a:pt x="8710" y="6578"/>
                </a:lnTo>
                <a:cubicBezTo>
                  <a:pt x="8710" y="6584"/>
                  <a:pt x="8711" y="6590"/>
                  <a:pt x="8712" y="6596"/>
                </a:cubicBezTo>
                <a:lnTo>
                  <a:pt x="8712" y="7000"/>
                </a:lnTo>
                <a:close/>
                <a:moveTo>
                  <a:pt x="10630" y="4350"/>
                </a:moveTo>
                <a:lnTo>
                  <a:pt x="10445" y="4535"/>
                </a:lnTo>
                <a:lnTo>
                  <a:pt x="9953" y="4535"/>
                </a:lnTo>
                <a:lnTo>
                  <a:pt x="10630" y="3858"/>
                </a:lnTo>
                <a:lnTo>
                  <a:pt x="10630" y="4350"/>
                </a:lnTo>
                <a:close/>
                <a:moveTo>
                  <a:pt x="10630" y="3618"/>
                </a:moveTo>
                <a:lnTo>
                  <a:pt x="9713" y="4535"/>
                </a:lnTo>
                <a:lnTo>
                  <a:pt x="9220" y="4535"/>
                </a:lnTo>
                <a:lnTo>
                  <a:pt x="10630" y="3126"/>
                </a:lnTo>
                <a:lnTo>
                  <a:pt x="10630" y="3618"/>
                </a:lnTo>
                <a:close/>
                <a:moveTo>
                  <a:pt x="10630" y="2886"/>
                </a:moveTo>
                <a:lnTo>
                  <a:pt x="8980" y="4535"/>
                </a:lnTo>
                <a:lnTo>
                  <a:pt x="8953" y="4535"/>
                </a:lnTo>
                <a:cubicBezTo>
                  <a:pt x="8917" y="4535"/>
                  <a:pt x="8885" y="4544"/>
                  <a:pt x="8855" y="4557"/>
                </a:cubicBezTo>
                <a:lnTo>
                  <a:pt x="8855" y="4169"/>
                </a:lnTo>
                <a:lnTo>
                  <a:pt x="10630" y="2394"/>
                </a:lnTo>
                <a:lnTo>
                  <a:pt x="10630" y="2886"/>
                </a:lnTo>
                <a:close/>
                <a:moveTo>
                  <a:pt x="10630" y="2154"/>
                </a:moveTo>
                <a:lnTo>
                  <a:pt x="8855" y="3928"/>
                </a:lnTo>
                <a:lnTo>
                  <a:pt x="8855" y="3437"/>
                </a:lnTo>
                <a:lnTo>
                  <a:pt x="10630" y="1661"/>
                </a:lnTo>
                <a:lnTo>
                  <a:pt x="10630" y="2154"/>
                </a:lnTo>
                <a:close/>
                <a:moveTo>
                  <a:pt x="10533" y="1467"/>
                </a:moveTo>
                <a:cubicBezTo>
                  <a:pt x="10548" y="1467"/>
                  <a:pt x="10561" y="1471"/>
                  <a:pt x="10573" y="1477"/>
                </a:cubicBezTo>
                <a:lnTo>
                  <a:pt x="8854" y="3197"/>
                </a:lnTo>
                <a:lnTo>
                  <a:pt x="8854" y="2704"/>
                </a:lnTo>
                <a:lnTo>
                  <a:pt x="10091" y="1467"/>
                </a:lnTo>
                <a:lnTo>
                  <a:pt x="10533" y="1467"/>
                </a:lnTo>
                <a:close/>
                <a:moveTo>
                  <a:pt x="9852" y="1467"/>
                </a:moveTo>
                <a:lnTo>
                  <a:pt x="8854" y="2465"/>
                </a:lnTo>
                <a:lnTo>
                  <a:pt x="8854" y="1972"/>
                </a:lnTo>
                <a:lnTo>
                  <a:pt x="9359" y="1467"/>
                </a:lnTo>
                <a:lnTo>
                  <a:pt x="9852" y="1467"/>
                </a:lnTo>
                <a:close/>
                <a:moveTo>
                  <a:pt x="8951" y="1467"/>
                </a:moveTo>
                <a:lnTo>
                  <a:pt x="9119" y="1467"/>
                </a:lnTo>
                <a:lnTo>
                  <a:pt x="8854" y="1732"/>
                </a:lnTo>
                <a:lnTo>
                  <a:pt x="8854" y="1564"/>
                </a:lnTo>
                <a:cubicBezTo>
                  <a:pt x="8855" y="1511"/>
                  <a:pt x="8899" y="1467"/>
                  <a:pt x="8951" y="1467"/>
                </a:cubicBezTo>
                <a:close/>
                <a:moveTo>
                  <a:pt x="12202" y="11905"/>
                </a:moveTo>
                <a:lnTo>
                  <a:pt x="13785" y="11905"/>
                </a:lnTo>
                <a:cubicBezTo>
                  <a:pt x="13917" y="11905"/>
                  <a:pt x="14025" y="11797"/>
                  <a:pt x="14025" y="11665"/>
                </a:cubicBezTo>
                <a:lnTo>
                  <a:pt x="14025" y="6381"/>
                </a:lnTo>
                <a:cubicBezTo>
                  <a:pt x="14025" y="6380"/>
                  <a:pt x="14025" y="6380"/>
                  <a:pt x="14025" y="6380"/>
                </a:cubicBezTo>
                <a:lnTo>
                  <a:pt x="14025" y="6320"/>
                </a:lnTo>
                <a:lnTo>
                  <a:pt x="14025" y="6320"/>
                </a:lnTo>
                <a:lnTo>
                  <a:pt x="14025" y="6080"/>
                </a:lnTo>
                <a:lnTo>
                  <a:pt x="14025" y="6080"/>
                </a:lnTo>
                <a:lnTo>
                  <a:pt x="14025" y="5588"/>
                </a:lnTo>
                <a:lnTo>
                  <a:pt x="14025" y="5588"/>
                </a:lnTo>
                <a:lnTo>
                  <a:pt x="14025" y="5348"/>
                </a:lnTo>
                <a:lnTo>
                  <a:pt x="14025" y="5348"/>
                </a:lnTo>
                <a:lnTo>
                  <a:pt x="14025" y="4856"/>
                </a:lnTo>
                <a:lnTo>
                  <a:pt x="14025" y="4855"/>
                </a:lnTo>
                <a:lnTo>
                  <a:pt x="14025" y="4616"/>
                </a:lnTo>
                <a:lnTo>
                  <a:pt x="14025" y="4616"/>
                </a:lnTo>
                <a:lnTo>
                  <a:pt x="14025" y="4123"/>
                </a:lnTo>
                <a:lnTo>
                  <a:pt x="14025" y="4123"/>
                </a:lnTo>
                <a:lnTo>
                  <a:pt x="14025" y="3884"/>
                </a:lnTo>
                <a:lnTo>
                  <a:pt x="14025" y="3884"/>
                </a:lnTo>
                <a:lnTo>
                  <a:pt x="14025" y="3391"/>
                </a:lnTo>
                <a:lnTo>
                  <a:pt x="14025" y="3391"/>
                </a:lnTo>
                <a:lnTo>
                  <a:pt x="14025" y="3160"/>
                </a:lnTo>
                <a:lnTo>
                  <a:pt x="14024" y="3152"/>
                </a:lnTo>
                <a:lnTo>
                  <a:pt x="14024" y="3152"/>
                </a:lnTo>
                <a:cubicBezTo>
                  <a:pt x="14019" y="3025"/>
                  <a:pt x="13914" y="2921"/>
                  <a:pt x="13785" y="2921"/>
                </a:cubicBezTo>
                <a:lnTo>
                  <a:pt x="13763" y="2921"/>
                </a:lnTo>
                <a:lnTo>
                  <a:pt x="13764" y="2920"/>
                </a:lnTo>
                <a:lnTo>
                  <a:pt x="13524" y="2920"/>
                </a:lnTo>
                <a:lnTo>
                  <a:pt x="13523" y="2921"/>
                </a:lnTo>
                <a:lnTo>
                  <a:pt x="13031" y="2921"/>
                </a:lnTo>
                <a:lnTo>
                  <a:pt x="13032" y="2920"/>
                </a:lnTo>
                <a:lnTo>
                  <a:pt x="12792" y="2920"/>
                </a:lnTo>
                <a:lnTo>
                  <a:pt x="12791" y="2921"/>
                </a:lnTo>
                <a:lnTo>
                  <a:pt x="12299" y="2921"/>
                </a:lnTo>
                <a:lnTo>
                  <a:pt x="12300" y="2920"/>
                </a:lnTo>
                <a:lnTo>
                  <a:pt x="12202" y="2920"/>
                </a:lnTo>
                <a:cubicBezTo>
                  <a:pt x="12070" y="2920"/>
                  <a:pt x="11962" y="3028"/>
                  <a:pt x="11962" y="3160"/>
                </a:cubicBezTo>
                <a:lnTo>
                  <a:pt x="11962" y="3162"/>
                </a:lnTo>
                <a:lnTo>
                  <a:pt x="11962" y="3258"/>
                </a:lnTo>
                <a:lnTo>
                  <a:pt x="11962" y="3751"/>
                </a:lnTo>
                <a:lnTo>
                  <a:pt x="11962" y="3991"/>
                </a:lnTo>
                <a:lnTo>
                  <a:pt x="11962" y="4483"/>
                </a:lnTo>
                <a:lnTo>
                  <a:pt x="11962" y="4723"/>
                </a:lnTo>
                <a:lnTo>
                  <a:pt x="11962" y="5216"/>
                </a:lnTo>
                <a:lnTo>
                  <a:pt x="11962" y="5455"/>
                </a:lnTo>
                <a:lnTo>
                  <a:pt x="11962" y="5948"/>
                </a:lnTo>
                <a:lnTo>
                  <a:pt x="11962" y="6188"/>
                </a:lnTo>
                <a:lnTo>
                  <a:pt x="11962" y="6382"/>
                </a:lnTo>
                <a:lnTo>
                  <a:pt x="11962" y="6680"/>
                </a:lnTo>
                <a:lnTo>
                  <a:pt x="11962" y="6920"/>
                </a:lnTo>
                <a:lnTo>
                  <a:pt x="11962" y="7413"/>
                </a:lnTo>
                <a:lnTo>
                  <a:pt x="11962" y="7653"/>
                </a:lnTo>
                <a:lnTo>
                  <a:pt x="11962" y="8145"/>
                </a:lnTo>
                <a:lnTo>
                  <a:pt x="11962" y="8177"/>
                </a:lnTo>
                <a:lnTo>
                  <a:pt x="11962" y="8275"/>
                </a:lnTo>
                <a:lnTo>
                  <a:pt x="11962" y="11666"/>
                </a:lnTo>
                <a:cubicBezTo>
                  <a:pt x="11962" y="11797"/>
                  <a:pt x="12069" y="11905"/>
                  <a:pt x="12202" y="11905"/>
                </a:cubicBezTo>
                <a:close/>
                <a:moveTo>
                  <a:pt x="13880" y="6161"/>
                </a:moveTo>
                <a:cubicBezTo>
                  <a:pt x="13851" y="6149"/>
                  <a:pt x="13819" y="6140"/>
                  <a:pt x="13785" y="6140"/>
                </a:cubicBezTo>
                <a:lnTo>
                  <a:pt x="13472" y="6140"/>
                </a:lnTo>
                <a:lnTo>
                  <a:pt x="13880" y="5732"/>
                </a:lnTo>
                <a:lnTo>
                  <a:pt x="13880" y="6161"/>
                </a:lnTo>
                <a:close/>
                <a:moveTo>
                  <a:pt x="13880" y="5492"/>
                </a:moveTo>
                <a:lnTo>
                  <a:pt x="13232" y="6141"/>
                </a:lnTo>
                <a:lnTo>
                  <a:pt x="12739" y="6141"/>
                </a:lnTo>
                <a:lnTo>
                  <a:pt x="13880" y="5000"/>
                </a:lnTo>
                <a:lnTo>
                  <a:pt x="13880" y="5492"/>
                </a:lnTo>
                <a:close/>
                <a:moveTo>
                  <a:pt x="12106" y="3162"/>
                </a:moveTo>
                <a:cubicBezTo>
                  <a:pt x="12106" y="3109"/>
                  <a:pt x="12150" y="3066"/>
                  <a:pt x="12202" y="3066"/>
                </a:cubicBezTo>
                <a:lnTo>
                  <a:pt x="12647" y="3066"/>
                </a:lnTo>
                <a:lnTo>
                  <a:pt x="12106" y="3607"/>
                </a:lnTo>
                <a:lnTo>
                  <a:pt x="12106" y="3162"/>
                </a:lnTo>
                <a:close/>
                <a:moveTo>
                  <a:pt x="12106" y="3847"/>
                </a:moveTo>
                <a:lnTo>
                  <a:pt x="12886" y="3066"/>
                </a:lnTo>
                <a:lnTo>
                  <a:pt x="13379" y="3066"/>
                </a:lnTo>
                <a:lnTo>
                  <a:pt x="12106" y="4339"/>
                </a:lnTo>
                <a:lnTo>
                  <a:pt x="12106" y="3847"/>
                </a:lnTo>
                <a:close/>
                <a:moveTo>
                  <a:pt x="12106" y="4579"/>
                </a:moveTo>
                <a:lnTo>
                  <a:pt x="13619" y="3066"/>
                </a:lnTo>
                <a:lnTo>
                  <a:pt x="13785" y="3066"/>
                </a:lnTo>
                <a:cubicBezTo>
                  <a:pt x="13837" y="3066"/>
                  <a:pt x="13880" y="3109"/>
                  <a:pt x="13880" y="3162"/>
                </a:cubicBezTo>
                <a:lnTo>
                  <a:pt x="13880" y="3296"/>
                </a:lnTo>
                <a:lnTo>
                  <a:pt x="12106" y="5071"/>
                </a:lnTo>
                <a:lnTo>
                  <a:pt x="12106" y="4579"/>
                </a:lnTo>
                <a:close/>
                <a:moveTo>
                  <a:pt x="12106" y="5310"/>
                </a:moveTo>
                <a:lnTo>
                  <a:pt x="13880" y="3536"/>
                </a:lnTo>
                <a:lnTo>
                  <a:pt x="13880" y="4029"/>
                </a:lnTo>
                <a:lnTo>
                  <a:pt x="12106" y="5803"/>
                </a:lnTo>
                <a:lnTo>
                  <a:pt x="12106" y="5310"/>
                </a:lnTo>
                <a:close/>
                <a:moveTo>
                  <a:pt x="13880" y="4267"/>
                </a:moveTo>
                <a:lnTo>
                  <a:pt x="13880" y="4760"/>
                </a:lnTo>
                <a:lnTo>
                  <a:pt x="12500" y="6140"/>
                </a:lnTo>
                <a:lnTo>
                  <a:pt x="12202" y="6140"/>
                </a:lnTo>
                <a:cubicBezTo>
                  <a:pt x="12167" y="6140"/>
                  <a:pt x="12135" y="6148"/>
                  <a:pt x="12106" y="6161"/>
                </a:cubicBezTo>
                <a:lnTo>
                  <a:pt x="12106" y="6043"/>
                </a:lnTo>
                <a:lnTo>
                  <a:pt x="13880" y="426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oss-with-tie_81303"/>
          <p:cNvSpPr>
            <a:spLocks noChangeAspect="1"/>
          </p:cNvSpPr>
          <p:nvPr/>
        </p:nvSpPr>
        <p:spPr>
          <a:xfrm>
            <a:off x="966620" y="3738149"/>
            <a:ext cx="407177" cy="329573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confont-1179-866533"/>
          <p:cNvSpPr>
            <a:spLocks noChangeAspect="1"/>
          </p:cNvSpPr>
          <p:nvPr/>
        </p:nvSpPr>
        <p:spPr>
          <a:xfrm>
            <a:off x="1011860" y="4241722"/>
            <a:ext cx="317210" cy="317210"/>
          </a:xfrm>
          <a:custGeom>
            <a:avLst/>
            <a:gdLst>
              <a:gd name="T0" fmla="*/ 5439 w 10878"/>
              <a:gd name="T1" fmla="*/ 0 h 10878"/>
              <a:gd name="T2" fmla="*/ 0 w 10878"/>
              <a:gd name="T3" fmla="*/ 5439 h 10878"/>
              <a:gd name="T4" fmla="*/ 5439 w 10878"/>
              <a:gd name="T5" fmla="*/ 10878 h 10878"/>
              <a:gd name="T6" fmla="*/ 10878 w 10878"/>
              <a:gd name="T7" fmla="*/ 5439 h 10878"/>
              <a:gd name="T8" fmla="*/ 5439 w 10878"/>
              <a:gd name="T9" fmla="*/ 0 h 10878"/>
              <a:gd name="T10" fmla="*/ 5439 w 10878"/>
              <a:gd name="T11" fmla="*/ 10198 h 10878"/>
              <a:gd name="T12" fmla="*/ 680 w 10878"/>
              <a:gd name="T13" fmla="*/ 5439 h 10878"/>
              <a:gd name="T14" fmla="*/ 5439 w 10878"/>
              <a:gd name="T15" fmla="*/ 680 h 10878"/>
              <a:gd name="T16" fmla="*/ 10198 w 10878"/>
              <a:gd name="T17" fmla="*/ 5439 h 10878"/>
              <a:gd name="T18" fmla="*/ 5439 w 10878"/>
              <a:gd name="T19" fmla="*/ 10198 h 10878"/>
              <a:gd name="T20" fmla="*/ 5439 w 10878"/>
              <a:gd name="T21" fmla="*/ 10198 h 10878"/>
              <a:gd name="T22" fmla="*/ 8333 w 10878"/>
              <a:gd name="T23" fmla="*/ 5439 h 10878"/>
              <a:gd name="T24" fmla="*/ 5779 w 10878"/>
              <a:gd name="T25" fmla="*/ 5439 h 10878"/>
              <a:gd name="T26" fmla="*/ 5779 w 10878"/>
              <a:gd name="T27" fmla="*/ 2375 h 10878"/>
              <a:gd name="T28" fmla="*/ 5439 w 10878"/>
              <a:gd name="T29" fmla="*/ 2040 h 10878"/>
              <a:gd name="T30" fmla="*/ 5099 w 10878"/>
              <a:gd name="T31" fmla="*/ 2375 h 10878"/>
              <a:gd name="T32" fmla="*/ 5099 w 10878"/>
              <a:gd name="T33" fmla="*/ 5777 h 10878"/>
              <a:gd name="T34" fmla="*/ 5099 w 10878"/>
              <a:gd name="T35" fmla="*/ 5779 h 10878"/>
              <a:gd name="T36" fmla="*/ 5099 w 10878"/>
              <a:gd name="T37" fmla="*/ 5781 h 10878"/>
              <a:gd name="T38" fmla="*/ 5099 w 10878"/>
              <a:gd name="T39" fmla="*/ 5784 h 10878"/>
              <a:gd name="T40" fmla="*/ 5180 w 10878"/>
              <a:gd name="T41" fmla="*/ 5998 h 10878"/>
              <a:gd name="T42" fmla="*/ 5434 w 10878"/>
              <a:gd name="T43" fmla="*/ 6119 h 10878"/>
              <a:gd name="T44" fmla="*/ 8333 w 10878"/>
              <a:gd name="T45" fmla="*/ 6119 h 10878"/>
              <a:gd name="T46" fmla="*/ 8668 w 10878"/>
              <a:gd name="T47" fmla="*/ 5779 h 10878"/>
              <a:gd name="T48" fmla="*/ 8333 w 10878"/>
              <a:gd name="T49" fmla="*/ 5439 h 10878"/>
              <a:gd name="T50" fmla="*/ 8333 w 10878"/>
              <a:gd name="T51" fmla="*/ 5439 h 10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878" h="10878">
                <a:moveTo>
                  <a:pt x="5439" y="0"/>
                </a:moveTo>
                <a:cubicBezTo>
                  <a:pt x="2435" y="0"/>
                  <a:pt x="0" y="2435"/>
                  <a:pt x="0" y="5439"/>
                </a:cubicBezTo>
                <a:cubicBezTo>
                  <a:pt x="0" y="8443"/>
                  <a:pt x="2435" y="10878"/>
                  <a:pt x="5439" y="10878"/>
                </a:cubicBezTo>
                <a:cubicBezTo>
                  <a:pt x="8443" y="10878"/>
                  <a:pt x="10878" y="8443"/>
                  <a:pt x="10878" y="5439"/>
                </a:cubicBezTo>
                <a:cubicBezTo>
                  <a:pt x="10878" y="2435"/>
                  <a:pt x="8443" y="0"/>
                  <a:pt x="5439" y="0"/>
                </a:cubicBezTo>
                <a:close/>
                <a:moveTo>
                  <a:pt x="5439" y="10198"/>
                </a:moveTo>
                <a:cubicBezTo>
                  <a:pt x="2811" y="10198"/>
                  <a:pt x="680" y="8067"/>
                  <a:pt x="680" y="5439"/>
                </a:cubicBezTo>
                <a:cubicBezTo>
                  <a:pt x="680" y="2811"/>
                  <a:pt x="2811" y="680"/>
                  <a:pt x="5439" y="680"/>
                </a:cubicBezTo>
                <a:cubicBezTo>
                  <a:pt x="8067" y="680"/>
                  <a:pt x="10198" y="2811"/>
                  <a:pt x="10198" y="5439"/>
                </a:cubicBezTo>
                <a:cubicBezTo>
                  <a:pt x="10198" y="8067"/>
                  <a:pt x="8067" y="10198"/>
                  <a:pt x="5439" y="10198"/>
                </a:cubicBezTo>
                <a:close/>
                <a:moveTo>
                  <a:pt x="5439" y="10198"/>
                </a:moveTo>
                <a:close/>
                <a:moveTo>
                  <a:pt x="8333" y="5439"/>
                </a:moveTo>
                <a:lnTo>
                  <a:pt x="5779" y="5439"/>
                </a:lnTo>
                <a:lnTo>
                  <a:pt x="5779" y="2375"/>
                </a:lnTo>
                <a:cubicBezTo>
                  <a:pt x="5779" y="2190"/>
                  <a:pt x="5627" y="2040"/>
                  <a:pt x="5439" y="2040"/>
                </a:cubicBezTo>
                <a:cubicBezTo>
                  <a:pt x="5251" y="2040"/>
                  <a:pt x="5099" y="2189"/>
                  <a:pt x="5099" y="2375"/>
                </a:cubicBezTo>
                <a:lnTo>
                  <a:pt x="5099" y="5777"/>
                </a:lnTo>
                <a:cubicBezTo>
                  <a:pt x="5099" y="5778"/>
                  <a:pt x="5099" y="5778"/>
                  <a:pt x="5099" y="5779"/>
                </a:cubicBezTo>
                <a:cubicBezTo>
                  <a:pt x="5099" y="5780"/>
                  <a:pt x="5099" y="5780"/>
                  <a:pt x="5099" y="5781"/>
                </a:cubicBezTo>
                <a:lnTo>
                  <a:pt x="5099" y="5784"/>
                </a:lnTo>
                <a:cubicBezTo>
                  <a:pt x="5099" y="5866"/>
                  <a:pt x="5130" y="5940"/>
                  <a:pt x="5180" y="5998"/>
                </a:cubicBezTo>
                <a:cubicBezTo>
                  <a:pt x="5241" y="6071"/>
                  <a:pt x="5332" y="6119"/>
                  <a:pt x="5434" y="6119"/>
                </a:cubicBezTo>
                <a:lnTo>
                  <a:pt x="8333" y="6119"/>
                </a:lnTo>
                <a:cubicBezTo>
                  <a:pt x="8518" y="6119"/>
                  <a:pt x="8668" y="5967"/>
                  <a:pt x="8668" y="5779"/>
                </a:cubicBezTo>
                <a:cubicBezTo>
                  <a:pt x="8668" y="5591"/>
                  <a:pt x="8518" y="5439"/>
                  <a:pt x="8333" y="5439"/>
                </a:cubicBezTo>
                <a:close/>
                <a:moveTo>
                  <a:pt x="8333" y="5439"/>
                </a:move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world_52349"/>
          <p:cNvSpPr>
            <a:spLocks noChangeAspect="1"/>
          </p:cNvSpPr>
          <p:nvPr/>
        </p:nvSpPr>
        <p:spPr>
          <a:xfrm>
            <a:off x="1011304" y="4684688"/>
            <a:ext cx="317695" cy="317209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1409" h="600489">
                <a:moveTo>
                  <a:pt x="63148" y="143225"/>
                </a:moveTo>
                <a:lnTo>
                  <a:pt x="41620" y="160426"/>
                </a:lnTo>
                <a:lnTo>
                  <a:pt x="58843" y="171894"/>
                </a:lnTo>
                <a:lnTo>
                  <a:pt x="91853" y="171894"/>
                </a:lnTo>
                <a:lnTo>
                  <a:pt x="142085" y="163293"/>
                </a:lnTo>
                <a:lnTo>
                  <a:pt x="173659" y="214896"/>
                </a:lnTo>
                <a:lnTo>
                  <a:pt x="173659" y="262200"/>
                </a:lnTo>
                <a:lnTo>
                  <a:pt x="216715" y="320970"/>
                </a:lnTo>
                <a:lnTo>
                  <a:pt x="223891" y="320970"/>
                </a:lnTo>
                <a:lnTo>
                  <a:pt x="223891" y="299469"/>
                </a:lnTo>
                <a:lnTo>
                  <a:pt x="241113" y="335305"/>
                </a:lnTo>
                <a:lnTo>
                  <a:pt x="291345" y="345339"/>
                </a:lnTo>
                <a:lnTo>
                  <a:pt x="312873" y="368273"/>
                </a:lnTo>
                <a:lnTo>
                  <a:pt x="332966" y="374007"/>
                </a:lnTo>
                <a:lnTo>
                  <a:pt x="312873" y="417010"/>
                </a:lnTo>
                <a:lnTo>
                  <a:pt x="335836" y="457146"/>
                </a:lnTo>
                <a:cubicBezTo>
                  <a:pt x="335836" y="457146"/>
                  <a:pt x="348753" y="503016"/>
                  <a:pt x="348753" y="505883"/>
                </a:cubicBezTo>
                <a:cubicBezTo>
                  <a:pt x="348753" y="507316"/>
                  <a:pt x="335836" y="561786"/>
                  <a:pt x="335836" y="561786"/>
                </a:cubicBezTo>
                <a:lnTo>
                  <a:pt x="338707" y="597622"/>
                </a:lnTo>
                <a:cubicBezTo>
                  <a:pt x="325790" y="599056"/>
                  <a:pt x="312873" y="600489"/>
                  <a:pt x="299957" y="600489"/>
                </a:cubicBezTo>
                <a:cubicBezTo>
                  <a:pt x="134909" y="600489"/>
                  <a:pt x="0" y="465747"/>
                  <a:pt x="0" y="299469"/>
                </a:cubicBezTo>
                <a:cubicBezTo>
                  <a:pt x="0" y="244998"/>
                  <a:pt x="15787" y="193395"/>
                  <a:pt x="41620" y="148959"/>
                </a:cubicBezTo>
                <a:close/>
                <a:moveTo>
                  <a:pt x="367486" y="60233"/>
                </a:moveTo>
                <a:lnTo>
                  <a:pt x="394753" y="65966"/>
                </a:lnTo>
                <a:lnTo>
                  <a:pt x="419150" y="87465"/>
                </a:lnTo>
                <a:lnTo>
                  <a:pt x="426326" y="106098"/>
                </a:lnTo>
                <a:lnTo>
                  <a:pt x="432066" y="124731"/>
                </a:lnTo>
                <a:lnTo>
                  <a:pt x="469379" y="159130"/>
                </a:lnTo>
                <a:lnTo>
                  <a:pt x="479425" y="161996"/>
                </a:lnTo>
                <a:lnTo>
                  <a:pt x="493776" y="140497"/>
                </a:lnTo>
                <a:lnTo>
                  <a:pt x="541135" y="136197"/>
                </a:lnTo>
                <a:lnTo>
                  <a:pt x="549745" y="133331"/>
                </a:lnTo>
                <a:cubicBezTo>
                  <a:pt x="582753" y="180629"/>
                  <a:pt x="601409" y="237961"/>
                  <a:pt x="601409" y="299592"/>
                </a:cubicBezTo>
                <a:cubicBezTo>
                  <a:pt x="601409" y="441488"/>
                  <a:pt x="503822" y="560451"/>
                  <a:pt x="371791" y="591983"/>
                </a:cubicBezTo>
                <a:lnTo>
                  <a:pt x="376097" y="571917"/>
                </a:lnTo>
                <a:lnTo>
                  <a:pt x="427761" y="537518"/>
                </a:lnTo>
                <a:lnTo>
                  <a:pt x="442112" y="500253"/>
                </a:lnTo>
                <a:lnTo>
                  <a:pt x="477990" y="484486"/>
                </a:lnTo>
                <a:lnTo>
                  <a:pt x="510997" y="419988"/>
                </a:lnTo>
                <a:lnTo>
                  <a:pt x="459333" y="388456"/>
                </a:lnTo>
                <a:lnTo>
                  <a:pt x="432066" y="358357"/>
                </a:lnTo>
                <a:lnTo>
                  <a:pt x="416280" y="356924"/>
                </a:lnTo>
                <a:lnTo>
                  <a:pt x="384707" y="348324"/>
                </a:lnTo>
                <a:lnTo>
                  <a:pt x="356005" y="344024"/>
                </a:lnTo>
                <a:lnTo>
                  <a:pt x="333043" y="349757"/>
                </a:lnTo>
                <a:lnTo>
                  <a:pt x="317257" y="333991"/>
                </a:lnTo>
                <a:lnTo>
                  <a:pt x="302906" y="329691"/>
                </a:lnTo>
                <a:lnTo>
                  <a:pt x="304341" y="306759"/>
                </a:lnTo>
                <a:lnTo>
                  <a:pt x="285684" y="308192"/>
                </a:lnTo>
                <a:lnTo>
                  <a:pt x="275639" y="319658"/>
                </a:lnTo>
                <a:lnTo>
                  <a:pt x="269898" y="295292"/>
                </a:lnTo>
                <a:lnTo>
                  <a:pt x="294295" y="283826"/>
                </a:lnTo>
                <a:lnTo>
                  <a:pt x="317257" y="295292"/>
                </a:lnTo>
                <a:lnTo>
                  <a:pt x="330173" y="295292"/>
                </a:lnTo>
                <a:lnTo>
                  <a:pt x="335913" y="276660"/>
                </a:lnTo>
                <a:lnTo>
                  <a:pt x="371791" y="233661"/>
                </a:lnTo>
                <a:lnTo>
                  <a:pt x="420585" y="207862"/>
                </a:lnTo>
                <a:lnTo>
                  <a:pt x="449287" y="212162"/>
                </a:lnTo>
                <a:lnTo>
                  <a:pt x="452158" y="197829"/>
                </a:lnTo>
                <a:lnTo>
                  <a:pt x="416280" y="160563"/>
                </a:lnTo>
                <a:lnTo>
                  <a:pt x="403364" y="134764"/>
                </a:lnTo>
                <a:lnTo>
                  <a:pt x="383272" y="134764"/>
                </a:lnTo>
                <a:lnTo>
                  <a:pt x="371791" y="127598"/>
                </a:lnTo>
                <a:lnTo>
                  <a:pt x="344524" y="123298"/>
                </a:lnTo>
                <a:lnTo>
                  <a:pt x="338784" y="154830"/>
                </a:lnTo>
                <a:lnTo>
                  <a:pt x="307211" y="147664"/>
                </a:lnTo>
                <a:lnTo>
                  <a:pt x="304341" y="129031"/>
                </a:lnTo>
                <a:lnTo>
                  <a:pt x="328738" y="123298"/>
                </a:lnTo>
                <a:lnTo>
                  <a:pt x="337349" y="87465"/>
                </a:lnTo>
                <a:lnTo>
                  <a:pt x="361745" y="97498"/>
                </a:lnTo>
                <a:lnTo>
                  <a:pt x="361745" y="113265"/>
                </a:lnTo>
                <a:lnTo>
                  <a:pt x="380402" y="120431"/>
                </a:lnTo>
                <a:lnTo>
                  <a:pt x="391883" y="124731"/>
                </a:lnTo>
                <a:lnTo>
                  <a:pt x="407669" y="116131"/>
                </a:lnTo>
                <a:lnTo>
                  <a:pt x="393318" y="100365"/>
                </a:lnTo>
                <a:lnTo>
                  <a:pt x="366051" y="73133"/>
                </a:lnTo>
                <a:close/>
                <a:moveTo>
                  <a:pt x="222541" y="32978"/>
                </a:moveTo>
                <a:cubicBezTo>
                  <a:pt x="222541" y="35846"/>
                  <a:pt x="202448" y="48750"/>
                  <a:pt x="202448" y="48750"/>
                </a:cubicBezTo>
                <a:lnTo>
                  <a:pt x="222541" y="60221"/>
                </a:lnTo>
                <a:lnTo>
                  <a:pt x="262728" y="48750"/>
                </a:lnTo>
                <a:lnTo>
                  <a:pt x="254117" y="32978"/>
                </a:lnTo>
                <a:lnTo>
                  <a:pt x="235458" y="37280"/>
                </a:lnTo>
                <a:close/>
                <a:moveTo>
                  <a:pt x="344537" y="12904"/>
                </a:moveTo>
                <a:lnTo>
                  <a:pt x="312962" y="30110"/>
                </a:lnTo>
                <a:lnTo>
                  <a:pt x="295739" y="40147"/>
                </a:lnTo>
                <a:lnTo>
                  <a:pt x="308656" y="48750"/>
                </a:lnTo>
                <a:lnTo>
                  <a:pt x="335926" y="45883"/>
                </a:lnTo>
                <a:lnTo>
                  <a:pt x="363196" y="24375"/>
                </a:lnTo>
                <a:close/>
                <a:moveTo>
                  <a:pt x="300045" y="0"/>
                </a:moveTo>
                <a:cubicBezTo>
                  <a:pt x="345973" y="0"/>
                  <a:pt x="390465" y="10037"/>
                  <a:pt x="429217" y="28677"/>
                </a:cubicBezTo>
                <a:lnTo>
                  <a:pt x="417735" y="30110"/>
                </a:lnTo>
                <a:lnTo>
                  <a:pt x="389030" y="25809"/>
                </a:lnTo>
                <a:lnTo>
                  <a:pt x="367501" y="40147"/>
                </a:lnTo>
                <a:lnTo>
                  <a:pt x="353149" y="55919"/>
                </a:lnTo>
                <a:lnTo>
                  <a:pt x="298609" y="61655"/>
                </a:lnTo>
                <a:lnTo>
                  <a:pt x="277081" y="57353"/>
                </a:lnTo>
                <a:lnTo>
                  <a:pt x="261293" y="81728"/>
                </a:lnTo>
                <a:lnTo>
                  <a:pt x="218235" y="84596"/>
                </a:lnTo>
                <a:lnTo>
                  <a:pt x="189530" y="75993"/>
                </a:lnTo>
                <a:lnTo>
                  <a:pt x="165131" y="88897"/>
                </a:lnTo>
                <a:lnTo>
                  <a:pt x="112027" y="97500"/>
                </a:lnTo>
                <a:lnTo>
                  <a:pt x="68969" y="108971"/>
                </a:lnTo>
                <a:cubicBezTo>
                  <a:pt x="123509" y="43015"/>
                  <a:pt x="206753" y="0"/>
                  <a:pt x="30004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6832600" y="3201670"/>
            <a:ext cx="29140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Canal</a:t>
            </a:r>
          </a:p>
          <a:p>
            <a:pPr marL="285750" indent="-28575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DataX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Sqoop</a:t>
            </a:r>
            <a:endParaRPr lang="en-US" altLang="zh-CN" sz="15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832600" y="2702560"/>
            <a:ext cx="2007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数据采集工具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6939123" y="301414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5528310" cy="54864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srgbClr val="3366CC"/>
                </a:solidFill>
              </a:rPr>
              <a:t>数据中台架构</a:t>
            </a:r>
            <a:r>
              <a:rPr lang="en-US" altLang="zh-CN" sz="2600" dirty="0">
                <a:solidFill>
                  <a:srgbClr val="3366CC"/>
                </a:solidFill>
              </a:rPr>
              <a:t>---</a:t>
            </a:r>
            <a:r>
              <a:rPr lang="zh-CN" altLang="en-US" sz="2000" dirty="0">
                <a:solidFill>
                  <a:srgbClr val="3366CC"/>
                </a:solidFill>
              </a:rPr>
              <a:t>数据标签体系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325" y="428449"/>
            <a:ext cx="614345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290135" y="1326881"/>
            <a:ext cx="4849933" cy="514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zh-CN" sz="1700" b="1" dirty="0">
                <a:solidFill>
                  <a:srgbClr val="3366CC"/>
                </a:solidFill>
                <a:latin typeface="+mn-ea"/>
              </a:rPr>
              <a:t>结构层次清晰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纵向的数据分层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横向主题域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业务过程划分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1700" b="1" dirty="0">
                <a:solidFill>
                  <a:srgbClr val="3366CC"/>
                </a:solidFill>
                <a:latin typeface="+mn-ea"/>
              </a:rPr>
              <a:t>数据准确一致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定义一致性指标，统一命名、统一业务含义、统一计算口径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专业的团队负责建模，保证数据的准确一致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zh-CN" sz="1700" b="1" dirty="0">
                <a:solidFill>
                  <a:srgbClr val="3366CC"/>
                </a:solidFill>
                <a:latin typeface="+mn-ea"/>
              </a:rPr>
              <a:t>性能提升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统一规划设计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选用合理的数据模型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清晰定义并统一规范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良好的整体性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48705" y="1326881"/>
            <a:ext cx="4403464" cy="2814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700" b="1" dirty="0">
                <a:solidFill>
                  <a:srgbClr val="3366CC"/>
                </a:solidFill>
                <a:latin typeface="+mn-ea"/>
              </a:rPr>
              <a:t>降低成本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多业务共享，避免烟囱式重复建设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节约计算、存储和人力成本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zh-CN" sz="1700" b="1" dirty="0">
                <a:solidFill>
                  <a:srgbClr val="3366CC"/>
                </a:solidFill>
                <a:latin typeface="+mn-ea"/>
              </a:rPr>
              <a:t>方便易用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越来越方便直接使用数据</a:t>
            </a:r>
            <a:endParaRPr lang="zh-CN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复杂问题处理尽可能前置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适当冗余处理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42005" y="1461013"/>
            <a:ext cx="291600" cy="29160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1356752" y="1756400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83535" y="3150503"/>
            <a:ext cx="291600" cy="291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023349" y="4809916"/>
            <a:ext cx="291600" cy="29160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1356752" y="3428286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356752" y="508349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926193" y="174538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926193" y="3099356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6592175" y="1487683"/>
            <a:ext cx="291600" cy="2916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6583285" y="2848396"/>
            <a:ext cx="291600" cy="29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6295390" cy="548640"/>
          </a:xfrm>
        </p:spPr>
        <p:txBody>
          <a:bodyPr>
            <a:normAutofit/>
          </a:bodyPr>
          <a:lstStyle/>
          <a:p>
            <a:r>
              <a:rPr kumimoji="1" lang="zh-CN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数据标签体系</a:t>
            </a:r>
          </a:p>
        </p:txBody>
      </p:sp>
      <p:sp>
        <p:nvSpPr>
          <p:cNvPr id="42" name="矩形 41"/>
          <p:cNvSpPr/>
          <p:nvPr/>
        </p:nvSpPr>
        <p:spPr>
          <a:xfrm>
            <a:off x="885190" y="1868805"/>
            <a:ext cx="2654935" cy="2517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对各个业务系统数据进行采集、汇聚，尽可能保留原始业务业务流程数据、与业务系统保持一致，仅作简单整合、非结构化数据结构化处理或增加标识，不做深度数据清洗加工</a:t>
            </a:r>
          </a:p>
        </p:txBody>
      </p:sp>
      <p:sp>
        <p:nvSpPr>
          <p:cNvPr id="44" name="矩形 43"/>
          <p:cNvSpPr/>
          <p:nvPr/>
        </p:nvSpPr>
        <p:spPr>
          <a:xfrm>
            <a:off x="3606165" y="1868805"/>
            <a:ext cx="2655570" cy="315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与传统数据仓库功能基本一致，对全历史业务过程数据进行建模存储。对来源于业务系统的数据进行重新组织。按照业务域方式组织数据，统一数仓从业务角度理解来重新组织、定义统一的指标、维度，各业务板块按照统一的规范独立建设</a:t>
            </a:r>
          </a:p>
        </p:txBody>
      </p:sp>
      <p:sp>
        <p:nvSpPr>
          <p:cNvPr id="46" name="矩形 45"/>
          <p:cNvSpPr/>
          <p:nvPr/>
        </p:nvSpPr>
        <p:spPr>
          <a:xfrm>
            <a:off x="6355715" y="1868805"/>
            <a:ext cx="2655570" cy="3202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面向对象建模，对跨业务板块、跨数据域的特定对象数据进行整合，通过贯穿全局的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把各个业务板块、各个业务过程中的统一对象数据打通，形成对象的全域标签体系，便于深度分析、挖掘、应用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105265" y="1868805"/>
            <a:ext cx="2655570" cy="1932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按照业务需求从统一数仓层、标签数据层抽取数据，并面向业务的特殊需求加工特定数据，满足业务及性能需求，向特定应用组装应用数据。</a:t>
            </a:r>
          </a:p>
        </p:txBody>
      </p:sp>
      <p:cxnSp>
        <p:nvCxnSpPr>
          <p:cNvPr id="9" name="直线连接符 8"/>
          <p:cNvCxnSpPr/>
          <p:nvPr/>
        </p:nvCxnSpPr>
        <p:spPr>
          <a:xfrm>
            <a:off x="3502660" y="1274445"/>
            <a:ext cx="0" cy="378714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直线连接符 52"/>
          <p:cNvCxnSpPr/>
          <p:nvPr/>
        </p:nvCxnSpPr>
        <p:spPr>
          <a:xfrm>
            <a:off x="6276340" y="1265555"/>
            <a:ext cx="0" cy="380555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直线连接符 54"/>
          <p:cNvCxnSpPr/>
          <p:nvPr/>
        </p:nvCxnSpPr>
        <p:spPr>
          <a:xfrm>
            <a:off x="9022080" y="1265555"/>
            <a:ext cx="0" cy="376745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15925"/>
            <a:ext cx="522605" cy="18732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320564" y="1265276"/>
            <a:ext cx="1831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贴源数据层</a:t>
            </a:r>
            <a:r>
              <a:rPr lang="en-US" altLang="zh-CN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ODS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974867" y="1265276"/>
            <a:ext cx="17526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统一数仓层</a:t>
            </a:r>
            <a:r>
              <a:rPr lang="en-US" altLang="zh-CN" sz="1800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DW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913832" y="1265276"/>
            <a:ext cx="188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数据标签层</a:t>
            </a:r>
            <a:r>
              <a:rPr lang="en-US" altLang="zh-CN" sz="1800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TDM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9590125" y="1265276"/>
            <a:ext cx="1816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数据应用层</a:t>
            </a:r>
            <a:r>
              <a:rPr lang="en-US" altLang="zh-CN" sz="1800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ADS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1405843" y="157168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058735" y="157168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992056" y="157168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9679638" y="157168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iconfont-11899-5651343"/>
          <p:cNvSpPr>
            <a:spLocks noChangeAspect="1"/>
          </p:cNvSpPr>
          <p:nvPr/>
        </p:nvSpPr>
        <p:spPr>
          <a:xfrm>
            <a:off x="989039" y="1318987"/>
            <a:ext cx="297520" cy="297520"/>
          </a:xfrm>
          <a:custGeom>
            <a:avLst/>
            <a:gdLst>
              <a:gd name="T0" fmla="*/ 6526 w 10397"/>
              <a:gd name="T1" fmla="*/ 8233 h 10397"/>
              <a:gd name="T2" fmla="*/ 7000 w 10397"/>
              <a:gd name="T3" fmla="*/ 7343 h 10397"/>
              <a:gd name="T4" fmla="*/ 7729 w 10397"/>
              <a:gd name="T5" fmla="*/ 7018 h 10397"/>
              <a:gd name="T6" fmla="*/ 9897 w 10397"/>
              <a:gd name="T7" fmla="*/ 7558 h 10397"/>
              <a:gd name="T8" fmla="*/ 10390 w 10397"/>
              <a:gd name="T9" fmla="*/ 8188 h 10397"/>
              <a:gd name="T10" fmla="*/ 10391 w 10397"/>
              <a:gd name="T11" fmla="*/ 9096 h 10397"/>
              <a:gd name="T12" fmla="*/ 10397 w 10397"/>
              <a:gd name="T13" fmla="*/ 9096 h 10397"/>
              <a:gd name="T14" fmla="*/ 10397 w 10397"/>
              <a:gd name="T15" fmla="*/ 9723 h 10397"/>
              <a:gd name="T16" fmla="*/ 9715 w 10397"/>
              <a:gd name="T17" fmla="*/ 10373 h 10397"/>
              <a:gd name="T18" fmla="*/ 23 w 10397"/>
              <a:gd name="T19" fmla="*/ 682 h 10397"/>
              <a:gd name="T20" fmla="*/ 673 w 10397"/>
              <a:gd name="T21" fmla="*/ 0 h 10397"/>
              <a:gd name="T22" fmla="*/ 1301 w 10397"/>
              <a:gd name="T23" fmla="*/ 0 h 10397"/>
              <a:gd name="T24" fmla="*/ 1301 w 10397"/>
              <a:gd name="T25" fmla="*/ 2 h 10397"/>
              <a:gd name="T26" fmla="*/ 2189 w 10397"/>
              <a:gd name="T27" fmla="*/ 3 h 10397"/>
              <a:gd name="T28" fmla="*/ 2819 w 10397"/>
              <a:gd name="T29" fmla="*/ 496 h 10397"/>
              <a:gd name="T30" fmla="*/ 3360 w 10397"/>
              <a:gd name="T31" fmla="*/ 2663 h 10397"/>
              <a:gd name="T32" fmla="*/ 3035 w 10397"/>
              <a:gd name="T33" fmla="*/ 3395 h 10397"/>
              <a:gd name="T34" fmla="*/ 2158 w 10397"/>
              <a:gd name="T35" fmla="*/ 3860 h 10397"/>
              <a:gd name="T36" fmla="*/ 6526 w 10397"/>
              <a:gd name="T37" fmla="*/ 8233 h 10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97" h="10397">
                <a:moveTo>
                  <a:pt x="6526" y="8233"/>
                </a:moveTo>
                <a:lnTo>
                  <a:pt x="7000" y="7343"/>
                </a:lnTo>
                <a:cubicBezTo>
                  <a:pt x="7140" y="7081"/>
                  <a:pt x="7441" y="6947"/>
                  <a:pt x="7729" y="7018"/>
                </a:cubicBezTo>
                <a:lnTo>
                  <a:pt x="9897" y="7558"/>
                </a:lnTo>
                <a:cubicBezTo>
                  <a:pt x="10186" y="7631"/>
                  <a:pt x="10390" y="7891"/>
                  <a:pt x="10390" y="8188"/>
                </a:cubicBezTo>
                <a:lnTo>
                  <a:pt x="10391" y="9096"/>
                </a:lnTo>
                <a:lnTo>
                  <a:pt x="10397" y="9096"/>
                </a:lnTo>
                <a:lnTo>
                  <a:pt x="10397" y="9723"/>
                </a:lnTo>
                <a:cubicBezTo>
                  <a:pt x="10397" y="10095"/>
                  <a:pt x="10086" y="10397"/>
                  <a:pt x="9715" y="10373"/>
                </a:cubicBezTo>
                <a:cubicBezTo>
                  <a:pt x="4516" y="10036"/>
                  <a:pt x="360" y="5880"/>
                  <a:pt x="23" y="682"/>
                </a:cubicBezTo>
                <a:cubicBezTo>
                  <a:pt x="0" y="311"/>
                  <a:pt x="301" y="0"/>
                  <a:pt x="673" y="0"/>
                </a:cubicBezTo>
                <a:lnTo>
                  <a:pt x="1301" y="0"/>
                </a:lnTo>
                <a:lnTo>
                  <a:pt x="1301" y="2"/>
                </a:lnTo>
                <a:lnTo>
                  <a:pt x="2189" y="3"/>
                </a:lnTo>
                <a:cubicBezTo>
                  <a:pt x="2488" y="3"/>
                  <a:pt x="2748" y="207"/>
                  <a:pt x="2819" y="496"/>
                </a:cubicBezTo>
                <a:lnTo>
                  <a:pt x="3360" y="2663"/>
                </a:lnTo>
                <a:cubicBezTo>
                  <a:pt x="3432" y="2952"/>
                  <a:pt x="3298" y="3255"/>
                  <a:pt x="3035" y="3395"/>
                </a:cubicBezTo>
                <a:lnTo>
                  <a:pt x="2158" y="3860"/>
                </a:lnTo>
                <a:cubicBezTo>
                  <a:pt x="3062" y="5781"/>
                  <a:pt x="4606" y="7327"/>
                  <a:pt x="6526" y="8233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eeting_115918"/>
          <p:cNvSpPr>
            <a:spLocks noChangeAspect="1"/>
          </p:cNvSpPr>
          <p:nvPr/>
        </p:nvSpPr>
        <p:spPr>
          <a:xfrm>
            <a:off x="3598093" y="1279610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confont-11250-5318183"/>
          <p:cNvSpPr>
            <a:spLocks noChangeAspect="1"/>
          </p:cNvSpPr>
          <p:nvPr/>
        </p:nvSpPr>
        <p:spPr>
          <a:xfrm>
            <a:off x="6434872" y="1288943"/>
            <a:ext cx="424859" cy="338554"/>
          </a:xfrm>
          <a:custGeom>
            <a:avLst/>
            <a:gdLst>
              <a:gd name="connsiteX0" fmla="*/ 147709 w 442433"/>
              <a:gd name="connsiteY0" fmla="*/ 328948 h 352558"/>
              <a:gd name="connsiteX1" fmla="*/ 209412 w 442433"/>
              <a:gd name="connsiteY1" fmla="*/ 328948 h 352558"/>
              <a:gd name="connsiteX2" fmla="*/ 209412 w 442433"/>
              <a:gd name="connsiteY2" fmla="*/ 328949 h 352558"/>
              <a:gd name="connsiteX3" fmla="*/ 233022 w 442433"/>
              <a:gd name="connsiteY3" fmla="*/ 328949 h 352558"/>
              <a:gd name="connsiteX4" fmla="*/ 233022 w 442433"/>
              <a:gd name="connsiteY4" fmla="*/ 328948 h 352558"/>
              <a:gd name="connsiteX5" fmla="*/ 294724 w 442433"/>
              <a:gd name="connsiteY5" fmla="*/ 328948 h 352558"/>
              <a:gd name="connsiteX6" fmla="*/ 294724 w 442433"/>
              <a:gd name="connsiteY6" fmla="*/ 352558 h 352558"/>
              <a:gd name="connsiteX7" fmla="*/ 147709 w 442433"/>
              <a:gd name="connsiteY7" fmla="*/ 352558 h 352558"/>
              <a:gd name="connsiteX8" fmla="*/ 161302 w 442433"/>
              <a:gd name="connsiteY8" fmla="*/ 203162 h 352558"/>
              <a:gd name="connsiteX9" fmla="*/ 184711 w 442433"/>
              <a:gd name="connsiteY9" fmla="*/ 203162 h 352558"/>
              <a:gd name="connsiteX10" fmla="*/ 184711 w 442433"/>
              <a:gd name="connsiteY10" fmla="*/ 232096 h 352558"/>
              <a:gd name="connsiteX11" fmla="*/ 156538 w 442433"/>
              <a:gd name="connsiteY11" fmla="*/ 226277 h 352558"/>
              <a:gd name="connsiteX12" fmla="*/ 235404 w 442433"/>
              <a:gd name="connsiteY12" fmla="*/ 135955 h 352558"/>
              <a:gd name="connsiteX13" fmla="*/ 253629 w 442433"/>
              <a:gd name="connsiteY13" fmla="*/ 159018 h 352558"/>
              <a:gd name="connsiteX14" fmla="*/ 231116 w 442433"/>
              <a:gd name="connsiteY14" fmla="*/ 176815 h 352558"/>
              <a:gd name="connsiteX15" fmla="*/ 212876 w 442433"/>
              <a:gd name="connsiteY15" fmla="*/ 153774 h 352558"/>
              <a:gd name="connsiteX16" fmla="*/ 211427 w 442433"/>
              <a:gd name="connsiteY16" fmla="*/ 105612 h 352558"/>
              <a:gd name="connsiteX17" fmla="*/ 211441 w 442433"/>
              <a:gd name="connsiteY17" fmla="*/ 105630 h 352558"/>
              <a:gd name="connsiteX18" fmla="*/ 203691 w 442433"/>
              <a:gd name="connsiteY18" fmla="*/ 143236 h 352558"/>
              <a:gd name="connsiteX19" fmla="*/ 188381 w 442433"/>
              <a:gd name="connsiteY19" fmla="*/ 123862 h 352558"/>
              <a:gd name="connsiteX20" fmla="*/ 294789 w 442433"/>
              <a:gd name="connsiteY20" fmla="*/ 88983 h 352558"/>
              <a:gd name="connsiteX21" fmla="*/ 313076 w 442433"/>
              <a:gd name="connsiteY21" fmla="*/ 112024 h 352558"/>
              <a:gd name="connsiteX22" fmla="*/ 304973 w 442433"/>
              <a:gd name="connsiteY22" fmla="*/ 118430 h 352558"/>
              <a:gd name="connsiteX23" fmla="*/ 294612 w 442433"/>
              <a:gd name="connsiteY23" fmla="*/ 118430 h 352558"/>
              <a:gd name="connsiteX24" fmla="*/ 294612 w 442433"/>
              <a:gd name="connsiteY24" fmla="*/ 89123 h 352558"/>
              <a:gd name="connsiteX25" fmla="*/ 294612 w 442433"/>
              <a:gd name="connsiteY25" fmla="*/ 88983 h 352558"/>
              <a:gd name="connsiteX26" fmla="*/ 294612 w 442433"/>
              <a:gd name="connsiteY26" fmla="*/ 89123 h 352558"/>
              <a:gd name="connsiteX27" fmla="*/ 235404 w 442433"/>
              <a:gd name="connsiteY27" fmla="*/ 135955 h 352558"/>
              <a:gd name="connsiteX28" fmla="*/ 211441 w 442433"/>
              <a:gd name="connsiteY28" fmla="*/ 105630 h 352558"/>
              <a:gd name="connsiteX29" fmla="*/ 211448 w 442433"/>
              <a:gd name="connsiteY29" fmla="*/ 105597 h 352558"/>
              <a:gd name="connsiteX30" fmla="*/ 182636 w 442433"/>
              <a:gd name="connsiteY30" fmla="*/ 99647 h 352558"/>
              <a:gd name="connsiteX31" fmla="*/ 161302 w 442433"/>
              <a:gd name="connsiteY31" fmla="*/ 203162 h 352558"/>
              <a:gd name="connsiteX32" fmla="*/ 44343 w 442433"/>
              <a:gd name="connsiteY32" fmla="*/ 203162 h 352558"/>
              <a:gd name="connsiteX33" fmla="*/ 44343 w 442433"/>
              <a:gd name="connsiteY33" fmla="*/ 232525 h 352558"/>
              <a:gd name="connsiteX34" fmla="*/ 184711 w 442433"/>
              <a:gd name="connsiteY34" fmla="*/ 232525 h 352558"/>
              <a:gd name="connsiteX35" fmla="*/ 184711 w 442433"/>
              <a:gd name="connsiteY35" fmla="*/ 232096 h 352558"/>
              <a:gd name="connsiteX36" fmla="*/ 185350 w 442433"/>
              <a:gd name="connsiteY36" fmla="*/ 232228 h 352558"/>
              <a:gd name="connsiteX37" fmla="*/ 203691 w 442433"/>
              <a:gd name="connsiteY37" fmla="*/ 143236 h 352558"/>
              <a:gd name="connsiteX38" fmla="*/ 230664 w 442433"/>
              <a:gd name="connsiteY38" fmla="*/ 177371 h 352558"/>
              <a:gd name="connsiteX39" fmla="*/ 253710 w 442433"/>
              <a:gd name="connsiteY39" fmla="*/ 159122 h 352558"/>
              <a:gd name="connsiteX40" fmla="*/ 253629 w 442433"/>
              <a:gd name="connsiteY40" fmla="*/ 159018 h 352558"/>
              <a:gd name="connsiteX41" fmla="*/ 304973 w 442433"/>
              <a:gd name="connsiteY41" fmla="*/ 118430 h 352558"/>
              <a:gd name="connsiteX42" fmla="*/ 399082 w 442433"/>
              <a:gd name="connsiteY42" fmla="*/ 118430 h 352558"/>
              <a:gd name="connsiteX43" fmla="*/ 399082 w 442433"/>
              <a:gd name="connsiteY43" fmla="*/ 88983 h 352558"/>
              <a:gd name="connsiteX44" fmla="*/ 294789 w 442433"/>
              <a:gd name="connsiteY44" fmla="*/ 88983 h 352558"/>
              <a:gd name="connsiteX45" fmla="*/ 17558 w 442433"/>
              <a:gd name="connsiteY45" fmla="*/ 23709 h 352558"/>
              <a:gd name="connsiteX46" fmla="*/ 424973 w 442433"/>
              <a:gd name="connsiteY46" fmla="*/ 23709 h 352558"/>
              <a:gd name="connsiteX47" fmla="*/ 424973 w 442433"/>
              <a:gd name="connsiteY47" fmla="*/ 282027 h 352558"/>
              <a:gd name="connsiteX48" fmla="*/ 233022 w 442433"/>
              <a:gd name="connsiteY48" fmla="*/ 282027 h 352558"/>
              <a:gd name="connsiteX49" fmla="*/ 233022 w 442433"/>
              <a:gd name="connsiteY49" fmla="*/ 328948 h 352558"/>
              <a:gd name="connsiteX50" fmla="*/ 209412 w 442433"/>
              <a:gd name="connsiteY50" fmla="*/ 328948 h 352558"/>
              <a:gd name="connsiteX51" fmla="*/ 209412 w 442433"/>
              <a:gd name="connsiteY51" fmla="*/ 282027 h 352558"/>
              <a:gd name="connsiteX52" fmla="*/ 17558 w 442433"/>
              <a:gd name="connsiteY52" fmla="*/ 282027 h 352558"/>
              <a:gd name="connsiteX53" fmla="*/ 0 w 442433"/>
              <a:gd name="connsiteY53" fmla="*/ 0 h 352558"/>
              <a:gd name="connsiteX54" fmla="*/ 442433 w 442433"/>
              <a:gd name="connsiteY54" fmla="*/ 0 h 352558"/>
              <a:gd name="connsiteX55" fmla="*/ 442433 w 442433"/>
              <a:gd name="connsiteY55" fmla="*/ 23709 h 352558"/>
              <a:gd name="connsiteX56" fmla="*/ 424973 w 442433"/>
              <a:gd name="connsiteY56" fmla="*/ 23709 h 352558"/>
              <a:gd name="connsiteX57" fmla="*/ 424973 w 442433"/>
              <a:gd name="connsiteY57" fmla="*/ 14880 h 352558"/>
              <a:gd name="connsiteX58" fmla="*/ 17558 w 442433"/>
              <a:gd name="connsiteY58" fmla="*/ 14880 h 352558"/>
              <a:gd name="connsiteX59" fmla="*/ 17558 w 442433"/>
              <a:gd name="connsiteY59" fmla="*/ 23709 h 352558"/>
              <a:gd name="connsiteX60" fmla="*/ 0 w 442433"/>
              <a:gd name="connsiteY60" fmla="*/ 23709 h 352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42433" h="352558">
                <a:moveTo>
                  <a:pt x="147709" y="328948"/>
                </a:moveTo>
                <a:lnTo>
                  <a:pt x="209412" y="328948"/>
                </a:lnTo>
                <a:lnTo>
                  <a:pt x="209412" y="328949"/>
                </a:lnTo>
                <a:lnTo>
                  <a:pt x="233022" y="328949"/>
                </a:lnTo>
                <a:lnTo>
                  <a:pt x="233022" y="328948"/>
                </a:lnTo>
                <a:lnTo>
                  <a:pt x="294724" y="328948"/>
                </a:lnTo>
                <a:lnTo>
                  <a:pt x="294724" y="352558"/>
                </a:lnTo>
                <a:lnTo>
                  <a:pt x="147709" y="352558"/>
                </a:lnTo>
                <a:close/>
                <a:moveTo>
                  <a:pt x="161302" y="203162"/>
                </a:moveTo>
                <a:lnTo>
                  <a:pt x="184711" y="203162"/>
                </a:lnTo>
                <a:lnTo>
                  <a:pt x="184711" y="232096"/>
                </a:lnTo>
                <a:lnTo>
                  <a:pt x="156538" y="226277"/>
                </a:lnTo>
                <a:close/>
                <a:moveTo>
                  <a:pt x="235404" y="135955"/>
                </a:moveTo>
                <a:lnTo>
                  <a:pt x="253629" y="159018"/>
                </a:lnTo>
                <a:lnTo>
                  <a:pt x="231116" y="176815"/>
                </a:lnTo>
                <a:lnTo>
                  <a:pt x="212876" y="153774"/>
                </a:lnTo>
                <a:close/>
                <a:moveTo>
                  <a:pt x="211427" y="105612"/>
                </a:moveTo>
                <a:lnTo>
                  <a:pt x="211441" y="105630"/>
                </a:lnTo>
                <a:lnTo>
                  <a:pt x="203691" y="143236"/>
                </a:lnTo>
                <a:lnTo>
                  <a:pt x="188381" y="123862"/>
                </a:lnTo>
                <a:close/>
                <a:moveTo>
                  <a:pt x="294789" y="88983"/>
                </a:moveTo>
                <a:lnTo>
                  <a:pt x="313076" y="112024"/>
                </a:lnTo>
                <a:lnTo>
                  <a:pt x="304973" y="118430"/>
                </a:lnTo>
                <a:lnTo>
                  <a:pt x="294612" y="118430"/>
                </a:lnTo>
                <a:lnTo>
                  <a:pt x="294612" y="89123"/>
                </a:lnTo>
                <a:close/>
                <a:moveTo>
                  <a:pt x="294612" y="88983"/>
                </a:moveTo>
                <a:lnTo>
                  <a:pt x="294612" y="89123"/>
                </a:lnTo>
                <a:lnTo>
                  <a:pt x="235404" y="135955"/>
                </a:lnTo>
                <a:lnTo>
                  <a:pt x="211441" y="105630"/>
                </a:lnTo>
                <a:lnTo>
                  <a:pt x="211448" y="105597"/>
                </a:lnTo>
                <a:lnTo>
                  <a:pt x="182636" y="99647"/>
                </a:lnTo>
                <a:lnTo>
                  <a:pt x="161302" y="203162"/>
                </a:lnTo>
                <a:lnTo>
                  <a:pt x="44343" y="203162"/>
                </a:lnTo>
                <a:lnTo>
                  <a:pt x="44343" y="232525"/>
                </a:lnTo>
                <a:lnTo>
                  <a:pt x="184711" y="232525"/>
                </a:lnTo>
                <a:lnTo>
                  <a:pt x="184711" y="232096"/>
                </a:lnTo>
                <a:lnTo>
                  <a:pt x="185350" y="232228"/>
                </a:lnTo>
                <a:lnTo>
                  <a:pt x="203691" y="143236"/>
                </a:lnTo>
                <a:lnTo>
                  <a:pt x="230664" y="177371"/>
                </a:lnTo>
                <a:lnTo>
                  <a:pt x="253710" y="159122"/>
                </a:lnTo>
                <a:lnTo>
                  <a:pt x="253629" y="159018"/>
                </a:lnTo>
                <a:lnTo>
                  <a:pt x="304973" y="118430"/>
                </a:lnTo>
                <a:lnTo>
                  <a:pt x="399082" y="118430"/>
                </a:lnTo>
                <a:lnTo>
                  <a:pt x="399082" y="88983"/>
                </a:lnTo>
                <a:lnTo>
                  <a:pt x="294789" y="88983"/>
                </a:lnTo>
                <a:close/>
                <a:moveTo>
                  <a:pt x="17558" y="23709"/>
                </a:moveTo>
                <a:lnTo>
                  <a:pt x="424973" y="23709"/>
                </a:lnTo>
                <a:lnTo>
                  <a:pt x="424973" y="282027"/>
                </a:lnTo>
                <a:lnTo>
                  <a:pt x="233022" y="282027"/>
                </a:lnTo>
                <a:lnTo>
                  <a:pt x="233022" y="328948"/>
                </a:lnTo>
                <a:lnTo>
                  <a:pt x="209412" y="328948"/>
                </a:lnTo>
                <a:lnTo>
                  <a:pt x="209412" y="282027"/>
                </a:lnTo>
                <a:lnTo>
                  <a:pt x="17558" y="282027"/>
                </a:lnTo>
                <a:close/>
                <a:moveTo>
                  <a:pt x="0" y="0"/>
                </a:moveTo>
                <a:lnTo>
                  <a:pt x="442433" y="0"/>
                </a:lnTo>
                <a:lnTo>
                  <a:pt x="442433" y="23709"/>
                </a:lnTo>
                <a:lnTo>
                  <a:pt x="424973" y="23709"/>
                </a:lnTo>
                <a:lnTo>
                  <a:pt x="424973" y="14880"/>
                </a:lnTo>
                <a:lnTo>
                  <a:pt x="17558" y="14880"/>
                </a:lnTo>
                <a:lnTo>
                  <a:pt x="17558" y="23709"/>
                </a:lnTo>
                <a:lnTo>
                  <a:pt x="0" y="23709"/>
                </a:ln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confont-10123-4910597"/>
          <p:cNvSpPr>
            <a:spLocks noChangeAspect="1"/>
          </p:cNvSpPr>
          <p:nvPr/>
        </p:nvSpPr>
        <p:spPr>
          <a:xfrm>
            <a:off x="9187053" y="1268483"/>
            <a:ext cx="346240" cy="346326"/>
          </a:xfrm>
          <a:custGeom>
            <a:avLst/>
            <a:gdLst>
              <a:gd name="T0" fmla="*/ 5560 w 8321"/>
              <a:gd name="T1" fmla="*/ 6314 h 8321"/>
              <a:gd name="T2" fmla="*/ 1291 w 8321"/>
              <a:gd name="T3" fmla="*/ 5967 h 8321"/>
              <a:gd name="T4" fmla="*/ 1291 w 8321"/>
              <a:gd name="T5" fmla="*/ 1291 h 8321"/>
              <a:gd name="T6" fmla="*/ 5967 w 8321"/>
              <a:gd name="T7" fmla="*/ 1291 h 8321"/>
              <a:gd name="T8" fmla="*/ 6314 w 8321"/>
              <a:gd name="T9" fmla="*/ 5560 h 8321"/>
              <a:gd name="T10" fmla="*/ 8154 w 8321"/>
              <a:gd name="T11" fmla="*/ 7400 h 8321"/>
              <a:gd name="T12" fmla="*/ 8154 w 8321"/>
              <a:gd name="T13" fmla="*/ 8004 h 8321"/>
              <a:gd name="T14" fmla="*/ 8004 w 8321"/>
              <a:gd name="T15" fmla="*/ 8154 h 8321"/>
              <a:gd name="T16" fmla="*/ 7400 w 8321"/>
              <a:gd name="T17" fmla="*/ 8154 h 8321"/>
              <a:gd name="T18" fmla="*/ 5560 w 8321"/>
              <a:gd name="T19" fmla="*/ 6314 h 8321"/>
              <a:gd name="T20" fmla="*/ 3163 w 8321"/>
              <a:gd name="T21" fmla="*/ 4609 h 8321"/>
              <a:gd name="T22" fmla="*/ 2257 w 8321"/>
              <a:gd name="T23" fmla="*/ 3704 h 8321"/>
              <a:gd name="T24" fmla="*/ 1956 w 8321"/>
              <a:gd name="T25" fmla="*/ 3704 h 8321"/>
              <a:gd name="T26" fmla="*/ 1956 w 8321"/>
              <a:gd name="T27" fmla="*/ 4006 h 8321"/>
              <a:gd name="T28" fmla="*/ 3012 w 8321"/>
              <a:gd name="T29" fmla="*/ 5062 h 8321"/>
              <a:gd name="T30" fmla="*/ 3313 w 8321"/>
              <a:gd name="T31" fmla="*/ 5062 h 8321"/>
              <a:gd name="T32" fmla="*/ 5274 w 8321"/>
              <a:gd name="T33" fmla="*/ 3100 h 8321"/>
              <a:gd name="T34" fmla="*/ 5272 w 8321"/>
              <a:gd name="T35" fmla="*/ 2801 h 8321"/>
              <a:gd name="T36" fmla="*/ 4973 w 8321"/>
              <a:gd name="T37" fmla="*/ 2799 h 8321"/>
              <a:gd name="T38" fmla="*/ 3163 w 8321"/>
              <a:gd name="T39" fmla="*/ 4609 h 8321"/>
              <a:gd name="T40" fmla="*/ 5665 w 8321"/>
              <a:gd name="T41" fmla="*/ 1593 h 8321"/>
              <a:gd name="T42" fmla="*/ 5502 w 8321"/>
              <a:gd name="T43" fmla="*/ 2044 h 8321"/>
              <a:gd name="T44" fmla="*/ 5364 w 8321"/>
              <a:gd name="T45" fmla="*/ 5364 h 8321"/>
              <a:gd name="T46" fmla="*/ 4051 w 8321"/>
              <a:gd name="T47" fmla="*/ 6046 h 8321"/>
              <a:gd name="T48" fmla="*/ 3888 w 8321"/>
              <a:gd name="T49" fmla="*/ 6497 h 8321"/>
              <a:gd name="T50" fmla="*/ 5665 w 8321"/>
              <a:gd name="T51" fmla="*/ 5665 h 8321"/>
              <a:gd name="T52" fmla="*/ 5665 w 8321"/>
              <a:gd name="T53" fmla="*/ 1593 h 8321"/>
              <a:gd name="T54" fmla="*/ 1895 w 8321"/>
              <a:gd name="T55" fmla="*/ 1895 h 8321"/>
              <a:gd name="T56" fmla="*/ 3484 w 8321"/>
              <a:gd name="T57" fmla="*/ 1180 h 8321"/>
              <a:gd name="T58" fmla="*/ 3666 w 8321"/>
              <a:gd name="T59" fmla="*/ 749 h 8321"/>
              <a:gd name="T60" fmla="*/ 1593 w 8321"/>
              <a:gd name="T61" fmla="*/ 1593 h 8321"/>
              <a:gd name="T62" fmla="*/ 1593 w 8321"/>
              <a:gd name="T63" fmla="*/ 5666 h 8321"/>
              <a:gd name="T64" fmla="*/ 1774 w 8321"/>
              <a:gd name="T65" fmla="*/ 5235 h 8321"/>
              <a:gd name="T66" fmla="*/ 1895 w 8321"/>
              <a:gd name="T67" fmla="*/ 1894 h 8321"/>
              <a:gd name="T68" fmla="*/ 1895 w 8321"/>
              <a:gd name="T69" fmla="*/ 1895 h 8321"/>
              <a:gd name="T70" fmla="*/ 5892 w 8321"/>
              <a:gd name="T71" fmla="*/ 6043 h 8321"/>
              <a:gd name="T72" fmla="*/ 7702 w 8321"/>
              <a:gd name="T73" fmla="*/ 7853 h 8321"/>
              <a:gd name="T74" fmla="*/ 7853 w 8321"/>
              <a:gd name="T75" fmla="*/ 7702 h 8321"/>
              <a:gd name="T76" fmla="*/ 6043 w 8321"/>
              <a:gd name="T77" fmla="*/ 5892 h 8321"/>
              <a:gd name="T78" fmla="*/ 5892 w 8321"/>
              <a:gd name="T79" fmla="*/ 6043 h 8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8321" h="8321">
                <a:moveTo>
                  <a:pt x="5560" y="6314"/>
                </a:moveTo>
                <a:cubicBezTo>
                  <a:pt x="4268" y="7246"/>
                  <a:pt x="2454" y="7130"/>
                  <a:pt x="1291" y="5967"/>
                </a:cubicBezTo>
                <a:cubicBezTo>
                  <a:pt x="0" y="4676"/>
                  <a:pt x="0" y="2582"/>
                  <a:pt x="1291" y="1291"/>
                </a:cubicBezTo>
                <a:cubicBezTo>
                  <a:pt x="2582" y="0"/>
                  <a:pt x="4676" y="0"/>
                  <a:pt x="5967" y="1291"/>
                </a:cubicBezTo>
                <a:cubicBezTo>
                  <a:pt x="7130" y="2454"/>
                  <a:pt x="7246" y="4268"/>
                  <a:pt x="6314" y="5560"/>
                </a:cubicBezTo>
                <a:lnTo>
                  <a:pt x="8154" y="7400"/>
                </a:lnTo>
                <a:cubicBezTo>
                  <a:pt x="8321" y="7567"/>
                  <a:pt x="8321" y="7837"/>
                  <a:pt x="8154" y="8004"/>
                </a:cubicBezTo>
                <a:lnTo>
                  <a:pt x="8004" y="8154"/>
                </a:lnTo>
                <a:cubicBezTo>
                  <a:pt x="7837" y="8321"/>
                  <a:pt x="7567" y="8321"/>
                  <a:pt x="7400" y="8154"/>
                </a:cubicBezTo>
                <a:lnTo>
                  <a:pt x="5560" y="6314"/>
                </a:lnTo>
                <a:close/>
                <a:moveTo>
                  <a:pt x="3163" y="4609"/>
                </a:moveTo>
                <a:lnTo>
                  <a:pt x="2257" y="3704"/>
                </a:lnTo>
                <a:cubicBezTo>
                  <a:pt x="2174" y="3620"/>
                  <a:pt x="2039" y="3620"/>
                  <a:pt x="1956" y="3704"/>
                </a:cubicBezTo>
                <a:cubicBezTo>
                  <a:pt x="1872" y="3787"/>
                  <a:pt x="1872" y="3922"/>
                  <a:pt x="1956" y="4006"/>
                </a:cubicBezTo>
                <a:lnTo>
                  <a:pt x="3012" y="5062"/>
                </a:lnTo>
                <a:cubicBezTo>
                  <a:pt x="3095" y="5145"/>
                  <a:pt x="3230" y="5145"/>
                  <a:pt x="3313" y="5062"/>
                </a:cubicBezTo>
                <a:lnTo>
                  <a:pt x="5274" y="3100"/>
                </a:lnTo>
                <a:cubicBezTo>
                  <a:pt x="5355" y="3017"/>
                  <a:pt x="5354" y="2884"/>
                  <a:pt x="5272" y="2801"/>
                </a:cubicBezTo>
                <a:cubicBezTo>
                  <a:pt x="5190" y="2719"/>
                  <a:pt x="5056" y="2718"/>
                  <a:pt x="4973" y="2799"/>
                </a:cubicBezTo>
                <a:lnTo>
                  <a:pt x="3163" y="4609"/>
                </a:lnTo>
                <a:close/>
                <a:moveTo>
                  <a:pt x="5665" y="1593"/>
                </a:moveTo>
                <a:lnTo>
                  <a:pt x="5502" y="2044"/>
                </a:lnTo>
                <a:cubicBezTo>
                  <a:pt x="6320" y="3008"/>
                  <a:pt x="6273" y="4454"/>
                  <a:pt x="5364" y="5364"/>
                </a:cubicBezTo>
                <a:cubicBezTo>
                  <a:pt x="5007" y="5722"/>
                  <a:pt x="4549" y="5960"/>
                  <a:pt x="4051" y="6046"/>
                </a:cubicBezTo>
                <a:lnTo>
                  <a:pt x="3888" y="6497"/>
                </a:lnTo>
                <a:cubicBezTo>
                  <a:pt x="4560" y="6438"/>
                  <a:pt x="5189" y="6143"/>
                  <a:pt x="5665" y="5665"/>
                </a:cubicBezTo>
                <a:cubicBezTo>
                  <a:pt x="6790" y="4541"/>
                  <a:pt x="6790" y="2717"/>
                  <a:pt x="5665" y="1593"/>
                </a:cubicBezTo>
                <a:close/>
                <a:moveTo>
                  <a:pt x="1895" y="1895"/>
                </a:moveTo>
                <a:cubicBezTo>
                  <a:pt x="2319" y="1469"/>
                  <a:pt x="2885" y="1215"/>
                  <a:pt x="3484" y="1180"/>
                </a:cubicBezTo>
                <a:lnTo>
                  <a:pt x="3666" y="749"/>
                </a:lnTo>
                <a:cubicBezTo>
                  <a:pt x="2889" y="739"/>
                  <a:pt x="2141" y="1043"/>
                  <a:pt x="1593" y="1593"/>
                </a:cubicBezTo>
                <a:cubicBezTo>
                  <a:pt x="468" y="2717"/>
                  <a:pt x="468" y="4541"/>
                  <a:pt x="1593" y="5666"/>
                </a:cubicBezTo>
                <a:lnTo>
                  <a:pt x="1774" y="5235"/>
                </a:lnTo>
                <a:cubicBezTo>
                  <a:pt x="938" y="4271"/>
                  <a:pt x="978" y="2811"/>
                  <a:pt x="1895" y="1894"/>
                </a:cubicBezTo>
                <a:lnTo>
                  <a:pt x="1895" y="1895"/>
                </a:lnTo>
                <a:close/>
                <a:moveTo>
                  <a:pt x="5892" y="6043"/>
                </a:moveTo>
                <a:lnTo>
                  <a:pt x="7702" y="7853"/>
                </a:lnTo>
                <a:lnTo>
                  <a:pt x="7853" y="7702"/>
                </a:lnTo>
                <a:lnTo>
                  <a:pt x="6043" y="5892"/>
                </a:lnTo>
                <a:lnTo>
                  <a:pt x="5892" y="6043"/>
                </a:ln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6295390" cy="548640"/>
          </a:xfrm>
        </p:spPr>
        <p:txBody>
          <a:bodyPr>
            <a:normAutofit/>
          </a:bodyPr>
          <a:lstStyle/>
          <a:p>
            <a:r>
              <a:rPr kumimoji="1" lang="zh-CN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零售数据标签体系示例</a:t>
            </a:r>
          </a:p>
        </p:txBody>
      </p:sp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15925"/>
            <a:ext cx="522605" cy="18732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17</a:t>
            </a:fld>
            <a:endParaRPr lang="zh-CN" altLang="en-US" dirty="0"/>
          </a:p>
        </p:txBody>
      </p:sp>
      <p:graphicFrame>
        <p:nvGraphicFramePr>
          <p:cNvPr id="4" name="对象 3"/>
          <p:cNvGraphicFramePr/>
          <p:nvPr/>
        </p:nvGraphicFramePr>
        <p:xfrm>
          <a:off x="793750" y="901700"/>
          <a:ext cx="9911715" cy="567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31050" imgH="6470650" progId="Paint.Picture">
                  <p:embed/>
                </p:oleObj>
              </mc:Choice>
              <mc:Fallback>
                <p:oleObj r:id="rId2" imgW="7131050" imgH="64706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3750" y="901700"/>
                        <a:ext cx="9911715" cy="5671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零售数据标签体系示例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18</a:t>
            </a:fld>
            <a:endParaRPr lang="zh-CN" altLang="en-US" dirty="0"/>
          </a:p>
        </p:txBody>
      </p:sp>
      <p:graphicFrame>
        <p:nvGraphicFramePr>
          <p:cNvPr id="29" name="对象 28"/>
          <p:cNvGraphicFramePr/>
          <p:nvPr/>
        </p:nvGraphicFramePr>
        <p:xfrm>
          <a:off x="823595" y="1577975"/>
          <a:ext cx="10737850" cy="402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584950" imgH="2203450" progId="Paint.Picture">
                  <p:embed/>
                </p:oleObj>
              </mc:Choice>
              <mc:Fallback>
                <p:oleObj r:id="rId2" imgW="6584950" imgH="2203450" progId="Paint.Picture">
                  <p:embed/>
                  <p:pic>
                    <p:nvPicPr>
                      <p:cNvPr id="0" name="图片 2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3595" y="1577975"/>
                        <a:ext cx="10737850" cy="4023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6295390" cy="548640"/>
          </a:xfrm>
        </p:spPr>
        <p:txBody>
          <a:bodyPr>
            <a:normAutofit/>
          </a:bodyPr>
          <a:lstStyle/>
          <a:p>
            <a:r>
              <a:rPr kumimoji="1" lang="zh-CN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信贷数据标签体系示例</a:t>
            </a:r>
          </a:p>
        </p:txBody>
      </p:sp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71145" y="415925"/>
            <a:ext cx="522605" cy="187325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19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897255"/>
            <a:ext cx="10174605" cy="56661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信贷数据标签体系示例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20</a:t>
            </a:fld>
            <a:endParaRPr lang="zh-CN" altLang="en-US" dirty="0"/>
          </a:p>
        </p:txBody>
      </p:sp>
      <p:graphicFrame>
        <p:nvGraphicFramePr>
          <p:cNvPr id="3" name="对象 2"/>
          <p:cNvGraphicFramePr/>
          <p:nvPr/>
        </p:nvGraphicFramePr>
        <p:xfrm>
          <a:off x="885825" y="1369695"/>
          <a:ext cx="10915650" cy="435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553200" imgH="2203450" progId="Paint.Picture">
                  <p:embed/>
                </p:oleObj>
              </mc:Choice>
              <mc:Fallback>
                <p:oleObj r:id="rId2" imgW="6553200" imgH="220345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85825" y="1369695"/>
                        <a:ext cx="10915650" cy="435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 txBox="1"/>
          <p:nvPr/>
        </p:nvSpPr>
        <p:spPr>
          <a:xfrm>
            <a:off x="885825" y="235585"/>
            <a:ext cx="7175500" cy="5486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dirty="0">
                <a:solidFill>
                  <a:srgbClr val="3366CC"/>
                </a:solidFill>
              </a:rPr>
              <a:t>数据中台架构</a:t>
            </a:r>
            <a:r>
              <a:rPr lang="en-US" altLang="zh-CN" sz="2600" dirty="0">
                <a:solidFill>
                  <a:srgbClr val="3366CC"/>
                </a:solidFill>
              </a:rPr>
              <a:t>---</a:t>
            </a:r>
            <a:r>
              <a:rPr lang="zh-CN" altLang="en-US" sz="2000" dirty="0">
                <a:solidFill>
                  <a:srgbClr val="3366CC"/>
                </a:solidFill>
              </a:rPr>
              <a:t>数据资产管理</a:t>
            </a:r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29235" y="364490"/>
            <a:ext cx="552450" cy="29083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17" name="Rectangle 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34366" y="1734447"/>
            <a:ext cx="1989079" cy="3145542"/>
          </a:xfrm>
          <a:prstGeom prst="rect">
            <a:avLst/>
          </a:prstGeom>
          <a:noFill/>
          <a:ln w="6350" algn="ctr">
            <a:solidFill>
              <a:srgbClr val="BBBCBC"/>
            </a:solidFill>
            <a:miter lim="800000"/>
          </a:ln>
        </p:spPr>
        <p:txBody>
          <a:bodyPr lIns="88900" tIns="88900" rIns="88900" bIns="88900" anchor="ctr"/>
          <a:lstStyle/>
          <a:p>
            <a:pPr algn="ctr">
              <a:defRPr/>
            </a:pPr>
            <a:endParaRPr lang="en-US" altLang="ja-JP" sz="1400" dirty="0"/>
          </a:p>
        </p:txBody>
      </p:sp>
      <p:sp>
        <p:nvSpPr>
          <p:cNvPr id="21" name="Text Placeholder 5"/>
          <p:cNvSpPr txBox="1"/>
          <p:nvPr/>
        </p:nvSpPr>
        <p:spPr>
          <a:xfrm flipH="1">
            <a:off x="5272405" y="1844675"/>
            <a:ext cx="6045835" cy="3592195"/>
          </a:xfrm>
          <a:prstGeom prst="homePlate">
            <a:avLst>
              <a:gd name="adj" fmla="val 2202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274320" tIns="88900" rIns="88900" bIns="88900"/>
          <a:lstStyle>
            <a:lvl1pPr marL="0" indent="0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45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39750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90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99795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80000"/>
            </a:pPr>
            <a:endParaRPr lang="en-US" sz="1000" dirty="0">
              <a:solidFill>
                <a:schemeClr val="bg1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Placeholder 5"/>
          <p:cNvSpPr txBox="1"/>
          <p:nvPr/>
        </p:nvSpPr>
        <p:spPr>
          <a:xfrm>
            <a:off x="1097280" y="1844675"/>
            <a:ext cx="4064000" cy="3592195"/>
          </a:xfrm>
          <a:prstGeom prst="homePlate">
            <a:avLst>
              <a:gd name="adj" fmla="val 220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88900" tIns="88900" rIns="88900" bIns="88900"/>
          <a:lstStyle>
            <a:lvl1pPr marL="0" indent="0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45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39750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90" indent="-179705" algn="l" defTabSz="957580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99795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85979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80000"/>
            </a:pPr>
            <a:endParaRPr lang="en-US" sz="1000" dirty="0">
              <a:solidFill>
                <a:schemeClr val="tx1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13216" y="2729547"/>
            <a:ext cx="3600743" cy="2707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4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数据目录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indent="-342900">
              <a:lnSpc>
                <a:spcPts val="34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元数据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indent="-342900">
              <a:lnSpc>
                <a:spcPts val="34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数据质量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342900" indent="-342900">
              <a:lnSpc>
                <a:spcPts val="34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数据血缘</a:t>
            </a:r>
          </a:p>
          <a:p>
            <a:pPr marL="342900" indent="-342900">
              <a:lnSpc>
                <a:spcPts val="34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数据生命周期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85750" indent="-285750">
              <a:lnSpc>
                <a:spcPts val="34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54857" y="2144666"/>
            <a:ext cx="168126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数据资产管理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359068" y="2186790"/>
            <a:ext cx="366671" cy="27320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5977000" y="2166968"/>
            <a:ext cx="360378" cy="31533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398357" y="2717945"/>
            <a:ext cx="2736392" cy="22713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数据标准化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元数据管理</a:t>
            </a: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数据质量管理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数据安全管理</a:t>
            </a: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数据生命周期管理</a:t>
            </a:r>
          </a:p>
        </p:txBody>
      </p:sp>
      <p:sp>
        <p:nvSpPr>
          <p:cNvPr id="28" name="矩形 27"/>
          <p:cNvSpPr/>
          <p:nvPr/>
        </p:nvSpPr>
        <p:spPr>
          <a:xfrm>
            <a:off x="6415309" y="2144666"/>
            <a:ext cx="110799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1895357" y="254297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494623" y="2542973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 txBox="1"/>
          <p:nvPr/>
        </p:nvSpPr>
        <p:spPr>
          <a:xfrm>
            <a:off x="885825" y="235585"/>
            <a:ext cx="7175500" cy="5486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dirty="0">
                <a:solidFill>
                  <a:srgbClr val="3366CC"/>
                </a:solidFill>
              </a:rPr>
              <a:t>数据中台架构</a:t>
            </a:r>
            <a:r>
              <a:rPr lang="en-US" altLang="zh-CN" sz="2600" dirty="0">
                <a:solidFill>
                  <a:srgbClr val="3366CC"/>
                </a:solidFill>
              </a:rPr>
              <a:t>---</a:t>
            </a:r>
            <a:r>
              <a:rPr lang="zh-CN" altLang="en-US" sz="2000" dirty="0">
                <a:solidFill>
                  <a:srgbClr val="3366CC"/>
                </a:solidFill>
              </a:rPr>
              <a:t>数据服务体系</a:t>
            </a:r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229235" y="364490"/>
            <a:ext cx="552450" cy="290830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758035" y="1041469"/>
            <a:ext cx="10675033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6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pPr algn="l"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前面利用数据汇聚、数据开发建设企业的数据资产，利用数据管理展现企业的数据资产，到此还没发挥数据的应用价值，数据服务体系就是把数据变成一种服务能力，通过数据服务让数据参与到业务中，快速开发企业的业务应用和业务中台等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713894" y="4328639"/>
            <a:ext cx="509960" cy="44621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65930" y="3627755"/>
            <a:ext cx="1931670" cy="18351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创建服务</a:t>
            </a: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服务授权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调用管理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ts val="3400"/>
              </a:lnSpc>
            </a:pP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服务</a:t>
            </a:r>
          </a:p>
        </p:txBody>
      </p:sp>
      <p:sp>
        <p:nvSpPr>
          <p:cNvPr id="12" name="矩形 11"/>
          <p:cNvSpPr/>
          <p:nvPr/>
        </p:nvSpPr>
        <p:spPr>
          <a:xfrm>
            <a:off x="2065826" y="4314894"/>
            <a:ext cx="183561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数据服务</a:t>
            </a:r>
            <a:endParaRPr lang="en-US" altLang="zh-CN" sz="2400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三角形 16"/>
          <p:cNvSpPr/>
          <p:nvPr/>
        </p:nvSpPr>
        <p:spPr>
          <a:xfrm rot="10800000">
            <a:off x="4455438" y="3180646"/>
            <a:ext cx="3679903" cy="21863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49110" y="3627755"/>
            <a:ext cx="2309495" cy="18351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20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即席查询</a:t>
            </a: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多维数据分析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灵活对接业务系统</a:t>
            </a:r>
          </a:p>
          <a:p>
            <a:pPr>
              <a:lnSpc>
                <a:spcPts val="3400"/>
              </a:lnSpc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报表展示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计算调度平台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23</a:t>
            </a:fld>
            <a:endParaRPr lang="zh-CN" altLang="en-US" dirty="0"/>
          </a:p>
        </p:txBody>
      </p:sp>
      <p:graphicFrame>
        <p:nvGraphicFramePr>
          <p:cNvPr id="6" name="对象 5"/>
          <p:cNvGraphicFramePr/>
          <p:nvPr/>
        </p:nvGraphicFramePr>
        <p:xfrm>
          <a:off x="885825" y="858520"/>
          <a:ext cx="10411460" cy="5789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00800" imgH="5784850" progId="Paint.Picture">
                  <p:embed/>
                </p:oleObj>
              </mc:Choice>
              <mc:Fallback>
                <p:oleObj r:id="rId2" imgW="6400800" imgH="578485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85825" y="858520"/>
                        <a:ext cx="10411460" cy="5789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零售解决方案示例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24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042670"/>
            <a:ext cx="10868660" cy="54349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数据中台架构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信贷解决方案示例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8" name="立方体 7"/>
          <p:cNvSpPr/>
          <p:nvPr/>
        </p:nvSpPr>
        <p:spPr>
          <a:xfrm>
            <a:off x="389255" y="2196465"/>
            <a:ext cx="603885" cy="1223645"/>
          </a:xfrm>
          <a:prstGeom prst="cube">
            <a:avLst>
              <a:gd name="adj" fmla="val 7803"/>
            </a:avLst>
          </a:prstGeom>
          <a:solidFill>
            <a:srgbClr val="16A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>
                <a:latin typeface="SimHei" panose="02010609060101010101" pitchFamily="49" charset="-122"/>
                <a:ea typeface="SimHei" panose="02010609060101010101" pitchFamily="49" charset="-122"/>
              </a:rPr>
              <a:t>基础产品层</a:t>
            </a:r>
            <a:endParaRPr kumimoji="1" lang="zh-CN" altLang="en-US" sz="10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383188" y="3478283"/>
            <a:ext cx="610232" cy="1238018"/>
          </a:xfrm>
          <a:prstGeom prst="cube">
            <a:avLst>
              <a:gd name="adj" fmla="val 11667"/>
            </a:avLst>
          </a:prstGeom>
          <a:solidFill>
            <a:srgbClr val="16A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>
                <a:latin typeface="SimHei" panose="02010609060101010101" pitchFamily="49" charset="-122"/>
                <a:ea typeface="SimHei" panose="02010609060101010101" pitchFamily="49" charset="-122"/>
              </a:rPr>
              <a:t>数据中台</a:t>
            </a:r>
            <a:endParaRPr kumimoji="1" lang="en-US" altLang="zh-CN" sz="80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800"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1" lang="zh-CN" altLang="en-US" sz="800">
                <a:latin typeface="SimHei" panose="02010609060101010101" pitchFamily="49" charset="-122"/>
                <a:ea typeface="SimHei" panose="02010609060101010101" pitchFamily="49" charset="-122"/>
              </a:rPr>
              <a:t>微众魔方</a:t>
            </a:r>
            <a:r>
              <a:rPr kumimoji="1" lang="en-US" altLang="zh-CN" sz="80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  <a:endParaRPr kumimoji="1" lang="zh-CN" altLang="en-US" sz="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" name="立方体 12"/>
          <p:cNvSpPr/>
          <p:nvPr/>
        </p:nvSpPr>
        <p:spPr>
          <a:xfrm>
            <a:off x="383188" y="4924306"/>
            <a:ext cx="612014" cy="1212043"/>
          </a:xfrm>
          <a:prstGeom prst="cube">
            <a:avLst>
              <a:gd name="adj" fmla="val 11667"/>
            </a:avLst>
          </a:prstGeom>
          <a:solidFill>
            <a:srgbClr val="16A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>
                <a:latin typeface="SimHei" panose="02010609060101010101" pitchFamily="49" charset="-122"/>
                <a:ea typeface="SimHei" panose="02010609060101010101" pitchFamily="49" charset="-122"/>
              </a:rPr>
              <a:t>数仓</a:t>
            </a:r>
            <a:endParaRPr kumimoji="1" lang="en-US" altLang="zh-CN" sz="80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800"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1" lang="zh-CN" altLang="en-US" sz="800">
                <a:latin typeface="SimHei" panose="02010609060101010101" pitchFamily="49" charset="-122"/>
                <a:ea typeface="SimHei" panose="02010609060101010101" pitchFamily="49" charset="-122"/>
              </a:rPr>
              <a:t>微众万象</a:t>
            </a:r>
            <a:r>
              <a:rPr kumimoji="1" lang="en-US" altLang="zh-CN" sz="80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  <a:endParaRPr kumimoji="1" lang="zh-CN" altLang="en-US" sz="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39570" y="2196465"/>
            <a:ext cx="2505710" cy="5562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142159" y="2329811"/>
            <a:ext cx="1272780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kumimoji="1"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数据服务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635212" y="4169218"/>
            <a:ext cx="2506547" cy="556054"/>
          </a:xfrm>
          <a:prstGeom prst="rect">
            <a:avLst/>
          </a:prstGeom>
          <a:solidFill>
            <a:srgbClr val="FFC00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202180" y="4278630"/>
            <a:ext cx="1818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指标</a:t>
            </a:r>
            <a:r>
              <a:rPr kumimoji="1" lang="en-US" altLang="zh-CN" sz="1400" dirty="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kumimoji="1" lang="zh-CN" altLang="en-US" sz="1400" dirty="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模型管理系统</a:t>
            </a:r>
          </a:p>
        </p:txBody>
      </p:sp>
      <p:sp>
        <p:nvSpPr>
          <p:cNvPr id="34" name="矩形 33"/>
          <p:cNvSpPr/>
          <p:nvPr/>
        </p:nvSpPr>
        <p:spPr>
          <a:xfrm>
            <a:off x="4277431" y="4164813"/>
            <a:ext cx="2261321" cy="551488"/>
          </a:xfrm>
          <a:prstGeom prst="rect">
            <a:avLst/>
          </a:prstGeom>
          <a:solidFill>
            <a:srgbClr val="FFC00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107940" y="4298315"/>
            <a:ext cx="1006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安全管理</a:t>
            </a:r>
          </a:p>
        </p:txBody>
      </p:sp>
      <p:sp>
        <p:nvSpPr>
          <p:cNvPr id="36" name="矩形 35"/>
          <p:cNvSpPr/>
          <p:nvPr/>
        </p:nvSpPr>
        <p:spPr>
          <a:xfrm>
            <a:off x="6663522" y="4160247"/>
            <a:ext cx="2470258" cy="556054"/>
          </a:xfrm>
          <a:prstGeom prst="rect">
            <a:avLst/>
          </a:prstGeom>
          <a:solidFill>
            <a:srgbClr val="FFC00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160246" y="4286989"/>
            <a:ext cx="18973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数据生命周期管理</a:t>
            </a:r>
          </a:p>
        </p:txBody>
      </p:sp>
      <p:pic>
        <p:nvPicPr>
          <p:cNvPr id="47" name="图形 46" descr="Ui Ux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6178" y="4321895"/>
            <a:ext cx="358427" cy="288000"/>
          </a:xfrm>
          <a:prstGeom prst="rect">
            <a:avLst/>
          </a:prstGeom>
        </p:spPr>
      </p:pic>
      <p:pic>
        <p:nvPicPr>
          <p:cNvPr id="49" name="图形 48" descr="Web 设计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4648" y="4298446"/>
            <a:ext cx="288000" cy="288000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1628775" y="5775325"/>
            <a:ext cx="3274060" cy="361315"/>
          </a:xfrm>
          <a:prstGeom prst="rect">
            <a:avLst/>
          </a:prstGeom>
          <a:solidFill>
            <a:srgbClr val="FF000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数据汇聚</a:t>
            </a:r>
          </a:p>
        </p:txBody>
      </p:sp>
      <p:sp>
        <p:nvSpPr>
          <p:cNvPr id="39" name="文本框 32"/>
          <p:cNvSpPr txBox="1"/>
          <p:nvPr/>
        </p:nvSpPr>
        <p:spPr>
          <a:xfrm>
            <a:off x="1629073" y="6399360"/>
            <a:ext cx="1423493" cy="30777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税务</a:t>
            </a:r>
          </a:p>
        </p:txBody>
      </p:sp>
      <p:sp>
        <p:nvSpPr>
          <p:cNvPr id="40" name="文本框 32"/>
          <p:cNvSpPr txBox="1"/>
          <p:nvPr/>
        </p:nvSpPr>
        <p:spPr>
          <a:xfrm>
            <a:off x="3122630" y="6399360"/>
            <a:ext cx="1554496" cy="30777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发票</a:t>
            </a:r>
          </a:p>
        </p:txBody>
      </p:sp>
      <p:sp>
        <p:nvSpPr>
          <p:cNvPr id="41" name="文本框 32"/>
          <p:cNvSpPr txBox="1"/>
          <p:nvPr/>
        </p:nvSpPr>
        <p:spPr>
          <a:xfrm>
            <a:off x="4740848" y="6400746"/>
            <a:ext cx="1423493" cy="30777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工商</a:t>
            </a:r>
          </a:p>
        </p:txBody>
      </p:sp>
      <p:sp>
        <p:nvSpPr>
          <p:cNvPr id="42" name="文本框 32"/>
          <p:cNvSpPr txBox="1"/>
          <p:nvPr/>
        </p:nvSpPr>
        <p:spPr>
          <a:xfrm>
            <a:off x="6240747" y="6399362"/>
            <a:ext cx="1420899" cy="30777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司法</a:t>
            </a:r>
          </a:p>
        </p:txBody>
      </p:sp>
      <p:sp>
        <p:nvSpPr>
          <p:cNvPr id="43" name="文本框 32"/>
          <p:cNvSpPr txBox="1"/>
          <p:nvPr/>
        </p:nvSpPr>
        <p:spPr>
          <a:xfrm>
            <a:off x="7818519" y="6399361"/>
            <a:ext cx="1312906" cy="30777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......</a:t>
            </a:r>
            <a:endParaRPr kumimoji="1"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4" name="矩形 49"/>
          <p:cNvSpPr/>
          <p:nvPr/>
        </p:nvSpPr>
        <p:spPr>
          <a:xfrm>
            <a:off x="1631950" y="5349875"/>
            <a:ext cx="3270885" cy="361315"/>
          </a:xfrm>
          <a:prstGeom prst="rect">
            <a:avLst/>
          </a:prstGeom>
          <a:solidFill>
            <a:srgbClr val="FF000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清洗加工</a:t>
            </a:r>
            <a:r>
              <a:rPr kumimoji="1" lang="en-US" altLang="zh-CN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&amp;</a:t>
            </a:r>
            <a:r>
              <a:rPr kumimoji="1" lang="zh-CN" altLang="en-US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数据持久化</a:t>
            </a:r>
            <a:endParaRPr kumimoji="1" lang="en-US" altLang="zh-CN" sz="1400" dirty="0">
              <a:solidFill>
                <a:srgbClr val="FFFF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6" name="矩形 49"/>
          <p:cNvSpPr/>
          <p:nvPr/>
        </p:nvSpPr>
        <p:spPr>
          <a:xfrm>
            <a:off x="4995545" y="4924425"/>
            <a:ext cx="1805305" cy="1212215"/>
          </a:xfrm>
          <a:prstGeom prst="rect">
            <a:avLst/>
          </a:prstGeom>
          <a:solidFill>
            <a:srgbClr val="FF000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数据源管理</a:t>
            </a:r>
            <a:endParaRPr kumimoji="1" lang="en-US" altLang="zh-CN" sz="1400">
              <a:solidFill>
                <a:srgbClr val="FFFF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&amp;</a:t>
            </a:r>
          </a:p>
          <a:p>
            <a:pPr algn="ctr"/>
            <a:r>
              <a:rPr kumimoji="1" lang="zh-CN" altLang="en-US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配置</a:t>
            </a:r>
            <a:endParaRPr kumimoji="1" lang="en-US" altLang="zh-CN" sz="1400" dirty="0">
              <a:solidFill>
                <a:srgbClr val="FFFF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8" name="矩形 49"/>
          <p:cNvSpPr/>
          <p:nvPr/>
        </p:nvSpPr>
        <p:spPr>
          <a:xfrm>
            <a:off x="1631950" y="4924425"/>
            <a:ext cx="3270885" cy="361315"/>
          </a:xfrm>
          <a:prstGeom prst="rect">
            <a:avLst/>
          </a:prstGeom>
          <a:solidFill>
            <a:srgbClr val="FF000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数据网关</a:t>
            </a:r>
            <a:r>
              <a:rPr kumimoji="1" lang="en-US" altLang="zh-CN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1" lang="zh-CN" altLang="en-US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标准化</a:t>
            </a:r>
            <a:r>
              <a:rPr kumimoji="1" lang="en-US" altLang="zh-CN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  <a:endParaRPr kumimoji="1" lang="en-US" altLang="zh-CN" sz="1400" dirty="0">
              <a:solidFill>
                <a:srgbClr val="FFFF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2" name="矩形 16"/>
          <p:cNvSpPr/>
          <p:nvPr/>
        </p:nvSpPr>
        <p:spPr>
          <a:xfrm>
            <a:off x="1629141" y="2863826"/>
            <a:ext cx="2510886" cy="556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3" name="文本框 19"/>
          <p:cNvSpPr txBox="1"/>
          <p:nvPr/>
        </p:nvSpPr>
        <p:spPr>
          <a:xfrm>
            <a:off x="2137606" y="2999918"/>
            <a:ext cx="914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决策引擎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Graphic 5" descr="Databas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40819" y="5368005"/>
            <a:ext cx="457200" cy="357149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64" name="矩形 16"/>
          <p:cNvSpPr/>
          <p:nvPr/>
        </p:nvSpPr>
        <p:spPr>
          <a:xfrm>
            <a:off x="4277995" y="2199005"/>
            <a:ext cx="2254885" cy="553720"/>
          </a:xfrm>
          <a:prstGeom prst="rect">
            <a:avLst/>
          </a:prstGeom>
          <a:solidFill>
            <a:srgbClr val="92D05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5" name="文本框 19"/>
          <p:cNvSpPr txBox="1"/>
          <p:nvPr/>
        </p:nvSpPr>
        <p:spPr>
          <a:xfrm>
            <a:off x="5083175" y="2312035"/>
            <a:ext cx="11868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数</a:t>
            </a:r>
            <a:r>
              <a:rPr kumimoji="1" lang="zh-CN" altLang="en-US" sz="1400" dirty="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据市场</a:t>
            </a:r>
          </a:p>
        </p:txBody>
      </p:sp>
      <p:sp>
        <p:nvSpPr>
          <p:cNvPr id="67" name="矩形 23"/>
          <p:cNvSpPr/>
          <p:nvPr/>
        </p:nvSpPr>
        <p:spPr>
          <a:xfrm>
            <a:off x="6874510" y="4924425"/>
            <a:ext cx="2257425" cy="1212215"/>
          </a:xfrm>
          <a:prstGeom prst="rect">
            <a:avLst/>
          </a:prstGeom>
          <a:solidFill>
            <a:srgbClr val="00B05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8" name="文本框 25"/>
          <p:cNvSpPr txBox="1"/>
          <p:nvPr/>
        </p:nvSpPr>
        <p:spPr>
          <a:xfrm>
            <a:off x="7584440" y="5374640"/>
            <a:ext cx="1048385" cy="30670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算力平台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9" name="图形 29" descr="计算机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2603" y="3013001"/>
            <a:ext cx="288000" cy="28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  <p:pic>
        <p:nvPicPr>
          <p:cNvPr id="14" name="Graphic 13" descr="Head with gears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4665" y="5270408"/>
            <a:ext cx="457200" cy="440567"/>
          </a:xfrm>
          <a:prstGeom prst="rect">
            <a:avLst/>
          </a:prstGeom>
          <a:solidFill>
            <a:srgbClr val="69A35B"/>
          </a:solidFill>
        </p:spPr>
      </p:pic>
      <p:sp>
        <p:nvSpPr>
          <p:cNvPr id="4" name="Smiley Face 4"/>
          <p:cNvSpPr/>
          <p:nvPr/>
        </p:nvSpPr>
        <p:spPr>
          <a:xfrm>
            <a:off x="1778786" y="2333383"/>
            <a:ext cx="280495" cy="282037"/>
          </a:xfrm>
          <a:prstGeom prst="smileyFac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图形 27" descr="浏览器窗口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8008" y="5383950"/>
            <a:ext cx="288000" cy="288000"/>
          </a:xfrm>
          <a:prstGeom prst="rect">
            <a:avLst/>
          </a:prstGeom>
          <a:solidFill>
            <a:srgbClr val="FF0000"/>
          </a:solidFill>
        </p:spPr>
      </p:pic>
      <p:cxnSp>
        <p:nvCxnSpPr>
          <p:cNvPr id="12" name="Straight Connector 11"/>
          <p:cNvCxnSpPr/>
          <p:nvPr/>
        </p:nvCxnSpPr>
        <p:spPr>
          <a:xfrm flipH="1">
            <a:off x="9245182" y="1346632"/>
            <a:ext cx="11567" cy="4916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16"/>
          <p:cNvSpPr/>
          <p:nvPr/>
        </p:nvSpPr>
        <p:spPr>
          <a:xfrm>
            <a:off x="9403378" y="2458874"/>
            <a:ext cx="1851009" cy="5534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0" name="文本框 19"/>
          <p:cNvSpPr txBox="1"/>
          <p:nvPr/>
        </p:nvSpPr>
        <p:spPr>
          <a:xfrm>
            <a:off x="9903294" y="2581689"/>
            <a:ext cx="1078588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会员俱乐部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2" name="矩形 16"/>
          <p:cNvSpPr/>
          <p:nvPr/>
        </p:nvSpPr>
        <p:spPr>
          <a:xfrm>
            <a:off x="9408792" y="3981793"/>
            <a:ext cx="1843690" cy="553409"/>
          </a:xfrm>
          <a:prstGeom prst="rect">
            <a:avLst/>
          </a:prstGeom>
          <a:solidFill>
            <a:srgbClr val="92D05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3" name="文本框 19"/>
          <p:cNvSpPr txBox="1"/>
          <p:nvPr/>
        </p:nvSpPr>
        <p:spPr>
          <a:xfrm>
            <a:off x="10031665" y="4080180"/>
            <a:ext cx="895046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CRM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5" name="矩形 16"/>
          <p:cNvSpPr/>
          <p:nvPr/>
        </p:nvSpPr>
        <p:spPr>
          <a:xfrm>
            <a:off x="9402452" y="4811318"/>
            <a:ext cx="1850030" cy="5534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6" name="文本框 19"/>
          <p:cNvSpPr txBox="1"/>
          <p:nvPr/>
        </p:nvSpPr>
        <p:spPr>
          <a:xfrm>
            <a:off x="9810776" y="4900875"/>
            <a:ext cx="1441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运营管理中心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7" name="Graphic 17" descr="Web design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84670" y="4878071"/>
            <a:ext cx="353829" cy="343207"/>
          </a:xfrm>
          <a:prstGeom prst="rect">
            <a:avLst/>
          </a:prstGeom>
        </p:spPr>
      </p:pic>
      <p:pic>
        <p:nvPicPr>
          <p:cNvPr id="90" name="图形 46" descr="Ui Ux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2661" y="4115678"/>
            <a:ext cx="288000" cy="28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91" name="Smiley Face 90"/>
          <p:cNvSpPr/>
          <p:nvPr/>
        </p:nvSpPr>
        <p:spPr>
          <a:xfrm>
            <a:off x="9522264" y="2585047"/>
            <a:ext cx="280495" cy="282037"/>
          </a:xfrm>
          <a:prstGeom prst="smileyFac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矩形 30"/>
          <p:cNvSpPr/>
          <p:nvPr/>
        </p:nvSpPr>
        <p:spPr>
          <a:xfrm>
            <a:off x="1638798" y="3507500"/>
            <a:ext cx="2506547" cy="556054"/>
          </a:xfrm>
          <a:prstGeom prst="rect">
            <a:avLst/>
          </a:prstGeom>
          <a:solidFill>
            <a:srgbClr val="FFC00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3" name="文本框 32"/>
          <p:cNvSpPr txBox="1"/>
          <p:nvPr/>
        </p:nvSpPr>
        <p:spPr>
          <a:xfrm>
            <a:off x="2166364" y="3627275"/>
            <a:ext cx="1667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标签管理</a:t>
            </a:r>
            <a:endParaRPr kumimoji="1" lang="zh-CN" altLang="en-US" sz="1400" dirty="0">
              <a:solidFill>
                <a:srgbClr val="716555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4" name="矩形 33"/>
          <p:cNvSpPr/>
          <p:nvPr/>
        </p:nvSpPr>
        <p:spPr>
          <a:xfrm>
            <a:off x="4278864" y="3491820"/>
            <a:ext cx="2261321" cy="551488"/>
          </a:xfrm>
          <a:prstGeom prst="rect">
            <a:avLst/>
          </a:prstGeom>
          <a:solidFill>
            <a:srgbClr val="FFC00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5" name="文本框 34"/>
          <p:cNvSpPr txBox="1"/>
          <p:nvPr/>
        </p:nvSpPr>
        <p:spPr>
          <a:xfrm>
            <a:off x="5016856" y="3627275"/>
            <a:ext cx="1319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数据资产管理</a:t>
            </a:r>
          </a:p>
        </p:txBody>
      </p:sp>
      <p:pic>
        <p:nvPicPr>
          <p:cNvPr id="96" name="图形 46" descr="Ui Ux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611" y="3648902"/>
            <a:ext cx="358427" cy="288000"/>
          </a:xfrm>
          <a:prstGeom prst="rect">
            <a:avLst/>
          </a:prstGeom>
        </p:spPr>
      </p:pic>
      <p:pic>
        <p:nvPicPr>
          <p:cNvPr id="97" name="图形 48" descr="Web 设计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8966" y="3647052"/>
            <a:ext cx="288000" cy="288000"/>
          </a:xfrm>
          <a:prstGeom prst="rect">
            <a:avLst/>
          </a:prstGeom>
        </p:spPr>
      </p:pic>
      <p:sp>
        <p:nvSpPr>
          <p:cNvPr id="98" name="矩形 35"/>
          <p:cNvSpPr/>
          <p:nvPr/>
        </p:nvSpPr>
        <p:spPr>
          <a:xfrm>
            <a:off x="6663522" y="3497205"/>
            <a:ext cx="2470258" cy="556054"/>
          </a:xfrm>
          <a:prstGeom prst="rect">
            <a:avLst/>
          </a:prstGeom>
          <a:solidFill>
            <a:srgbClr val="FFC00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9" name="文本框 36"/>
          <p:cNvSpPr txBox="1"/>
          <p:nvPr/>
        </p:nvSpPr>
        <p:spPr>
          <a:xfrm>
            <a:off x="7160260" y="3634740"/>
            <a:ext cx="14719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>
                <a:solidFill>
                  <a:srgbClr val="716555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数据质量管理</a:t>
            </a:r>
          </a:p>
        </p:txBody>
      </p:sp>
      <p:pic>
        <p:nvPicPr>
          <p:cNvPr id="100" name="图形 44" descr="工作流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96093" y="3653230"/>
            <a:ext cx="288000" cy="288000"/>
          </a:xfrm>
          <a:prstGeom prst="rect">
            <a:avLst/>
          </a:prstGeom>
        </p:spPr>
      </p:pic>
      <p:cxnSp>
        <p:nvCxnSpPr>
          <p:cNvPr id="102" name="Straight Connector 101"/>
          <p:cNvCxnSpPr/>
          <p:nvPr/>
        </p:nvCxnSpPr>
        <p:spPr>
          <a:xfrm>
            <a:off x="1471160" y="4800807"/>
            <a:ext cx="7802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442856" y="3471975"/>
            <a:ext cx="7802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16"/>
          <p:cNvSpPr/>
          <p:nvPr/>
        </p:nvSpPr>
        <p:spPr>
          <a:xfrm>
            <a:off x="4277430" y="2863826"/>
            <a:ext cx="2261321" cy="556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4" name="文本框 19"/>
          <p:cNvSpPr txBox="1"/>
          <p:nvPr/>
        </p:nvSpPr>
        <p:spPr>
          <a:xfrm>
            <a:off x="4995114" y="2992387"/>
            <a:ext cx="914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知识图谱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Flowchart: Collate 3"/>
          <p:cNvSpPr/>
          <p:nvPr/>
        </p:nvSpPr>
        <p:spPr>
          <a:xfrm>
            <a:off x="4411369" y="3008287"/>
            <a:ext cx="325210" cy="263874"/>
          </a:xfrm>
          <a:prstGeom prst="flowChartCollat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lowchart: Multidocument 28"/>
          <p:cNvSpPr/>
          <p:nvPr/>
        </p:nvSpPr>
        <p:spPr>
          <a:xfrm>
            <a:off x="2436031" y="5833984"/>
            <a:ext cx="288000" cy="279926"/>
          </a:xfrm>
          <a:prstGeom prst="flowChartMultidocumen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" name="图形 18" descr="Cmd 终端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451086" y="4983814"/>
            <a:ext cx="288000" cy="288000"/>
          </a:xfrm>
          <a:prstGeom prst="rect">
            <a:avLst/>
          </a:prstGeom>
        </p:spPr>
      </p:pic>
      <p:pic>
        <p:nvPicPr>
          <p:cNvPr id="108" name="Graphic 8" descr="Upward trend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33104" y="4298445"/>
            <a:ext cx="452213" cy="288001"/>
          </a:xfrm>
          <a:prstGeom prst="rect">
            <a:avLst/>
          </a:prstGeom>
          <a:solidFill>
            <a:srgbClr val="FFC003"/>
          </a:solidFill>
        </p:spPr>
      </p:pic>
      <p:cxnSp>
        <p:nvCxnSpPr>
          <p:cNvPr id="109" name="Straight Connector 108"/>
          <p:cNvCxnSpPr/>
          <p:nvPr/>
        </p:nvCxnSpPr>
        <p:spPr>
          <a:xfrm flipV="1">
            <a:off x="1460001" y="1952532"/>
            <a:ext cx="9157199" cy="2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23"/>
          <p:cNvSpPr/>
          <p:nvPr/>
        </p:nvSpPr>
        <p:spPr>
          <a:xfrm>
            <a:off x="1656786" y="1356000"/>
            <a:ext cx="1468859" cy="5560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0" name="文本框 25"/>
          <p:cNvSpPr txBox="1"/>
          <p:nvPr/>
        </p:nvSpPr>
        <p:spPr>
          <a:xfrm>
            <a:off x="2090044" y="1480709"/>
            <a:ext cx="83015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kumimoji="1"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商易通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11" name="图形 29" descr="计算机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7935" y="1496559"/>
            <a:ext cx="288000" cy="28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pic>
      <p:sp>
        <p:nvSpPr>
          <p:cNvPr id="112" name="矩形 23"/>
          <p:cNvSpPr/>
          <p:nvPr/>
        </p:nvSpPr>
        <p:spPr>
          <a:xfrm>
            <a:off x="3193120" y="1347123"/>
            <a:ext cx="1547715" cy="5560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3" name="文本框 25"/>
          <p:cNvSpPr txBox="1"/>
          <p:nvPr/>
        </p:nvSpPr>
        <p:spPr>
          <a:xfrm>
            <a:off x="3664484" y="1471261"/>
            <a:ext cx="991304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商事征信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14" name="图形 29" descr="计算机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1183" y="1499048"/>
            <a:ext cx="288000" cy="2880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</p:pic>
      <p:sp>
        <p:nvSpPr>
          <p:cNvPr id="115" name="矩形 16"/>
          <p:cNvSpPr/>
          <p:nvPr/>
        </p:nvSpPr>
        <p:spPr>
          <a:xfrm>
            <a:off x="9417480" y="3224050"/>
            <a:ext cx="1851009" cy="5534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6" name="文本框 19"/>
          <p:cNvSpPr txBox="1"/>
          <p:nvPr/>
        </p:nvSpPr>
        <p:spPr>
          <a:xfrm>
            <a:off x="9864086" y="3352523"/>
            <a:ext cx="133508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客户管理系统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7" name="Smiley Face 116"/>
          <p:cNvSpPr/>
          <p:nvPr/>
        </p:nvSpPr>
        <p:spPr>
          <a:xfrm>
            <a:off x="9536366" y="3350223"/>
            <a:ext cx="280495" cy="282037"/>
          </a:xfrm>
          <a:prstGeom prst="smileyFac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矩形 49"/>
          <p:cNvSpPr/>
          <p:nvPr/>
        </p:nvSpPr>
        <p:spPr>
          <a:xfrm>
            <a:off x="9402452" y="5478368"/>
            <a:ext cx="1850030" cy="627790"/>
          </a:xfrm>
          <a:prstGeom prst="rect">
            <a:avLst/>
          </a:prstGeom>
          <a:solidFill>
            <a:srgbClr val="FF0000"/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监控平台</a:t>
            </a:r>
            <a:endParaRPr kumimoji="1" lang="en-US" altLang="zh-CN" sz="1400" dirty="0">
              <a:solidFill>
                <a:srgbClr val="FFFF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19" name="Graphic 8" descr="Upward trend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54097" y="5672692"/>
            <a:ext cx="298503" cy="361186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20" name="矩形 20"/>
          <p:cNvSpPr/>
          <p:nvPr/>
        </p:nvSpPr>
        <p:spPr>
          <a:xfrm>
            <a:off x="6657340" y="2863850"/>
            <a:ext cx="2463165" cy="548640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l"/>
            <a:endParaRPr kumimoji="1"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1" name="文本框 22"/>
          <p:cNvSpPr txBox="1"/>
          <p:nvPr/>
        </p:nvSpPr>
        <p:spPr>
          <a:xfrm>
            <a:off x="7306310" y="2984500"/>
            <a:ext cx="1751330" cy="30670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风险决策管理系统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2" name="Sun 121"/>
          <p:cNvSpPr/>
          <p:nvPr/>
        </p:nvSpPr>
        <p:spPr>
          <a:xfrm>
            <a:off x="6895126" y="2963989"/>
            <a:ext cx="265173" cy="307777"/>
          </a:xfrm>
          <a:prstGeom prst="sun">
            <a:avLst>
              <a:gd name="adj" fmla="val 46875"/>
            </a:avLst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矩形 20"/>
          <p:cNvSpPr/>
          <p:nvPr/>
        </p:nvSpPr>
        <p:spPr>
          <a:xfrm>
            <a:off x="4852500" y="1344383"/>
            <a:ext cx="1680372" cy="5560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4" name="文本框 22"/>
          <p:cNvSpPr txBox="1"/>
          <p:nvPr/>
        </p:nvSpPr>
        <p:spPr>
          <a:xfrm>
            <a:off x="5242299" y="1478142"/>
            <a:ext cx="93918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普税贷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5" name="Sun 124"/>
          <p:cNvSpPr/>
          <p:nvPr/>
        </p:nvSpPr>
        <p:spPr>
          <a:xfrm>
            <a:off x="4919975" y="1467888"/>
            <a:ext cx="265173" cy="307777"/>
          </a:xfrm>
          <a:prstGeom prst="sun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立方体 2"/>
          <p:cNvSpPr/>
          <p:nvPr/>
        </p:nvSpPr>
        <p:spPr>
          <a:xfrm>
            <a:off x="403837" y="1344971"/>
            <a:ext cx="610232" cy="556054"/>
          </a:xfrm>
          <a:prstGeom prst="cube">
            <a:avLst>
              <a:gd name="adj" fmla="val 11667"/>
            </a:avLst>
          </a:prstGeom>
          <a:solidFill>
            <a:srgbClr val="16A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>
                <a:latin typeface="SimHei" panose="02010609060101010101" pitchFamily="49" charset="-122"/>
                <a:ea typeface="SimHei" panose="02010609060101010101" pitchFamily="49" charset="-122"/>
              </a:rPr>
              <a:t>场景层</a:t>
            </a:r>
            <a:endParaRPr kumimoji="1" lang="zh-CN" altLang="en-US" sz="9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7" name="文本框 22"/>
          <p:cNvSpPr txBox="1"/>
          <p:nvPr/>
        </p:nvSpPr>
        <p:spPr>
          <a:xfrm>
            <a:off x="8327546" y="1587950"/>
            <a:ext cx="821024" cy="3067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9" name="矩形 20"/>
          <p:cNvSpPr/>
          <p:nvPr/>
        </p:nvSpPr>
        <p:spPr>
          <a:xfrm>
            <a:off x="6590023" y="1344383"/>
            <a:ext cx="1680372" cy="5560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0" name="文本框 22"/>
          <p:cNvSpPr txBox="1"/>
          <p:nvPr/>
        </p:nvSpPr>
        <p:spPr>
          <a:xfrm>
            <a:off x="6979822" y="1478142"/>
            <a:ext cx="93918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科创贷</a:t>
            </a:r>
            <a:endParaRPr kumimoji="1" lang="zh-CN" altLang="en-US" sz="1400" dirty="0">
              <a:solidFill>
                <a:srgbClr val="1F74AD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1" name="Sun 130"/>
          <p:cNvSpPr/>
          <p:nvPr/>
        </p:nvSpPr>
        <p:spPr>
          <a:xfrm>
            <a:off x="6657498" y="1467888"/>
            <a:ext cx="265173" cy="307777"/>
          </a:xfrm>
          <a:prstGeom prst="sun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Web design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371931" y="2254302"/>
            <a:ext cx="644930" cy="422483"/>
          </a:xfrm>
          <a:prstGeom prst="rect">
            <a:avLst/>
          </a:prstGeom>
        </p:spPr>
      </p:pic>
      <p:sp>
        <p:nvSpPr>
          <p:cNvPr id="11" name="矩形 16"/>
          <p:cNvSpPr/>
          <p:nvPr/>
        </p:nvSpPr>
        <p:spPr>
          <a:xfrm>
            <a:off x="6657340" y="2207260"/>
            <a:ext cx="2475865" cy="5537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1F7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5" name="文本框 19"/>
          <p:cNvSpPr txBox="1"/>
          <p:nvPr/>
        </p:nvSpPr>
        <p:spPr>
          <a:xfrm>
            <a:off x="7462520" y="2320290"/>
            <a:ext cx="11868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>
                <a:solidFill>
                  <a:srgbClr val="1F74AD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服务管理</a:t>
            </a:r>
          </a:p>
        </p:txBody>
      </p:sp>
      <p:pic>
        <p:nvPicPr>
          <p:cNvPr id="16" name="Graphic 17" descr="Web design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51276" y="2262557"/>
            <a:ext cx="644930" cy="4224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804672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总结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关注点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85832" y="1045444"/>
            <a:ext cx="105968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数据中台建设和管理核心关注点：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984469" y="1693146"/>
            <a:ext cx="755767" cy="3361753"/>
          </a:xfrm>
          <a:prstGeom prst="rect">
            <a:avLst/>
          </a:prstGeom>
        </p:spPr>
      </p:pic>
      <p:sp>
        <p:nvSpPr>
          <p:cNvPr id="63" name="TextBox 13"/>
          <p:cNvSpPr txBox="1"/>
          <p:nvPr/>
        </p:nvSpPr>
        <p:spPr>
          <a:xfrm>
            <a:off x="1569720" y="3226435"/>
            <a:ext cx="2152015" cy="969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ym typeface="+mn-ea"/>
              </a:rPr>
              <a:t>数据消费驱动数据价值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业务可理解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业务可使用</a:t>
            </a:r>
            <a:endParaRPr lang="zh-CN" altLang="en-US" sz="14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4102325" y="1693782"/>
            <a:ext cx="780487" cy="3471708"/>
          </a:xfrm>
          <a:prstGeom prst="rect">
            <a:avLst/>
          </a:prstGeom>
        </p:spPr>
      </p:pic>
      <p:sp>
        <p:nvSpPr>
          <p:cNvPr id="65" name="TextBox 13"/>
          <p:cNvSpPr txBox="1"/>
          <p:nvPr/>
        </p:nvSpPr>
        <p:spPr>
          <a:xfrm>
            <a:off x="4699000" y="3141980"/>
            <a:ext cx="2466975" cy="12922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zh-CN" altLang="en-US" dirty="0"/>
              <a:t>通：全域数据汇聚</a:t>
            </a:r>
          </a:p>
          <a:p>
            <a:pPr algn="l"/>
            <a:r>
              <a:rPr lang="zh-CN" altLang="en-US" dirty="0"/>
              <a:t>快：响应快、数据产出及时</a:t>
            </a:r>
          </a:p>
          <a:p>
            <a:pPr algn="l"/>
            <a:r>
              <a:rPr lang="zh-CN" altLang="en-US" dirty="0"/>
              <a:t>好：质量好、可信度高</a:t>
            </a:r>
          </a:p>
          <a:p>
            <a:pPr algn="l"/>
            <a:r>
              <a:rPr lang="zh-CN" altLang="en-US" dirty="0">
                <a:sym typeface="+mn-ea"/>
              </a:rPr>
              <a:t>稳：数据体系稳定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7279339" y="1693146"/>
            <a:ext cx="780487" cy="3471708"/>
          </a:xfrm>
          <a:prstGeom prst="rect">
            <a:avLst/>
          </a:prstGeom>
        </p:spPr>
      </p:pic>
      <p:sp>
        <p:nvSpPr>
          <p:cNvPr id="66" name="TextBox 13"/>
          <p:cNvSpPr txBox="1"/>
          <p:nvPr/>
        </p:nvSpPr>
        <p:spPr>
          <a:xfrm>
            <a:off x="8072120" y="3155315"/>
            <a:ext cx="1770380" cy="969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硬件成本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人力成本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沟通和管理成本</a:t>
            </a:r>
          </a:p>
        </p:txBody>
      </p:sp>
      <p:sp>
        <p:nvSpPr>
          <p:cNvPr id="22" name="TextBox 18"/>
          <p:cNvSpPr txBox="1"/>
          <p:nvPr/>
        </p:nvSpPr>
        <p:spPr>
          <a:xfrm>
            <a:off x="1740535" y="2103120"/>
            <a:ext cx="1396365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rgbClr val="959B9D"/>
                </a:solidFill>
              </a:rPr>
              <a:t>价值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2259523" y="2600507"/>
            <a:ext cx="357589" cy="406670"/>
          </a:xfrm>
          <a:prstGeom prst="rect">
            <a:avLst/>
          </a:prstGeom>
        </p:spPr>
      </p:pic>
      <p:sp>
        <p:nvSpPr>
          <p:cNvPr id="24" name="TextBox 18"/>
          <p:cNvSpPr txBox="1"/>
          <p:nvPr/>
        </p:nvSpPr>
        <p:spPr>
          <a:xfrm>
            <a:off x="4993005" y="2142490"/>
            <a:ext cx="1397635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accent6"/>
                </a:solidFill>
              </a:rPr>
              <a:t>质量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5522979" y="2630593"/>
            <a:ext cx="337609" cy="337609"/>
          </a:xfrm>
          <a:prstGeom prst="rect">
            <a:avLst/>
          </a:prstGeom>
        </p:spPr>
      </p:pic>
      <p:sp>
        <p:nvSpPr>
          <p:cNvPr id="26" name="TextBox 18"/>
          <p:cNvSpPr txBox="1"/>
          <p:nvPr/>
        </p:nvSpPr>
        <p:spPr>
          <a:xfrm>
            <a:off x="8090755" y="2141855"/>
            <a:ext cx="1264285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3E87CC"/>
                </a:solidFill>
              </a:rPr>
              <a:t>成本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66968" y="2640118"/>
            <a:ext cx="439219" cy="337609"/>
          </a:xfrm>
          <a:prstGeom prst="rect">
            <a:avLst/>
          </a:prstGeom>
        </p:spPr>
      </p:pic>
      <p:sp>
        <p:nvSpPr>
          <p:cNvPr id="30" name="三角形 29"/>
          <p:cNvSpPr/>
          <p:nvPr/>
        </p:nvSpPr>
        <p:spPr>
          <a:xfrm rot="5400000">
            <a:off x="3701485" y="2576731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三角形 30"/>
          <p:cNvSpPr/>
          <p:nvPr/>
        </p:nvSpPr>
        <p:spPr>
          <a:xfrm rot="5400000">
            <a:off x="6859968" y="2583480"/>
            <a:ext cx="1627309" cy="788568"/>
          </a:xfrm>
          <a:prstGeom prst="triangle">
            <a:avLst>
              <a:gd name="adj" fmla="val 50739"/>
            </a:avLst>
          </a:prstGeom>
          <a:solidFill>
            <a:srgbClr val="3E8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167492" y="2776282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02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354827" y="278679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03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6" name="三角形 35"/>
          <p:cNvSpPr/>
          <p:nvPr/>
        </p:nvSpPr>
        <p:spPr>
          <a:xfrm rot="5400000">
            <a:off x="576916" y="2542693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1090420" y="274102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01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804672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总结</a:t>
            </a:r>
            <a:r>
              <a:rPr kumimoji="1" lang="en-US" altLang="zh-CN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---</a:t>
            </a:r>
            <a:r>
              <a:rPr kumimoji="1" lang="zh-CN" altLang="en-US" sz="20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组织保障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85832" y="1045444"/>
            <a:ext cx="105968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数据中台建设组织保障：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984469" y="1693146"/>
            <a:ext cx="755767" cy="3361753"/>
          </a:xfrm>
          <a:prstGeom prst="rect">
            <a:avLst/>
          </a:prstGeom>
        </p:spPr>
      </p:pic>
      <p:sp>
        <p:nvSpPr>
          <p:cNvPr id="63" name="TextBox 13"/>
          <p:cNvSpPr txBox="1"/>
          <p:nvPr/>
        </p:nvSpPr>
        <p:spPr>
          <a:xfrm>
            <a:off x="1569720" y="3226435"/>
            <a:ext cx="215201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ym typeface="+mn-ea"/>
              </a:rPr>
              <a:t>从最高层的战略上明确数字化转型和建设中台的意图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4102325" y="1693782"/>
            <a:ext cx="780487" cy="3471708"/>
          </a:xfrm>
          <a:prstGeom prst="rect">
            <a:avLst/>
          </a:prstGeom>
        </p:spPr>
      </p:pic>
      <p:sp>
        <p:nvSpPr>
          <p:cNvPr id="65" name="TextBox 13"/>
          <p:cNvSpPr txBox="1"/>
          <p:nvPr/>
        </p:nvSpPr>
        <p:spPr>
          <a:xfrm>
            <a:off x="4754880" y="3226435"/>
            <a:ext cx="2466975" cy="2215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0" indent="0" algn="l">
              <a:buNone/>
            </a:pPr>
            <a:r>
              <a:rPr lang="zh-CN" altLang="en-US" sz="1600" dirty="0"/>
              <a:t>提供配套的组织保障。包括以</a:t>
            </a:r>
            <a:r>
              <a:rPr lang="en-US" altLang="zh-CN" sz="1600" dirty="0"/>
              <a:t>CEO/CIO/CTO/</a:t>
            </a:r>
            <a:r>
              <a:rPr lang="en-US" altLang="zh-CN" sz="1600" dirty="0" err="1"/>
              <a:t>CDO</a:t>
            </a:r>
            <a:r>
              <a:rPr lang="zh-CN" altLang="en-US" sz="1600" dirty="0"/>
              <a:t>为主的高层管理层配套中层管理层、基层执行层的全套组织体系，建立数据人才组织架构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7321249" y="1693146"/>
            <a:ext cx="780487" cy="3471708"/>
          </a:xfrm>
          <a:prstGeom prst="rect">
            <a:avLst/>
          </a:prstGeom>
        </p:spPr>
      </p:pic>
      <p:sp>
        <p:nvSpPr>
          <p:cNvPr id="66" name="TextBox 13"/>
          <p:cNvSpPr txBox="1"/>
          <p:nvPr/>
        </p:nvSpPr>
        <p:spPr>
          <a:xfrm>
            <a:off x="8132445" y="3226435"/>
            <a:ext cx="2534920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5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dirty="0"/>
              <a:t>选用适用、适配、成熟、完整的一站式大数据平台工具，利用工具对战略提供保障，并对全链路的数据采集、开发、质量和流程进行保障</a:t>
            </a:r>
          </a:p>
        </p:txBody>
      </p:sp>
      <p:sp>
        <p:nvSpPr>
          <p:cNvPr id="22" name="TextBox 18"/>
          <p:cNvSpPr txBox="1"/>
          <p:nvPr/>
        </p:nvSpPr>
        <p:spPr>
          <a:xfrm>
            <a:off x="1740535" y="2103120"/>
            <a:ext cx="1396365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rgbClr val="959B9D"/>
                </a:solidFill>
              </a:rPr>
              <a:t>战略定位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2259523" y="2600507"/>
            <a:ext cx="357589" cy="406670"/>
          </a:xfrm>
          <a:prstGeom prst="rect">
            <a:avLst/>
          </a:prstGeom>
        </p:spPr>
      </p:pic>
      <p:sp>
        <p:nvSpPr>
          <p:cNvPr id="24" name="TextBox 18"/>
          <p:cNvSpPr txBox="1"/>
          <p:nvPr/>
        </p:nvSpPr>
        <p:spPr>
          <a:xfrm>
            <a:off x="4993005" y="2142490"/>
            <a:ext cx="1397635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accent6"/>
                </a:solidFill>
              </a:rPr>
              <a:t>组织保障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5522979" y="2630593"/>
            <a:ext cx="337609" cy="337609"/>
          </a:xfrm>
          <a:prstGeom prst="rect">
            <a:avLst/>
          </a:prstGeom>
        </p:spPr>
      </p:pic>
      <p:sp>
        <p:nvSpPr>
          <p:cNvPr id="26" name="TextBox 18"/>
          <p:cNvSpPr txBox="1"/>
          <p:nvPr/>
        </p:nvSpPr>
        <p:spPr>
          <a:xfrm>
            <a:off x="8132665" y="2141855"/>
            <a:ext cx="1264285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3E87CC"/>
                </a:solidFill>
              </a:rPr>
              <a:t>一站式工具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608878" y="2640118"/>
            <a:ext cx="439219" cy="337609"/>
          </a:xfrm>
          <a:prstGeom prst="rect">
            <a:avLst/>
          </a:prstGeom>
        </p:spPr>
      </p:pic>
      <p:sp>
        <p:nvSpPr>
          <p:cNvPr id="30" name="三角形 29"/>
          <p:cNvSpPr/>
          <p:nvPr/>
        </p:nvSpPr>
        <p:spPr>
          <a:xfrm rot="5400000">
            <a:off x="3701485" y="2576731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三角形 30"/>
          <p:cNvSpPr/>
          <p:nvPr/>
        </p:nvSpPr>
        <p:spPr>
          <a:xfrm rot="5400000">
            <a:off x="6901878" y="2583480"/>
            <a:ext cx="1627309" cy="788568"/>
          </a:xfrm>
          <a:prstGeom prst="triangle">
            <a:avLst>
              <a:gd name="adj" fmla="val 50739"/>
            </a:avLst>
          </a:prstGeom>
          <a:solidFill>
            <a:srgbClr val="3E8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167492" y="2776282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02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396737" y="278679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03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6" name="三角形 35"/>
          <p:cNvSpPr/>
          <p:nvPr/>
        </p:nvSpPr>
        <p:spPr>
          <a:xfrm rot="5400000">
            <a:off x="576916" y="2542693"/>
            <a:ext cx="1605012" cy="803336"/>
          </a:xfrm>
          <a:prstGeom prst="triangle">
            <a:avLst>
              <a:gd name="adj" fmla="val 5073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1090420" y="2741028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01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85825" y="235585"/>
            <a:ext cx="7223760" cy="548640"/>
          </a:xfrm>
        </p:spPr>
        <p:txBody>
          <a:bodyPr>
            <a:normAutofit/>
          </a:bodyPr>
          <a:lstStyle/>
          <a:p>
            <a:r>
              <a:rPr kumimoji="1" lang="zh-CN" altLang="en-US" sz="2600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总结</a:t>
            </a:r>
            <a:endParaRPr kumimoji="1" lang="zh-CN" altLang="en-US" sz="2000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  <a:sym typeface="+mn-ea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27000" y="364949"/>
            <a:ext cx="561489" cy="330957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89785" y="3753863"/>
            <a:ext cx="101775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9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费时费力、需要大量人、财、物的支持，从组织战略层面，需要建立强有力的组织保障</a:t>
            </a:r>
          </a:p>
          <a:p>
            <a:pPr algn="just"/>
            <a:endParaRPr lang="zh-CN" altLang="en-US" sz="2400" dirty="0">
              <a:solidFill>
                <a:srgbClr val="44444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algn="just"/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个人观点</a:t>
            </a:r>
            <a:r>
              <a:rPr lang="en-US" altLang="zh-CN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“</a:t>
            </a:r>
            <a:r>
              <a:rPr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数据因场景而美好</a:t>
            </a:r>
            <a:r>
              <a:rPr lang="en-US" altLang="zh-CN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”</a:t>
            </a:r>
            <a:endParaRPr lang="zh-CN" altLang="en-US" sz="2400" dirty="0">
              <a:solidFill>
                <a:srgbClr val="44444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0575" y="1452880"/>
            <a:ext cx="1017714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kumimoji="1"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数据的价值：</a:t>
            </a:r>
            <a:endParaRPr kumimoji="1" lang="zh-CN" altLang="en-US" sz="2400" dirty="0">
              <a:solidFill>
                <a:srgbClr val="44444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决策：利用中台的能力提升数据决策的效率</a:t>
            </a:r>
            <a:endParaRPr kumimoji="1" lang="zh-CN" altLang="en-US" sz="2400" dirty="0">
              <a:solidFill>
                <a:srgbClr val="44444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kumimoji="1" lang="zh-CN" altLang="en-US" sz="2400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智能应用：数字化转型、数字化运营</a:t>
            </a:r>
            <a:endParaRPr kumimoji="1" lang="zh-CN" altLang="en-US" sz="2400" dirty="0">
              <a:solidFill>
                <a:srgbClr val="44444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9525" imgH="9525" progId="TCLayout.ActiveDocument.1">
                  <p:embed/>
                </p:oleObj>
              </mc:Choice>
              <mc:Fallback>
                <p:oleObj name="think-cell Slide" r:id="rId3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Microsoft YaHei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887595" y="3126105"/>
            <a:ext cx="3370580" cy="977265"/>
          </a:xfrm>
        </p:spPr>
        <p:txBody>
          <a:bodyPr>
            <a:noAutofit/>
          </a:bodyPr>
          <a:lstStyle/>
          <a:p>
            <a:pPr algn="l"/>
            <a:r>
              <a:rPr lang="en-US" altLang="zh-CN" sz="6000" dirty="0">
                <a:solidFill>
                  <a:srgbClr val="4D4D4D"/>
                </a:solidFill>
              </a:rPr>
              <a:t>THANKS</a:t>
            </a:r>
            <a:endParaRPr lang="zh-CN" altLang="en-US" sz="6000" dirty="0">
              <a:solidFill>
                <a:srgbClr val="4D4D4D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980" y="2386965"/>
            <a:ext cx="3499485" cy="34956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475980" y="1795145"/>
            <a:ext cx="1033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zh-CN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Contact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80,&quot;width&quot;:1149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xjr80JyZ0aqiSTAbyd2JQ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053F"/>
      </a:accent1>
      <a:accent2>
        <a:srgbClr val="00C1F1"/>
      </a:accent2>
      <a:accent3>
        <a:srgbClr val="EFBC22"/>
      </a:accent3>
      <a:accent4>
        <a:srgbClr val="810593"/>
      </a:accent4>
      <a:accent5>
        <a:srgbClr val="110A76"/>
      </a:accent5>
      <a:accent6>
        <a:srgbClr val="004C8C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053F"/>
    </a:accent1>
    <a:accent2>
      <a:srgbClr val="00C1F1"/>
    </a:accent2>
    <a:accent3>
      <a:srgbClr val="EFBC22"/>
    </a:accent3>
    <a:accent4>
      <a:srgbClr val="810593"/>
    </a:accent4>
    <a:accent5>
      <a:srgbClr val="110A76"/>
    </a:accent5>
    <a:accent6>
      <a:srgbClr val="004C8C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053F"/>
    </a:accent1>
    <a:accent2>
      <a:srgbClr val="00C1F1"/>
    </a:accent2>
    <a:accent3>
      <a:srgbClr val="EFBC22"/>
    </a:accent3>
    <a:accent4>
      <a:srgbClr val="810593"/>
    </a:accent4>
    <a:accent5>
      <a:srgbClr val="110A76"/>
    </a:accent5>
    <a:accent6>
      <a:srgbClr val="004C8C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主题5</Template>
  <TotalTime>126</TotalTime>
  <Words>2671</Words>
  <Application>Microsoft Office PowerPoint</Application>
  <PresentationFormat>Widescreen</PresentationFormat>
  <Paragraphs>268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等线</vt:lpstr>
      <vt:lpstr>微软雅黑</vt:lpstr>
      <vt:lpstr>微软雅黑</vt:lpstr>
      <vt:lpstr>SimHei</vt:lpstr>
      <vt:lpstr>Arial</vt:lpstr>
      <vt:lpstr>Calibri</vt:lpstr>
      <vt:lpstr>Wingdings</vt:lpstr>
      <vt:lpstr>主题5</vt:lpstr>
      <vt:lpstr>think-cell Slide</vt:lpstr>
      <vt:lpstr>Paint.Picture</vt:lpstr>
      <vt:lpstr>数据中台建设思路</vt:lpstr>
      <vt:lpstr>PowerPoint Presentation</vt:lpstr>
      <vt:lpstr>PowerPoint Presentation</vt:lpstr>
      <vt:lpstr>关于数据中台</vt:lpstr>
      <vt:lpstr>关于数据中台</vt:lpstr>
      <vt:lpstr>数据中台能力---整合和管理能力调查</vt:lpstr>
      <vt:lpstr>数据中台能力---资产化能力调查</vt:lpstr>
      <vt:lpstr>数据中台能力---服务化能力调查</vt:lpstr>
      <vt:lpstr>数据中台能力---价值变现能力调查</vt:lpstr>
      <vt:lpstr>数据中台能力---价值</vt:lpstr>
      <vt:lpstr>数据中台能力---能力</vt:lpstr>
      <vt:lpstr>数据中台架构</vt:lpstr>
      <vt:lpstr>数据中台架构--中台与应用</vt:lpstr>
      <vt:lpstr>数据中台架构---全局架构</vt:lpstr>
      <vt:lpstr>数据中台架构--数据汇聚</vt:lpstr>
      <vt:lpstr>数据中台架构---数据标签体系</vt:lpstr>
      <vt:lpstr>数据中台架构---数据标签体系</vt:lpstr>
      <vt:lpstr>数据中台架构---零售数据标签体系示例</vt:lpstr>
      <vt:lpstr>数据中台架构---零售数据标签体系示例</vt:lpstr>
      <vt:lpstr>数据中台架构---信贷数据标签体系示例</vt:lpstr>
      <vt:lpstr>数据中台架构---信贷数据标签体系示例</vt:lpstr>
      <vt:lpstr>PowerPoint Presentation</vt:lpstr>
      <vt:lpstr>PowerPoint Presentation</vt:lpstr>
      <vt:lpstr>数据中台架构---计算调度平台</vt:lpstr>
      <vt:lpstr>数据中台架构---零售解决方案示例</vt:lpstr>
      <vt:lpstr>数据中台架构---信贷解决方案示例</vt:lpstr>
      <vt:lpstr>总结---关注点</vt:lpstr>
      <vt:lpstr>总结---组织保障</vt:lpstr>
      <vt:lpstr>总结</vt:lpstr>
      <vt:lpstr>THANKS</vt:lpstr>
    </vt:vector>
  </TitlesOfParts>
  <Manager>iSlide</Manager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iSlide® PowerPoint STANDARD TEMPLATE</dc:title>
  <dc:creator>100038</dc:creator>
  <cp:lastModifiedBy>Wu, Frank</cp:lastModifiedBy>
  <cp:revision>387</cp:revision>
  <cp:lastPrinted>2020-07-16T09:50:00Z</cp:lastPrinted>
  <dcterms:created xsi:type="dcterms:W3CDTF">2020-07-16T09:50:00Z</dcterms:created>
  <dcterms:modified xsi:type="dcterms:W3CDTF">2024-04-24T10:52:04Z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2052-11.1.0.10578</vt:lpwstr>
  </property>
  <property fmtid="{D5CDD505-2E9C-101B-9397-08002B2CF9AE}" pid="4" name="ICV">
    <vt:lpwstr>E839A8B39F8B4FD6A85ED8C250941FE4</vt:lpwstr>
  </property>
  <property fmtid="{D5CDD505-2E9C-101B-9397-08002B2CF9AE}" pid="5" name="MSIP_Label_224d2e7b-2917-4cd7-87a4-c132be958a8e_Enabled">
    <vt:lpwstr>true</vt:lpwstr>
  </property>
  <property fmtid="{D5CDD505-2E9C-101B-9397-08002B2CF9AE}" pid="6" name="MSIP_Label_224d2e7b-2917-4cd7-87a4-c132be958a8e_SetDate">
    <vt:lpwstr>2024-03-31T03:32:07Z</vt:lpwstr>
  </property>
  <property fmtid="{D5CDD505-2E9C-101B-9397-08002B2CF9AE}" pid="7" name="MSIP_Label_224d2e7b-2917-4cd7-87a4-c132be958a8e_Method">
    <vt:lpwstr>Privileged</vt:lpwstr>
  </property>
  <property fmtid="{D5CDD505-2E9C-101B-9397-08002B2CF9AE}" pid="8" name="MSIP_Label_224d2e7b-2917-4cd7-87a4-c132be958a8e_Name">
    <vt:lpwstr>224d2e7b-2917-4cd7-87a4-c132be958a8e</vt:lpwstr>
  </property>
  <property fmtid="{D5CDD505-2E9C-101B-9397-08002B2CF9AE}" pid="9" name="MSIP_Label_224d2e7b-2917-4cd7-87a4-c132be958a8e_SiteId">
    <vt:lpwstr>19e2b708-bf12-4375-9719-8dec42771b3e</vt:lpwstr>
  </property>
  <property fmtid="{D5CDD505-2E9C-101B-9397-08002B2CF9AE}" pid="10" name="MSIP_Label_224d2e7b-2917-4cd7-87a4-c132be958a8e_ActionId">
    <vt:lpwstr>b1d23e3e-9533-4f10-a19b-b57badce4d50</vt:lpwstr>
  </property>
  <property fmtid="{D5CDD505-2E9C-101B-9397-08002B2CF9AE}" pid="11" name="MSIP_Label_224d2e7b-2917-4cd7-87a4-c132be958a8e_ContentBits">
    <vt:lpwstr>2</vt:lpwstr>
  </property>
  <property fmtid="{D5CDD505-2E9C-101B-9397-08002B2CF9AE}" pid="12" name="ClassificationContentMarkingFooterLocations">
    <vt:lpwstr>主题5:5</vt:lpwstr>
  </property>
  <property fmtid="{D5CDD505-2E9C-101B-9397-08002B2CF9AE}" pid="13" name="ClassificationContentMarkingFooterText">
    <vt:lpwstr>Internal Use Only</vt:lpwstr>
  </property>
</Properties>
</file>