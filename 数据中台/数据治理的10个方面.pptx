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2.xml" ContentType="application/vnd.openxmlformats-officedocument.presentationml.notesSlide+xml"/>
  <Override PartName="/ppt/tags/tag27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8.xml" ContentType="application/vnd.openxmlformats-officedocument.presentationml.tags+xml"/>
  <Override PartName="/ppt/notesSlides/notesSlide5.xml" ContentType="application/vnd.openxmlformats-officedocument.presentationml.notesSlide+xml"/>
  <Override PartName="/ppt/tags/tag29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30.xml" ContentType="application/vnd.openxmlformats-officedocument.presentationml.tags+xml"/>
  <Override PartName="/ppt/notesSlides/notesSlide9.xml" ContentType="application/vnd.openxmlformats-officedocument.presentationml.notesSlide+xml"/>
  <Override PartName="/ppt/tags/tag31.xml" ContentType="application/vnd.openxmlformats-officedocument.presentationml.tags+xml"/>
  <Override PartName="/ppt/notesSlides/notesSlide10.xml" ContentType="application/vnd.openxmlformats-officedocument.presentationml.notesSlide+xml"/>
  <Override PartName="/ppt/tags/tag32.xml" ContentType="application/vnd.openxmlformats-officedocument.presentationml.tags+xml"/>
  <Override PartName="/ppt/notesSlides/notesSlide11.xml" ContentType="application/vnd.openxmlformats-officedocument.presentationml.notesSlide+xml"/>
  <Override PartName="/ppt/tags/tag33.xml" ContentType="application/vnd.openxmlformats-officedocument.presentationml.tags+xml"/>
  <Override PartName="/ppt/notesSlides/notesSlide12.xml" ContentType="application/vnd.openxmlformats-officedocument.presentationml.notesSlide+xml"/>
  <Override PartName="/ppt/tags/tag34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35.xml" ContentType="application/vnd.openxmlformats-officedocument.presentationml.tags+xml"/>
  <Override PartName="/ppt/notesSlides/notesSlide16.xml" ContentType="application/vnd.openxmlformats-officedocument.presentationml.notesSlide+xml"/>
  <Override PartName="/ppt/tags/tag36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37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485" r:id="rId3"/>
    <p:sldId id="517" r:id="rId4"/>
    <p:sldId id="464" r:id="rId5"/>
    <p:sldId id="261" r:id="rId6"/>
    <p:sldId id="483" r:id="rId7"/>
    <p:sldId id="480" r:id="rId8"/>
    <p:sldId id="460" r:id="rId9"/>
    <p:sldId id="487" r:id="rId10"/>
    <p:sldId id="489" r:id="rId11"/>
    <p:sldId id="488" r:id="rId12"/>
    <p:sldId id="519" r:id="rId13"/>
    <p:sldId id="520" r:id="rId14"/>
    <p:sldId id="521" r:id="rId15"/>
    <p:sldId id="522" r:id="rId16"/>
    <p:sldId id="523" r:id="rId17"/>
    <p:sldId id="524" r:id="rId18"/>
    <p:sldId id="525" r:id="rId19"/>
    <p:sldId id="526" r:id="rId20"/>
    <p:sldId id="527" r:id="rId21"/>
    <p:sldId id="528" r:id="rId22"/>
    <p:sldId id="530" r:id="rId23"/>
    <p:sldId id="529" r:id="rId24"/>
    <p:sldId id="531" r:id="rId25"/>
    <p:sldId id="260" r:id="rId26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1143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2286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3429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4572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5715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6858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8001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9144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8" autoAdjust="0"/>
    <p:restoredTop sz="94626"/>
  </p:normalViewPr>
  <p:slideViewPr>
    <p:cSldViewPr snapToGrid="0" showGuides="1">
      <p:cViewPr varScale="1">
        <p:scale>
          <a:sx n="101" d="100"/>
          <a:sy n="101" d="100"/>
        </p:scale>
        <p:origin x="33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082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72E603-5D1B-4CBE-8096-20BCEF5B30C0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89F8B3-A901-43B7-8EA2-FB7D82D10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653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5" name="Shape 10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20729234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1pPr>
    <a:lvl2pPr indent="1143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2pPr>
    <a:lvl3pPr indent="2286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3pPr>
    <a:lvl4pPr indent="3429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4pPr>
    <a:lvl5pPr indent="4572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5pPr>
    <a:lvl6pPr indent="5715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6pPr>
    <a:lvl7pPr indent="6858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7pPr>
    <a:lvl8pPr indent="8001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8pPr>
    <a:lvl9pPr indent="9144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718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003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68623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456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4564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389920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954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174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1204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2195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8786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483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2988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7570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6953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4693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7417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0195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7469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3454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043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与副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1103" y="5693664"/>
            <a:ext cx="3278234" cy="111238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4905" y="5905096"/>
            <a:ext cx="3630629" cy="900953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居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295" y="100723"/>
            <a:ext cx="2577583" cy="87463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垂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  <p:sp>
        <p:nvSpPr>
          <p:cNvPr id="26" name="Shape 26"/>
          <p:cNvSpPr>
            <a:spLocks noGrp="1"/>
          </p:cNvSpPr>
          <p:nvPr>
            <p:ph type="pic" sz="half" idx="13"/>
          </p:nvPr>
        </p:nvSpPr>
        <p:spPr>
          <a:xfrm>
            <a:off x="6582990" y="552450"/>
            <a:ext cx="4762501" cy="5753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zh-CN" altLang="en-US"/>
              <a:t>将图片拖动到占位符，或单击添加图标</a:t>
            </a:r>
            <a:endParaRPr/>
          </a:p>
        </p:txBody>
      </p:sp>
      <p:sp>
        <p:nvSpPr>
          <p:cNvPr id="27" name="Shape 27"/>
          <p:cNvSpPr>
            <a:spLocks noGrp="1"/>
          </p:cNvSpPr>
          <p:nvPr>
            <p:ph type="title"/>
          </p:nvPr>
        </p:nvSpPr>
        <p:spPr>
          <a:xfrm>
            <a:off x="825500" y="552450"/>
            <a:ext cx="5111750" cy="2806700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28" name="Shape 28"/>
          <p:cNvSpPr>
            <a:spLocks noGrp="1"/>
          </p:cNvSpPr>
          <p:nvPr>
            <p:ph type="body" sz="quarter" idx="1"/>
          </p:nvPr>
        </p:nvSpPr>
        <p:spPr>
          <a:xfrm>
            <a:off x="825500" y="3422650"/>
            <a:ext cx="5111750" cy="28829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00"/>
            </a:lvl1pPr>
            <a:lvl2pPr marL="0" indent="114300" algn="ctr">
              <a:spcBef>
                <a:spcPts val="0"/>
              </a:spcBef>
              <a:buSzTx/>
              <a:buNone/>
              <a:defRPr sz="2200"/>
            </a:lvl2pPr>
            <a:lvl3pPr marL="0" indent="228600" algn="ctr">
              <a:spcBef>
                <a:spcPts val="0"/>
              </a:spcBef>
              <a:buSzTx/>
              <a:buNone/>
              <a:defRPr sz="2200"/>
            </a:lvl3pPr>
            <a:lvl4pPr marL="0" indent="342900" algn="ctr">
              <a:spcBef>
                <a:spcPts val="0"/>
              </a:spcBef>
              <a:buSzTx/>
              <a:buNone/>
              <a:defRPr sz="2200"/>
            </a:lvl4pPr>
            <a:lvl5pPr marL="0" indent="457200" algn="ctr">
              <a:spcBef>
                <a:spcPts val="0"/>
              </a:spcBef>
              <a:buSzTx/>
              <a:buNone/>
              <a:defRPr sz="22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dirty="0"/>
          </a:p>
        </p:txBody>
      </p:sp>
      <p:sp>
        <p:nvSpPr>
          <p:cNvPr id="29" name="Shape 2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顶部对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  <p:sp>
        <p:nvSpPr>
          <p:cNvPr id="36" name="Shape 36"/>
          <p:cNvSpPr>
            <a:spLocks noGrp="1"/>
          </p:cNvSpPr>
          <p:nvPr>
            <p:ph type="title"/>
          </p:nvPr>
        </p:nvSpPr>
        <p:spPr>
          <a:xfrm>
            <a:off x="844550" y="800100"/>
            <a:ext cx="10502900" cy="5762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dirty="0"/>
          </a:p>
        </p:txBody>
      </p:sp>
      <p:sp>
        <p:nvSpPr>
          <p:cNvPr id="37" name="Shape 3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>
            <a:spLocks noGrp="1"/>
          </p:cNvSpPr>
          <p:nvPr>
            <p:ph type="title"/>
          </p:nvPr>
        </p:nvSpPr>
        <p:spPr>
          <a:xfrm>
            <a:off x="844550" y="800100"/>
            <a:ext cx="10502900" cy="5762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dirty="0"/>
          </a:p>
        </p:txBody>
      </p:sp>
      <p:sp>
        <p:nvSpPr>
          <p:cNvPr id="45" name="Shape 45"/>
          <p:cNvSpPr>
            <a:spLocks noGrp="1"/>
          </p:cNvSpPr>
          <p:nvPr>
            <p:ph type="body" idx="1"/>
          </p:nvPr>
        </p:nvSpPr>
        <p:spPr>
          <a:xfrm>
            <a:off x="844550" y="1592262"/>
            <a:ext cx="10502900" cy="4630737"/>
          </a:xfrm>
          <a:prstGeom prst="rect">
            <a:avLst/>
          </a:prstGeom>
        </p:spPr>
        <p:txBody>
          <a:bodyPr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dirty="0"/>
          </a:p>
        </p:txBody>
      </p:sp>
      <p:sp>
        <p:nvSpPr>
          <p:cNvPr id="46" name="Shape 4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>
            <a:spLocks noGrp="1"/>
          </p:cNvSpPr>
          <p:nvPr>
            <p:ph type="pic" sz="half" idx="13"/>
          </p:nvPr>
        </p:nvSpPr>
        <p:spPr>
          <a:xfrm>
            <a:off x="6584950" y="1592263"/>
            <a:ext cx="4762500" cy="463073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zh-CN" altLang="en-US"/>
              <a:t>将图片拖动到占位符，或单击添加图标</a:t>
            </a:r>
            <a:endParaRPr/>
          </a:p>
        </p:txBody>
      </p:sp>
      <p:sp>
        <p:nvSpPr>
          <p:cNvPr id="54" name="Shape 54"/>
          <p:cNvSpPr>
            <a:spLocks noGrp="1"/>
          </p:cNvSpPr>
          <p:nvPr>
            <p:ph type="title"/>
          </p:nvPr>
        </p:nvSpPr>
        <p:spPr>
          <a:xfrm>
            <a:off x="844550" y="800100"/>
            <a:ext cx="10502900" cy="5762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55" name="Shape 55"/>
          <p:cNvSpPr>
            <a:spLocks noGrp="1"/>
          </p:cNvSpPr>
          <p:nvPr>
            <p:ph type="body" sz="half" idx="1"/>
          </p:nvPr>
        </p:nvSpPr>
        <p:spPr>
          <a:xfrm>
            <a:off x="844550" y="1592263"/>
            <a:ext cx="5003800" cy="4630737"/>
          </a:xfrm>
          <a:prstGeom prst="rect">
            <a:avLst/>
          </a:prstGeom>
        </p:spPr>
        <p:txBody>
          <a:bodyPr>
            <a:normAutofit/>
          </a:bodyPr>
          <a:lstStyle>
            <a:lvl1pPr marL="279400" marR="0" indent="-279400" algn="l" defTabSz="412750" rtl="0" latinLnBrk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tabLst/>
              <a:defRPr sz="2400" b="0" i="0" u="none" strike="noStrike" cap="none" spc="0" baseline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558800" marR="0" indent="-279400" algn="l" defTabSz="412750" rtl="0" latinLnBrk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tabLst/>
              <a:defRPr sz="2000" b="0" i="0" u="none" strike="noStrike" cap="none" spc="0" baseline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838200" marR="0" indent="-279400" algn="l" defTabSz="412750" rtl="0" latinLnBrk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tabLst/>
              <a:defRPr sz="2000" b="0" i="0" u="none" strike="noStrike" cap="none" spc="0" baseline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117600" marR="0" indent="-279400" algn="l" defTabSz="412750" rtl="0" latinLnBrk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tabLst/>
              <a:defRPr sz="2000" b="0" i="0" u="none" strike="noStrike" cap="none" spc="0" baseline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397000" marR="0" indent="-279400" algn="l" defTabSz="412750" rtl="0" latinLnBrk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tabLst/>
              <a:defRPr sz="2000" b="0" i="0" u="none" strike="noStrike" cap="none" spc="0" baseline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dirty="0"/>
          </a:p>
        </p:txBody>
      </p:sp>
      <p:sp>
        <p:nvSpPr>
          <p:cNvPr id="56" name="Shape 5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>
            <a:spLocks noGrp="1"/>
          </p:cNvSpPr>
          <p:nvPr>
            <p:ph type="body" idx="1"/>
          </p:nvPr>
        </p:nvSpPr>
        <p:spPr>
          <a:xfrm>
            <a:off x="844550" y="1268413"/>
            <a:ext cx="10502900" cy="46942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4" name="Shape 6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/>
          </p:cNvSpPr>
          <p:nvPr>
            <p:ph type="pic" sz="quarter" idx="13"/>
          </p:nvPr>
        </p:nvSpPr>
        <p:spPr>
          <a:xfrm>
            <a:off x="7880350" y="3851200"/>
            <a:ext cx="3702050" cy="244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zh-CN" altLang="en-US"/>
              <a:t>将图片拖动到占位符，或单击添加图标</a:t>
            </a:r>
            <a:endParaRPr/>
          </a:p>
        </p:txBody>
      </p:sp>
      <p:sp>
        <p:nvSpPr>
          <p:cNvPr id="72" name="Shape 72"/>
          <p:cNvSpPr>
            <a:spLocks noGrp="1"/>
          </p:cNvSpPr>
          <p:nvPr>
            <p:ph type="pic" sz="quarter" idx="14"/>
          </p:nvPr>
        </p:nvSpPr>
        <p:spPr>
          <a:xfrm>
            <a:off x="7880350" y="1268414"/>
            <a:ext cx="3702050" cy="244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zh-CN" altLang="en-US"/>
              <a:t>将图片拖动到占位符，或单击添加图标</a:t>
            </a:r>
            <a:endParaRPr/>
          </a:p>
        </p:txBody>
      </p:sp>
      <p:sp>
        <p:nvSpPr>
          <p:cNvPr id="73" name="Shape 73"/>
          <p:cNvSpPr>
            <a:spLocks noGrp="1"/>
          </p:cNvSpPr>
          <p:nvPr>
            <p:ph type="pic" idx="15"/>
          </p:nvPr>
        </p:nvSpPr>
        <p:spPr>
          <a:xfrm>
            <a:off x="603250" y="1268414"/>
            <a:ext cx="7086600" cy="503078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zh-CN" altLang="en-US"/>
              <a:t>将图片拖动到占位符，或单击添加图标</a:t>
            </a: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>
            <a:spLocks noGrp="1"/>
          </p:cNvSpPr>
          <p:nvPr>
            <p:ph type="body" sz="quarter" idx="13"/>
          </p:nvPr>
        </p:nvSpPr>
        <p:spPr>
          <a:xfrm>
            <a:off x="1193800" y="4476750"/>
            <a:ext cx="9810750" cy="39498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19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2" name="Shape 82"/>
          <p:cNvSpPr>
            <a:spLocks noGrp="1"/>
          </p:cNvSpPr>
          <p:nvPr>
            <p:ph type="body" sz="quarter" idx="14"/>
          </p:nvPr>
        </p:nvSpPr>
        <p:spPr>
          <a:xfrm>
            <a:off x="1193800" y="2312760"/>
            <a:ext cx="9810750" cy="84125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3" name="Shape 8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43809" y="5720492"/>
            <a:ext cx="4356100" cy="508000"/>
          </a:xfrm>
          <a:prstGeom prst="rect">
            <a:avLst/>
          </a:prstGeom>
        </p:spPr>
      </p:pic>
      <p:sp>
        <p:nvSpPr>
          <p:cNvPr id="98" name="Shape 9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" name="矩形 1"/>
          <p:cNvSpPr/>
          <p:nvPr userDrawn="1"/>
        </p:nvSpPr>
        <p:spPr>
          <a:xfrm>
            <a:off x="5099573" y="5835992"/>
            <a:ext cx="199285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https://tgo.geekbang.org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844550" y="800101"/>
            <a:ext cx="10502900" cy="569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/>
          <a:p>
            <a:r>
              <a:rPr lang="zh-CN" altLang="en-US" dirty="0"/>
              <a:t>在此输入标题</a:t>
            </a:r>
            <a:endParaRPr dirty="0"/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844550" y="1557338"/>
            <a:ext cx="10502900" cy="4665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r>
              <a:rPr dirty="0"/>
              <a:t>正</a:t>
            </a:r>
            <a:r>
              <a:rPr lang="zh-CN" altLang="en-US" dirty="0"/>
              <a:t>文</a:t>
            </a:r>
            <a:r>
              <a:rPr dirty="0" err="1"/>
              <a:t>级别</a:t>
            </a:r>
            <a:r>
              <a:rPr dirty="0"/>
              <a:t> 1</a:t>
            </a:r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5926113" y="6540500"/>
            <a:ext cx="333426" cy="28725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ACC498-0EB8-7A91-28D5-2F40D1EA49E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37987" y="6672580"/>
            <a:ext cx="7381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CN" altLang="en-US" sz="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</p:sldLayoutIdLst>
  <p:transition spd="med"/>
  <p:txStyles>
    <p:titleStyle>
      <a:lvl1pPr marL="0" marR="0" indent="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1143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2286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3429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4572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5715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6858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8001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9144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0" marR="0" indent="0" algn="l" defTabSz="412750" rtl="0" eaLnBrk="1" latinLnBrk="0" hangingPunct="1">
        <a:lnSpc>
          <a:spcPct val="150000"/>
        </a:lnSpc>
        <a:spcBef>
          <a:spcPts val="600"/>
        </a:spcBef>
        <a:spcAft>
          <a:spcPts val="600"/>
        </a:spcAft>
        <a:buClrTx/>
        <a:buSzPct val="75000"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>
              <a:lumMod val="75000"/>
            </a:schemeClr>
          </a:solidFill>
          <a:uFillTx/>
          <a:latin typeface="+mn-lt"/>
          <a:ea typeface="+mn-ea"/>
          <a:cs typeface="+mn-cs"/>
          <a:sym typeface="Helvetica Light"/>
        </a:defRPr>
      </a:lvl1pPr>
      <a:lvl2pPr marL="635000" marR="0" indent="-317500" algn="l" defTabSz="412750" rtl="0" eaLnBrk="1" latinLnBrk="0" hangingPunct="1">
        <a:lnSpc>
          <a:spcPct val="150000"/>
        </a:lnSpc>
        <a:spcBef>
          <a:spcPts val="600"/>
        </a:spcBef>
        <a:spcAft>
          <a:spcPts val="600"/>
        </a:spcAft>
        <a:buClrTx/>
        <a:buSzPct val="75000"/>
        <a:buFontTx/>
        <a:buChar char="•"/>
        <a:tabLst/>
        <a:defRPr sz="2000" b="0" i="0" u="none" strike="noStrike" cap="none" spc="0" baseline="0">
          <a:ln>
            <a:noFill/>
          </a:ln>
          <a:solidFill>
            <a:schemeClr val="tx1">
              <a:lumMod val="75000"/>
            </a:schemeClr>
          </a:solidFill>
          <a:uFillTx/>
          <a:latin typeface="+mn-lt"/>
          <a:ea typeface="+mn-ea"/>
          <a:cs typeface="+mn-cs"/>
          <a:sym typeface="Helvetica Light"/>
        </a:defRPr>
      </a:lvl2pPr>
      <a:lvl3pPr marL="952500" marR="0" indent="-317500" algn="l" defTabSz="412750" rtl="0" eaLnBrk="1" latinLnBrk="0" hangingPunct="1">
        <a:lnSpc>
          <a:spcPct val="150000"/>
        </a:lnSpc>
        <a:spcBef>
          <a:spcPts val="600"/>
        </a:spcBef>
        <a:spcAft>
          <a:spcPts val="600"/>
        </a:spcAft>
        <a:buClrTx/>
        <a:buSzPct val="75000"/>
        <a:buFontTx/>
        <a:buChar char="•"/>
        <a:tabLst/>
        <a:defRPr sz="2000" b="0" i="0" u="none" strike="noStrike" cap="none" spc="0" baseline="0">
          <a:ln>
            <a:noFill/>
          </a:ln>
          <a:solidFill>
            <a:schemeClr val="tx1">
              <a:lumMod val="75000"/>
            </a:schemeClr>
          </a:solidFill>
          <a:uFillTx/>
          <a:latin typeface="+mn-lt"/>
          <a:ea typeface="+mn-ea"/>
          <a:cs typeface="+mn-cs"/>
          <a:sym typeface="Helvetica Light"/>
        </a:defRPr>
      </a:lvl3pPr>
      <a:lvl4pPr marL="1270000" marR="0" indent="-317500" algn="l" defTabSz="412750" rtl="0" eaLnBrk="1" latinLnBrk="0" hangingPunct="1">
        <a:lnSpc>
          <a:spcPct val="150000"/>
        </a:lnSpc>
        <a:spcBef>
          <a:spcPts val="600"/>
        </a:spcBef>
        <a:spcAft>
          <a:spcPts val="600"/>
        </a:spcAft>
        <a:buClrTx/>
        <a:buSzPct val="75000"/>
        <a:buFontTx/>
        <a:buChar char="•"/>
        <a:tabLst/>
        <a:defRPr sz="2000" b="0" i="0" u="none" strike="noStrike" cap="none" spc="0" baseline="0">
          <a:ln>
            <a:noFill/>
          </a:ln>
          <a:solidFill>
            <a:schemeClr val="tx1">
              <a:lumMod val="75000"/>
            </a:schemeClr>
          </a:solidFill>
          <a:uFillTx/>
          <a:latin typeface="+mn-lt"/>
          <a:ea typeface="+mn-ea"/>
          <a:cs typeface="+mn-cs"/>
          <a:sym typeface="Helvetica Light"/>
        </a:defRPr>
      </a:lvl4pPr>
      <a:lvl5pPr marL="1587500" marR="0" indent="-317500" algn="l" defTabSz="412750" rtl="0" eaLnBrk="1" latinLnBrk="0" hangingPunct="1">
        <a:lnSpc>
          <a:spcPct val="150000"/>
        </a:lnSpc>
        <a:spcBef>
          <a:spcPts val="600"/>
        </a:spcBef>
        <a:spcAft>
          <a:spcPts val="600"/>
        </a:spcAft>
        <a:buClrTx/>
        <a:buSzPct val="75000"/>
        <a:buFontTx/>
        <a:buChar char="•"/>
        <a:tabLst/>
        <a:defRPr sz="2000" b="0" i="0" u="none" strike="noStrike" cap="none" spc="0" baseline="0">
          <a:ln>
            <a:noFill/>
          </a:ln>
          <a:solidFill>
            <a:schemeClr val="tx1">
              <a:lumMod val="75000"/>
            </a:schemeClr>
          </a:solidFill>
          <a:uFillTx/>
          <a:latin typeface="+mn-lt"/>
          <a:ea typeface="+mn-ea"/>
          <a:cs typeface="+mn-cs"/>
          <a:sym typeface="Helvetica Light"/>
        </a:defRPr>
      </a:lvl5pPr>
      <a:lvl6pPr marL="19050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2222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25400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2857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1143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2286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3429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4572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5715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6858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8001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9144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orient="horz" pos="79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notesSlide" Target="../notesSlides/notesSlide1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tags" Target="../tags/tag26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5" Type="http://schemas.openxmlformats.org/officeDocument/2006/relationships/notesSlide" Target="../notesSlides/notesSlide2.xml"/><Relationship Id="rId10" Type="http://schemas.openxmlformats.org/officeDocument/2006/relationships/tags" Target="../tags/tag23.xml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8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9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0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1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3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4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5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17.jpe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7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10" Type="http://schemas.openxmlformats.org/officeDocument/2006/relationships/image" Target="../media/image20.png"/><Relationship Id="rId4" Type="http://schemas.openxmlformats.org/officeDocument/2006/relationships/image" Target="../media/image33.png"/><Relationship Id="rId9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/>
          <p:nvPr/>
        </p:nvSpPr>
        <p:spPr>
          <a:xfrm>
            <a:off x="408545" y="1672637"/>
            <a:ext cx="8350043" cy="112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14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algn="l"/>
            <a:r>
              <a:rPr lang="zh-CN" altLang="en-US" sz="7000" dirty="0">
                <a:latin typeface="DengXian" charset="-122"/>
                <a:ea typeface="DengXian" charset="-122"/>
                <a:cs typeface="DengXian" charset="-122"/>
              </a:rPr>
              <a:t>数据治理的</a:t>
            </a:r>
            <a:r>
              <a:rPr lang="en-US" altLang="zh-CN" sz="7000" dirty="0">
                <a:latin typeface="DengXian" charset="-122"/>
                <a:ea typeface="DengXian" charset="-122"/>
                <a:cs typeface="DengXian" charset="-122"/>
              </a:rPr>
              <a:t>10</a:t>
            </a:r>
            <a:r>
              <a:rPr lang="zh-CN" altLang="en-US" sz="7000" dirty="0">
                <a:latin typeface="DengXian" charset="-122"/>
                <a:ea typeface="DengXian" charset="-122"/>
                <a:cs typeface="DengXian" charset="-122"/>
              </a:rPr>
              <a:t>个方面</a:t>
            </a:r>
            <a:endParaRPr sz="7000" dirty="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109" name="Shape 109"/>
          <p:cNvSpPr/>
          <p:nvPr/>
        </p:nvSpPr>
        <p:spPr>
          <a:xfrm>
            <a:off x="9930834" y="3245652"/>
            <a:ext cx="1452321" cy="9992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algn="r">
              <a:lnSpc>
                <a:spcPct val="120000"/>
              </a:lnSpc>
            </a:pPr>
            <a:r>
              <a:rPr lang="zh-CN" altLang="en-US" sz="2800" dirty="0"/>
              <a:t>吴万港</a:t>
            </a:r>
            <a:endParaRPr lang="en-US" altLang="zh-CN" sz="2800" dirty="0"/>
          </a:p>
          <a:p>
            <a:pPr algn="r"/>
            <a:r>
              <a:rPr lang="en-US" sz="2800" dirty="0"/>
              <a:t>2023.3.7</a:t>
            </a:r>
            <a:endParaRPr sz="280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1959" y="682757"/>
            <a:ext cx="5324041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数据治理的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个方面</a:t>
            </a:r>
          </a:p>
        </p:txBody>
      </p:sp>
      <p:sp>
        <p:nvSpPr>
          <p:cNvPr id="7" name="燕尾形 5">
            <a:extLst>
              <a:ext uri="{FF2B5EF4-FFF2-40B4-BE49-F238E27FC236}">
                <a16:creationId xmlns:a16="http://schemas.microsoft.com/office/drawing/2014/main" id="{9AD94AB6-D4C4-4BEB-B79F-C4D463CAA72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143299" y="2150829"/>
            <a:ext cx="3036464" cy="972463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800" kern="0" spc="200" dirty="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组织结构</a:t>
            </a:r>
          </a:p>
        </p:txBody>
      </p:sp>
      <p:sp>
        <p:nvSpPr>
          <p:cNvPr id="8" name="燕尾形 6">
            <a:extLst>
              <a:ext uri="{FF2B5EF4-FFF2-40B4-BE49-F238E27FC236}">
                <a16:creationId xmlns:a16="http://schemas.microsoft.com/office/drawing/2014/main" id="{9FFF5C26-E543-4353-9ED9-B85629DB14C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686805" y="2150829"/>
            <a:ext cx="1094690" cy="972463"/>
          </a:xfrm>
          <a:prstGeom prst="chevron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燕尾形 7">
            <a:extLst>
              <a:ext uri="{FF2B5EF4-FFF2-40B4-BE49-F238E27FC236}">
                <a16:creationId xmlns:a16="http://schemas.microsoft.com/office/drawing/2014/main" id="{4332DD90-CF7D-4BA2-8FD0-F588E89C9C5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288533" y="2150829"/>
            <a:ext cx="3036464" cy="972463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800" spc="200" dirty="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治理策略</a:t>
            </a:r>
            <a:endParaRPr lang="zh-CN" altLang="en-US" sz="2800" kern="0" spc="200" dirty="0">
              <a:solidFill>
                <a:schemeClr val="lt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sp>
        <p:nvSpPr>
          <p:cNvPr id="11" name="燕尾形 8">
            <a:extLst>
              <a:ext uri="{FF2B5EF4-FFF2-40B4-BE49-F238E27FC236}">
                <a16:creationId xmlns:a16="http://schemas.microsoft.com/office/drawing/2014/main" id="{730DF218-86DF-431E-9EA5-E3D3ED519DF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832039" y="2150829"/>
            <a:ext cx="1094690" cy="972463"/>
          </a:xfrm>
          <a:prstGeom prst="chevron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燕尾形 12">
            <a:extLst>
              <a:ext uri="{FF2B5EF4-FFF2-40B4-BE49-F238E27FC236}">
                <a16:creationId xmlns:a16="http://schemas.microsoft.com/office/drawing/2014/main" id="{5884D089-5F7E-46CD-B3C2-29EEDC75EEC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433770" y="2150829"/>
            <a:ext cx="3036464" cy="972463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800" kern="0" spc="200" dirty="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质量</a:t>
            </a:r>
            <a:r>
              <a:rPr lang="zh-CN" altLang="en-US" sz="2800" spc="200" dirty="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管理</a:t>
            </a:r>
            <a:endParaRPr lang="zh-CN" altLang="en-US" sz="2800" kern="0" spc="200" dirty="0">
              <a:solidFill>
                <a:schemeClr val="lt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sp>
        <p:nvSpPr>
          <p:cNvPr id="13" name="矩形 13">
            <a:extLst>
              <a:ext uri="{FF2B5EF4-FFF2-40B4-BE49-F238E27FC236}">
                <a16:creationId xmlns:a16="http://schemas.microsoft.com/office/drawing/2014/main" id="{D99880CF-3C63-4177-959A-89764C6315D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143298" y="1327858"/>
            <a:ext cx="2473858" cy="793025"/>
          </a:xfrm>
          <a:prstGeom prst="rect">
            <a:avLst/>
          </a:prstGeom>
        </p:spPr>
        <p:txBody>
          <a:bodyPr wrap="square">
            <a:normAutofit fontScale="92500" lnSpcReduction="10000"/>
          </a:bodyPr>
          <a:lstStyle/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确定负责数据治理的团队和角色，包括数据治理委员会、数据所有者、数据管理员等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 13">
            <a:extLst>
              <a:ext uri="{FF2B5EF4-FFF2-40B4-BE49-F238E27FC236}">
                <a16:creationId xmlns:a16="http://schemas.microsoft.com/office/drawing/2014/main" id="{59F595F2-9D0F-A2C2-B2AE-C11839A9D05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249408" y="1357804"/>
            <a:ext cx="2473858" cy="793025"/>
          </a:xfrm>
          <a:prstGeom prst="rect">
            <a:avLst/>
          </a:prstGeom>
        </p:spPr>
        <p:txBody>
          <a:bodyPr wrap="square">
            <a:normAutofit fontScale="92500" lnSpcReduction="10000"/>
          </a:bodyPr>
          <a:lstStyle/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明确数据治理的目标、原则和框架，包括范围、目标，以及评估治理的成效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矩形 13">
            <a:extLst>
              <a:ext uri="{FF2B5EF4-FFF2-40B4-BE49-F238E27FC236}">
                <a16:creationId xmlns:a16="http://schemas.microsoft.com/office/drawing/2014/main" id="{F7D70F7F-C675-9926-47D2-20B454C463E4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379384" y="1327858"/>
            <a:ext cx="2473858" cy="66025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3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质量标准和指标，实施清洗、验证和监控，确保准确性和一致性，定期评估</a:t>
            </a:r>
            <a:endParaRPr lang="en-US" altLang="zh-CN" sz="13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燕尾形 5">
            <a:extLst>
              <a:ext uri="{FF2B5EF4-FFF2-40B4-BE49-F238E27FC236}">
                <a16:creationId xmlns:a16="http://schemas.microsoft.com/office/drawing/2014/main" id="{E771843C-A0F9-B5F1-18C0-9A80E56FADF3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476799" y="4576569"/>
            <a:ext cx="3036464" cy="972463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800" spc="200" dirty="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共享管理</a:t>
            </a:r>
            <a:endParaRPr lang="zh-CN" altLang="en-US" sz="2800" kern="0" spc="200" dirty="0">
              <a:solidFill>
                <a:schemeClr val="lt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sp>
        <p:nvSpPr>
          <p:cNvPr id="17" name="燕尾形 6">
            <a:extLst>
              <a:ext uri="{FF2B5EF4-FFF2-40B4-BE49-F238E27FC236}">
                <a16:creationId xmlns:a16="http://schemas.microsoft.com/office/drawing/2014/main" id="{4A924969-209A-F45E-7804-CDADBF4A1CB2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5020305" y="4576569"/>
            <a:ext cx="1094690" cy="972463"/>
          </a:xfrm>
          <a:prstGeom prst="chevron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燕尾形 7">
            <a:extLst>
              <a:ext uri="{FF2B5EF4-FFF2-40B4-BE49-F238E27FC236}">
                <a16:creationId xmlns:a16="http://schemas.microsoft.com/office/drawing/2014/main" id="{6FD2C459-A704-A32D-2C5F-48409613CC14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622033" y="4576569"/>
            <a:ext cx="3036464" cy="972463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800" spc="200" dirty="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安全治理</a:t>
            </a:r>
            <a:endParaRPr lang="zh-CN" altLang="en-US" sz="2800" kern="0" spc="200" dirty="0">
              <a:solidFill>
                <a:schemeClr val="lt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sp>
        <p:nvSpPr>
          <p:cNvPr id="20" name="矩形 13">
            <a:extLst>
              <a:ext uri="{FF2B5EF4-FFF2-40B4-BE49-F238E27FC236}">
                <a16:creationId xmlns:a16="http://schemas.microsoft.com/office/drawing/2014/main" id="{019AC1D3-2998-51BC-1D97-121E399D57B9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2449876" y="3731682"/>
            <a:ext cx="2473858" cy="63800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3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制定共享策略，明确范围、条件和限制，建立共享机制，如</a:t>
            </a:r>
            <a:r>
              <a:rPr lang="en-US" altLang="zh-CN" sz="13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API</a:t>
            </a:r>
            <a:r>
              <a:rPr lang="zh-CN" altLang="en-US" sz="13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或共享平台</a:t>
            </a:r>
            <a:endParaRPr lang="en-US" altLang="zh-CN" sz="13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矩形 13">
            <a:extLst>
              <a:ext uri="{FF2B5EF4-FFF2-40B4-BE49-F238E27FC236}">
                <a16:creationId xmlns:a16="http://schemas.microsoft.com/office/drawing/2014/main" id="{8F8B7055-DCFE-2081-B3F0-B9216123A40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5567650" y="3830592"/>
            <a:ext cx="2684792" cy="66025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3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维护元数据，定义元数据的分类、搜索和理解</a:t>
            </a:r>
            <a:endParaRPr lang="en-US" altLang="zh-CN" sz="13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5405223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1959" y="682757"/>
            <a:ext cx="5324041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数据治理的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个方面</a:t>
            </a:r>
          </a:p>
        </p:txBody>
      </p:sp>
      <p:sp>
        <p:nvSpPr>
          <p:cNvPr id="7" name="燕尾形 5">
            <a:extLst>
              <a:ext uri="{FF2B5EF4-FFF2-40B4-BE49-F238E27FC236}">
                <a16:creationId xmlns:a16="http://schemas.microsoft.com/office/drawing/2014/main" id="{9AD94AB6-D4C4-4BEB-B79F-C4D463CAA72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143299" y="2150829"/>
            <a:ext cx="3036464" cy="972463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800" kern="0" spc="200" dirty="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业务相关管理</a:t>
            </a:r>
          </a:p>
        </p:txBody>
      </p:sp>
      <p:sp>
        <p:nvSpPr>
          <p:cNvPr id="8" name="燕尾形 6">
            <a:extLst>
              <a:ext uri="{FF2B5EF4-FFF2-40B4-BE49-F238E27FC236}">
                <a16:creationId xmlns:a16="http://schemas.microsoft.com/office/drawing/2014/main" id="{9FFF5C26-E543-4353-9ED9-B85629DB14C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686805" y="2150829"/>
            <a:ext cx="1094690" cy="972463"/>
          </a:xfrm>
          <a:prstGeom prst="chevron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燕尾形 7">
            <a:extLst>
              <a:ext uri="{FF2B5EF4-FFF2-40B4-BE49-F238E27FC236}">
                <a16:creationId xmlns:a16="http://schemas.microsoft.com/office/drawing/2014/main" id="{4332DD90-CF7D-4BA2-8FD0-F588E89C9C5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288533" y="2150829"/>
            <a:ext cx="3036464" cy="972463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800" kern="0" spc="200" dirty="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技术相关管理</a:t>
            </a:r>
          </a:p>
        </p:txBody>
      </p:sp>
      <p:sp>
        <p:nvSpPr>
          <p:cNvPr id="11" name="燕尾形 8">
            <a:extLst>
              <a:ext uri="{FF2B5EF4-FFF2-40B4-BE49-F238E27FC236}">
                <a16:creationId xmlns:a16="http://schemas.microsoft.com/office/drawing/2014/main" id="{730DF218-86DF-431E-9EA5-E3D3ED519DF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832039" y="2150829"/>
            <a:ext cx="1094690" cy="972463"/>
          </a:xfrm>
          <a:prstGeom prst="chevron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燕尾形 12">
            <a:extLst>
              <a:ext uri="{FF2B5EF4-FFF2-40B4-BE49-F238E27FC236}">
                <a16:creationId xmlns:a16="http://schemas.microsoft.com/office/drawing/2014/main" id="{5884D089-5F7E-46CD-B3C2-29EEDC75EEC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433770" y="2150829"/>
            <a:ext cx="3036464" cy="972463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800" spc="200" dirty="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数据服务管理</a:t>
            </a:r>
            <a:endParaRPr lang="zh-CN" altLang="en-US" sz="2800" kern="0" spc="200" dirty="0">
              <a:solidFill>
                <a:schemeClr val="lt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sp>
        <p:nvSpPr>
          <p:cNvPr id="13" name="矩形 13">
            <a:extLst>
              <a:ext uri="{FF2B5EF4-FFF2-40B4-BE49-F238E27FC236}">
                <a16:creationId xmlns:a16="http://schemas.microsoft.com/office/drawing/2014/main" id="{D99880CF-3C63-4177-959A-89764C6315D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173819" y="1529099"/>
            <a:ext cx="2473858" cy="61608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3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确保数据治理活动与业务目标和流程相一致</a:t>
            </a:r>
            <a:endParaRPr lang="en-US" altLang="zh-CN" sz="13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 13">
            <a:extLst>
              <a:ext uri="{FF2B5EF4-FFF2-40B4-BE49-F238E27FC236}">
                <a16:creationId xmlns:a16="http://schemas.microsoft.com/office/drawing/2014/main" id="{59F595F2-9D0F-A2C2-B2AE-C11839A9D05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249408" y="1357804"/>
            <a:ext cx="2473858" cy="793025"/>
          </a:xfrm>
          <a:prstGeom prst="rect">
            <a:avLst/>
          </a:prstGeom>
        </p:spPr>
        <p:txBody>
          <a:bodyPr wrap="square">
            <a:normAutofit fontScale="92500" lnSpcReduction="10000"/>
          </a:bodyPr>
          <a:lstStyle/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建立和维护技术架构，支持数据治理活动；确保技术方案符合数据治理的要求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矩形 13">
            <a:extLst>
              <a:ext uri="{FF2B5EF4-FFF2-40B4-BE49-F238E27FC236}">
                <a16:creationId xmlns:a16="http://schemas.microsoft.com/office/drawing/2014/main" id="{F7D70F7F-C675-9926-47D2-20B454C463E4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379384" y="1327858"/>
            <a:ext cx="2473858" cy="73724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3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提供数据服务，如质量监控、元数据服务、安全与合规性服务等</a:t>
            </a:r>
            <a:endParaRPr lang="en-US" altLang="zh-CN" sz="13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燕尾形 5">
            <a:extLst>
              <a:ext uri="{FF2B5EF4-FFF2-40B4-BE49-F238E27FC236}">
                <a16:creationId xmlns:a16="http://schemas.microsoft.com/office/drawing/2014/main" id="{E771843C-A0F9-B5F1-18C0-9A80E56FADF3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476799" y="4576569"/>
            <a:ext cx="3036464" cy="972463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800" kern="0" spc="200" dirty="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安全与合规服务</a:t>
            </a:r>
          </a:p>
        </p:txBody>
      </p:sp>
      <p:sp>
        <p:nvSpPr>
          <p:cNvPr id="17" name="燕尾形 6">
            <a:extLst>
              <a:ext uri="{FF2B5EF4-FFF2-40B4-BE49-F238E27FC236}">
                <a16:creationId xmlns:a16="http://schemas.microsoft.com/office/drawing/2014/main" id="{4A924969-209A-F45E-7804-CDADBF4A1CB2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5020305" y="4576569"/>
            <a:ext cx="1094690" cy="972463"/>
          </a:xfrm>
          <a:prstGeom prst="chevron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燕尾形 7">
            <a:extLst>
              <a:ext uri="{FF2B5EF4-FFF2-40B4-BE49-F238E27FC236}">
                <a16:creationId xmlns:a16="http://schemas.microsoft.com/office/drawing/2014/main" id="{6FD2C459-A704-A32D-2C5F-48409613CC14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622033" y="4576569"/>
            <a:ext cx="3036464" cy="972463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800" kern="0" spc="200" dirty="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数据生命周期管理</a:t>
            </a:r>
          </a:p>
        </p:txBody>
      </p:sp>
      <p:sp>
        <p:nvSpPr>
          <p:cNvPr id="20" name="矩形 13">
            <a:extLst>
              <a:ext uri="{FF2B5EF4-FFF2-40B4-BE49-F238E27FC236}">
                <a16:creationId xmlns:a16="http://schemas.microsoft.com/office/drawing/2014/main" id="{019AC1D3-2998-51BC-1D97-121E399D57B9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2449876" y="3731682"/>
            <a:ext cx="2473858" cy="63800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3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实施安全措施，保护数据免受未授权访问和泄露，确保治理符合法律法规和标准</a:t>
            </a:r>
            <a:endParaRPr lang="en-US" altLang="zh-CN" sz="13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矩形 13">
            <a:extLst>
              <a:ext uri="{FF2B5EF4-FFF2-40B4-BE49-F238E27FC236}">
                <a16:creationId xmlns:a16="http://schemas.microsoft.com/office/drawing/2014/main" id="{8F8B7055-DCFE-2081-B3F0-B9216123A40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5567650" y="3830592"/>
            <a:ext cx="2684792" cy="66025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3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管理从建立到废弃的生命周期，确保数据得到适当的管理</a:t>
            </a:r>
            <a:endParaRPr lang="en-US" altLang="zh-CN" sz="13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9353294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1650" y="809625"/>
            <a:ext cx="3673959" cy="576263"/>
          </a:xfrm>
        </p:spPr>
        <p:txBody>
          <a:bodyPr/>
          <a:lstStyle/>
          <a:p>
            <a:pPr algn="l"/>
            <a:r>
              <a:rPr lang="zh-CN" altLang="en-US" dirty="0"/>
              <a:t>行业现象和需求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E326828-51F7-D797-C345-3A2F40037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92" y="1661905"/>
            <a:ext cx="10111308" cy="4386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128809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700" y="781050"/>
            <a:ext cx="6994525" cy="576263"/>
          </a:xfrm>
        </p:spPr>
        <p:txBody>
          <a:bodyPr/>
          <a:lstStyle/>
          <a:p>
            <a:pPr algn="l"/>
            <a:r>
              <a:rPr lang="zh-CN" altLang="en-US" dirty="0"/>
              <a:t>数据治理范围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638850-2FE0-D94A-4D1C-2E9AE018E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699" y="1357313"/>
            <a:ext cx="11052175" cy="521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434059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1" y="800100"/>
            <a:ext cx="4714873" cy="576263"/>
          </a:xfrm>
        </p:spPr>
        <p:txBody>
          <a:bodyPr/>
          <a:lstStyle/>
          <a:p>
            <a:pPr algn="l"/>
            <a:r>
              <a:rPr lang="zh-CN" altLang="en-US" dirty="0"/>
              <a:t>数据管理框架</a:t>
            </a:r>
          </a:p>
        </p:txBody>
      </p:sp>
      <p:sp>
        <p:nvSpPr>
          <p:cNvPr id="3" name="矩形 19">
            <a:extLst>
              <a:ext uri="{FF2B5EF4-FFF2-40B4-BE49-F238E27FC236}">
                <a16:creationId xmlns:a16="http://schemas.microsoft.com/office/drawing/2014/main" id="{29A50E9B-7A59-DD0F-1D8C-A663CB2CE40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83357" y="1376363"/>
            <a:ext cx="7274818" cy="408717"/>
          </a:xfrm>
          <a:prstGeom prst="rect">
            <a:avLst/>
          </a:prstGeom>
        </p:spPr>
        <p:txBody>
          <a:bodyPr wrap="square" anchor="b">
            <a:noAutofit/>
          </a:bodyPr>
          <a:lstStyle/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从上到下指导，从下到上推进，形成一个多层次、多维度、多视角的全方位框架</a:t>
            </a:r>
            <a:endParaRPr lang="zh-CN" altLang="en-US" sz="1400" kern="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D75648-FB6A-5547-A617-F1DEBB7B1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2159" y="1952626"/>
            <a:ext cx="5577214" cy="4553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158488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4784" y="701807"/>
            <a:ext cx="6095566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总体解决思路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EFBF00-73A4-8CA6-3D9F-B2346A861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55" y="1316818"/>
            <a:ext cx="11011645" cy="5112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066057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数据资产盘点</a:t>
            </a:r>
            <a:endParaRPr lang="zh-CN" altLang="en-US" sz="2000" dirty="0">
              <a:solidFill>
                <a:schemeClr val="tx2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D27919-A2D3-DDF7-83A0-CBB5FF03D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53" y="2271294"/>
            <a:ext cx="10925844" cy="4091405"/>
          </a:xfrm>
          <a:prstGeom prst="rect">
            <a:avLst/>
          </a:prstGeom>
        </p:spPr>
      </p:pic>
      <p:sp>
        <p:nvSpPr>
          <p:cNvPr id="5" name="矩形 19">
            <a:extLst>
              <a:ext uri="{FF2B5EF4-FFF2-40B4-BE49-F238E27FC236}">
                <a16:creationId xmlns:a16="http://schemas.microsoft.com/office/drawing/2014/main" id="{2678E788-4A4F-89BB-272F-C95DAEB9157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14053" y="1431130"/>
            <a:ext cx="10599043" cy="576264"/>
          </a:xfrm>
          <a:prstGeom prst="rect">
            <a:avLst/>
          </a:prstGeom>
        </p:spPr>
        <p:txBody>
          <a:bodyPr wrap="square" anchor="b">
            <a:noAutofit/>
          </a:bodyPr>
          <a:lstStyle/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在数据治理实际操作中，只有先发现数据，对数据进行有效分类，才能避免一刀切的控制方式，才能对数据的安全管理采用更加精细的措施，使数据在共享使用和安全使用之间获得平衡。建议数据分级分类方法：</a:t>
            </a:r>
            <a:endParaRPr lang="zh-CN" altLang="en-US" sz="1400" kern="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80570990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1" y="800100"/>
            <a:ext cx="4714873" cy="576263"/>
          </a:xfrm>
        </p:spPr>
        <p:txBody>
          <a:bodyPr/>
          <a:lstStyle/>
          <a:p>
            <a:pPr algn="l"/>
            <a:r>
              <a:rPr lang="en-US" altLang="zh-CN" dirty="0"/>
              <a:t>2.</a:t>
            </a:r>
            <a:r>
              <a:rPr lang="zh-CN" altLang="en-US" dirty="0"/>
              <a:t>让数据变得更干净，少歧义</a:t>
            </a:r>
            <a:endParaRPr lang="zh-CN" altLang="en-US" sz="20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254569-B0BA-A1C0-5504-A0C284D6BB9F}"/>
              </a:ext>
            </a:extLst>
          </p:cNvPr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879694" y="2283696"/>
            <a:ext cx="755767" cy="3361753"/>
          </a:xfrm>
          <a:prstGeom prst="rect">
            <a:avLst/>
          </a:prstGeom>
        </p:spPr>
      </p:pic>
      <p:sp>
        <p:nvSpPr>
          <p:cNvPr id="4" name="TextBox 13">
            <a:extLst>
              <a:ext uri="{FF2B5EF4-FFF2-40B4-BE49-F238E27FC236}">
                <a16:creationId xmlns:a16="http://schemas.microsoft.com/office/drawing/2014/main" id="{0E56822B-0A71-00F5-CD9E-BD80906BC0AA}"/>
              </a:ext>
            </a:extLst>
          </p:cNvPr>
          <p:cNvSpPr txBox="1"/>
          <p:nvPr/>
        </p:nvSpPr>
        <p:spPr>
          <a:xfrm>
            <a:off x="1464945" y="3816985"/>
            <a:ext cx="2152015" cy="9314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5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ym typeface="+mn-ea"/>
              </a:rPr>
              <a:t>数据同步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数据交换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ym typeface="+mn-ea"/>
              </a:rPr>
              <a:t>数据整合</a:t>
            </a:r>
          </a:p>
        </p:txBody>
      </p:sp>
      <p:pic>
        <p:nvPicPr>
          <p:cNvPr id="5" name="图片 5">
            <a:extLst>
              <a:ext uri="{FF2B5EF4-FFF2-40B4-BE49-F238E27FC236}">
                <a16:creationId xmlns:a16="http://schemas.microsoft.com/office/drawing/2014/main" id="{494BE846-AB31-9A39-D46F-9402EC7F9266}"/>
              </a:ext>
            </a:extLst>
          </p:cNvPr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3997550" y="2284332"/>
            <a:ext cx="780487" cy="3471708"/>
          </a:xfrm>
          <a:prstGeom prst="rect">
            <a:avLst/>
          </a:prstGeom>
        </p:spPr>
      </p:pic>
      <p:sp>
        <p:nvSpPr>
          <p:cNvPr id="6" name="TextBox 13">
            <a:extLst>
              <a:ext uri="{FF2B5EF4-FFF2-40B4-BE49-F238E27FC236}">
                <a16:creationId xmlns:a16="http://schemas.microsoft.com/office/drawing/2014/main" id="{392EBFF1-DE17-BB84-C9F3-EF70D73AD77E}"/>
              </a:ext>
            </a:extLst>
          </p:cNvPr>
          <p:cNvSpPr txBox="1"/>
          <p:nvPr/>
        </p:nvSpPr>
        <p:spPr>
          <a:xfrm>
            <a:off x="4594225" y="3732530"/>
            <a:ext cx="2466975" cy="22240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algn="l"/>
            <a:r>
              <a:rPr lang="zh-CN" altLang="en-US" dirty="0"/>
              <a:t>理解元数据需求</a:t>
            </a:r>
          </a:p>
          <a:p>
            <a:pPr algn="l"/>
            <a:r>
              <a:rPr lang="zh-CN" altLang="en-US" dirty="0"/>
              <a:t>开发和维护元数据标准</a:t>
            </a:r>
          </a:p>
          <a:p>
            <a:pPr algn="l"/>
            <a:r>
              <a:rPr lang="zh-CN" altLang="en-US" dirty="0"/>
              <a:t>标准化元数据评估指标</a:t>
            </a:r>
          </a:p>
          <a:p>
            <a:pPr algn="l"/>
            <a:r>
              <a:rPr lang="zh-CN" altLang="en-US" dirty="0">
                <a:sym typeface="+mn-ea"/>
              </a:rPr>
              <a:t>创建和维护元数据</a:t>
            </a:r>
            <a:endParaRPr lang="en-US" altLang="zh-CN" dirty="0">
              <a:sym typeface="+mn-ea"/>
            </a:endParaRPr>
          </a:p>
          <a:p>
            <a:pPr algn="l"/>
            <a:r>
              <a:rPr lang="zh-CN" altLang="en-US" dirty="0">
                <a:sym typeface="+mn-ea"/>
              </a:rPr>
              <a:t>整合元数据</a:t>
            </a:r>
            <a:endParaRPr lang="en-US" altLang="zh-CN" dirty="0">
              <a:sym typeface="+mn-ea"/>
            </a:endParaRPr>
          </a:p>
          <a:p>
            <a:pPr algn="l"/>
            <a:r>
              <a:rPr lang="zh-CN" altLang="en-US" dirty="0">
                <a:sym typeface="+mn-ea"/>
              </a:rPr>
              <a:t>分发和交付元数据</a:t>
            </a:r>
            <a:endParaRPr lang="en-US" altLang="zh-CN" dirty="0">
              <a:sym typeface="+mn-ea"/>
            </a:endParaRPr>
          </a:p>
          <a:p>
            <a:pPr algn="l"/>
            <a:r>
              <a:rPr lang="zh-CN" altLang="en-US" dirty="0">
                <a:sym typeface="+mn-ea"/>
              </a:rPr>
              <a:t>查询、报告和分析元数据</a:t>
            </a:r>
            <a:endParaRPr lang="zh-CN" altLang="en-US" dirty="0"/>
          </a:p>
        </p:txBody>
      </p:sp>
      <p:pic>
        <p:nvPicPr>
          <p:cNvPr id="7" name="图片 7">
            <a:extLst>
              <a:ext uri="{FF2B5EF4-FFF2-40B4-BE49-F238E27FC236}">
                <a16:creationId xmlns:a16="http://schemas.microsoft.com/office/drawing/2014/main" id="{38E674A6-B8F3-E467-C181-0321FFAC57F3}"/>
              </a:ext>
            </a:extLst>
          </p:cNvPr>
          <p:cNvPicPr>
            <a:picLocks noChangeAspect="1"/>
          </p:cNvPicPr>
          <p:nvPr/>
        </p:nvPicPr>
        <p:blipFill>
          <a:blip r:embed="rId6" cstate="screen"/>
          <a:stretch>
            <a:fillRect/>
          </a:stretch>
        </p:blipFill>
        <p:spPr>
          <a:xfrm>
            <a:off x="7174564" y="2283696"/>
            <a:ext cx="780487" cy="3471708"/>
          </a:xfrm>
          <a:prstGeom prst="rect">
            <a:avLst/>
          </a:prstGeom>
        </p:spPr>
      </p:pic>
      <p:sp>
        <p:nvSpPr>
          <p:cNvPr id="10" name="TextBox 13">
            <a:extLst>
              <a:ext uri="{FF2B5EF4-FFF2-40B4-BE49-F238E27FC236}">
                <a16:creationId xmlns:a16="http://schemas.microsoft.com/office/drawing/2014/main" id="{5CFBCED5-9357-F515-A35B-428C7F122068}"/>
              </a:ext>
            </a:extLst>
          </p:cNvPr>
          <p:cNvSpPr txBox="1"/>
          <p:nvPr/>
        </p:nvSpPr>
        <p:spPr>
          <a:xfrm>
            <a:off x="7967345" y="3745865"/>
            <a:ext cx="1770380" cy="9314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5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技术标准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数据标准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管理标准</a:t>
            </a:r>
            <a:endParaRPr lang="en-US" altLang="zh-CN" sz="1400" dirty="0"/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C267C428-8D5E-7A66-41A0-5E224195A0FE}"/>
              </a:ext>
            </a:extLst>
          </p:cNvPr>
          <p:cNvSpPr txBox="1"/>
          <p:nvPr/>
        </p:nvSpPr>
        <p:spPr>
          <a:xfrm>
            <a:off x="1635760" y="2693670"/>
            <a:ext cx="174446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algn="ctr"/>
            <a:r>
              <a:rPr lang="zh-CN" altLang="en-US" sz="1800" dirty="0">
                <a:solidFill>
                  <a:srgbClr val="959B9D"/>
                </a:solidFill>
              </a:rPr>
              <a:t>数据采集与清洗</a:t>
            </a:r>
          </a:p>
        </p:txBody>
      </p:sp>
      <p:pic>
        <p:nvPicPr>
          <p:cNvPr id="15" name="图片 22">
            <a:extLst>
              <a:ext uri="{FF2B5EF4-FFF2-40B4-BE49-F238E27FC236}">
                <a16:creationId xmlns:a16="http://schemas.microsoft.com/office/drawing/2014/main" id="{2D96587A-FAC7-19F8-1D3F-DFBACB1E0853}"/>
              </a:ext>
            </a:extLst>
          </p:cNvPr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>
            <a:off x="2154748" y="3191057"/>
            <a:ext cx="357589" cy="406670"/>
          </a:xfrm>
          <a:prstGeom prst="rect">
            <a:avLst/>
          </a:prstGeom>
        </p:spPr>
      </p:pic>
      <p:sp>
        <p:nvSpPr>
          <p:cNvPr id="18" name="TextBox 18">
            <a:extLst>
              <a:ext uri="{FF2B5EF4-FFF2-40B4-BE49-F238E27FC236}">
                <a16:creationId xmlns:a16="http://schemas.microsoft.com/office/drawing/2014/main" id="{BF9A9423-147A-FA69-C4A1-1CA52811F3C6}"/>
              </a:ext>
            </a:extLst>
          </p:cNvPr>
          <p:cNvSpPr txBox="1"/>
          <p:nvPr/>
        </p:nvSpPr>
        <p:spPr>
          <a:xfrm>
            <a:off x="4888230" y="2733040"/>
            <a:ext cx="139763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algn="ctr"/>
            <a:r>
              <a:rPr lang="zh-CN" altLang="en-US" sz="1800" dirty="0">
                <a:solidFill>
                  <a:schemeClr val="accent6"/>
                </a:solidFill>
              </a:rPr>
              <a:t>元数据管理</a:t>
            </a:r>
          </a:p>
        </p:txBody>
      </p:sp>
      <p:pic>
        <p:nvPicPr>
          <p:cNvPr id="21" name="图片 24">
            <a:extLst>
              <a:ext uri="{FF2B5EF4-FFF2-40B4-BE49-F238E27FC236}">
                <a16:creationId xmlns:a16="http://schemas.microsoft.com/office/drawing/2014/main" id="{CA99CC7F-34E9-4C57-ACC1-BF941B97E318}"/>
              </a:ext>
            </a:extLst>
          </p:cNvPr>
          <p:cNvPicPr>
            <a:picLocks noChangeAspect="1"/>
          </p:cNvPicPr>
          <p:nvPr/>
        </p:nvPicPr>
        <p:blipFill>
          <a:blip r:embed="rId8" cstate="screen"/>
          <a:stretch>
            <a:fillRect/>
          </a:stretch>
        </p:blipFill>
        <p:spPr>
          <a:xfrm>
            <a:off x="5418204" y="3221143"/>
            <a:ext cx="337609" cy="337609"/>
          </a:xfrm>
          <a:prstGeom prst="rect">
            <a:avLst/>
          </a:prstGeom>
        </p:spPr>
      </p:pic>
      <p:sp>
        <p:nvSpPr>
          <p:cNvPr id="22" name="TextBox 18">
            <a:extLst>
              <a:ext uri="{FF2B5EF4-FFF2-40B4-BE49-F238E27FC236}">
                <a16:creationId xmlns:a16="http://schemas.microsoft.com/office/drawing/2014/main" id="{1AD41860-A0F9-B9D4-164C-61B18DB6C7E5}"/>
              </a:ext>
            </a:extLst>
          </p:cNvPr>
          <p:cNvSpPr txBox="1"/>
          <p:nvPr/>
        </p:nvSpPr>
        <p:spPr>
          <a:xfrm>
            <a:off x="7985980" y="2732405"/>
            <a:ext cx="164379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algn="ctr"/>
            <a:r>
              <a:rPr lang="zh-CN" altLang="en-US" sz="1800" dirty="0">
                <a:solidFill>
                  <a:srgbClr val="3E87CC"/>
                </a:solidFill>
              </a:rPr>
              <a:t>数据标准化治理</a:t>
            </a:r>
          </a:p>
        </p:txBody>
      </p:sp>
      <p:pic>
        <p:nvPicPr>
          <p:cNvPr id="23" name="图片 26">
            <a:extLst>
              <a:ext uri="{FF2B5EF4-FFF2-40B4-BE49-F238E27FC236}">
                <a16:creationId xmlns:a16="http://schemas.microsoft.com/office/drawing/2014/main" id="{D0F21F4B-F299-70BC-16F9-95A1C719EA3E}"/>
              </a:ext>
            </a:extLst>
          </p:cNvPr>
          <p:cNvPicPr>
            <a:picLocks noChangeAspect="1"/>
          </p:cNvPicPr>
          <p:nvPr/>
        </p:nvPicPr>
        <p:blipFill>
          <a:blip r:embed="rId9" cstate="screen"/>
          <a:stretch>
            <a:fillRect/>
          </a:stretch>
        </p:blipFill>
        <p:spPr>
          <a:xfrm>
            <a:off x="8462193" y="3230668"/>
            <a:ext cx="439219" cy="337609"/>
          </a:xfrm>
          <a:prstGeom prst="rect">
            <a:avLst/>
          </a:prstGeom>
        </p:spPr>
      </p:pic>
      <p:sp>
        <p:nvSpPr>
          <p:cNvPr id="24" name="三角形 29">
            <a:extLst>
              <a:ext uri="{FF2B5EF4-FFF2-40B4-BE49-F238E27FC236}">
                <a16:creationId xmlns:a16="http://schemas.microsoft.com/office/drawing/2014/main" id="{7EF623C7-7E3B-0745-432E-AEB9BACB57D2}"/>
              </a:ext>
            </a:extLst>
          </p:cNvPr>
          <p:cNvSpPr/>
          <p:nvPr/>
        </p:nvSpPr>
        <p:spPr>
          <a:xfrm rot="5400000">
            <a:off x="3596710" y="3167281"/>
            <a:ext cx="1605012" cy="803336"/>
          </a:xfrm>
          <a:prstGeom prst="triangle">
            <a:avLst>
              <a:gd name="adj" fmla="val 5073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5" name="三角形 30">
            <a:extLst>
              <a:ext uri="{FF2B5EF4-FFF2-40B4-BE49-F238E27FC236}">
                <a16:creationId xmlns:a16="http://schemas.microsoft.com/office/drawing/2014/main" id="{BC6FDBDD-7B03-524D-9264-9B7A9B4BF357}"/>
              </a:ext>
            </a:extLst>
          </p:cNvPr>
          <p:cNvSpPr/>
          <p:nvPr/>
        </p:nvSpPr>
        <p:spPr>
          <a:xfrm rot="5400000">
            <a:off x="6755193" y="3174030"/>
            <a:ext cx="1627309" cy="788568"/>
          </a:xfrm>
          <a:prstGeom prst="triangle">
            <a:avLst>
              <a:gd name="adj" fmla="val 50739"/>
            </a:avLst>
          </a:prstGeom>
          <a:solidFill>
            <a:srgbClr val="3E87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6" name="文本框 32">
            <a:extLst>
              <a:ext uri="{FF2B5EF4-FFF2-40B4-BE49-F238E27FC236}">
                <a16:creationId xmlns:a16="http://schemas.microsoft.com/office/drawing/2014/main" id="{B4BB8E6C-7B58-B9B3-9F62-72E4C6C24656}"/>
              </a:ext>
            </a:extLst>
          </p:cNvPr>
          <p:cNvSpPr txBox="1"/>
          <p:nvPr/>
        </p:nvSpPr>
        <p:spPr>
          <a:xfrm>
            <a:off x="4062717" y="3366832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chemeClr val="bg1"/>
                </a:solidFill>
              </a:rPr>
              <a:t>02</a:t>
            </a:r>
            <a:endParaRPr kumimoji="1"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7" name="文本框 33">
            <a:extLst>
              <a:ext uri="{FF2B5EF4-FFF2-40B4-BE49-F238E27FC236}">
                <a16:creationId xmlns:a16="http://schemas.microsoft.com/office/drawing/2014/main" id="{F4579D29-56E1-4E33-124B-6B161530DCC5}"/>
              </a:ext>
            </a:extLst>
          </p:cNvPr>
          <p:cNvSpPr txBox="1"/>
          <p:nvPr/>
        </p:nvSpPr>
        <p:spPr>
          <a:xfrm>
            <a:off x="7250052" y="3377348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chemeClr val="bg1"/>
                </a:solidFill>
              </a:rPr>
              <a:t>03</a:t>
            </a:r>
            <a:endParaRPr kumimoji="1"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8" name="三角形 35">
            <a:extLst>
              <a:ext uri="{FF2B5EF4-FFF2-40B4-BE49-F238E27FC236}">
                <a16:creationId xmlns:a16="http://schemas.microsoft.com/office/drawing/2014/main" id="{CC798C60-1BEE-F581-49E8-E8475B3354D3}"/>
              </a:ext>
            </a:extLst>
          </p:cNvPr>
          <p:cNvSpPr/>
          <p:nvPr/>
        </p:nvSpPr>
        <p:spPr>
          <a:xfrm rot="5400000">
            <a:off x="472141" y="3133243"/>
            <a:ext cx="1605012" cy="803336"/>
          </a:xfrm>
          <a:prstGeom prst="triangle">
            <a:avLst>
              <a:gd name="adj" fmla="val 50739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9" name="文本框 36">
            <a:extLst>
              <a:ext uri="{FF2B5EF4-FFF2-40B4-BE49-F238E27FC236}">
                <a16:creationId xmlns:a16="http://schemas.microsoft.com/office/drawing/2014/main" id="{25685F77-9F04-2250-4217-7B215A7F6BC3}"/>
              </a:ext>
            </a:extLst>
          </p:cNvPr>
          <p:cNvSpPr txBox="1"/>
          <p:nvPr/>
        </p:nvSpPr>
        <p:spPr>
          <a:xfrm>
            <a:off x="985645" y="3331578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chemeClr val="bg1"/>
                </a:solidFill>
              </a:rPr>
              <a:t>01</a:t>
            </a:r>
            <a:endParaRPr kumimoji="1"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8" name="矩形 19">
            <a:extLst>
              <a:ext uri="{FF2B5EF4-FFF2-40B4-BE49-F238E27FC236}">
                <a16:creationId xmlns:a16="http://schemas.microsoft.com/office/drawing/2014/main" id="{16831E2E-8E03-22DF-6974-CDD0F4C6AB4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72979" y="1506748"/>
            <a:ext cx="7274818" cy="408717"/>
          </a:xfrm>
          <a:prstGeom prst="rect">
            <a:avLst/>
          </a:prstGeom>
        </p:spPr>
        <p:txBody>
          <a:bodyPr wrap="square" anchor="b">
            <a:noAutofit/>
          </a:bodyPr>
          <a:lstStyle/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400" kern="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如何让数据变得更干净可用？</a:t>
            </a:r>
          </a:p>
        </p:txBody>
      </p:sp>
    </p:spTree>
    <p:extLst>
      <p:ext uri="{BB962C8B-B14F-4D97-AF65-F5344CB8AC3E}">
        <p14:creationId xmlns:p14="http://schemas.microsoft.com/office/powerpoint/2010/main" val="996027175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2.1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数据清洗、转换</a:t>
            </a:r>
            <a:endParaRPr lang="zh-CN" altLang="en-US" sz="2000" dirty="0">
              <a:solidFill>
                <a:schemeClr val="tx2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BA3810-21A5-17D5-883C-3D65D5172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58" y="1285752"/>
            <a:ext cx="9806567" cy="501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102042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2.2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数据采集与清洗达到的效果</a:t>
            </a:r>
            <a:endParaRPr lang="zh-CN" altLang="en-US" sz="2000" dirty="0">
              <a:solidFill>
                <a:schemeClr val="tx2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9D8FC8-50EE-9874-F85E-B92D0D041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76" y="1395093"/>
            <a:ext cx="10411423" cy="484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257159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2.3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元数据管理</a:t>
            </a:r>
            <a:endParaRPr lang="zh-CN" altLang="en-US" sz="2000" dirty="0">
              <a:solidFill>
                <a:schemeClr val="tx2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7B26CC-984F-97CA-C28A-AF74E6DFC0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923" y="2419058"/>
            <a:ext cx="11092552" cy="4210341"/>
          </a:xfrm>
          <a:prstGeom prst="rect">
            <a:avLst/>
          </a:prstGeom>
        </p:spPr>
      </p:pic>
      <p:sp>
        <p:nvSpPr>
          <p:cNvPr id="8" name="矩形 19">
            <a:extLst>
              <a:ext uri="{FF2B5EF4-FFF2-40B4-BE49-F238E27FC236}">
                <a16:creationId xmlns:a16="http://schemas.microsoft.com/office/drawing/2014/main" id="{DBFA4DE3-AD00-F554-B1AE-5D6D2F13C9A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96478" y="1391529"/>
            <a:ext cx="10599043" cy="921752"/>
          </a:xfrm>
          <a:prstGeom prst="rect">
            <a:avLst/>
          </a:prstGeom>
        </p:spPr>
        <p:txBody>
          <a:bodyPr wrap="square" anchor="b">
            <a:noAutofit/>
          </a:bodyPr>
          <a:lstStyle/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元数据是“关于数据的数据”。元数据标注、描述或者刻画其他数据，以使检索、解读或使用信息更加容易。对数据上下文背景、历史和起源进行完整的记录并管理，建立元数据标准，提升战略信息的价值，帮助分析人员做出更有效的决策。建议元数据管理办法为：</a:t>
            </a:r>
            <a:endParaRPr lang="zh-CN" altLang="en-US" sz="1400" kern="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8248400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数据标准化管理</a:t>
            </a:r>
            <a:endParaRPr lang="zh-CN" altLang="en-US" sz="2000" dirty="0">
              <a:solidFill>
                <a:schemeClr val="tx2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矩形 19">
            <a:extLst>
              <a:ext uri="{FF2B5EF4-FFF2-40B4-BE49-F238E27FC236}">
                <a16:creationId xmlns:a16="http://schemas.microsoft.com/office/drawing/2014/main" id="{A67A471D-CC98-88C0-1171-CA0D80F48F5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47353" y="1373980"/>
            <a:ext cx="10599043" cy="576264"/>
          </a:xfrm>
          <a:prstGeom prst="rect">
            <a:avLst/>
          </a:prstGeom>
        </p:spPr>
        <p:txBody>
          <a:bodyPr wrap="square" anchor="b">
            <a:noAutofit/>
          </a:bodyPr>
          <a:lstStyle/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标准化治理旨在遵守国家及地方相关标准化规范的基础上，根据实际需要制定一套完整、统一的标准规范体系，实现信息高度共享、系统运行高度协同的保障。标准规范包括技术标准、数据标准和管理制度三类：</a:t>
            </a:r>
            <a:endParaRPr lang="zh-CN" altLang="en-US" sz="1400" kern="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E4C2D5-A603-306E-CE3E-989545AF8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019" y="2257166"/>
            <a:ext cx="11183911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520738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重新组织数据</a:t>
            </a:r>
            <a:endParaRPr lang="zh-CN" altLang="en-US" sz="2000" dirty="0">
              <a:solidFill>
                <a:schemeClr val="tx2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矩形 19">
            <a:extLst>
              <a:ext uri="{FF2B5EF4-FFF2-40B4-BE49-F238E27FC236}">
                <a16:creationId xmlns:a16="http://schemas.microsoft.com/office/drawing/2014/main" id="{A67A471D-CC98-88C0-1171-CA0D80F48F5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47353" y="1373979"/>
            <a:ext cx="10599043" cy="997745"/>
          </a:xfrm>
          <a:prstGeom prst="rect">
            <a:avLst/>
          </a:prstGeom>
        </p:spPr>
        <p:txBody>
          <a:bodyPr wrap="square" anchor="b">
            <a:noAutofit/>
          </a:bodyPr>
          <a:lstStyle/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重新组织数据包括：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lvl="1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pitchFamily="2" charset="2"/>
              <a:buChar char="p"/>
            </a:pPr>
            <a:r>
              <a:rPr lang="zh-CN" altLang="en-US" sz="1400" kern="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基础工作：主数据建设，真实世界建模；</a:t>
            </a:r>
            <a:endParaRPr lang="en-US" altLang="zh-CN" sz="1400" kern="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lvl="1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pitchFamily="2" charset="2"/>
              <a:buChar char="p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扩展内容：数据仓库，数据标签和画像；</a:t>
            </a:r>
            <a:endParaRPr lang="zh-CN" altLang="en-US" sz="1400" kern="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C472E2-6C8F-C0D4-E9DA-D47B5912A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156" y="2528662"/>
            <a:ext cx="10865444" cy="377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589906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3.1 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主数据建设</a:t>
            </a:r>
            <a:endParaRPr lang="zh-CN" altLang="en-US" sz="2000" dirty="0">
              <a:solidFill>
                <a:schemeClr val="tx2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矩形 19">
            <a:extLst>
              <a:ext uri="{FF2B5EF4-FFF2-40B4-BE49-F238E27FC236}">
                <a16:creationId xmlns:a16="http://schemas.microsoft.com/office/drawing/2014/main" id="{A67A471D-CC98-88C0-1171-CA0D80F48F5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27950" y="1373980"/>
            <a:ext cx="10599043" cy="537666"/>
          </a:xfrm>
          <a:prstGeom prst="rect">
            <a:avLst/>
          </a:prstGeom>
        </p:spPr>
        <p:txBody>
          <a:bodyPr wrap="square" anchor="b">
            <a:noAutofit/>
          </a:bodyPr>
          <a:lstStyle/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建立主数据是一个庞大的工程，结合</a:t>
            </a:r>
            <a:r>
              <a:rPr lang="en-US" altLang="zh-CN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DAMA(Data Management Association International)</a:t>
            </a: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理论体系和具体实践经验，建议主数据操作流程：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34507B-2BB4-C007-90C8-D2E1453F79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50" y="1911646"/>
            <a:ext cx="11049700" cy="407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890587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3.2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真实世界建模</a:t>
            </a:r>
            <a:endParaRPr lang="zh-CN" altLang="en-US" sz="2000" dirty="0">
              <a:solidFill>
                <a:schemeClr val="tx2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矩形 19">
            <a:extLst>
              <a:ext uri="{FF2B5EF4-FFF2-40B4-BE49-F238E27FC236}">
                <a16:creationId xmlns:a16="http://schemas.microsoft.com/office/drawing/2014/main" id="{A67A471D-CC98-88C0-1171-CA0D80F48F5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47353" y="1373980"/>
            <a:ext cx="10599043" cy="330996"/>
          </a:xfrm>
          <a:prstGeom prst="rect">
            <a:avLst/>
          </a:prstGeom>
        </p:spPr>
        <p:txBody>
          <a:bodyPr wrap="square" anchor="b">
            <a:noAutofit/>
          </a:bodyPr>
          <a:lstStyle/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主张从数据的角度反应真实业务的本来面目，建立规范的建模体系：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BFF864-8A39-E429-3969-0850765E2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090283"/>
            <a:ext cx="5163271" cy="4143953"/>
          </a:xfrm>
          <a:prstGeom prst="rect">
            <a:avLst/>
          </a:prstGeom>
        </p:spPr>
      </p:pic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1FBE3B22-65E0-EF98-7BAC-5B42F549D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24950" y="1604798"/>
            <a:ext cx="4543424" cy="788195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lvl="1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pitchFamily="2" charset="2"/>
              <a:buChar char="p"/>
            </a:pPr>
            <a:r>
              <a:rPr lang="zh-CN" altLang="en-US" sz="1400" kern="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按照实际业务组织、集成和交换数据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lvl="1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pitchFamily="2" charset="2"/>
              <a:buChar char="p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流程、组件和资源标准化</a:t>
            </a:r>
            <a:endParaRPr lang="zh-CN" altLang="en-US" sz="1400" kern="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占位符 2">
            <a:extLst>
              <a:ext uri="{FF2B5EF4-FFF2-40B4-BE49-F238E27FC236}">
                <a16:creationId xmlns:a16="http://schemas.microsoft.com/office/drawing/2014/main" id="{3BCD51FA-D197-B430-CDF9-BDAA86F9991E}"/>
              </a:ext>
            </a:extLst>
          </p:cNvPr>
          <p:cNvSpPr txBox="1">
            <a:spLocks/>
          </p:cNvSpPr>
          <p:nvPr/>
        </p:nvSpPr>
        <p:spPr>
          <a:xfrm>
            <a:off x="6524950" y="2525270"/>
            <a:ext cx="4543424" cy="106801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t">
            <a:normAutofit lnSpcReduction="10000"/>
          </a:bodyPr>
          <a:lstStyle>
            <a:lvl1pPr marL="0" marR="0" indent="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35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52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70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87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905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222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40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57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285750" lvl="1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pitchFamily="2" charset="2"/>
              <a:buChar char="p"/>
            </a:pPr>
            <a:r>
              <a:rPr lang="zh-CN" altLang="en-US" sz="1400" kern="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全面数字化运营，运营信息整合</a:t>
            </a:r>
            <a:endParaRPr lang="en-US" altLang="zh-CN" sz="1400" kern="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lvl="1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pitchFamily="2" charset="2"/>
              <a:buChar char="p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监管质量和合规性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lvl="1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pitchFamily="2" charset="2"/>
              <a:buChar char="p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运营流程改善，提高服务</a:t>
            </a:r>
          </a:p>
        </p:txBody>
      </p:sp>
      <p:sp>
        <p:nvSpPr>
          <p:cNvPr id="17" name="文本占位符 2">
            <a:extLst>
              <a:ext uri="{FF2B5EF4-FFF2-40B4-BE49-F238E27FC236}">
                <a16:creationId xmlns:a16="http://schemas.microsoft.com/office/drawing/2014/main" id="{2528B5E2-0204-47CF-BE82-A2904E862BB1}"/>
              </a:ext>
            </a:extLst>
          </p:cNvPr>
          <p:cNvSpPr txBox="1">
            <a:spLocks/>
          </p:cNvSpPr>
          <p:nvPr/>
        </p:nvSpPr>
        <p:spPr>
          <a:xfrm>
            <a:off x="6524950" y="3899585"/>
            <a:ext cx="4543424" cy="7881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t">
            <a:normAutofit/>
          </a:bodyPr>
          <a:lstStyle>
            <a:lvl1pPr marL="0" marR="0" indent="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35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52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70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87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905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222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40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57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0" lvl="1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pitchFamily="2" charset="2"/>
              <a:buChar char="p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建立主数据，统一业务档案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lvl="1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pitchFamily="2" charset="2"/>
              <a:buChar char="p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构建企业画像，精准化服务</a:t>
            </a:r>
          </a:p>
        </p:txBody>
      </p:sp>
      <p:sp>
        <p:nvSpPr>
          <p:cNvPr id="18" name="文本占位符 2">
            <a:extLst>
              <a:ext uri="{FF2B5EF4-FFF2-40B4-BE49-F238E27FC236}">
                <a16:creationId xmlns:a16="http://schemas.microsoft.com/office/drawing/2014/main" id="{36E850CB-0028-5CDD-1F05-885B71CA7CD7}"/>
              </a:ext>
            </a:extLst>
          </p:cNvPr>
          <p:cNvSpPr txBox="1">
            <a:spLocks/>
          </p:cNvSpPr>
          <p:nvPr/>
        </p:nvSpPr>
        <p:spPr>
          <a:xfrm>
            <a:off x="6524950" y="4994084"/>
            <a:ext cx="4543424" cy="11114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t">
            <a:normAutofit/>
          </a:bodyPr>
          <a:lstStyle>
            <a:lvl1pPr marL="0" marR="0" indent="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35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52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70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87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905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222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40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57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0" lvl="1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pitchFamily="2" charset="2"/>
              <a:buChar char="p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管理层驱动的问题发现改善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lvl="1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pitchFamily="2" charset="2"/>
              <a:buChar char="p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精益团队驱动的流程改善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lvl="1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pitchFamily="2" charset="2"/>
              <a:buChar char="p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员工自我驱动的工作改善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5778CD0-A583-04DA-9072-2F88987CEB66}"/>
              </a:ext>
            </a:extLst>
          </p:cNvPr>
          <p:cNvSpPr/>
          <p:nvPr/>
        </p:nvSpPr>
        <p:spPr>
          <a:xfrm>
            <a:off x="10201275" y="1558736"/>
            <a:ext cx="1247775" cy="36066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真实世界模型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C6E9A0C-83B5-5C5D-0917-1DA8E5C5D49E}"/>
              </a:ext>
            </a:extLst>
          </p:cNvPr>
          <p:cNvSpPr/>
          <p:nvPr/>
        </p:nvSpPr>
        <p:spPr>
          <a:xfrm>
            <a:off x="10039351" y="2508724"/>
            <a:ext cx="1409700" cy="36066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000" dirty="0">
                <a:solidFill>
                  <a:srgbClr val="FFFFFF"/>
                </a:solidFill>
              </a:rPr>
              <a:t>平衡计分卡</a:t>
            </a: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模型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F5B37E2-29FF-BE45-9360-69C3DFB56E07}"/>
              </a:ext>
            </a:extLst>
          </p:cNvPr>
          <p:cNvSpPr/>
          <p:nvPr/>
        </p:nvSpPr>
        <p:spPr>
          <a:xfrm>
            <a:off x="10039351" y="3813425"/>
            <a:ext cx="1247775" cy="36066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360</a:t>
            </a: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视图模型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71800A5-CD20-DA4C-4D17-55EB33A6C6A0}"/>
              </a:ext>
            </a:extLst>
          </p:cNvPr>
          <p:cNvSpPr/>
          <p:nvPr/>
        </p:nvSpPr>
        <p:spPr>
          <a:xfrm>
            <a:off x="10039350" y="4892542"/>
            <a:ext cx="1247775" cy="36066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000" dirty="0">
                <a:solidFill>
                  <a:srgbClr val="FFFFFF"/>
                </a:solidFill>
              </a:rPr>
              <a:t>精益</a:t>
            </a: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模型</a:t>
            </a:r>
          </a:p>
        </p:txBody>
      </p:sp>
    </p:spTree>
    <p:extLst>
      <p:ext uri="{BB962C8B-B14F-4D97-AF65-F5344CB8AC3E}">
        <p14:creationId xmlns:p14="http://schemas.microsoft.com/office/powerpoint/2010/main" val="4013688097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3.3 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经典数据仓库架构</a:t>
            </a:r>
            <a:endParaRPr lang="zh-CN" altLang="en-US" sz="2000" dirty="0">
              <a:solidFill>
                <a:schemeClr val="tx2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38A055-096A-E689-02CB-435926AB6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51" y="1285752"/>
            <a:ext cx="10806774" cy="539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140527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3.4 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数据标签和画像</a:t>
            </a:r>
            <a:endParaRPr lang="zh-CN" altLang="en-US" sz="2000" dirty="0">
              <a:solidFill>
                <a:schemeClr val="tx2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CE3595-E20A-17BE-10E0-5729A06A1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572" y="1423638"/>
            <a:ext cx="5039428" cy="50013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842DC4-A7AB-AA8C-1590-49EFEF2D0A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6197" y="1695151"/>
            <a:ext cx="4163006" cy="428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80862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数据治理持久化</a:t>
            </a:r>
            <a:endParaRPr lang="zh-CN" altLang="en-US" sz="2000" dirty="0">
              <a:solidFill>
                <a:schemeClr val="tx2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C1AA6A-EA9D-28F8-17C4-A5CBE963C8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361" y="2561964"/>
            <a:ext cx="10231278" cy="3734321"/>
          </a:xfrm>
          <a:prstGeom prst="rect">
            <a:avLst/>
          </a:prstGeom>
        </p:spPr>
      </p:pic>
      <p:sp>
        <p:nvSpPr>
          <p:cNvPr id="5" name="矩形 19">
            <a:extLst>
              <a:ext uri="{FF2B5EF4-FFF2-40B4-BE49-F238E27FC236}">
                <a16:creationId xmlns:a16="http://schemas.microsoft.com/office/drawing/2014/main" id="{65D107F3-C602-F237-FF9B-2421233B9B7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028950" y="1373980"/>
            <a:ext cx="5362575" cy="330996"/>
          </a:xfrm>
          <a:prstGeom prst="rect">
            <a:avLst/>
          </a:prstGeom>
        </p:spPr>
        <p:txBody>
          <a:bodyPr wrap="square" anchor="b">
            <a:noAutofit/>
          </a:bodyPr>
          <a:lstStyle/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有必要对数据治理工作持久化、一次治理，永久治理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1518539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数据治理延申：数据管理</a:t>
            </a:r>
            <a:endParaRPr lang="zh-CN" altLang="en-US" sz="2000" dirty="0">
              <a:solidFill>
                <a:schemeClr val="tx2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矩形 19">
            <a:extLst>
              <a:ext uri="{FF2B5EF4-FFF2-40B4-BE49-F238E27FC236}">
                <a16:creationId xmlns:a16="http://schemas.microsoft.com/office/drawing/2014/main" id="{21968C50-6261-95DE-692F-775D8C79856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910012" y="1254783"/>
            <a:ext cx="4733925" cy="330996"/>
          </a:xfrm>
          <a:prstGeom prst="rect">
            <a:avLst/>
          </a:prstGeom>
        </p:spPr>
        <p:txBody>
          <a:bodyPr wrap="square" anchor="b">
            <a:noAutofit/>
          </a:bodyPr>
          <a:lstStyle/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数据治理的结束即数据管理的开始！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EDFC75-06BA-3A3A-E0D3-744AB6ABC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250" y="1614107"/>
            <a:ext cx="5048250" cy="788195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反映数据资产状况，有哪些数据、在哪、数据量级、数据业务逻辑关系等</a:t>
            </a:r>
            <a:endParaRPr lang="zh-CN" altLang="en-US" sz="1400" kern="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占位符 2">
            <a:extLst>
              <a:ext uri="{FF2B5EF4-FFF2-40B4-BE49-F238E27FC236}">
                <a16:creationId xmlns:a16="http://schemas.microsoft.com/office/drawing/2014/main" id="{C4B4A328-8217-27BF-CFB4-3AA08A9CED8C}"/>
              </a:ext>
            </a:extLst>
          </p:cNvPr>
          <p:cNvSpPr txBox="1">
            <a:spLocks/>
          </p:cNvSpPr>
          <p:nvPr/>
        </p:nvSpPr>
        <p:spPr>
          <a:xfrm>
            <a:off x="476250" y="2534579"/>
            <a:ext cx="5048250" cy="106801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t">
            <a:normAutofit/>
          </a:bodyPr>
          <a:lstStyle>
            <a:lvl1pPr marL="0" marR="0" indent="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35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52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70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87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905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222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40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57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0"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主数据集中管理，一体化主数据提取、审查、发布机制，数据质量管控</a:t>
            </a: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1D8D3CC7-1F66-3F6C-951A-71A83FA94864}"/>
              </a:ext>
            </a:extLst>
          </p:cNvPr>
          <p:cNvSpPr txBox="1">
            <a:spLocks/>
          </p:cNvSpPr>
          <p:nvPr/>
        </p:nvSpPr>
        <p:spPr>
          <a:xfrm>
            <a:off x="476250" y="3935413"/>
            <a:ext cx="5048250" cy="7881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t">
            <a:normAutofit/>
          </a:bodyPr>
          <a:lstStyle>
            <a:lvl1pPr marL="0" marR="0" indent="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35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52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70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87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905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222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40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57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0" lvl="1" indent="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zh-CN" altLang="en-US" sz="16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监控数据中心运营情况、数据标准化建设、数据质量体系建设</a:t>
            </a: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AA24E3BA-217D-61C1-156D-21D1BCDA2A6B}"/>
              </a:ext>
            </a:extLst>
          </p:cNvPr>
          <p:cNvSpPr txBox="1">
            <a:spLocks/>
          </p:cNvSpPr>
          <p:nvPr/>
        </p:nvSpPr>
        <p:spPr>
          <a:xfrm>
            <a:off x="476250" y="5003393"/>
            <a:ext cx="5048250" cy="11114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t">
            <a:normAutofit/>
          </a:bodyPr>
          <a:lstStyle>
            <a:lvl1pPr marL="0" marR="0" indent="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35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52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70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87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905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222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40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57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0" lvl="1" indent="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lvl="1" indent="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静态数据从创建、使用、备份、再利用、销毁过程；动态数据溯源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81903AB-426C-3947-6BC4-386CD79DFD0C}"/>
              </a:ext>
            </a:extLst>
          </p:cNvPr>
          <p:cNvSpPr/>
          <p:nvPr/>
        </p:nvSpPr>
        <p:spPr>
          <a:xfrm>
            <a:off x="142549" y="1345348"/>
            <a:ext cx="1566333" cy="36066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000" dirty="0">
                <a:solidFill>
                  <a:srgbClr val="FFFFFF"/>
                </a:solidFill>
              </a:rPr>
              <a:t>数据资产透视</a:t>
            </a:r>
            <a:endParaRPr kumimoji="0" lang="zh-CN" alt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0D46EC3-0389-DD32-CF38-2F5F066F1770}"/>
              </a:ext>
            </a:extLst>
          </p:cNvPr>
          <p:cNvSpPr/>
          <p:nvPr/>
        </p:nvSpPr>
        <p:spPr>
          <a:xfrm>
            <a:off x="142549" y="2446791"/>
            <a:ext cx="1566333" cy="36066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000" dirty="0">
                <a:solidFill>
                  <a:srgbClr val="FFFFFF"/>
                </a:solidFill>
              </a:rPr>
              <a:t>主数据管理</a:t>
            </a:r>
            <a:endParaRPr kumimoji="0" lang="zh-CN" alt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ADE245A-0A90-2DB6-9DD7-75A1ADEF9B65}"/>
              </a:ext>
            </a:extLst>
          </p:cNvPr>
          <p:cNvSpPr/>
          <p:nvPr/>
        </p:nvSpPr>
        <p:spPr>
          <a:xfrm>
            <a:off x="142549" y="3704201"/>
            <a:ext cx="1566334" cy="36066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数据中心管理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ADCB119-8A01-7A71-8EC0-9CA6603E305B}"/>
              </a:ext>
            </a:extLst>
          </p:cNvPr>
          <p:cNvSpPr/>
          <p:nvPr/>
        </p:nvSpPr>
        <p:spPr>
          <a:xfrm>
            <a:off x="142549" y="4791782"/>
            <a:ext cx="1566333" cy="577056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数据生命周期管理</a:t>
            </a:r>
          </a:p>
        </p:txBody>
      </p:sp>
      <p:sp>
        <p:nvSpPr>
          <p:cNvPr id="21" name="文本占位符 2">
            <a:extLst>
              <a:ext uri="{FF2B5EF4-FFF2-40B4-BE49-F238E27FC236}">
                <a16:creationId xmlns:a16="http://schemas.microsoft.com/office/drawing/2014/main" id="{CC738344-DE1A-6BC4-CEB3-F7779BAB18A0}"/>
              </a:ext>
            </a:extLst>
          </p:cNvPr>
          <p:cNvSpPr txBox="1">
            <a:spLocks/>
          </p:cNvSpPr>
          <p:nvPr/>
        </p:nvSpPr>
        <p:spPr>
          <a:xfrm>
            <a:off x="6276975" y="1608061"/>
            <a:ext cx="5048250" cy="7881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t">
            <a:normAutofit/>
          </a:bodyPr>
          <a:lstStyle>
            <a:lvl1pPr marL="0" marR="0" indent="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35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52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70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87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905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222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40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57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0" lvl="1" indent="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Tx/>
              <a:buNone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快速检索企业数据、内容语义理解、客户兴趣识别，智能信息化过滤和推荐等</a:t>
            </a:r>
          </a:p>
        </p:txBody>
      </p:sp>
      <p:sp>
        <p:nvSpPr>
          <p:cNvPr id="22" name="文本占位符 2">
            <a:extLst>
              <a:ext uri="{FF2B5EF4-FFF2-40B4-BE49-F238E27FC236}">
                <a16:creationId xmlns:a16="http://schemas.microsoft.com/office/drawing/2014/main" id="{FCDEB484-D018-B587-0285-7E07DE221236}"/>
              </a:ext>
            </a:extLst>
          </p:cNvPr>
          <p:cNvSpPr txBox="1">
            <a:spLocks/>
          </p:cNvSpPr>
          <p:nvPr/>
        </p:nvSpPr>
        <p:spPr>
          <a:xfrm>
            <a:off x="6276975" y="2528533"/>
            <a:ext cx="5048250" cy="106801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t">
            <a:normAutofit/>
          </a:bodyPr>
          <a:lstStyle>
            <a:lvl1pPr marL="0" marR="0" indent="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35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52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70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87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905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222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40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57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0"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规范定义、模型架构设计、数据组织和存储方法、数据模型生命周期管理；</a:t>
            </a:r>
          </a:p>
        </p:txBody>
      </p: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DC0C7ECE-D4D5-76E9-99CB-3B74232C795A}"/>
              </a:ext>
            </a:extLst>
          </p:cNvPr>
          <p:cNvSpPr txBox="1">
            <a:spLocks/>
          </p:cNvSpPr>
          <p:nvPr/>
        </p:nvSpPr>
        <p:spPr>
          <a:xfrm>
            <a:off x="6276975" y="3929367"/>
            <a:ext cx="5048250" cy="7881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t">
            <a:normAutofit/>
          </a:bodyPr>
          <a:lstStyle>
            <a:lvl1pPr marL="0" marR="0" indent="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35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52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70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87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905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222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40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57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0" lvl="1" indent="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zh-CN" altLang="en-US" sz="16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元数据完整性监测、元模型增加、修改、删除、发布等；</a:t>
            </a:r>
          </a:p>
        </p:txBody>
      </p:sp>
      <p:sp>
        <p:nvSpPr>
          <p:cNvPr id="24" name="文本占位符 2">
            <a:extLst>
              <a:ext uri="{FF2B5EF4-FFF2-40B4-BE49-F238E27FC236}">
                <a16:creationId xmlns:a16="http://schemas.microsoft.com/office/drawing/2014/main" id="{E766938C-0303-0D31-4D01-D08D70F083B4}"/>
              </a:ext>
            </a:extLst>
          </p:cNvPr>
          <p:cNvSpPr txBox="1">
            <a:spLocks/>
          </p:cNvSpPr>
          <p:nvPr/>
        </p:nvSpPr>
        <p:spPr>
          <a:xfrm>
            <a:off x="6276975" y="4997347"/>
            <a:ext cx="5048250" cy="11114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t">
            <a:normAutofit/>
          </a:bodyPr>
          <a:lstStyle>
            <a:lvl1pPr marL="0" marR="0" indent="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35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52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70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87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905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222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40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57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0" lvl="1" indent="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lvl="1" indent="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数据资产记录，数据使用审计等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D274B9D-3D16-3965-4CFB-40D8AFFBB611}"/>
              </a:ext>
            </a:extLst>
          </p:cNvPr>
          <p:cNvSpPr/>
          <p:nvPr/>
        </p:nvSpPr>
        <p:spPr>
          <a:xfrm>
            <a:off x="10483118" y="1345348"/>
            <a:ext cx="1566333" cy="36066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职能搜索与发现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BA1E786-5BE2-E235-9614-97BCE71348A5}"/>
              </a:ext>
            </a:extLst>
          </p:cNvPr>
          <p:cNvSpPr/>
          <p:nvPr/>
        </p:nvSpPr>
        <p:spPr>
          <a:xfrm>
            <a:off x="10483117" y="2440855"/>
            <a:ext cx="1566333" cy="36066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数据模型管理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4F58B26-1CC1-CD66-CF76-4F80EF08CFAA}"/>
              </a:ext>
            </a:extLst>
          </p:cNvPr>
          <p:cNvSpPr/>
          <p:nvPr/>
        </p:nvSpPr>
        <p:spPr>
          <a:xfrm>
            <a:off x="10483117" y="3596203"/>
            <a:ext cx="1566334" cy="577056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000" dirty="0">
                <a:solidFill>
                  <a:srgbClr val="FFFFFF"/>
                </a:solidFill>
              </a:rPr>
              <a:t>元数据更新和维护</a:t>
            </a:r>
            <a:endParaRPr kumimoji="0" lang="zh-CN" alt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C9D34EF-E05D-B522-E4D6-A109C86D7EDD}"/>
              </a:ext>
            </a:extLst>
          </p:cNvPr>
          <p:cNvSpPr/>
          <p:nvPr/>
        </p:nvSpPr>
        <p:spPr>
          <a:xfrm>
            <a:off x="10483116" y="4899980"/>
            <a:ext cx="1566333" cy="36066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数据台账和审计</a:t>
            </a:r>
          </a:p>
        </p:txBody>
      </p:sp>
    </p:spTree>
    <p:extLst>
      <p:ext uri="{BB962C8B-B14F-4D97-AF65-F5344CB8AC3E}">
        <p14:creationId xmlns:p14="http://schemas.microsoft.com/office/powerpoint/2010/main" val="1005739633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数据治理体系结构</a:t>
            </a:r>
            <a:endParaRPr lang="zh-CN" altLang="en-US" sz="2000" dirty="0">
              <a:solidFill>
                <a:schemeClr val="tx2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7941BE-4729-FCCC-D11C-A146E5B85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69" y="1238127"/>
            <a:ext cx="11154505" cy="541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583538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 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数据治理能力目标</a:t>
            </a:r>
            <a:endParaRPr lang="zh-CN" altLang="en-US" sz="2000" dirty="0">
              <a:solidFill>
                <a:schemeClr val="tx2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矩形 19">
            <a:extLst>
              <a:ext uri="{FF2B5EF4-FFF2-40B4-BE49-F238E27FC236}">
                <a16:creationId xmlns:a16="http://schemas.microsoft.com/office/drawing/2014/main" id="{30641FF1-B2BC-235D-47A9-B18B66673DE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222642" y="1350739"/>
            <a:ext cx="7853363" cy="330996"/>
          </a:xfrm>
          <a:prstGeom prst="rect">
            <a:avLst/>
          </a:prstGeom>
        </p:spPr>
        <p:txBody>
          <a:bodyPr wrap="square" anchor="b">
            <a:noAutofit/>
          </a:bodyPr>
          <a:lstStyle/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整合数据技术、产品技术能力、提供统一的数据和服务，强力支撑前台业务！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58255A3-8E8F-80FB-87C9-F4C5F633EAE6}"/>
              </a:ext>
            </a:extLst>
          </p:cNvPr>
          <p:cNvSpPr/>
          <p:nvPr/>
        </p:nvSpPr>
        <p:spPr>
          <a:xfrm>
            <a:off x="1222642" y="2875066"/>
            <a:ext cx="994353" cy="339021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900" dirty="0">
                <a:solidFill>
                  <a:srgbClr val="FFFFFF"/>
                </a:solidFill>
              </a:rPr>
              <a:t>OneService</a:t>
            </a:r>
            <a:endParaRPr kumimoji="0" lang="zh-CN" altLang="en-US" sz="9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C033369-C3A4-1FF7-E56E-92E93E2B6947}"/>
              </a:ext>
            </a:extLst>
          </p:cNvPr>
          <p:cNvSpPr/>
          <p:nvPr/>
        </p:nvSpPr>
        <p:spPr>
          <a:xfrm>
            <a:off x="42862" y="4565208"/>
            <a:ext cx="866775" cy="339021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900" dirty="0">
                <a:solidFill>
                  <a:srgbClr val="FFFFFF"/>
                </a:solidFill>
              </a:rPr>
              <a:t>OneData</a:t>
            </a:r>
            <a:endParaRPr kumimoji="0" lang="zh-CN" altLang="en-US" sz="9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B091652-3EB4-95CE-24CB-7BB1BB39CBC7}"/>
              </a:ext>
            </a:extLst>
          </p:cNvPr>
          <p:cNvSpPr/>
          <p:nvPr/>
        </p:nvSpPr>
        <p:spPr>
          <a:xfrm>
            <a:off x="2146164" y="4565208"/>
            <a:ext cx="866775" cy="339021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900" dirty="0">
                <a:solidFill>
                  <a:srgbClr val="FFFFFF"/>
                </a:solidFill>
              </a:rPr>
              <a:t>OneID</a:t>
            </a:r>
            <a:endParaRPr kumimoji="0" lang="zh-CN" altLang="en-US" sz="9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6930EB7-9620-20E6-D4DE-B4178DEFCEB5}"/>
              </a:ext>
            </a:extLst>
          </p:cNvPr>
          <p:cNvCxnSpPr>
            <a:cxnSpLocks/>
            <a:stCxn id="29" idx="0"/>
            <a:endCxn id="28" idx="3"/>
          </p:cNvCxnSpPr>
          <p:nvPr/>
        </p:nvCxnSpPr>
        <p:spPr>
          <a:xfrm flipV="1">
            <a:off x="476250" y="3164439"/>
            <a:ext cx="892012" cy="1400769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FFBF545-7FB2-3D32-F574-8BC549D021AB}"/>
              </a:ext>
            </a:extLst>
          </p:cNvPr>
          <p:cNvCxnSpPr>
            <a:cxnSpLocks/>
            <a:stCxn id="30" idx="0"/>
          </p:cNvCxnSpPr>
          <p:nvPr/>
        </p:nvCxnSpPr>
        <p:spPr>
          <a:xfrm flipH="1" flipV="1">
            <a:off x="1964938" y="3214087"/>
            <a:ext cx="614614" cy="1351121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05A575E-44F4-879F-CFC2-F29C9A16B171}"/>
              </a:ext>
            </a:extLst>
          </p:cNvPr>
          <p:cNvCxnSpPr>
            <a:cxnSpLocks/>
            <a:stCxn id="29" idx="6"/>
            <a:endCxn id="30" idx="2"/>
          </p:cNvCxnSpPr>
          <p:nvPr/>
        </p:nvCxnSpPr>
        <p:spPr>
          <a:xfrm>
            <a:off x="909637" y="4734719"/>
            <a:ext cx="1236527" cy="0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3" name="矩形 41">
            <a:extLst>
              <a:ext uri="{FF2B5EF4-FFF2-40B4-BE49-F238E27FC236}">
                <a16:creationId xmlns:a16="http://schemas.microsoft.com/office/drawing/2014/main" id="{682A393C-5962-BBA7-6413-B1C08BEDFD36}"/>
              </a:ext>
            </a:extLst>
          </p:cNvPr>
          <p:cNvSpPr/>
          <p:nvPr/>
        </p:nvSpPr>
        <p:spPr>
          <a:xfrm>
            <a:off x="856562" y="2343100"/>
            <a:ext cx="1722989" cy="3959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统一数据服务能力</a:t>
            </a:r>
            <a:endParaRPr lang="en-US" altLang="zh-CN" sz="1400" kern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l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复用非复制数据</a:t>
            </a:r>
          </a:p>
        </p:txBody>
      </p:sp>
      <p:sp>
        <p:nvSpPr>
          <p:cNvPr id="44" name="矩形 41">
            <a:extLst>
              <a:ext uri="{FF2B5EF4-FFF2-40B4-BE49-F238E27FC236}">
                <a16:creationId xmlns:a16="http://schemas.microsoft.com/office/drawing/2014/main" id="{43C75E49-F4D5-12A4-42FC-84D4FC867127}"/>
              </a:ext>
            </a:extLst>
          </p:cNvPr>
          <p:cNvSpPr/>
          <p:nvPr/>
        </p:nvSpPr>
        <p:spPr>
          <a:xfrm>
            <a:off x="42862" y="4989676"/>
            <a:ext cx="1932998" cy="7593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统一数据建设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&amp;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数据化资产管理能力</a:t>
            </a:r>
            <a:endParaRPr lang="en-US" altLang="zh-CN" sz="1400" kern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l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标准统一、资产而非成本</a:t>
            </a:r>
          </a:p>
        </p:txBody>
      </p:sp>
      <p:sp>
        <p:nvSpPr>
          <p:cNvPr id="49" name="矩形 41">
            <a:extLst>
              <a:ext uri="{FF2B5EF4-FFF2-40B4-BE49-F238E27FC236}">
                <a16:creationId xmlns:a16="http://schemas.microsoft.com/office/drawing/2014/main" id="{E600E6A0-4073-E411-9BCB-2FE3AA1E1E57}"/>
              </a:ext>
            </a:extLst>
          </p:cNvPr>
          <p:cNvSpPr/>
          <p:nvPr/>
        </p:nvSpPr>
        <p:spPr>
          <a:xfrm>
            <a:off x="2151444" y="4989676"/>
            <a:ext cx="1753806" cy="7593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统一实体（如企业）</a:t>
            </a:r>
          </a:p>
          <a:p>
            <a:pPr algn="l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数据融通非孤岛存在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49B4636B-8234-1891-B5DC-203FCE5C9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0945" y="1979722"/>
            <a:ext cx="8077680" cy="759362"/>
          </a:xfrm>
          <a:prstGeom prst="rect">
            <a:avLst/>
          </a:prstGeom>
        </p:spPr>
      </p:pic>
      <p:pic>
        <p:nvPicPr>
          <p:cNvPr id="73" name="图片 2">
            <a:extLst>
              <a:ext uri="{FF2B5EF4-FFF2-40B4-BE49-F238E27FC236}">
                <a16:creationId xmlns:a16="http://schemas.microsoft.com/office/drawing/2014/main" id="{97023390-0B7A-A267-810E-F1703877E5AE}"/>
              </a:ext>
            </a:extLst>
          </p:cNvPr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3911965" y="2828718"/>
            <a:ext cx="755767" cy="3361753"/>
          </a:xfrm>
          <a:prstGeom prst="rect">
            <a:avLst/>
          </a:prstGeom>
        </p:spPr>
      </p:pic>
      <p:sp>
        <p:nvSpPr>
          <p:cNvPr id="74" name="TextBox 13">
            <a:extLst>
              <a:ext uri="{FF2B5EF4-FFF2-40B4-BE49-F238E27FC236}">
                <a16:creationId xmlns:a16="http://schemas.microsoft.com/office/drawing/2014/main" id="{0D7ABFF9-6087-C1D7-67CB-E7BFC0F1E32C}"/>
              </a:ext>
            </a:extLst>
          </p:cNvPr>
          <p:cNvSpPr txBox="1"/>
          <p:nvPr/>
        </p:nvSpPr>
        <p:spPr>
          <a:xfrm>
            <a:off x="4497216" y="4362007"/>
            <a:ext cx="1770121" cy="9314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5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ym typeface="+mn-ea"/>
              </a:rPr>
              <a:t>数据标准化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技术内核工具化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ym typeface="+mn-ea"/>
              </a:rPr>
              <a:t>元数据驱动智能化</a:t>
            </a:r>
          </a:p>
        </p:txBody>
      </p:sp>
      <p:pic>
        <p:nvPicPr>
          <p:cNvPr id="75" name="图片 5">
            <a:extLst>
              <a:ext uri="{FF2B5EF4-FFF2-40B4-BE49-F238E27FC236}">
                <a16:creationId xmlns:a16="http://schemas.microsoft.com/office/drawing/2014/main" id="{27824293-0456-C0B6-D682-8A251BE2DC64}"/>
              </a:ext>
            </a:extLst>
          </p:cNvPr>
          <p:cNvPicPr>
            <a:picLocks noChangeAspect="1"/>
          </p:cNvPicPr>
          <p:nvPr/>
        </p:nvPicPr>
        <p:blipFill>
          <a:blip r:embed="rId6" cstate="screen"/>
          <a:stretch>
            <a:fillRect/>
          </a:stretch>
        </p:blipFill>
        <p:spPr>
          <a:xfrm>
            <a:off x="6362702" y="2829354"/>
            <a:ext cx="780487" cy="3471708"/>
          </a:xfrm>
          <a:prstGeom prst="rect">
            <a:avLst/>
          </a:prstGeom>
        </p:spPr>
      </p:pic>
      <p:sp>
        <p:nvSpPr>
          <p:cNvPr id="76" name="TextBox 13">
            <a:extLst>
              <a:ext uri="{FF2B5EF4-FFF2-40B4-BE49-F238E27FC236}">
                <a16:creationId xmlns:a16="http://schemas.microsoft.com/office/drawing/2014/main" id="{E4BD42A8-5514-562B-84F5-393021E6A8B4}"/>
              </a:ext>
            </a:extLst>
          </p:cNvPr>
          <p:cNvSpPr txBox="1"/>
          <p:nvPr/>
        </p:nvSpPr>
        <p:spPr>
          <a:xfrm>
            <a:off x="6959378" y="4277552"/>
            <a:ext cx="1984598" cy="9314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algn="l"/>
            <a:r>
              <a:rPr lang="zh-CN" altLang="en-US" dirty="0"/>
              <a:t>技术驱动数据链接</a:t>
            </a:r>
          </a:p>
          <a:p>
            <a:pPr algn="l"/>
            <a:r>
              <a:rPr lang="zh-CN" altLang="en-US" dirty="0"/>
              <a:t>技术内核工具化</a:t>
            </a:r>
          </a:p>
          <a:p>
            <a:pPr algn="l"/>
            <a:r>
              <a:rPr lang="zh-CN" altLang="en-US" dirty="0"/>
              <a:t>业务驱动技术价值化</a:t>
            </a:r>
          </a:p>
        </p:txBody>
      </p:sp>
      <p:pic>
        <p:nvPicPr>
          <p:cNvPr id="77" name="图片 7">
            <a:extLst>
              <a:ext uri="{FF2B5EF4-FFF2-40B4-BE49-F238E27FC236}">
                <a16:creationId xmlns:a16="http://schemas.microsoft.com/office/drawing/2014/main" id="{4AD138F8-1FE8-A95E-AA7F-C04F42FB5372}"/>
              </a:ext>
            </a:extLst>
          </p:cNvPr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>
            <a:off x="9076005" y="2829354"/>
            <a:ext cx="780487" cy="3471708"/>
          </a:xfrm>
          <a:prstGeom prst="rect">
            <a:avLst/>
          </a:prstGeom>
        </p:spPr>
      </p:pic>
      <p:sp>
        <p:nvSpPr>
          <p:cNvPr id="78" name="TextBox 13">
            <a:extLst>
              <a:ext uri="{FF2B5EF4-FFF2-40B4-BE49-F238E27FC236}">
                <a16:creationId xmlns:a16="http://schemas.microsoft.com/office/drawing/2014/main" id="{EFEDA9CC-2A82-D0EB-D3DC-EC35699B6864}"/>
              </a:ext>
            </a:extLst>
          </p:cNvPr>
          <p:cNvSpPr txBox="1"/>
          <p:nvPr/>
        </p:nvSpPr>
        <p:spPr>
          <a:xfrm>
            <a:off x="9868785" y="4291523"/>
            <a:ext cx="2180339" cy="9314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5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主题式数据服务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统一但多样化数据服务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跨源数据服务</a:t>
            </a:r>
            <a:endParaRPr lang="en-US" altLang="zh-CN" sz="1400" dirty="0"/>
          </a:p>
        </p:txBody>
      </p:sp>
      <p:sp>
        <p:nvSpPr>
          <p:cNvPr id="79" name="TextBox 18">
            <a:extLst>
              <a:ext uri="{FF2B5EF4-FFF2-40B4-BE49-F238E27FC236}">
                <a16:creationId xmlns:a16="http://schemas.microsoft.com/office/drawing/2014/main" id="{BC9C649D-AD4B-13CA-4AD2-2D661A53B640}"/>
              </a:ext>
            </a:extLst>
          </p:cNvPr>
          <p:cNvSpPr txBox="1"/>
          <p:nvPr/>
        </p:nvSpPr>
        <p:spPr>
          <a:xfrm>
            <a:off x="4668031" y="3238692"/>
            <a:ext cx="116126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algn="ctr"/>
            <a:r>
              <a:rPr lang="en-US" altLang="zh-CN" sz="1800" dirty="0">
                <a:solidFill>
                  <a:srgbClr val="959B9D"/>
                </a:solidFill>
              </a:rPr>
              <a:t>OneData</a:t>
            </a:r>
            <a:endParaRPr lang="zh-CN" altLang="en-US" sz="1800" dirty="0">
              <a:solidFill>
                <a:srgbClr val="959B9D"/>
              </a:solidFill>
            </a:endParaRPr>
          </a:p>
        </p:txBody>
      </p:sp>
      <p:pic>
        <p:nvPicPr>
          <p:cNvPr id="80" name="图片 22">
            <a:extLst>
              <a:ext uri="{FF2B5EF4-FFF2-40B4-BE49-F238E27FC236}">
                <a16:creationId xmlns:a16="http://schemas.microsoft.com/office/drawing/2014/main" id="{6A7BAEE5-A1D7-5DA0-3284-40EE9977D948}"/>
              </a:ext>
            </a:extLst>
          </p:cNvPr>
          <p:cNvPicPr>
            <a:picLocks noChangeAspect="1"/>
          </p:cNvPicPr>
          <p:nvPr/>
        </p:nvPicPr>
        <p:blipFill>
          <a:blip r:embed="rId8" cstate="screen"/>
          <a:stretch>
            <a:fillRect/>
          </a:stretch>
        </p:blipFill>
        <p:spPr>
          <a:xfrm>
            <a:off x="4927463" y="3741159"/>
            <a:ext cx="357589" cy="406670"/>
          </a:xfrm>
          <a:prstGeom prst="rect">
            <a:avLst/>
          </a:prstGeom>
        </p:spPr>
      </p:pic>
      <p:sp>
        <p:nvSpPr>
          <p:cNvPr id="81" name="TextBox 18">
            <a:extLst>
              <a:ext uri="{FF2B5EF4-FFF2-40B4-BE49-F238E27FC236}">
                <a16:creationId xmlns:a16="http://schemas.microsoft.com/office/drawing/2014/main" id="{84FB5C86-E998-3CAE-CD39-5B553A84983C}"/>
              </a:ext>
            </a:extLst>
          </p:cNvPr>
          <p:cNvSpPr txBox="1"/>
          <p:nvPr/>
        </p:nvSpPr>
        <p:spPr>
          <a:xfrm>
            <a:off x="7064259" y="3288606"/>
            <a:ext cx="139763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algn="ctr"/>
            <a:r>
              <a:rPr lang="en-US" altLang="zh-CN" sz="1800" dirty="0">
                <a:solidFill>
                  <a:schemeClr val="accent6"/>
                </a:solidFill>
              </a:rPr>
              <a:t>OneID</a:t>
            </a:r>
            <a:endParaRPr lang="zh-CN" altLang="en-US" sz="1800" dirty="0">
              <a:solidFill>
                <a:schemeClr val="accent6"/>
              </a:solidFill>
            </a:endParaRPr>
          </a:p>
        </p:txBody>
      </p:sp>
      <p:pic>
        <p:nvPicPr>
          <p:cNvPr id="82" name="图片 24">
            <a:extLst>
              <a:ext uri="{FF2B5EF4-FFF2-40B4-BE49-F238E27FC236}">
                <a16:creationId xmlns:a16="http://schemas.microsoft.com/office/drawing/2014/main" id="{E1456914-5B87-89DC-8DA3-9B7233B965BA}"/>
              </a:ext>
            </a:extLst>
          </p:cNvPr>
          <p:cNvPicPr>
            <a:picLocks noChangeAspect="1"/>
          </p:cNvPicPr>
          <p:nvPr/>
        </p:nvPicPr>
        <p:blipFill>
          <a:blip r:embed="rId9" cstate="screen"/>
          <a:stretch>
            <a:fillRect/>
          </a:stretch>
        </p:blipFill>
        <p:spPr>
          <a:xfrm>
            <a:off x="7594271" y="3762224"/>
            <a:ext cx="337609" cy="337609"/>
          </a:xfrm>
          <a:prstGeom prst="rect">
            <a:avLst/>
          </a:prstGeom>
        </p:spPr>
      </p:pic>
      <p:sp>
        <p:nvSpPr>
          <p:cNvPr id="83" name="TextBox 18">
            <a:extLst>
              <a:ext uri="{FF2B5EF4-FFF2-40B4-BE49-F238E27FC236}">
                <a16:creationId xmlns:a16="http://schemas.microsoft.com/office/drawing/2014/main" id="{F4287137-0E58-E0EB-3E0E-260D88EFF9FF}"/>
              </a:ext>
            </a:extLst>
          </p:cNvPr>
          <p:cNvSpPr txBox="1"/>
          <p:nvPr/>
        </p:nvSpPr>
        <p:spPr>
          <a:xfrm>
            <a:off x="9887421" y="3278063"/>
            <a:ext cx="164379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algn="ctr"/>
            <a:r>
              <a:rPr lang="en-US" altLang="zh-CN" sz="1800" dirty="0">
                <a:solidFill>
                  <a:srgbClr val="3E87CC"/>
                </a:solidFill>
              </a:rPr>
              <a:t>OneService</a:t>
            </a:r>
            <a:endParaRPr lang="zh-CN" altLang="en-US" sz="1800" dirty="0">
              <a:solidFill>
                <a:srgbClr val="3E87CC"/>
              </a:solidFill>
            </a:endParaRPr>
          </a:p>
        </p:txBody>
      </p:sp>
      <p:pic>
        <p:nvPicPr>
          <p:cNvPr id="84" name="图片 26">
            <a:extLst>
              <a:ext uri="{FF2B5EF4-FFF2-40B4-BE49-F238E27FC236}">
                <a16:creationId xmlns:a16="http://schemas.microsoft.com/office/drawing/2014/main" id="{438C2D70-F596-C4D6-7866-360A6DAB7E13}"/>
              </a:ext>
            </a:extLst>
          </p:cNvPr>
          <p:cNvPicPr>
            <a:picLocks noChangeAspect="1"/>
          </p:cNvPicPr>
          <p:nvPr/>
        </p:nvPicPr>
        <p:blipFill>
          <a:blip r:embed="rId10" cstate="screen"/>
          <a:stretch>
            <a:fillRect/>
          </a:stretch>
        </p:blipFill>
        <p:spPr>
          <a:xfrm>
            <a:off x="10363634" y="3776326"/>
            <a:ext cx="439219" cy="337609"/>
          </a:xfrm>
          <a:prstGeom prst="rect">
            <a:avLst/>
          </a:prstGeom>
        </p:spPr>
      </p:pic>
      <p:sp>
        <p:nvSpPr>
          <p:cNvPr id="85" name="三角形 29">
            <a:extLst>
              <a:ext uri="{FF2B5EF4-FFF2-40B4-BE49-F238E27FC236}">
                <a16:creationId xmlns:a16="http://schemas.microsoft.com/office/drawing/2014/main" id="{7794A0EF-0C77-5619-F5CF-8798229E3531}"/>
              </a:ext>
            </a:extLst>
          </p:cNvPr>
          <p:cNvSpPr/>
          <p:nvPr/>
        </p:nvSpPr>
        <p:spPr>
          <a:xfrm rot="5400000">
            <a:off x="5961862" y="3712303"/>
            <a:ext cx="1605012" cy="803336"/>
          </a:xfrm>
          <a:prstGeom prst="triangle">
            <a:avLst>
              <a:gd name="adj" fmla="val 5073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6" name="三角形 30">
            <a:extLst>
              <a:ext uri="{FF2B5EF4-FFF2-40B4-BE49-F238E27FC236}">
                <a16:creationId xmlns:a16="http://schemas.microsoft.com/office/drawing/2014/main" id="{F090CA16-C07A-648A-12D9-87BBD7AE2CC4}"/>
              </a:ext>
            </a:extLst>
          </p:cNvPr>
          <p:cNvSpPr/>
          <p:nvPr/>
        </p:nvSpPr>
        <p:spPr>
          <a:xfrm rot="5400000">
            <a:off x="8656634" y="3719688"/>
            <a:ext cx="1627309" cy="788568"/>
          </a:xfrm>
          <a:prstGeom prst="triangle">
            <a:avLst>
              <a:gd name="adj" fmla="val 50739"/>
            </a:avLst>
          </a:prstGeom>
          <a:solidFill>
            <a:srgbClr val="3E87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7" name="文本框 32">
            <a:extLst>
              <a:ext uri="{FF2B5EF4-FFF2-40B4-BE49-F238E27FC236}">
                <a16:creationId xmlns:a16="http://schemas.microsoft.com/office/drawing/2014/main" id="{17039514-6FF1-332C-1D7F-6120342D8CA6}"/>
              </a:ext>
            </a:extLst>
          </p:cNvPr>
          <p:cNvSpPr txBox="1"/>
          <p:nvPr/>
        </p:nvSpPr>
        <p:spPr>
          <a:xfrm>
            <a:off x="6427869" y="3911854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chemeClr val="bg1"/>
                </a:solidFill>
              </a:rPr>
              <a:t>02</a:t>
            </a:r>
            <a:endParaRPr kumimoji="1"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88" name="文本框 33">
            <a:extLst>
              <a:ext uri="{FF2B5EF4-FFF2-40B4-BE49-F238E27FC236}">
                <a16:creationId xmlns:a16="http://schemas.microsoft.com/office/drawing/2014/main" id="{945CDDEC-1591-977A-07C7-090F2F4EA070}"/>
              </a:ext>
            </a:extLst>
          </p:cNvPr>
          <p:cNvSpPr txBox="1"/>
          <p:nvPr/>
        </p:nvSpPr>
        <p:spPr>
          <a:xfrm>
            <a:off x="9151493" y="3923006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chemeClr val="bg1"/>
                </a:solidFill>
              </a:rPr>
              <a:t>03</a:t>
            </a:r>
            <a:endParaRPr kumimoji="1"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89" name="三角形 35">
            <a:extLst>
              <a:ext uri="{FF2B5EF4-FFF2-40B4-BE49-F238E27FC236}">
                <a16:creationId xmlns:a16="http://schemas.microsoft.com/office/drawing/2014/main" id="{99E7EE30-58B4-D826-79C8-EAF13C618A8C}"/>
              </a:ext>
            </a:extLst>
          </p:cNvPr>
          <p:cNvSpPr/>
          <p:nvPr/>
        </p:nvSpPr>
        <p:spPr>
          <a:xfrm rot="5400000">
            <a:off x="3504412" y="3678265"/>
            <a:ext cx="1605012" cy="803336"/>
          </a:xfrm>
          <a:prstGeom prst="triangle">
            <a:avLst>
              <a:gd name="adj" fmla="val 50739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0" name="文本框 36">
            <a:extLst>
              <a:ext uri="{FF2B5EF4-FFF2-40B4-BE49-F238E27FC236}">
                <a16:creationId xmlns:a16="http://schemas.microsoft.com/office/drawing/2014/main" id="{A01D9DD2-5A53-BBDF-DC71-8B5AE66463B1}"/>
              </a:ext>
            </a:extLst>
          </p:cNvPr>
          <p:cNvSpPr txBox="1"/>
          <p:nvPr/>
        </p:nvSpPr>
        <p:spPr>
          <a:xfrm>
            <a:off x="4017916" y="3876600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chemeClr val="bg1"/>
                </a:solidFill>
              </a:rPr>
              <a:t>01</a:t>
            </a:r>
            <a:endParaRPr kumimoji="1" lang="zh-CN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82548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例子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A54056-37AF-9367-932E-F6A91E3F2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71" y="5129154"/>
            <a:ext cx="6115904" cy="8287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C8B358-0A4A-A032-4D4A-11C40CDA12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607" y="5810219"/>
            <a:ext cx="6154009" cy="4382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6CF017-8D6C-3DC1-1963-8CCDAB8AA6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6110304"/>
            <a:ext cx="6811326" cy="4286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9C176C-772D-07B3-558B-409B23B2B0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323" y="6391232"/>
            <a:ext cx="7363853" cy="428685"/>
          </a:xfrm>
          <a:prstGeom prst="rect">
            <a:avLst/>
          </a:prstGeom>
        </p:spPr>
      </p:pic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35BA988B-6344-03C0-2B7B-CEC7A84FE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0684" y="3504277"/>
            <a:ext cx="2053491" cy="576263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lnSpcReduction="10000"/>
          </a:bodyPr>
          <a:lstStyle/>
          <a:p>
            <a:pPr marL="0"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为每个企业分配唯一的</a:t>
            </a:r>
            <a:r>
              <a:rPr lang="en-US" altLang="zh-CN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duns</a:t>
            </a: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，确保唯一性</a:t>
            </a:r>
            <a:endParaRPr lang="zh-CN" altLang="en-US" sz="1400" kern="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占位符 2">
            <a:extLst>
              <a:ext uri="{FF2B5EF4-FFF2-40B4-BE49-F238E27FC236}">
                <a16:creationId xmlns:a16="http://schemas.microsoft.com/office/drawing/2014/main" id="{3D5E01FD-35DF-4245-E3C8-AFD8D536E6DF}"/>
              </a:ext>
            </a:extLst>
          </p:cNvPr>
          <p:cNvSpPr txBox="1">
            <a:spLocks/>
          </p:cNvSpPr>
          <p:nvPr/>
        </p:nvSpPr>
        <p:spPr>
          <a:xfrm>
            <a:off x="161071" y="3504278"/>
            <a:ext cx="714375" cy="580515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t">
            <a:normAutofit/>
          </a:bodyPr>
          <a:lstStyle>
            <a:lvl1pPr marL="0" marR="0" indent="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35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52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70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87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905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222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40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57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0" lvl="1" indent="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Tx/>
              <a:buNone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唯一性</a:t>
            </a:r>
          </a:p>
        </p:txBody>
      </p:sp>
      <p:sp>
        <p:nvSpPr>
          <p:cNvPr id="14" name="文本占位符 2">
            <a:extLst>
              <a:ext uri="{FF2B5EF4-FFF2-40B4-BE49-F238E27FC236}">
                <a16:creationId xmlns:a16="http://schemas.microsoft.com/office/drawing/2014/main" id="{6C565EAF-87CE-82DF-3DA0-6119ED3A8740}"/>
              </a:ext>
            </a:extLst>
          </p:cNvPr>
          <p:cNvSpPr txBox="1">
            <a:spLocks/>
          </p:cNvSpPr>
          <p:nvPr/>
        </p:nvSpPr>
        <p:spPr>
          <a:xfrm>
            <a:off x="870684" y="4129041"/>
            <a:ext cx="2053491" cy="5762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t">
            <a:normAutofit/>
          </a:bodyPr>
          <a:lstStyle>
            <a:lvl1pPr marL="0" marR="0" indent="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35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52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70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87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905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222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40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57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0" lvl="1" indent="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Tx/>
              <a:buNone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合并企业信息</a:t>
            </a:r>
          </a:p>
        </p:txBody>
      </p: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257AA081-475D-E181-6683-95E3F04B56CF}"/>
              </a:ext>
            </a:extLst>
          </p:cNvPr>
          <p:cNvSpPr txBox="1">
            <a:spLocks/>
          </p:cNvSpPr>
          <p:nvPr/>
        </p:nvSpPr>
        <p:spPr>
          <a:xfrm>
            <a:off x="161071" y="4129042"/>
            <a:ext cx="714375" cy="580515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t">
            <a:normAutofit/>
          </a:bodyPr>
          <a:lstStyle>
            <a:lvl1pPr marL="0" marR="0" indent="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35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52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70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87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905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222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40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57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0" lvl="1" indent="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Tx/>
              <a:buNone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完整性</a:t>
            </a:r>
          </a:p>
        </p:txBody>
      </p:sp>
      <p:sp>
        <p:nvSpPr>
          <p:cNvPr id="16" name="文本占位符 2">
            <a:extLst>
              <a:ext uri="{FF2B5EF4-FFF2-40B4-BE49-F238E27FC236}">
                <a16:creationId xmlns:a16="http://schemas.microsoft.com/office/drawing/2014/main" id="{A99F3D0A-0BB2-B7D5-53EA-58F6AB59A1A2}"/>
              </a:ext>
            </a:extLst>
          </p:cNvPr>
          <p:cNvSpPr txBox="1">
            <a:spLocks/>
          </p:cNvSpPr>
          <p:nvPr/>
        </p:nvSpPr>
        <p:spPr>
          <a:xfrm>
            <a:off x="3871059" y="3500056"/>
            <a:ext cx="2053491" cy="5762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t">
            <a:normAutofit lnSpcReduction="10000"/>
          </a:bodyPr>
          <a:lstStyle>
            <a:lvl1pPr marL="0" marR="0" indent="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35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52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70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87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905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222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40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57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0" lvl="1" indent="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Tx/>
              <a:buNone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自动对各域数据进行智能匹配</a:t>
            </a:r>
          </a:p>
        </p:txBody>
      </p:sp>
      <p:sp>
        <p:nvSpPr>
          <p:cNvPr id="17" name="文本占位符 2">
            <a:extLst>
              <a:ext uri="{FF2B5EF4-FFF2-40B4-BE49-F238E27FC236}">
                <a16:creationId xmlns:a16="http://schemas.microsoft.com/office/drawing/2014/main" id="{3FEF7C7E-C5FC-5901-1C89-56E8CDFCBADF}"/>
              </a:ext>
            </a:extLst>
          </p:cNvPr>
          <p:cNvSpPr txBox="1">
            <a:spLocks/>
          </p:cNvSpPr>
          <p:nvPr/>
        </p:nvSpPr>
        <p:spPr>
          <a:xfrm>
            <a:off x="3161446" y="3500057"/>
            <a:ext cx="714375" cy="580515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t">
            <a:normAutofit lnSpcReduction="10000"/>
          </a:bodyPr>
          <a:lstStyle>
            <a:lvl1pPr marL="0" marR="0" indent="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35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52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70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87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905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222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40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57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0" lvl="1" indent="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Tx/>
              <a:buNone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智能匹配</a:t>
            </a:r>
          </a:p>
        </p:txBody>
      </p:sp>
      <p:sp>
        <p:nvSpPr>
          <p:cNvPr id="18" name="文本占位符 2">
            <a:extLst>
              <a:ext uri="{FF2B5EF4-FFF2-40B4-BE49-F238E27FC236}">
                <a16:creationId xmlns:a16="http://schemas.microsoft.com/office/drawing/2014/main" id="{11450096-940A-6E8D-7B98-19A8519377C8}"/>
              </a:ext>
            </a:extLst>
          </p:cNvPr>
          <p:cNvSpPr txBox="1">
            <a:spLocks/>
          </p:cNvSpPr>
          <p:nvPr/>
        </p:nvSpPr>
        <p:spPr>
          <a:xfrm>
            <a:off x="3871059" y="4124820"/>
            <a:ext cx="2053491" cy="5762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t">
            <a:normAutofit/>
          </a:bodyPr>
          <a:lstStyle>
            <a:lvl1pPr marL="0" marR="0" indent="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35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52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70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87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905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222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40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57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0" lvl="1" indent="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Tx/>
              <a:buNone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符合</a:t>
            </a:r>
            <a:r>
              <a:rPr lang="en-US" altLang="zh-CN" sz="1400" spc="60" dirty="0" err="1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D&amp;B</a:t>
            </a: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数据规范</a:t>
            </a:r>
          </a:p>
        </p:txBody>
      </p:sp>
      <p:sp>
        <p:nvSpPr>
          <p:cNvPr id="19" name="文本占位符 2">
            <a:extLst>
              <a:ext uri="{FF2B5EF4-FFF2-40B4-BE49-F238E27FC236}">
                <a16:creationId xmlns:a16="http://schemas.microsoft.com/office/drawing/2014/main" id="{A3FC16B5-A539-71E2-F56A-34AEE4313BE8}"/>
              </a:ext>
            </a:extLst>
          </p:cNvPr>
          <p:cNvSpPr txBox="1">
            <a:spLocks/>
          </p:cNvSpPr>
          <p:nvPr/>
        </p:nvSpPr>
        <p:spPr>
          <a:xfrm>
            <a:off x="3161446" y="4124821"/>
            <a:ext cx="714375" cy="580515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t">
            <a:normAutofit lnSpcReduction="10000"/>
          </a:bodyPr>
          <a:lstStyle>
            <a:lvl1pPr marL="0" marR="0" indent="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35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52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70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87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905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222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40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57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0" lvl="1" indent="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Tx/>
              <a:buNone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标准规范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86B4D72-8B9A-9452-DA83-46B0AEF732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407" y="1704921"/>
            <a:ext cx="7421011" cy="438211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A73A703-4EC4-B171-F358-6259BB247B86}"/>
              </a:ext>
            </a:extLst>
          </p:cNvPr>
          <p:cNvCxnSpPr/>
          <p:nvPr/>
        </p:nvCxnSpPr>
        <p:spPr>
          <a:xfrm flipV="1">
            <a:off x="870684" y="4709557"/>
            <a:ext cx="0" cy="419597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FCFD860-55A1-6B9A-1625-829B6C33BC32}"/>
              </a:ext>
            </a:extLst>
          </p:cNvPr>
          <p:cNvCxnSpPr/>
          <p:nvPr/>
        </p:nvCxnSpPr>
        <p:spPr>
          <a:xfrm flipV="1">
            <a:off x="3785334" y="4709557"/>
            <a:ext cx="0" cy="419597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9942FBB-D895-F4F6-9F97-480188EDE0E9}"/>
              </a:ext>
            </a:extLst>
          </p:cNvPr>
          <p:cNvCxnSpPr>
            <a:cxnSpLocks/>
          </p:cNvCxnSpPr>
          <p:nvPr/>
        </p:nvCxnSpPr>
        <p:spPr>
          <a:xfrm flipV="1">
            <a:off x="1023084" y="2143132"/>
            <a:ext cx="0" cy="1356924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8AE5EAD-8D07-DA6B-A3B7-1423E2CDF15E}"/>
              </a:ext>
            </a:extLst>
          </p:cNvPr>
          <p:cNvSpPr txBox="1"/>
          <p:nvPr/>
        </p:nvSpPr>
        <p:spPr>
          <a:xfrm>
            <a:off x="232805" y="2707883"/>
            <a:ext cx="881576" cy="2872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企业注册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02649F9-019B-F2C6-28EA-9895AD81BF0D}"/>
              </a:ext>
            </a:extLst>
          </p:cNvPr>
          <p:cNvCxnSpPr>
            <a:cxnSpLocks/>
          </p:cNvCxnSpPr>
          <p:nvPr/>
        </p:nvCxnSpPr>
        <p:spPr>
          <a:xfrm flipV="1">
            <a:off x="2432784" y="2143132"/>
            <a:ext cx="0" cy="1356924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A6B0098-EA00-54FD-753C-A6504A21D108}"/>
              </a:ext>
            </a:extLst>
          </p:cNvPr>
          <p:cNvSpPr txBox="1"/>
          <p:nvPr/>
        </p:nvSpPr>
        <p:spPr>
          <a:xfrm>
            <a:off x="1642505" y="2859355"/>
            <a:ext cx="881576" cy="2872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200" dirty="0"/>
              <a:t>信息匹配</a:t>
            </a:r>
            <a:endParaRPr kumimoji="0" lang="zh-CN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09797BC-DC7F-482A-323B-D1A25FE3BE3C}"/>
              </a:ext>
            </a:extLst>
          </p:cNvPr>
          <p:cNvCxnSpPr>
            <a:cxnSpLocks/>
          </p:cNvCxnSpPr>
          <p:nvPr/>
        </p:nvCxnSpPr>
        <p:spPr>
          <a:xfrm flipV="1">
            <a:off x="3501413" y="2115974"/>
            <a:ext cx="0" cy="1356924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3E912F6-EC59-0C33-8CA7-1954980A4554}"/>
              </a:ext>
            </a:extLst>
          </p:cNvPr>
          <p:cNvSpPr txBox="1"/>
          <p:nvPr/>
        </p:nvSpPr>
        <p:spPr>
          <a:xfrm>
            <a:off x="2711134" y="2832197"/>
            <a:ext cx="881576" cy="2872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200" dirty="0"/>
              <a:t>信息更新</a:t>
            </a:r>
            <a:endParaRPr kumimoji="0" lang="zh-CN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08BB337-2B96-F594-1AA0-0BB4F3450020}"/>
              </a:ext>
            </a:extLst>
          </p:cNvPr>
          <p:cNvCxnSpPr>
            <a:cxnSpLocks/>
          </p:cNvCxnSpPr>
          <p:nvPr/>
        </p:nvCxnSpPr>
        <p:spPr>
          <a:xfrm flipV="1">
            <a:off x="4570042" y="2115164"/>
            <a:ext cx="0" cy="1356924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49D1A87-393C-3750-9025-DAFF2B48D217}"/>
              </a:ext>
            </a:extLst>
          </p:cNvPr>
          <p:cNvSpPr txBox="1"/>
          <p:nvPr/>
        </p:nvSpPr>
        <p:spPr>
          <a:xfrm>
            <a:off x="3779763" y="2831387"/>
            <a:ext cx="881576" cy="2872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200" dirty="0"/>
              <a:t>信息拆分</a:t>
            </a:r>
            <a:endParaRPr kumimoji="0" lang="zh-CN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1CC8727-3C0B-8DC8-42DE-4B1C7D72CFA7}"/>
              </a:ext>
            </a:extLst>
          </p:cNvPr>
          <p:cNvCxnSpPr>
            <a:cxnSpLocks/>
          </p:cNvCxnSpPr>
          <p:nvPr/>
        </p:nvCxnSpPr>
        <p:spPr>
          <a:xfrm flipV="1">
            <a:off x="5671494" y="2123792"/>
            <a:ext cx="0" cy="1356924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BE999500-3853-CE01-38E4-D7BAD0B1DC01}"/>
              </a:ext>
            </a:extLst>
          </p:cNvPr>
          <p:cNvSpPr txBox="1"/>
          <p:nvPr/>
        </p:nvSpPr>
        <p:spPr>
          <a:xfrm>
            <a:off x="4881215" y="2840015"/>
            <a:ext cx="881576" cy="2872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交叉引用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DB2F48E5-2746-AF94-0F6E-756A9D4150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73703" y="1234721"/>
            <a:ext cx="2878465" cy="2741214"/>
          </a:xfrm>
          <a:prstGeom prst="rect">
            <a:avLst/>
          </a:prstGeom>
        </p:spPr>
      </p:pic>
      <p:sp>
        <p:nvSpPr>
          <p:cNvPr id="43" name="Arrow: Right 42">
            <a:extLst>
              <a:ext uri="{FF2B5EF4-FFF2-40B4-BE49-F238E27FC236}">
                <a16:creationId xmlns:a16="http://schemas.microsoft.com/office/drawing/2014/main" id="{AC42EE96-FDAA-848C-8A12-93EDF16A01AC}"/>
              </a:ext>
            </a:extLst>
          </p:cNvPr>
          <p:cNvSpPr/>
          <p:nvPr/>
        </p:nvSpPr>
        <p:spPr>
          <a:xfrm>
            <a:off x="7151360" y="2707883"/>
            <a:ext cx="1126589" cy="517713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44" name="文本占位符 2">
            <a:extLst>
              <a:ext uri="{FF2B5EF4-FFF2-40B4-BE49-F238E27FC236}">
                <a16:creationId xmlns:a16="http://schemas.microsoft.com/office/drawing/2014/main" id="{FBB90FA8-7DDD-0A18-9DB0-30EA57319076}"/>
              </a:ext>
            </a:extLst>
          </p:cNvPr>
          <p:cNvSpPr txBox="1">
            <a:spLocks/>
          </p:cNvSpPr>
          <p:nvPr/>
        </p:nvSpPr>
        <p:spPr>
          <a:xfrm>
            <a:off x="8746173" y="4919355"/>
            <a:ext cx="3284756" cy="106801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t">
            <a:normAutofit fontScale="85000" lnSpcReduction="10000"/>
          </a:bodyPr>
          <a:lstStyle>
            <a:lvl1pPr marL="0" marR="0" indent="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35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52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70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87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905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222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40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57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285750" lvl="1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pitchFamily="2" charset="2"/>
              <a:buChar char="p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整合分散存储的数据，提升数据利用率</a:t>
            </a:r>
            <a:endParaRPr lang="en-US" altLang="zh-CN" sz="1400" kern="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lvl="1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pitchFamily="2" charset="2"/>
              <a:buChar char="p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减轻业务系统的压力，提高业务系统性能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lvl="1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pitchFamily="2" charset="2"/>
              <a:buChar char="p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为决策支持、绩效考核提供支持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CE83B51-00C8-D8DC-EE88-77BF1E7CB20B}"/>
              </a:ext>
            </a:extLst>
          </p:cNvPr>
          <p:cNvSpPr/>
          <p:nvPr/>
        </p:nvSpPr>
        <p:spPr>
          <a:xfrm>
            <a:off x="9529768" y="4652284"/>
            <a:ext cx="1566333" cy="36066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数仓的作用</a:t>
            </a:r>
          </a:p>
        </p:txBody>
      </p:sp>
    </p:spTree>
    <p:extLst>
      <p:ext uri="{BB962C8B-B14F-4D97-AF65-F5344CB8AC3E}">
        <p14:creationId xmlns:p14="http://schemas.microsoft.com/office/powerpoint/2010/main" val="3521649493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方案价值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41F973-5B4B-E0D0-6AF1-0782F67E9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872" y="1356985"/>
            <a:ext cx="9354856" cy="469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1557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_INDEX" val="1"/>
  <p:tag name="KSO_WM_UNIT_PRESET_TEXT_LEN" val="4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20210775_4*m_h_a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6"/>
  <p:tag name="KSO_WM_UNIT_TEXT_FILL_TYPE" val="1"/>
  <p:tag name="KSO_WM_UNIT_USESOURCEFORMAT_APPLY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210775_4*m_h_i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_INDEX" val="1"/>
  <p:tag name="KSO_WM_UNIT_PRESET_TEXT_LEN" val="4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2_1"/>
  <p:tag name="KSO_WM_UNIT_ID" val="diagram20210775_4*m_h_a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6"/>
  <p:tag name="KSO_WM_UNIT_TEXT_FILL_TYPE" val="1"/>
  <p:tag name="KSO_WM_UNIT_USESOURCEFORMAT_APPLY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10775_4*m_h_i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_INDEX" val="1"/>
  <p:tag name="KSO_WM_UNIT_PRESET_TEXT_LEN" val="4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3_1"/>
  <p:tag name="KSO_WM_UNIT_ID" val="diagram20210775_4*m_h_a*1_3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16"/>
  <p:tag name="KSO_WM_UNIT_TEXT_FILL_TYPE" val="1"/>
  <p:tag name="KSO_WM_UNIT_USESOURCEFORMAT_APPLY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10775_4*m_h_f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10775_4*m_h_f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10775_4*m_h_f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_INDEX" val="1"/>
  <p:tag name="KSO_WM_UNIT_PRESET_TEXT_LEN" val="4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20210775_4*m_h_a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6"/>
  <p:tag name="KSO_WM_UNIT_TEXT_FILL_TYPE" val="1"/>
  <p:tag name="KSO_WM_UNIT_USESOURCEFORMAT_APPLY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210775_4*m_h_i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_INDEX" val="1"/>
  <p:tag name="KSO_WM_UNIT_PRESET_TEXT_LEN" val="4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2_1"/>
  <p:tag name="KSO_WM_UNIT_ID" val="diagram20210775_4*m_h_a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6"/>
  <p:tag name="KSO_WM_UNIT_TEXT_FILL_TYPE" val="1"/>
  <p:tag name="KSO_WM_UNIT_USESOURCEFORMAT_APPLY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10775_4*m_h_f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10775_4*m_h_f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_INDEX" val="1"/>
  <p:tag name="KSO_WM_UNIT_PRESET_TEXT_LEN" val="4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20210775_4*m_h_a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6"/>
  <p:tag name="KSO_WM_UNIT_TEXT_FILL_TYPE" val="1"/>
  <p:tag name="KSO_WM_UNIT_USESOURCEFORMAT_APPLY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210775_4*m_h_i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_INDEX" val="1"/>
  <p:tag name="KSO_WM_UNIT_PRESET_TEXT_LEN" val="4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2_1"/>
  <p:tag name="KSO_WM_UNIT_ID" val="diagram20210775_4*m_h_a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6"/>
  <p:tag name="KSO_WM_UNIT_TEXT_FILL_TYPE" val="1"/>
  <p:tag name="KSO_WM_UNIT_USESOURCEFORMAT_APPLY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10775_4*m_h_i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_INDEX" val="1"/>
  <p:tag name="KSO_WM_UNIT_PRESET_TEXT_LEN" val="4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3_1"/>
  <p:tag name="KSO_WM_UNIT_ID" val="diagram20210775_4*m_h_a*1_3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16"/>
  <p:tag name="KSO_WM_UNIT_TEXT_FILL_TYPE" val="1"/>
  <p:tag name="KSO_WM_UNIT_USESOURCEFORMAT_APPLY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10775_4*m_h_f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10775_4*m_h_f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10775_4*m_h_f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_INDEX" val="1"/>
  <p:tag name="KSO_WM_UNIT_PRESET_TEXT_LEN" val="4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20210775_4*m_h_a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6"/>
  <p:tag name="KSO_WM_UNIT_TEXT_FILL_TYPE" val="1"/>
  <p:tag name="KSO_WM_UNIT_USESOURCEFORMAT_APPLY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210775_4*m_h_i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_INDEX" val="1"/>
  <p:tag name="KSO_WM_UNIT_PRESET_TEXT_LEN" val="4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2_1"/>
  <p:tag name="KSO_WM_UNIT_ID" val="diagram20210775_4*m_h_a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6"/>
  <p:tag name="KSO_WM_UNIT_TEXT_FILL_TYPE" val="1"/>
  <p:tag name="KSO_WM_UNIT_USESOURCEFORMAT_APPLY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10775_4*m_h_f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10775_4*m_h_f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10775_4*m_h_f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10775_4*m_h_f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10775_4*m_h_f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10775_4*m_h_f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10775_4*m_h_f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10775_4*m_h_f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10775_4*m_h_f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10775_4*m_h_f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10775_4*m_h_f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10775_4*m_h_f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10775_4*m_h_f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theme/theme1.xml><?xml version="1.0" encoding="utf-8"?>
<a:theme xmlns:a="http://schemas.openxmlformats.org/drawingml/2006/main" name="White">
  <a:themeElements>
    <a:clrScheme name="极客邦">
      <a:dk1>
        <a:srgbClr val="4D4D4D"/>
      </a:dk1>
      <a:lt1>
        <a:sysClr val="window" lastClr="FFFFFF"/>
      </a:lt1>
      <a:dk2>
        <a:srgbClr val="44546A"/>
      </a:dk2>
      <a:lt2>
        <a:srgbClr val="E7E6E6"/>
      </a:lt2>
      <a:accent1>
        <a:srgbClr val="1D5E9E"/>
      </a:accent1>
      <a:accent2>
        <a:srgbClr val="198743"/>
      </a:accent2>
      <a:accent3>
        <a:srgbClr val="EA5429"/>
      </a:accent3>
      <a:accent4>
        <a:srgbClr val="E60012"/>
      </a:accent4>
      <a:accent5>
        <a:srgbClr val="4472C4"/>
      </a:accent5>
      <a:accent6>
        <a:srgbClr val="70AD47"/>
      </a:accent6>
      <a:hlink>
        <a:srgbClr val="00B0F0"/>
      </a:hlink>
      <a:folHlink>
        <a:srgbClr val="FFFFFF"/>
      </a:folHlink>
    </a:clrScheme>
    <a:fontScheme name="极客邦常用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演示文稿1" id="{A46FBE2B-B011-4643-89D7-4E51E37BBDB2}" vid="{8EF7A4E8-5DDA-5242-A16E-CB225224F7D0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TGO新模板</Template>
  <TotalTime>2384</TotalTime>
  <Words>1882</Words>
  <Application>Microsoft Office PowerPoint</Application>
  <PresentationFormat>Widescreen</PresentationFormat>
  <Paragraphs>153</Paragraphs>
  <Slides>25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DengXian</vt:lpstr>
      <vt:lpstr>Helvetica Neue</vt:lpstr>
      <vt:lpstr>Microsoft YaHei</vt:lpstr>
      <vt:lpstr>Arial</vt:lpstr>
      <vt:lpstr>Calibri</vt:lpstr>
      <vt:lpstr>Wingdings</vt:lpstr>
      <vt:lpstr>White</vt:lpstr>
      <vt:lpstr>PowerPoint Presentation</vt:lpstr>
      <vt:lpstr>数据治理的10个方面</vt:lpstr>
      <vt:lpstr>数据治理的10个方面</vt:lpstr>
      <vt:lpstr>行业现象和需求</vt:lpstr>
      <vt:lpstr>数据治理范围</vt:lpstr>
      <vt:lpstr>数据管理框架</vt:lpstr>
      <vt:lpstr>总体解决思路</vt:lpstr>
      <vt:lpstr>1.数据资产盘点</vt:lpstr>
      <vt:lpstr>2.让数据变得更干净，少歧义</vt:lpstr>
      <vt:lpstr>2.1数据清洗、转换</vt:lpstr>
      <vt:lpstr>2.2数据采集与清洗达到的效果</vt:lpstr>
      <vt:lpstr>2.3元数据管理</vt:lpstr>
      <vt:lpstr>2.4数据标准化管理</vt:lpstr>
      <vt:lpstr>3.重新组织数据</vt:lpstr>
      <vt:lpstr>3.1 主数据建设</vt:lpstr>
      <vt:lpstr>3.2真实世界建模</vt:lpstr>
      <vt:lpstr>3.3 经典数据仓库架构</vt:lpstr>
      <vt:lpstr>3.4 数据标签和画像</vt:lpstr>
      <vt:lpstr>4 数据治理持久化</vt:lpstr>
      <vt:lpstr>5 数据治理延申：数据管理</vt:lpstr>
      <vt:lpstr>6 数据治理体系结构</vt:lpstr>
      <vt:lpstr>7 数据治理能力目标</vt:lpstr>
      <vt:lpstr>例子</vt:lpstr>
      <vt:lpstr>方案价值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Wu, Frank</cp:lastModifiedBy>
  <cp:revision>78</cp:revision>
  <dcterms:created xsi:type="dcterms:W3CDTF">2019-06-10T12:16:29Z</dcterms:created>
  <dcterms:modified xsi:type="dcterms:W3CDTF">2024-04-28T09:26:01Z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24d2e7b-2917-4cd7-87a4-c132be958a8e_Enabled">
    <vt:lpwstr>true</vt:lpwstr>
  </property>
  <property fmtid="{D5CDD505-2E9C-101B-9397-08002B2CF9AE}" pid="3" name="MSIP_Label_224d2e7b-2917-4cd7-87a4-c132be958a8e_SetDate">
    <vt:lpwstr>2024-04-23T04:18:09Z</vt:lpwstr>
  </property>
  <property fmtid="{D5CDD505-2E9C-101B-9397-08002B2CF9AE}" pid="4" name="MSIP_Label_224d2e7b-2917-4cd7-87a4-c132be958a8e_Method">
    <vt:lpwstr>Privileged</vt:lpwstr>
  </property>
  <property fmtid="{D5CDD505-2E9C-101B-9397-08002B2CF9AE}" pid="5" name="MSIP_Label_224d2e7b-2917-4cd7-87a4-c132be958a8e_Name">
    <vt:lpwstr>224d2e7b-2917-4cd7-87a4-c132be958a8e</vt:lpwstr>
  </property>
  <property fmtid="{D5CDD505-2E9C-101B-9397-08002B2CF9AE}" pid="6" name="MSIP_Label_224d2e7b-2917-4cd7-87a4-c132be958a8e_SiteId">
    <vt:lpwstr>19e2b708-bf12-4375-9719-8dec42771b3e</vt:lpwstr>
  </property>
  <property fmtid="{D5CDD505-2E9C-101B-9397-08002B2CF9AE}" pid="7" name="MSIP_Label_224d2e7b-2917-4cd7-87a4-c132be958a8e_ActionId">
    <vt:lpwstr>1411a011-4fd9-425c-a17e-6e79bbbe23a3</vt:lpwstr>
  </property>
  <property fmtid="{D5CDD505-2E9C-101B-9397-08002B2CF9AE}" pid="8" name="MSIP_Label_224d2e7b-2917-4cd7-87a4-c132be958a8e_ContentBits">
    <vt:lpwstr>2</vt:lpwstr>
  </property>
  <property fmtid="{D5CDD505-2E9C-101B-9397-08002B2CF9AE}" pid="9" name="ClassificationContentMarkingFooterLocations">
    <vt:lpwstr>White:6</vt:lpwstr>
  </property>
  <property fmtid="{D5CDD505-2E9C-101B-9397-08002B2CF9AE}" pid="10" name="ClassificationContentMarkingFooterText">
    <vt:lpwstr>Internal Use Only</vt:lpwstr>
  </property>
</Properties>
</file>