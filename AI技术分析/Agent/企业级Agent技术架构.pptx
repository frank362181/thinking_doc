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6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7.xml" ContentType="application/vnd.openxmlformats-officedocument.presentationml.notesSlide+xml"/>
  <Override PartName="/ppt/tags/tag74.xml" ContentType="application/vnd.openxmlformats-officedocument.presentationml.tags+xml"/>
  <Override PartName="/ppt/notesSlides/notesSlide8.xml" ContentType="application/vnd.openxmlformats-officedocument.presentationml.notesSlide+xml"/>
  <Override PartName="/ppt/tags/tag75.xml" ContentType="application/vnd.openxmlformats-officedocument.presentationml.tags+xml"/>
  <Override PartName="/ppt/notesSlides/notesSlide9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459" r:id="rId3"/>
    <p:sldId id="460" r:id="rId4"/>
    <p:sldId id="461" r:id="rId5"/>
    <p:sldId id="463" r:id="rId6"/>
    <p:sldId id="276" r:id="rId7"/>
    <p:sldId id="478" r:id="rId8"/>
    <p:sldId id="479" r:id="rId9"/>
    <p:sldId id="268" r:id="rId10"/>
    <p:sldId id="480" r:id="rId11"/>
    <p:sldId id="468" r:id="rId12"/>
    <p:sldId id="481" r:id="rId13"/>
    <p:sldId id="469" r:id="rId14"/>
    <p:sldId id="482" r:id="rId15"/>
    <p:sldId id="483" r:id="rId16"/>
    <p:sldId id="476" r:id="rId17"/>
    <p:sldId id="271" r:id="rId18"/>
    <p:sldId id="258" r:id="rId19"/>
    <p:sldId id="260" r:id="rId20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43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86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429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572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715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858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8001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9144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88" autoAdjust="0"/>
    <p:restoredTop sz="94643"/>
  </p:normalViewPr>
  <p:slideViewPr>
    <p:cSldViewPr snapToGrid="0" showGuides="1">
      <p:cViewPr varScale="1">
        <p:scale>
          <a:sx n="97" d="100"/>
          <a:sy n="97" d="100"/>
        </p:scale>
        <p:origin x="91" y="10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082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2E603-5D1B-4CBE-8096-20BCEF5B30C0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9F8B3-A901-43B7-8EA2-FB7D82D10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653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" name="Shape 10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072923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456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3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707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137C6-BB3B-B75F-6CAC-A3DE6769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413F7-DB0B-3D30-582A-FBD044FDA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1FC90-EF6E-880D-05EC-C483B1E93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083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27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3833B-5E16-F954-B70E-183EEA103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6DF00-F311-0A5B-6BFD-CA6BD9161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AC277F-7438-31B1-DFDD-C9BF6DB41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45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58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3183B-9A62-91EA-3FEA-EBEBA7095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341B8-A791-68D3-A611-EFD07070A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30CE1-9984-6860-BBE9-AD3090499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77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0C5C8-F3C0-BFC7-E08C-310171AE8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BF071-782A-6C7B-AF0E-AFE9DDEBF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8DCE4-264B-9B9B-6FF0-62700D91A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72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03" y="5693664"/>
            <a:ext cx="3278234" cy="11123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905" y="5905096"/>
            <a:ext cx="3630629" cy="900953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95" y="100723"/>
            <a:ext cx="2577583" cy="87463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  <p:sp>
        <p:nvSpPr>
          <p:cNvPr id="26" name="Shape 26"/>
          <p:cNvSpPr>
            <a:spLocks noGrp="1"/>
          </p:cNvSpPr>
          <p:nvPr>
            <p:ph type="pic" sz="half" idx="13"/>
          </p:nvPr>
        </p:nvSpPr>
        <p:spPr>
          <a:xfrm>
            <a:off x="6582990" y="552450"/>
            <a:ext cx="4762501" cy="5753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title"/>
          </p:nvPr>
        </p:nvSpPr>
        <p:spPr>
          <a:xfrm>
            <a:off x="825500" y="552450"/>
            <a:ext cx="5111750" cy="2806700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8" name="Shape 28"/>
          <p:cNvSpPr>
            <a:spLocks noGrp="1"/>
          </p:cNvSpPr>
          <p:nvPr>
            <p:ph type="body" sz="quarter" idx="1"/>
          </p:nvPr>
        </p:nvSpPr>
        <p:spPr>
          <a:xfrm>
            <a:off x="825500" y="3422650"/>
            <a:ext cx="5111750" cy="28829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00"/>
            </a:lvl1pPr>
            <a:lvl2pPr marL="0" indent="114300" algn="ctr">
              <a:spcBef>
                <a:spcPts val="0"/>
              </a:spcBef>
              <a:buSzTx/>
              <a:buNone/>
              <a:defRPr sz="2200"/>
            </a:lvl2pPr>
            <a:lvl3pPr marL="0" indent="228600" algn="ctr">
              <a:spcBef>
                <a:spcPts val="0"/>
              </a:spcBef>
              <a:buSzTx/>
              <a:buNone/>
              <a:defRPr sz="2200"/>
            </a:lvl3pPr>
            <a:lvl4pPr marL="0" indent="342900" algn="ctr">
              <a:spcBef>
                <a:spcPts val="0"/>
              </a:spcBef>
              <a:buSzTx/>
              <a:buNone/>
              <a:defRPr sz="2200"/>
            </a:lvl4pPr>
            <a:lvl5pPr marL="0" indent="457200" algn="ctr">
              <a:spcBef>
                <a:spcPts val="0"/>
              </a:spcBef>
              <a:buSzTx/>
              <a:buNone/>
              <a:defRPr sz="2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29" name="Shape 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  <p:sp>
        <p:nvSpPr>
          <p:cNvPr id="36" name="Shape 36"/>
          <p:cNvSpPr>
            <a:spLocks noGrp="1"/>
          </p:cNvSpPr>
          <p:nvPr>
            <p:ph type="title"/>
          </p:nvPr>
        </p:nvSpPr>
        <p:spPr>
          <a:xfrm>
            <a:off x="844550" y="800100"/>
            <a:ext cx="105029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title"/>
          </p:nvPr>
        </p:nvSpPr>
        <p:spPr>
          <a:xfrm>
            <a:off x="844550" y="800100"/>
            <a:ext cx="105029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45" name="Shape 45"/>
          <p:cNvSpPr>
            <a:spLocks noGrp="1"/>
          </p:cNvSpPr>
          <p:nvPr>
            <p:ph type="body" idx="1"/>
          </p:nvPr>
        </p:nvSpPr>
        <p:spPr>
          <a:xfrm>
            <a:off x="844550" y="1592262"/>
            <a:ext cx="10502900" cy="4630737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46" name="Shape 4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/>
          </p:cNvSpPr>
          <p:nvPr>
            <p:ph type="body" idx="1"/>
          </p:nvPr>
        </p:nvSpPr>
        <p:spPr>
          <a:xfrm>
            <a:off x="844550" y="1268413"/>
            <a:ext cx="10502900" cy="46942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4" name="Shape 6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/>
          </p:cNvSpPr>
          <p:nvPr>
            <p:ph type="pic" sz="quarter" idx="13"/>
          </p:nvPr>
        </p:nvSpPr>
        <p:spPr>
          <a:xfrm>
            <a:off x="7880350" y="3851200"/>
            <a:ext cx="3702050" cy="244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72" name="Shape 72"/>
          <p:cNvSpPr>
            <a:spLocks noGrp="1"/>
          </p:cNvSpPr>
          <p:nvPr>
            <p:ph type="pic" sz="quarter" idx="14"/>
          </p:nvPr>
        </p:nvSpPr>
        <p:spPr>
          <a:xfrm>
            <a:off x="7880350" y="1268414"/>
            <a:ext cx="3702050" cy="244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73" name="Shape 73"/>
          <p:cNvSpPr>
            <a:spLocks noGrp="1"/>
          </p:cNvSpPr>
          <p:nvPr>
            <p:ph type="pic" idx="15"/>
          </p:nvPr>
        </p:nvSpPr>
        <p:spPr>
          <a:xfrm>
            <a:off x="603250" y="1268414"/>
            <a:ext cx="7086600" cy="503078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body" sz="quarter" idx="13"/>
          </p:nvPr>
        </p:nvSpPr>
        <p:spPr>
          <a:xfrm>
            <a:off x="1193800" y="4476750"/>
            <a:ext cx="9810750" cy="39498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19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2" name="Shape 82"/>
          <p:cNvSpPr>
            <a:spLocks noGrp="1"/>
          </p:cNvSpPr>
          <p:nvPr>
            <p:ph type="body" sz="quarter" idx="14"/>
          </p:nvPr>
        </p:nvSpPr>
        <p:spPr>
          <a:xfrm>
            <a:off x="1193800" y="2312760"/>
            <a:ext cx="9810750" cy="84125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3" name="Shape 8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43809" y="5720492"/>
            <a:ext cx="4356100" cy="508000"/>
          </a:xfrm>
          <a:prstGeom prst="rect">
            <a:avLst/>
          </a:prstGeom>
        </p:spPr>
      </p:pic>
      <p:sp>
        <p:nvSpPr>
          <p:cNvPr id="98" name="Shape 9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" name="矩形 1"/>
          <p:cNvSpPr/>
          <p:nvPr userDrawn="1"/>
        </p:nvSpPr>
        <p:spPr>
          <a:xfrm>
            <a:off x="5099573" y="5835992"/>
            <a:ext cx="19928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https://tgo.geekbang.org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844550" y="800101"/>
            <a:ext cx="10502900" cy="569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r>
              <a:rPr lang="zh-CN" altLang="en-US" dirty="0"/>
              <a:t>在此输入标题</a:t>
            </a:r>
            <a:endParaRPr dirty="0"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844550" y="1557338"/>
            <a:ext cx="10502900" cy="4665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rPr dirty="0"/>
              <a:t>正</a:t>
            </a:r>
            <a:r>
              <a:rPr lang="zh-CN" altLang="en-US" dirty="0"/>
              <a:t>文</a:t>
            </a:r>
            <a:r>
              <a:rPr dirty="0" err="1"/>
              <a:t>级别</a:t>
            </a:r>
            <a:r>
              <a:rPr dirty="0"/>
              <a:t> 1</a:t>
            </a:r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5926113" y="6540500"/>
            <a:ext cx="33342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9" r:id="rId9"/>
  </p:sldLayoutIdLst>
  <p:transition spd="med"/>
  <p:txStyles>
    <p:titleStyle>
      <a:lvl1pPr marL="0" marR="0" indent="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0" marR="0" indent="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1pPr>
      <a:lvl2pPr marL="6350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2pPr>
      <a:lvl3pPr marL="9525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3pPr>
      <a:lvl4pPr marL="12700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4pPr>
      <a:lvl5pPr marL="15875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5pPr>
      <a:lvl6pPr marL="190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222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254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285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7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slideLayout" Target="../slideLayouts/slideLayout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26" Type="http://schemas.openxmlformats.org/officeDocument/2006/relationships/tags" Target="../tags/tag45.xml"/><Relationship Id="rId3" Type="http://schemas.openxmlformats.org/officeDocument/2006/relationships/tags" Target="../tags/tag22.xml"/><Relationship Id="rId21" Type="http://schemas.openxmlformats.org/officeDocument/2006/relationships/tags" Target="../tags/tag40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5" Type="http://schemas.openxmlformats.org/officeDocument/2006/relationships/tags" Target="../tags/tag44.xml"/><Relationship Id="rId33" Type="http://schemas.openxmlformats.org/officeDocument/2006/relationships/notesSlide" Target="../notesSlides/notesSlide2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tags" Target="../tags/tag39.xml"/><Relationship Id="rId29" Type="http://schemas.openxmlformats.org/officeDocument/2006/relationships/tags" Target="../tags/tag48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24" Type="http://schemas.openxmlformats.org/officeDocument/2006/relationships/tags" Target="../tags/tag43.xml"/><Relationship Id="rId32" Type="http://schemas.openxmlformats.org/officeDocument/2006/relationships/slideLayout" Target="../slideLayouts/slideLayout5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23" Type="http://schemas.openxmlformats.org/officeDocument/2006/relationships/tags" Target="../tags/tag42.xml"/><Relationship Id="rId28" Type="http://schemas.openxmlformats.org/officeDocument/2006/relationships/tags" Target="../tags/tag47.xml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31" Type="http://schemas.openxmlformats.org/officeDocument/2006/relationships/tags" Target="../tags/tag50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tags" Target="../tags/tag41.xml"/><Relationship Id="rId27" Type="http://schemas.openxmlformats.org/officeDocument/2006/relationships/tags" Target="../tags/tag46.xml"/><Relationship Id="rId30" Type="http://schemas.openxmlformats.org/officeDocument/2006/relationships/tags" Target="../tags/tag49.xml"/><Relationship Id="rId8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notesSlide" Target="../notesSlides/notesSlide6.xml"/><Relationship Id="rId10" Type="http://schemas.openxmlformats.org/officeDocument/2006/relationships/tags" Target="../tags/tag67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14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4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5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17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8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/>
        </p:nvSpPr>
        <p:spPr>
          <a:xfrm>
            <a:off x="1757682" y="1950344"/>
            <a:ext cx="8803692" cy="112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14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zh-CN" altLang="en-US" sz="7000" dirty="0">
                <a:latin typeface="DengXian" charset="-122"/>
                <a:ea typeface="DengXian" charset="-122"/>
                <a:cs typeface="DengXian" charset="-122"/>
              </a:rPr>
              <a:t>企业级</a:t>
            </a:r>
            <a:r>
              <a:rPr lang="en-US" altLang="zh-CN" sz="7000" dirty="0">
                <a:latin typeface="DengXian" charset="-122"/>
                <a:ea typeface="DengXian" charset="-122"/>
                <a:cs typeface="DengXian" charset="-122"/>
              </a:rPr>
              <a:t>Agent</a:t>
            </a:r>
            <a:r>
              <a:rPr lang="zh-CN" altLang="en-US" sz="7000" dirty="0">
                <a:latin typeface="DengXian" charset="-122"/>
                <a:ea typeface="DengXian" charset="-122"/>
                <a:cs typeface="DengXian" charset="-122"/>
              </a:rPr>
              <a:t>技术架构</a:t>
            </a:r>
            <a:endParaRPr sz="700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109" name="Shape 109"/>
          <p:cNvSpPr/>
          <p:nvPr/>
        </p:nvSpPr>
        <p:spPr>
          <a:xfrm>
            <a:off x="8275486" y="3758073"/>
            <a:ext cx="2766783" cy="112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r">
              <a:lnSpc>
                <a:spcPct val="150000"/>
              </a:lnSpc>
            </a:pPr>
            <a:r>
              <a:rPr lang="en-US" altLang="zh-CN" sz="2800" dirty="0"/>
              <a:t>Frank</a:t>
            </a:r>
            <a:r>
              <a:rPr lang="zh-CN" altLang="en-US" sz="2800" dirty="0"/>
              <a:t>（吴万港）</a:t>
            </a:r>
            <a:endParaRPr lang="en-US" altLang="zh-CN" sz="2800" dirty="0"/>
          </a:p>
          <a:p>
            <a:pPr algn="r"/>
            <a:r>
              <a:rPr lang="en-US" altLang="zh-CN" sz="2800" dirty="0"/>
              <a:t>Jun 5</a:t>
            </a:r>
            <a:r>
              <a:rPr lang="en-US" sz="2800" dirty="0"/>
              <a:t>,2026</a:t>
            </a:r>
            <a:endParaRPr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440021" y="1692518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5384EE"/>
                </a:solidFill>
                <a:effectLst/>
                <a:uLnTx/>
                <a:uFillTx/>
                <a:latin typeface="Algerian" panose="04020705040A02060702" pitchFamily="82" charset="0"/>
                <a:ea typeface="Microsoft YaHei" panose="020B0503020204020204" pitchFamily="34" charset="-122"/>
              </a:rPr>
              <a:t>01</a:t>
            </a: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4056564" y="1687974"/>
            <a:ext cx="5131503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zh-CN" altLang="en-US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核心目标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3" name="文本框 42"/>
          <p:cNvSpPr txBox="1"/>
          <p:nvPr>
            <p:custDataLst>
              <p:tags r:id="rId4"/>
            </p:custDataLst>
          </p:nvPr>
        </p:nvSpPr>
        <p:spPr>
          <a:xfrm>
            <a:off x="4056564" y="2568988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rPr>
              <a:t>技术架构</a:t>
            </a:r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440021" y="2571240"/>
            <a:ext cx="616585" cy="52324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5384EE"/>
                </a:solidFill>
                <a:effectLst/>
                <a:uLnTx/>
                <a:uFillTx/>
                <a:latin typeface="Algerian" panose="04020705040A02060702" pitchFamily="82" charset="0"/>
                <a:ea typeface="Microsoft YaHei" panose="020B0503020204020204" pitchFamily="34" charset="-122"/>
              </a:rPr>
              <a:t>02</a:t>
            </a: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3440024" y="3441408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5384EE"/>
                </a:solidFill>
                <a:effectLst/>
                <a:uLnTx/>
                <a:uFillTx/>
                <a:latin typeface="Algerian" panose="04020705040A02060702" pitchFamily="82" charset="0"/>
                <a:ea typeface="Microsoft YaHei" panose="020B0503020204020204" pitchFamily="34" charset="-122"/>
              </a:rPr>
              <a:t>03</a:t>
            </a:r>
          </a:p>
        </p:txBody>
      </p:sp>
      <p:sp>
        <p:nvSpPr>
          <p:cNvPr id="57" name="文本框 56"/>
          <p:cNvSpPr txBox="1"/>
          <p:nvPr>
            <p:custDataLst>
              <p:tags r:id="rId7"/>
            </p:custDataLst>
          </p:nvPr>
        </p:nvSpPr>
        <p:spPr>
          <a:xfrm>
            <a:off x="4056564" y="3443196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团队与计划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3822" y="881920"/>
            <a:ext cx="5019103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企业级</a:t>
            </a:r>
            <a:r>
              <a:rPr lang="en-US" altLang="zh-CN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产品理念</a:t>
            </a:r>
          </a:p>
        </p:txBody>
      </p:sp>
      <p:sp>
        <p:nvSpPr>
          <p:cNvPr id="7" name="燕尾形 5">
            <a:extLst>
              <a:ext uri="{FF2B5EF4-FFF2-40B4-BE49-F238E27FC236}">
                <a16:creationId xmlns:a16="http://schemas.microsoft.com/office/drawing/2014/main" id="{9AD94AB6-D4C4-4BEB-B79F-C4D463CAA7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23834" y="1980911"/>
            <a:ext cx="3036464" cy="97246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2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从</a:t>
            </a:r>
            <a:r>
              <a:rPr lang="zh-CN" altLang="en-US" sz="220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“工具调用”到“协作</a:t>
            </a:r>
            <a:r>
              <a:rPr lang="zh-CN" altLang="en-US" sz="280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”</a:t>
            </a:r>
            <a:endParaRPr lang="zh-CN" altLang="en-US" sz="2800" kern="0" spc="200" dirty="0">
              <a:solidFill>
                <a:schemeClr val="l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8" name="燕尾形 6">
            <a:extLst>
              <a:ext uri="{FF2B5EF4-FFF2-40B4-BE49-F238E27FC236}">
                <a16:creationId xmlns:a16="http://schemas.microsoft.com/office/drawing/2014/main" id="{9FFF5C26-E543-4353-9ED9-B85629DB14C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67340" y="1980911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燕尾形 7">
            <a:extLst>
              <a:ext uri="{FF2B5EF4-FFF2-40B4-BE49-F238E27FC236}">
                <a16:creationId xmlns:a16="http://schemas.microsoft.com/office/drawing/2014/main" id="{4332DD90-CF7D-4BA2-8FD0-F588E89C9C5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69068" y="1980911"/>
            <a:ext cx="3036464" cy="9724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动态能力网络</a:t>
            </a:r>
          </a:p>
        </p:txBody>
      </p:sp>
      <p:sp>
        <p:nvSpPr>
          <p:cNvPr id="11" name="燕尾形 8">
            <a:extLst>
              <a:ext uri="{FF2B5EF4-FFF2-40B4-BE49-F238E27FC236}">
                <a16:creationId xmlns:a16="http://schemas.microsoft.com/office/drawing/2014/main" id="{730DF218-86DF-431E-9EA5-E3D3ED519DF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712574" y="1980911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燕尾形 12">
            <a:extLst>
              <a:ext uri="{FF2B5EF4-FFF2-40B4-BE49-F238E27FC236}">
                <a16:creationId xmlns:a16="http://schemas.microsoft.com/office/drawing/2014/main" id="{5884D089-5F7E-46CD-B3C2-29EEDC75EEC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314305" y="1980911"/>
            <a:ext cx="3036464" cy="972463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20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Agent</a:t>
            </a:r>
            <a:r>
              <a:rPr lang="zh-CN" altLang="en-US" sz="20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价值量化</a:t>
            </a:r>
          </a:p>
        </p:txBody>
      </p:sp>
      <p:sp>
        <p:nvSpPr>
          <p:cNvPr id="13" name="矩形 13">
            <a:extLst>
              <a:ext uri="{FF2B5EF4-FFF2-40B4-BE49-F238E27FC236}">
                <a16:creationId xmlns:a16="http://schemas.microsoft.com/office/drawing/2014/main" id="{D99880CF-3C63-4177-959A-89764C6315D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23833" y="3094192"/>
            <a:ext cx="3036465" cy="895497"/>
          </a:xfrm>
          <a:prstGeom prst="rect">
            <a:avLst/>
          </a:prstGeom>
        </p:spPr>
        <p:txBody>
          <a:bodyPr wrap="square">
            <a:normAutofit fontScale="62500" lnSpcReduction="20000"/>
          </a:bodyPr>
          <a:lstStyle/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展示</a:t>
            </a:r>
            <a:r>
              <a:rPr lang="en-US" altLang="zh-CN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执行的步骤、调用工具的过程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人和</a:t>
            </a:r>
            <a:r>
              <a:rPr lang="en-US" altLang="zh-CN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在同一个场景里共同工作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对话记录沉淀为团队知识，并能被</a:t>
            </a:r>
            <a:r>
              <a:rPr lang="en-US" altLang="zh-CN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主动检索、应用。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6">
            <a:extLst>
              <a:ext uri="{FF2B5EF4-FFF2-40B4-BE49-F238E27FC236}">
                <a16:creationId xmlns:a16="http://schemas.microsoft.com/office/drawing/2014/main" id="{F286ECF2-D611-4302-9770-21C42D2D7E1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4304" y="3094192"/>
            <a:ext cx="3036465" cy="8954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9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团队重组</a:t>
            </a:r>
            <a:r>
              <a:rPr lang="en-US" altLang="zh-CN" sz="9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(</a:t>
            </a:r>
            <a:r>
              <a:rPr lang="zh-CN" altLang="en-US" sz="9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包含</a:t>
            </a:r>
            <a:r>
              <a:rPr lang="en-US" altLang="zh-CN" sz="9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Agent</a:t>
            </a:r>
            <a:r>
              <a:rPr lang="zh-CN" altLang="en-US" sz="9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、人</a:t>
            </a:r>
            <a:r>
              <a:rPr lang="en-US" altLang="zh-CN" sz="9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)</a:t>
            </a: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9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价值衡量和流转</a:t>
            </a:r>
            <a:endParaRPr lang="zh-CN" altLang="en-US" sz="9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矩形 5">
            <a:extLst>
              <a:ext uri="{FF2B5EF4-FFF2-40B4-BE49-F238E27FC236}">
                <a16:creationId xmlns:a16="http://schemas.microsoft.com/office/drawing/2014/main" id="{54C3DF15-91B2-4387-A308-B3658F9C86D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23833" y="4130507"/>
            <a:ext cx="8209555" cy="1543204"/>
          </a:xfrm>
          <a:prstGeom prst="rect">
            <a:avLst/>
          </a:prstGeom>
          <a:noFill/>
          <a:ln w="6350">
            <a:solidFill>
              <a:schemeClr val="accent1">
                <a:alpha val="2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6">
            <a:extLst>
              <a:ext uri="{FF2B5EF4-FFF2-40B4-BE49-F238E27FC236}">
                <a16:creationId xmlns:a16="http://schemas.microsoft.com/office/drawing/2014/main" id="{F40E3650-E298-44FC-8BCF-93DC0B4E321E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473073" y="4208528"/>
            <a:ext cx="4478129" cy="1255501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1800" marR="0" lvl="0" indent="-431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Arial" panose="020B0604020202020204" pitchFamily="34" charset="0"/>
              <a:buChar char="•"/>
            </a:pPr>
            <a:r>
              <a:rPr lang="en-US" altLang="zh-CN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Agent</a:t>
            </a: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与人如何一起工作</a:t>
            </a:r>
            <a:endParaRPr kumimoji="0" lang="zh-CN" altLang="en-US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431800" marR="0" lvl="0" indent="-431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Arial" panose="020B0604020202020204" pitchFamily="34" charset="0"/>
              <a:buChar char="•"/>
            </a:pPr>
            <a:r>
              <a:rPr lang="en-US" altLang="zh-CN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Agent</a:t>
            </a: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与人如何编排和管理</a:t>
            </a:r>
            <a:endParaRPr kumimoji="0" lang="en-US" altLang="zh-CN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431800" marR="0" lvl="0" indent="-431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Arial" panose="020B0604020202020204" pitchFamily="34" charset="0"/>
              <a:buChar char="•"/>
            </a:pP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解决组织如何组队，价值如何流转</a:t>
            </a:r>
            <a:endParaRPr kumimoji="0" lang="en-US" altLang="zh-CN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18" name="直接连接符 11">
            <a:extLst>
              <a:ext uri="{FF2B5EF4-FFF2-40B4-BE49-F238E27FC236}">
                <a16:creationId xmlns:a16="http://schemas.microsoft.com/office/drawing/2014/main" id="{7F5E47E4-A442-4584-ADCC-385DD7BF4995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4169067" y="4202840"/>
            <a:ext cx="0" cy="1363879"/>
          </a:xfrm>
          <a:prstGeom prst="line">
            <a:avLst/>
          </a:prstGeom>
          <a:ln w="635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7">
            <a:extLst>
              <a:ext uri="{FF2B5EF4-FFF2-40B4-BE49-F238E27FC236}">
                <a16:creationId xmlns:a16="http://schemas.microsoft.com/office/drawing/2014/main" id="{B5B589F8-541A-4ADA-AF11-BEB2718D577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327838" y="4274402"/>
            <a:ext cx="2537224" cy="1255414"/>
          </a:xfrm>
          <a:prstGeom prst="rect">
            <a:avLst/>
          </a:prstGeom>
          <a:ln>
            <a:noFill/>
          </a:ln>
        </p:spPr>
        <p:txBody>
          <a:bodyPr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 marR="0" lvl="0" indent="-381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v"/>
            </a:pPr>
            <a:r>
              <a:rPr kumimoji="0" lang="zh-CN" altLang="en-US" sz="2200" kern="1200" cap="none" spc="14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产品内核</a:t>
            </a:r>
          </a:p>
        </p:txBody>
      </p:sp>
      <p:sp>
        <p:nvSpPr>
          <p:cNvPr id="3" name="矩形 13">
            <a:extLst>
              <a:ext uri="{FF2B5EF4-FFF2-40B4-BE49-F238E27FC236}">
                <a16:creationId xmlns:a16="http://schemas.microsoft.com/office/drawing/2014/main" id="{BF2EB72A-9FA5-291E-C652-03D172F9623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114685" y="3094191"/>
            <a:ext cx="3036465" cy="8954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9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流程编排和管理</a:t>
            </a:r>
            <a:endParaRPr lang="en-US" altLang="zh-CN" sz="9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9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任务编排和管理</a:t>
            </a:r>
            <a:endParaRPr lang="en-US" altLang="zh-CN" sz="9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0570990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3822" y="881920"/>
            <a:ext cx="6630656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可靠协作</a:t>
            </a:r>
            <a:r>
              <a:rPr lang="en-US" altLang="zh-CN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的三大核心能力</a:t>
            </a:r>
          </a:p>
        </p:txBody>
      </p:sp>
      <p:sp>
        <p:nvSpPr>
          <p:cNvPr id="21" name="任意多边形 13">
            <a:extLst>
              <a:ext uri="{FF2B5EF4-FFF2-40B4-BE49-F238E27FC236}">
                <a16:creationId xmlns:a16="http://schemas.microsoft.com/office/drawing/2014/main" id="{A174CE3F-3A6C-424B-BA21-52A38F376CC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07851" y="1914308"/>
            <a:ext cx="3797409" cy="1723705"/>
          </a:xfrm>
          <a:custGeom>
            <a:avLst/>
            <a:gdLst>
              <a:gd name="adj" fmla="val 444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20" h="6629">
                <a:moveTo>
                  <a:pt x="277" y="0"/>
                </a:moveTo>
                <a:lnTo>
                  <a:pt x="6043" y="0"/>
                </a:lnTo>
                <a:cubicBezTo>
                  <a:pt x="6196" y="0"/>
                  <a:pt x="6320" y="124"/>
                  <a:pt x="6320" y="277"/>
                </a:cubicBezTo>
                <a:lnTo>
                  <a:pt x="6320" y="5963"/>
                </a:lnTo>
                <a:cubicBezTo>
                  <a:pt x="6320" y="6116"/>
                  <a:pt x="6196" y="6240"/>
                  <a:pt x="6043" y="6240"/>
                </a:cubicBezTo>
                <a:lnTo>
                  <a:pt x="1062" y="6240"/>
                </a:lnTo>
                <a:lnTo>
                  <a:pt x="673" y="6629"/>
                </a:lnTo>
                <a:lnTo>
                  <a:pt x="673" y="6240"/>
                </a:lnTo>
                <a:lnTo>
                  <a:pt x="277" y="6240"/>
                </a:lnTo>
                <a:cubicBezTo>
                  <a:pt x="124" y="6240"/>
                  <a:pt x="0" y="6116"/>
                  <a:pt x="0" y="5963"/>
                </a:cubicBezTo>
                <a:lnTo>
                  <a:pt x="0" y="277"/>
                </a:lnTo>
                <a:cubicBezTo>
                  <a:pt x="0" y="124"/>
                  <a:pt x="124" y="0"/>
                  <a:pt x="277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solidFill>
              <a:schemeClr val="dk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14">
            <a:extLst>
              <a:ext uri="{FF2B5EF4-FFF2-40B4-BE49-F238E27FC236}">
                <a16:creationId xmlns:a16="http://schemas.microsoft.com/office/drawing/2014/main" id="{11307F89-C688-4BD6-9615-FA36BE4B85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80837" y="2009825"/>
            <a:ext cx="3662710" cy="137951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0" marR="0" lvl="0" indent="0" algn="l" defTabSz="914400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altLang="en-US" sz="2400" spc="160" dirty="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共同的信息场</a:t>
            </a:r>
          </a:p>
          <a:p>
            <a:pPr marL="787400" lvl="1" indent="-3810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1600" spc="140" dirty="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可持续的、多模态的感知层</a:t>
            </a:r>
            <a:endParaRPr lang="en-US" altLang="zh-CN" sz="1600" spc="140" dirty="0">
              <a:solidFill>
                <a:schemeClr val="dk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87400" lvl="1" indent="-3810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1600" spc="140" dirty="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双向的信息对齐</a:t>
            </a:r>
            <a:endParaRPr lang="en-US" altLang="zh-CN" sz="1600" spc="140" dirty="0">
              <a:solidFill>
                <a:schemeClr val="dk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任意多边形 21">
            <a:extLst>
              <a:ext uri="{FF2B5EF4-FFF2-40B4-BE49-F238E27FC236}">
                <a16:creationId xmlns:a16="http://schemas.microsoft.com/office/drawing/2014/main" id="{48BC3E77-C350-4AFD-B3D3-8C65D44097E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078246" y="1911500"/>
            <a:ext cx="3942663" cy="1723705"/>
          </a:xfrm>
          <a:custGeom>
            <a:avLst/>
            <a:gdLst>
              <a:gd name="adj" fmla="val 444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20" h="6629">
                <a:moveTo>
                  <a:pt x="277" y="0"/>
                </a:moveTo>
                <a:lnTo>
                  <a:pt x="6043" y="0"/>
                </a:lnTo>
                <a:cubicBezTo>
                  <a:pt x="6196" y="0"/>
                  <a:pt x="6320" y="124"/>
                  <a:pt x="6320" y="277"/>
                </a:cubicBezTo>
                <a:lnTo>
                  <a:pt x="6320" y="5963"/>
                </a:lnTo>
                <a:cubicBezTo>
                  <a:pt x="6320" y="6116"/>
                  <a:pt x="6196" y="6240"/>
                  <a:pt x="6043" y="6240"/>
                </a:cubicBezTo>
                <a:lnTo>
                  <a:pt x="1062" y="6240"/>
                </a:lnTo>
                <a:lnTo>
                  <a:pt x="673" y="6629"/>
                </a:lnTo>
                <a:lnTo>
                  <a:pt x="673" y="6240"/>
                </a:lnTo>
                <a:lnTo>
                  <a:pt x="277" y="6240"/>
                </a:lnTo>
                <a:cubicBezTo>
                  <a:pt x="124" y="6240"/>
                  <a:pt x="0" y="6116"/>
                  <a:pt x="0" y="5963"/>
                </a:cubicBezTo>
                <a:lnTo>
                  <a:pt x="0" y="277"/>
                </a:lnTo>
                <a:cubicBezTo>
                  <a:pt x="0" y="124"/>
                  <a:pt x="124" y="0"/>
                  <a:pt x="277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solidFill>
              <a:schemeClr val="dk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2">
            <a:extLst>
              <a:ext uri="{FF2B5EF4-FFF2-40B4-BE49-F238E27FC236}">
                <a16:creationId xmlns:a16="http://schemas.microsoft.com/office/drawing/2014/main" id="{8890C47A-1C6D-4D6E-8750-0B9EC5D504F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171091" y="1970160"/>
            <a:ext cx="3849818" cy="1458840"/>
          </a:xfrm>
          <a:prstGeom prst="rect">
            <a:avLst/>
          </a:prstGeom>
          <a:noFill/>
        </p:spPr>
        <p:txBody>
          <a:bodyPr wrap="square" rtlCol="0" anchor="ctr" anchorCtr="0">
            <a:normAutofit fontScale="77500" lnSpcReduction="20000"/>
          </a:bodyPr>
          <a:lstStyle/>
          <a:p>
            <a:pPr marL="0" marR="0" lvl="0" indent="0" algn="l" defTabSz="914400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altLang="en-US" sz="2300" spc="120" dirty="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隐性的责任边界显性化</a:t>
            </a:r>
            <a:r>
              <a:rPr lang="zh-CN" altLang="en-US" sz="2000" spc="120" dirty="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marL="685800" lvl="1" indent="-330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1600" spc="100" dirty="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范围边界：确定本次任务的业务域是什么</a:t>
            </a:r>
          </a:p>
          <a:p>
            <a:pPr marL="685800" lvl="1" indent="-330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1600" spc="100" dirty="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决策边界：确定哪些事情自主决定</a:t>
            </a:r>
            <a:endParaRPr lang="en-US" altLang="zh-CN" sz="1600" spc="100" dirty="0">
              <a:solidFill>
                <a:schemeClr val="dk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85800" lvl="1" indent="-330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1600" spc="100" dirty="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停等条件：确定哪些条件下等待确认</a:t>
            </a:r>
          </a:p>
        </p:txBody>
      </p:sp>
      <p:grpSp>
        <p:nvGrpSpPr>
          <p:cNvPr id="26" name="组合 28">
            <a:extLst>
              <a:ext uri="{FF2B5EF4-FFF2-40B4-BE49-F238E27FC236}">
                <a16:creationId xmlns:a16="http://schemas.microsoft.com/office/drawing/2014/main" id="{0958F7FE-DDDC-440F-81B6-1B2C2D6D765C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 rot="5400000">
            <a:off x="272741" y="3712928"/>
            <a:ext cx="643631" cy="766026"/>
            <a:chOff x="3121" y="7415"/>
            <a:chExt cx="1220" cy="1452"/>
          </a:xfrm>
        </p:grpSpPr>
        <p:sp>
          <p:nvSpPr>
            <p:cNvPr id="27" name="空心弧 24">
              <a:extLst>
                <a:ext uri="{FF2B5EF4-FFF2-40B4-BE49-F238E27FC236}">
                  <a16:creationId xmlns:a16="http://schemas.microsoft.com/office/drawing/2014/main" id="{BE848164-3D42-44B7-99EC-70178DEE2A35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3121" y="7415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1"/>
            </a:solidFill>
            <a:ln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空心弧 26">
              <a:extLst>
                <a:ext uri="{FF2B5EF4-FFF2-40B4-BE49-F238E27FC236}">
                  <a16:creationId xmlns:a16="http://schemas.microsoft.com/office/drawing/2014/main" id="{8AA94806-78B4-4EEA-98A0-3B7C51E1DD76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 rot="10800000">
              <a:off x="3121" y="7647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1"/>
            </a:solidFill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29" name="文本框 27">
            <a:extLst>
              <a:ext uri="{FF2B5EF4-FFF2-40B4-BE49-F238E27FC236}">
                <a16:creationId xmlns:a16="http://schemas.microsoft.com/office/drawing/2014/main" id="{1F293B5D-C018-4BEE-8512-22AA90465E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48421" y="3912876"/>
            <a:ext cx="292799" cy="382485"/>
          </a:xfrm>
          <a:prstGeom prst="rect">
            <a:avLst/>
          </a:prstGeom>
          <a:noFill/>
        </p:spPr>
        <p:txBody>
          <a:bodyPr wrap="square" rtlCol="0">
            <a:normAutofit fontScale="87500" lnSpcReduction="2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pc="100" dirty="0">
                <a:solidFill>
                  <a:schemeClr val="dk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6A90C1E-632D-40F8-82A3-9217026F073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41377" y="3987262"/>
            <a:ext cx="217357" cy="217357"/>
          </a:xfrm>
          <a:prstGeom prst="ellipse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6CF43B08-1770-4896-9809-097A9CF74A6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21938" y="3987262"/>
            <a:ext cx="217357" cy="217357"/>
          </a:xfrm>
          <a:prstGeom prst="ellipse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2" name="组合 36">
            <a:extLst>
              <a:ext uri="{FF2B5EF4-FFF2-40B4-BE49-F238E27FC236}">
                <a16:creationId xmlns:a16="http://schemas.microsoft.com/office/drawing/2014/main" id="{1DF9DD83-D175-4974-846E-626CA4C3542E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 rot="5400000">
            <a:off x="4004744" y="3712927"/>
            <a:ext cx="643631" cy="766026"/>
            <a:chOff x="3121" y="7415"/>
            <a:chExt cx="1220" cy="1452"/>
          </a:xfrm>
        </p:grpSpPr>
        <p:sp>
          <p:nvSpPr>
            <p:cNvPr id="33" name="空心弧 37">
              <a:extLst>
                <a:ext uri="{FF2B5EF4-FFF2-40B4-BE49-F238E27FC236}">
                  <a16:creationId xmlns:a16="http://schemas.microsoft.com/office/drawing/2014/main" id="{F6538338-4F77-446B-9651-CB61B834583B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3121" y="7415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2"/>
            </a:solidFill>
            <a:ln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4" name="空心弧 38">
              <a:extLst>
                <a:ext uri="{FF2B5EF4-FFF2-40B4-BE49-F238E27FC236}">
                  <a16:creationId xmlns:a16="http://schemas.microsoft.com/office/drawing/2014/main" id="{224D03A0-5A93-4C05-8CD4-F8BB6E819DAE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 rot="10800000">
              <a:off x="3121" y="7647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2"/>
            </a:solidFill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5" name="文本框 39">
            <a:extLst>
              <a:ext uri="{FF2B5EF4-FFF2-40B4-BE49-F238E27FC236}">
                <a16:creationId xmlns:a16="http://schemas.microsoft.com/office/drawing/2014/main" id="{785977CD-73BD-46C3-A58D-6C977BA82A4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180423" y="3912875"/>
            <a:ext cx="292799" cy="382485"/>
          </a:xfrm>
          <a:prstGeom prst="rect">
            <a:avLst/>
          </a:prstGeom>
          <a:noFill/>
        </p:spPr>
        <p:txBody>
          <a:bodyPr wrap="square" rtlCol="0">
            <a:normAutofit fontScale="87500" lnSpcReduction="2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pc="100">
                <a:solidFill>
                  <a:schemeClr val="dk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</a:p>
        </p:txBody>
      </p:sp>
      <p:sp>
        <p:nvSpPr>
          <p:cNvPr id="36" name="椭圆 40">
            <a:extLst>
              <a:ext uri="{FF2B5EF4-FFF2-40B4-BE49-F238E27FC236}">
                <a16:creationId xmlns:a16="http://schemas.microsoft.com/office/drawing/2014/main" id="{94CF08F9-B0C3-465A-906D-5B398F6A675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726190" y="3987262"/>
            <a:ext cx="217357" cy="217357"/>
          </a:xfrm>
          <a:prstGeom prst="ellipse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椭圆 47">
            <a:extLst>
              <a:ext uri="{FF2B5EF4-FFF2-40B4-BE49-F238E27FC236}">
                <a16:creationId xmlns:a16="http://schemas.microsoft.com/office/drawing/2014/main" id="{8B70E486-A578-469C-ACAF-24B52CB3E81F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406750" y="3987262"/>
            <a:ext cx="217357" cy="217357"/>
          </a:xfrm>
          <a:prstGeom prst="ellipse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8" name="直接连接符 48">
            <a:extLst>
              <a:ext uri="{FF2B5EF4-FFF2-40B4-BE49-F238E27FC236}">
                <a16:creationId xmlns:a16="http://schemas.microsoft.com/office/drawing/2014/main" id="{4825FE96-2465-4200-84ED-C4825907D96B}"/>
              </a:ext>
            </a:extLst>
          </p:cNvPr>
          <p:cNvCxnSpPr>
            <a:cxnSpLocks/>
            <a:stCxn id="31" idx="6"/>
            <a:endCxn id="36" idx="2"/>
          </p:cNvCxnSpPr>
          <p:nvPr>
            <p:custDataLst>
              <p:tags r:id="rId13"/>
            </p:custDataLst>
          </p:nvPr>
        </p:nvCxnSpPr>
        <p:spPr>
          <a:xfrm>
            <a:off x="1039295" y="4095941"/>
            <a:ext cx="2686895" cy="0"/>
          </a:xfrm>
          <a:prstGeom prst="line">
            <a:avLst/>
          </a:prstGeom>
          <a:ln w="12700">
            <a:solidFill>
              <a:schemeClr val="dk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49">
            <a:extLst>
              <a:ext uri="{FF2B5EF4-FFF2-40B4-BE49-F238E27FC236}">
                <a16:creationId xmlns:a16="http://schemas.microsoft.com/office/drawing/2014/main" id="{41A5EEEB-5400-4276-95D3-29CF8DD211C6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>
          <a:xfrm>
            <a:off x="4771297" y="4095940"/>
            <a:ext cx="3249612" cy="0"/>
          </a:xfrm>
          <a:prstGeom prst="line">
            <a:avLst/>
          </a:prstGeom>
          <a:ln w="12700">
            <a:solidFill>
              <a:schemeClr val="dk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21">
            <a:extLst>
              <a:ext uri="{FF2B5EF4-FFF2-40B4-BE49-F238E27FC236}">
                <a16:creationId xmlns:a16="http://schemas.microsoft.com/office/drawing/2014/main" id="{BAD78554-5C82-A079-FE22-EB4964A81F00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113754" y="1911500"/>
            <a:ext cx="3942663" cy="1723705"/>
          </a:xfrm>
          <a:custGeom>
            <a:avLst/>
            <a:gdLst>
              <a:gd name="adj" fmla="val 444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20" h="6629">
                <a:moveTo>
                  <a:pt x="277" y="0"/>
                </a:moveTo>
                <a:lnTo>
                  <a:pt x="6043" y="0"/>
                </a:lnTo>
                <a:cubicBezTo>
                  <a:pt x="6196" y="0"/>
                  <a:pt x="6320" y="124"/>
                  <a:pt x="6320" y="277"/>
                </a:cubicBezTo>
                <a:lnTo>
                  <a:pt x="6320" y="5963"/>
                </a:lnTo>
                <a:cubicBezTo>
                  <a:pt x="6320" y="6116"/>
                  <a:pt x="6196" y="6240"/>
                  <a:pt x="6043" y="6240"/>
                </a:cubicBezTo>
                <a:lnTo>
                  <a:pt x="1062" y="6240"/>
                </a:lnTo>
                <a:lnTo>
                  <a:pt x="673" y="6629"/>
                </a:lnTo>
                <a:lnTo>
                  <a:pt x="673" y="6240"/>
                </a:lnTo>
                <a:lnTo>
                  <a:pt x="277" y="6240"/>
                </a:lnTo>
                <a:cubicBezTo>
                  <a:pt x="124" y="6240"/>
                  <a:pt x="0" y="6116"/>
                  <a:pt x="0" y="5963"/>
                </a:cubicBezTo>
                <a:lnTo>
                  <a:pt x="0" y="277"/>
                </a:lnTo>
                <a:cubicBezTo>
                  <a:pt x="0" y="124"/>
                  <a:pt x="124" y="0"/>
                  <a:pt x="277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solidFill>
              <a:schemeClr val="dk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22">
            <a:extLst>
              <a:ext uri="{FF2B5EF4-FFF2-40B4-BE49-F238E27FC236}">
                <a16:creationId xmlns:a16="http://schemas.microsoft.com/office/drawing/2014/main" id="{D6605F58-3B47-67D6-8686-048894AF2B33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206599" y="1970160"/>
            <a:ext cx="3642989" cy="145884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0" marR="0" lvl="0" indent="0" algn="l" defTabSz="914400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altLang="en-US" sz="2300" spc="120" dirty="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对话意图和执行意图分离</a:t>
            </a:r>
            <a:r>
              <a:rPr lang="zh-CN" altLang="en-US" sz="2000" spc="120" dirty="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marL="685800" lvl="1" indent="-330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1600" spc="100" dirty="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有能力区分是新对话还是对刚才的确认回复</a:t>
            </a:r>
          </a:p>
        </p:txBody>
      </p:sp>
      <p:grpSp>
        <p:nvGrpSpPr>
          <p:cNvPr id="7" name="组合 36">
            <a:extLst>
              <a:ext uri="{FF2B5EF4-FFF2-40B4-BE49-F238E27FC236}">
                <a16:creationId xmlns:a16="http://schemas.microsoft.com/office/drawing/2014/main" id="{1926BBCF-7FAA-DAC1-9D04-8BB5E25FC0B8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 rot="5400000">
            <a:off x="8082106" y="3712928"/>
            <a:ext cx="643631" cy="766026"/>
            <a:chOff x="3121" y="7415"/>
            <a:chExt cx="1220" cy="1452"/>
          </a:xfrm>
        </p:grpSpPr>
        <p:sp>
          <p:nvSpPr>
            <p:cNvPr id="8" name="空心弧 37">
              <a:extLst>
                <a:ext uri="{FF2B5EF4-FFF2-40B4-BE49-F238E27FC236}">
                  <a16:creationId xmlns:a16="http://schemas.microsoft.com/office/drawing/2014/main" id="{BBFBA2CA-15D5-177E-F9B4-4FD9C425AFF9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3121" y="7415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2"/>
            </a:solidFill>
            <a:ln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" name="空心弧 38">
              <a:extLst>
                <a:ext uri="{FF2B5EF4-FFF2-40B4-BE49-F238E27FC236}">
                  <a16:creationId xmlns:a16="http://schemas.microsoft.com/office/drawing/2014/main" id="{D7050868-4514-0EAB-0676-4C373BA8CD83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rot="10800000">
              <a:off x="3121" y="7647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2"/>
            </a:solidFill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0" name="文本框 39">
            <a:extLst>
              <a:ext uri="{FF2B5EF4-FFF2-40B4-BE49-F238E27FC236}">
                <a16:creationId xmlns:a16="http://schemas.microsoft.com/office/drawing/2014/main" id="{949E362B-7DBB-9069-36E5-394728D76783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257785" y="3912876"/>
            <a:ext cx="292799" cy="382485"/>
          </a:xfrm>
          <a:prstGeom prst="rect">
            <a:avLst/>
          </a:prstGeom>
          <a:noFill/>
        </p:spPr>
        <p:txBody>
          <a:bodyPr wrap="square" rtlCol="0">
            <a:normAutofit fontScale="87500" lnSpcReduction="2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pc="100" dirty="0">
                <a:solidFill>
                  <a:schemeClr val="dk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</a:p>
        </p:txBody>
      </p:sp>
      <p:sp>
        <p:nvSpPr>
          <p:cNvPr id="11" name="椭圆 40">
            <a:extLst>
              <a:ext uri="{FF2B5EF4-FFF2-40B4-BE49-F238E27FC236}">
                <a16:creationId xmlns:a16="http://schemas.microsoft.com/office/drawing/2014/main" id="{9BBADF25-4DAC-199C-DEA8-ACEC308AD5F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803552" y="3987263"/>
            <a:ext cx="217357" cy="217357"/>
          </a:xfrm>
          <a:prstGeom prst="ellipse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椭圆 47">
            <a:extLst>
              <a:ext uri="{FF2B5EF4-FFF2-40B4-BE49-F238E27FC236}">
                <a16:creationId xmlns:a16="http://schemas.microsoft.com/office/drawing/2014/main" id="{4BC1CC01-B910-3451-CC29-A7B388049087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8484112" y="3987263"/>
            <a:ext cx="217357" cy="217357"/>
          </a:xfrm>
          <a:prstGeom prst="ellipse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3" name="直接连接符 49">
            <a:extLst>
              <a:ext uri="{FF2B5EF4-FFF2-40B4-BE49-F238E27FC236}">
                <a16:creationId xmlns:a16="http://schemas.microsoft.com/office/drawing/2014/main" id="{6D69146A-388C-A6B2-62AA-2CBA116D18E6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>
          <a:xfrm>
            <a:off x="8848659" y="4095941"/>
            <a:ext cx="3249612" cy="0"/>
          </a:xfrm>
          <a:prstGeom prst="line">
            <a:avLst/>
          </a:prstGeom>
          <a:ln w="12700">
            <a:solidFill>
              <a:schemeClr val="dk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5">
            <a:extLst>
              <a:ext uri="{FF2B5EF4-FFF2-40B4-BE49-F238E27FC236}">
                <a16:creationId xmlns:a16="http://schemas.microsoft.com/office/drawing/2014/main" id="{0A031C3A-A47C-AFF9-17D5-21A6A1A068EA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1039295" y="4785957"/>
            <a:ext cx="8209555" cy="1543204"/>
          </a:xfrm>
          <a:prstGeom prst="rect">
            <a:avLst/>
          </a:prstGeom>
          <a:noFill/>
          <a:ln w="6350">
            <a:solidFill>
              <a:schemeClr val="accent1">
                <a:alpha val="2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6">
            <a:extLst>
              <a:ext uri="{FF2B5EF4-FFF2-40B4-BE49-F238E27FC236}">
                <a16:creationId xmlns:a16="http://schemas.microsoft.com/office/drawing/2014/main" id="{00DE4794-3E16-2E81-1CB9-306CF4F9EC04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4488535" y="4863978"/>
            <a:ext cx="4478129" cy="1255501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1800" marR="0" lvl="0" indent="-431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Arial" panose="020B0604020202020204" pitchFamily="34" charset="0"/>
              <a:buChar char="•"/>
            </a:pP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事前：确认责任合同，边界显性化、共识化</a:t>
            </a:r>
            <a:endParaRPr kumimoji="0" lang="zh-CN" altLang="en-US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431800" marR="0" lvl="0" indent="-431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Arial" panose="020B0604020202020204" pitchFamily="34" charset="0"/>
              <a:buChar char="•"/>
            </a:pP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事中：声明式停等点</a:t>
            </a:r>
            <a:r>
              <a:rPr lang="en-US" altLang="zh-CN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+</a:t>
            </a: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动态触发</a:t>
            </a:r>
            <a:endParaRPr kumimoji="0" lang="en-US" altLang="zh-CN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431800" marR="0" lvl="0" indent="-431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Arial" panose="020B0604020202020204" pitchFamily="34" charset="0"/>
              <a:buChar char="•"/>
            </a:pP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事后：意图分离设计，在停等点的介入被精确理解，任务流不偏离</a:t>
            </a:r>
            <a:endParaRPr kumimoji="0" lang="en-US" altLang="zh-CN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16" name="直接连接符 11">
            <a:extLst>
              <a:ext uri="{FF2B5EF4-FFF2-40B4-BE49-F238E27FC236}">
                <a16:creationId xmlns:a16="http://schemas.microsoft.com/office/drawing/2014/main" id="{6B2FBA44-D675-5262-EB09-437541FEBEAF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>
          <a:xfrm>
            <a:off x="4184529" y="4858290"/>
            <a:ext cx="0" cy="1363879"/>
          </a:xfrm>
          <a:prstGeom prst="line">
            <a:avLst/>
          </a:prstGeom>
          <a:ln w="635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7">
            <a:extLst>
              <a:ext uri="{FF2B5EF4-FFF2-40B4-BE49-F238E27FC236}">
                <a16:creationId xmlns:a16="http://schemas.microsoft.com/office/drawing/2014/main" id="{3B2FE3E0-CEAA-C3F9-C86A-EFABD9808C4C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1343300" y="4929852"/>
            <a:ext cx="2537224" cy="1255414"/>
          </a:xfrm>
          <a:prstGeom prst="rect">
            <a:avLst/>
          </a:prstGeom>
          <a:ln>
            <a:noFill/>
          </a:ln>
        </p:spPr>
        <p:txBody>
          <a:bodyPr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 marR="0" lvl="0" indent="-381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v"/>
            </a:pPr>
            <a:r>
              <a:rPr lang="zh-CN" altLang="en-US" sz="22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治理协议</a:t>
            </a:r>
            <a:endParaRPr kumimoji="0" lang="zh-CN" altLang="en-US" sz="2200" kern="1200" cap="none" spc="14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4803187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759689" y="1826333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4376232" y="1821789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zh-CN" altLang="en-US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核心目标</a:t>
            </a:r>
          </a:p>
        </p:txBody>
      </p:sp>
      <p:sp>
        <p:nvSpPr>
          <p:cNvPr id="43" name="文本框 42"/>
          <p:cNvSpPr txBox="1"/>
          <p:nvPr>
            <p:custDataLst>
              <p:tags r:id="rId4"/>
            </p:custDataLst>
          </p:nvPr>
        </p:nvSpPr>
        <p:spPr>
          <a:xfrm>
            <a:off x="4376232" y="2702803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zh-CN" altLang="en-US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+mn-ea"/>
              </a:rPr>
              <a:t>技术架构</a:t>
            </a:r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9689" y="2705055"/>
            <a:ext cx="616585" cy="52324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3759692" y="3575223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5384EE"/>
                </a:solidFill>
                <a:effectLst/>
                <a:uLnTx/>
                <a:uFillTx/>
                <a:latin typeface="Algerian" panose="04020705040A02060702" pitchFamily="82" charset="0"/>
                <a:ea typeface="Microsoft YaHei" panose="020B0503020204020204" pitchFamily="34" charset="-122"/>
              </a:rPr>
              <a:t>03</a:t>
            </a:r>
          </a:p>
        </p:txBody>
      </p:sp>
      <p:sp>
        <p:nvSpPr>
          <p:cNvPr id="57" name="文本框 56"/>
          <p:cNvSpPr txBox="1"/>
          <p:nvPr>
            <p:custDataLst>
              <p:tags r:id="rId7"/>
            </p:custDataLst>
          </p:nvPr>
        </p:nvSpPr>
        <p:spPr>
          <a:xfrm>
            <a:off x="4376232" y="3577011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</a:rPr>
              <a:t>团队与计划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618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3823" y="816878"/>
            <a:ext cx="8307839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层级架构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9342F6-5CD4-3C23-BC42-0829E73DA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23" y="1393141"/>
            <a:ext cx="10920777" cy="49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3795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A2C32-4043-7265-64E0-0457A5BB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EFBC2A-BF0A-348B-99FE-48808A3E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3" y="816878"/>
            <a:ext cx="8307839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层级架构</a:t>
            </a:r>
          </a:p>
        </p:txBody>
      </p:sp>
      <p:grpSp>
        <p:nvGrpSpPr>
          <p:cNvPr id="11" name="组合 15">
            <a:extLst>
              <a:ext uri="{FF2B5EF4-FFF2-40B4-BE49-F238E27FC236}">
                <a16:creationId xmlns:a16="http://schemas.microsoft.com/office/drawing/2014/main" id="{ACD9D9F2-D909-91FF-5D70-08B73024E3DE}"/>
              </a:ext>
            </a:extLst>
          </p:cNvPr>
          <p:cNvGrpSpPr/>
          <p:nvPr/>
        </p:nvGrpSpPr>
        <p:grpSpPr>
          <a:xfrm>
            <a:off x="483823" y="1634266"/>
            <a:ext cx="10466955" cy="3026634"/>
            <a:chOff x="946493" y="2330287"/>
            <a:chExt cx="10340211" cy="2727685"/>
          </a:xfrm>
          <a:solidFill>
            <a:schemeClr val="bg2"/>
          </a:solidFill>
        </p:grpSpPr>
        <p:sp>
          <p:nvSpPr>
            <p:cNvPr id="12" name="矩形: 圆角 6">
              <a:extLst>
                <a:ext uri="{FF2B5EF4-FFF2-40B4-BE49-F238E27FC236}">
                  <a16:creationId xmlns:a16="http://schemas.microsoft.com/office/drawing/2014/main" id="{5CFF9F7B-4184-37C6-4CAB-A408B518468E}"/>
                </a:ext>
              </a:extLst>
            </p:cNvPr>
            <p:cNvSpPr/>
            <p:nvPr/>
          </p:nvSpPr>
          <p:spPr>
            <a:xfrm>
              <a:off x="6269253" y="2524672"/>
              <a:ext cx="5017451" cy="2533300"/>
            </a:xfrm>
            <a:prstGeom prst="roundRect">
              <a:avLst>
                <a:gd name="adj" fmla="val 7662"/>
              </a:avLst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7">
              <a:extLst>
                <a:ext uri="{FF2B5EF4-FFF2-40B4-BE49-F238E27FC236}">
                  <a16:creationId xmlns:a16="http://schemas.microsoft.com/office/drawing/2014/main" id="{C4E563A0-819F-9E7D-8E6E-A67129D0B863}"/>
                </a:ext>
              </a:extLst>
            </p:cNvPr>
            <p:cNvSpPr txBox="1"/>
            <p:nvPr/>
          </p:nvSpPr>
          <p:spPr>
            <a:xfrm>
              <a:off x="6676005" y="2330287"/>
              <a:ext cx="2296085" cy="250194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Gateway</a:t>
              </a:r>
              <a:endParaRPr lang="en-US" altLang="zh-CN" b="1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: 圆角 9">
              <a:extLst>
                <a:ext uri="{FF2B5EF4-FFF2-40B4-BE49-F238E27FC236}">
                  <a16:creationId xmlns:a16="http://schemas.microsoft.com/office/drawing/2014/main" id="{5218325E-7711-F1B6-B8BB-73CAF1EAEB05}"/>
                </a:ext>
              </a:extLst>
            </p:cNvPr>
            <p:cNvSpPr/>
            <p:nvPr/>
          </p:nvSpPr>
          <p:spPr>
            <a:xfrm>
              <a:off x="946493" y="2521632"/>
              <a:ext cx="4667755" cy="2533300"/>
            </a:xfrm>
            <a:prstGeom prst="roundRect">
              <a:avLst>
                <a:gd name="adj" fmla="val 7662"/>
              </a:avLst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0">
              <a:extLst>
                <a:ext uri="{FF2B5EF4-FFF2-40B4-BE49-F238E27FC236}">
                  <a16:creationId xmlns:a16="http://schemas.microsoft.com/office/drawing/2014/main" id="{C3457961-ECB5-0222-27DE-919A83EE0004}"/>
                </a:ext>
              </a:extLst>
            </p:cNvPr>
            <p:cNvSpPr txBox="1"/>
            <p:nvPr/>
          </p:nvSpPr>
          <p:spPr>
            <a:xfrm>
              <a:off x="1449217" y="2336966"/>
              <a:ext cx="1683856" cy="250194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i="0" u="none" strike="noStrike" baseline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Web</a:t>
              </a:r>
              <a:r>
                <a:rPr lang="zh-CN" altLang="en-US" b="1" i="0" u="none" strike="noStrike" baseline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b="1" i="0" u="none" strike="noStrike" baseline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UI</a:t>
              </a:r>
            </a:p>
          </p:txBody>
        </p:sp>
        <p:sp>
          <p:nvSpPr>
            <p:cNvPr id="17" name="文本框 11">
              <a:extLst>
                <a:ext uri="{FF2B5EF4-FFF2-40B4-BE49-F238E27FC236}">
                  <a16:creationId xmlns:a16="http://schemas.microsoft.com/office/drawing/2014/main" id="{48AA5C97-A6B7-87A0-A564-71BD05B15E53}"/>
                </a:ext>
              </a:extLst>
            </p:cNvPr>
            <p:cNvSpPr txBox="1"/>
            <p:nvPr/>
          </p:nvSpPr>
          <p:spPr>
            <a:xfrm>
              <a:off x="1213752" y="2850546"/>
              <a:ext cx="4133234" cy="50132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面向用户提供多渠道的交互界面和对话工具</a:t>
              </a:r>
              <a:endParaRPr lang="en-US" altLang="zh-CN" sz="2000" dirty="0"/>
            </a:p>
          </p:txBody>
        </p:sp>
      </p:grpSp>
      <p:sp>
        <p:nvSpPr>
          <p:cNvPr id="20" name="文本框 11">
            <a:extLst>
              <a:ext uri="{FF2B5EF4-FFF2-40B4-BE49-F238E27FC236}">
                <a16:creationId xmlns:a16="http://schemas.microsoft.com/office/drawing/2014/main" id="{56290B96-73B6-C7EA-5FF6-F3F5A5169E80}"/>
              </a:ext>
            </a:extLst>
          </p:cNvPr>
          <p:cNvSpPr txBox="1"/>
          <p:nvPr/>
        </p:nvSpPr>
        <p:spPr>
          <a:xfrm>
            <a:off x="6096000" y="1991265"/>
            <a:ext cx="4183897" cy="232852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是</a:t>
            </a:r>
            <a:r>
              <a: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Agent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的核心运行时，负责链接管理、请求接入、配置热加载、系统监控等基础治理工作，是整个系统常驻运行、接收消息、回复消息、维持状态的核心。</a:t>
            </a:r>
          </a:p>
        </p:txBody>
      </p:sp>
    </p:spTree>
    <p:extLst>
      <p:ext uri="{BB962C8B-B14F-4D97-AF65-F5344CB8AC3E}">
        <p14:creationId xmlns:p14="http://schemas.microsoft.com/office/powerpoint/2010/main" val="2554170264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CCC35-B2A1-6980-F775-F45E9051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B7C442-661F-F7C9-565A-08C66F14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3" y="816878"/>
            <a:ext cx="8307839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层级架构</a:t>
            </a:r>
          </a:p>
        </p:txBody>
      </p:sp>
      <p:grpSp>
        <p:nvGrpSpPr>
          <p:cNvPr id="11" name="组合 15">
            <a:extLst>
              <a:ext uri="{FF2B5EF4-FFF2-40B4-BE49-F238E27FC236}">
                <a16:creationId xmlns:a16="http://schemas.microsoft.com/office/drawing/2014/main" id="{B2DA883C-14F0-36D7-0410-60652C166957}"/>
              </a:ext>
            </a:extLst>
          </p:cNvPr>
          <p:cNvGrpSpPr/>
          <p:nvPr/>
        </p:nvGrpSpPr>
        <p:grpSpPr>
          <a:xfrm>
            <a:off x="483823" y="1641677"/>
            <a:ext cx="7313976" cy="4708323"/>
            <a:chOff x="946493" y="2336966"/>
            <a:chExt cx="8420056" cy="4243268"/>
          </a:xfrm>
          <a:solidFill>
            <a:schemeClr val="bg2"/>
          </a:solidFill>
        </p:grpSpPr>
        <p:sp>
          <p:nvSpPr>
            <p:cNvPr id="12" name="矩形: 圆角 6">
              <a:extLst>
                <a:ext uri="{FF2B5EF4-FFF2-40B4-BE49-F238E27FC236}">
                  <a16:creationId xmlns:a16="http://schemas.microsoft.com/office/drawing/2014/main" id="{15B097A2-613F-8E7E-42A6-831760152BDC}"/>
                </a:ext>
              </a:extLst>
            </p:cNvPr>
            <p:cNvSpPr/>
            <p:nvPr/>
          </p:nvSpPr>
          <p:spPr>
            <a:xfrm>
              <a:off x="4828997" y="2507812"/>
              <a:ext cx="4537552" cy="4055562"/>
            </a:xfrm>
            <a:prstGeom prst="roundRect">
              <a:avLst>
                <a:gd name="adj" fmla="val 7662"/>
              </a:avLst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7">
              <a:extLst>
                <a:ext uri="{FF2B5EF4-FFF2-40B4-BE49-F238E27FC236}">
                  <a16:creationId xmlns:a16="http://schemas.microsoft.com/office/drawing/2014/main" id="{048ADCFF-9273-5466-8E17-9F5F45941645}"/>
                </a:ext>
              </a:extLst>
            </p:cNvPr>
            <p:cNvSpPr txBox="1"/>
            <p:nvPr/>
          </p:nvSpPr>
          <p:spPr>
            <a:xfrm>
              <a:off x="5275231" y="2336966"/>
              <a:ext cx="2296085" cy="429934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Plugin</a:t>
              </a:r>
              <a:endParaRPr lang="en-US" altLang="zh-CN" b="1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: 圆角 9">
              <a:extLst>
                <a:ext uri="{FF2B5EF4-FFF2-40B4-BE49-F238E27FC236}">
                  <a16:creationId xmlns:a16="http://schemas.microsoft.com/office/drawing/2014/main" id="{AA8C847A-1C03-2C53-10F0-3A08928C5E32}"/>
                </a:ext>
              </a:extLst>
            </p:cNvPr>
            <p:cNvSpPr/>
            <p:nvPr/>
          </p:nvSpPr>
          <p:spPr>
            <a:xfrm>
              <a:off x="946493" y="2521632"/>
              <a:ext cx="3615245" cy="4058602"/>
            </a:xfrm>
            <a:prstGeom prst="roundRect">
              <a:avLst>
                <a:gd name="adj" fmla="val 7662"/>
              </a:avLst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0">
              <a:extLst>
                <a:ext uri="{FF2B5EF4-FFF2-40B4-BE49-F238E27FC236}">
                  <a16:creationId xmlns:a16="http://schemas.microsoft.com/office/drawing/2014/main" id="{9BCB80AD-386D-8BD9-1476-395CC13C5125}"/>
                </a:ext>
              </a:extLst>
            </p:cNvPr>
            <p:cNvSpPr txBox="1"/>
            <p:nvPr/>
          </p:nvSpPr>
          <p:spPr>
            <a:xfrm>
              <a:off x="1449216" y="2336966"/>
              <a:ext cx="2155866" cy="429934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i="0" u="none" strike="noStrike" baseline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消息处理层</a:t>
              </a:r>
              <a:endParaRPr lang="en-US" altLang="zh-CN" b="1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1">
              <a:extLst>
                <a:ext uri="{FF2B5EF4-FFF2-40B4-BE49-F238E27FC236}">
                  <a16:creationId xmlns:a16="http://schemas.microsoft.com/office/drawing/2014/main" id="{3A68F9CC-3195-A5F1-8FE5-51261AB671DC}"/>
                </a:ext>
              </a:extLst>
            </p:cNvPr>
            <p:cNvSpPr txBox="1"/>
            <p:nvPr/>
          </p:nvSpPr>
          <p:spPr>
            <a:xfrm>
              <a:off x="1213752" y="2850546"/>
              <a:ext cx="3174984" cy="252823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这是业务流转的核心：</a:t>
              </a:r>
              <a:endPara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altLang="zh-CN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Agent</a:t>
              </a:r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执行器</a:t>
              </a:r>
              <a:endParaRPr lang="en-US" altLang="zh-CN" sz="16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路由消息</a:t>
              </a:r>
              <a:endParaRPr lang="en-US" altLang="zh-CN" sz="16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会话管理</a:t>
              </a:r>
              <a:endParaRPr lang="en-US" altLang="zh-CN" sz="16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媒体处理</a:t>
              </a:r>
              <a:endParaRPr lang="en-US" altLang="zh-CN" sz="16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出站投递</a:t>
              </a:r>
              <a:endParaRPr lang="en-US" altLang="zh-CN" sz="16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algn="l">
                <a:lnSpc>
                  <a:spcPct val="150000"/>
                </a:lnSpc>
              </a:pPr>
              <a:endParaRPr lang="en-US" altLang="zh-CN" sz="2000" dirty="0"/>
            </a:p>
          </p:txBody>
        </p:sp>
      </p:grpSp>
      <p:sp>
        <p:nvSpPr>
          <p:cNvPr id="20" name="文本框 11">
            <a:extLst>
              <a:ext uri="{FF2B5EF4-FFF2-40B4-BE49-F238E27FC236}">
                <a16:creationId xmlns:a16="http://schemas.microsoft.com/office/drawing/2014/main" id="{B04693CC-5882-D7B6-3B29-96C81A145393}"/>
              </a:ext>
            </a:extLst>
          </p:cNvPr>
          <p:cNvSpPr txBox="1"/>
          <p:nvPr/>
        </p:nvSpPr>
        <p:spPr>
          <a:xfrm>
            <a:off x="4023551" y="2211544"/>
            <a:ext cx="3266249" cy="234294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所有的插件可插拔在这里：</a:t>
            </a:r>
            <a:endParaRPr lang="en-US" altLang="zh-CN" sz="20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SimHei" panose="02010609060101010101" pitchFamily="49" charset="-122"/>
                <a:ea typeface="SimHei" panose="02010609060101010101" pitchFamily="49" charset="-122"/>
              </a:rPr>
              <a:t>通道插件：面向用户的交互</a:t>
            </a:r>
            <a:endParaRPr lang="en-US" altLang="zh-CN" sz="16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SimHei" panose="02010609060101010101" pitchFamily="49" charset="-122"/>
                <a:ea typeface="SimHei" panose="02010609060101010101" pitchFamily="49" charset="-122"/>
              </a:rPr>
              <a:t>工具插件</a:t>
            </a:r>
            <a:endParaRPr lang="en-US" altLang="zh-CN" sz="16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SimHei" panose="02010609060101010101" pitchFamily="49" charset="-122"/>
                <a:ea typeface="SimHei" panose="02010609060101010101" pitchFamily="49" charset="-122"/>
              </a:rPr>
              <a:t>记忆插件</a:t>
            </a:r>
            <a:endParaRPr lang="en-US" altLang="zh-CN" sz="16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SimHei" panose="02010609060101010101" pitchFamily="49" charset="-122"/>
                <a:ea typeface="SimHei" panose="02010609060101010101" pitchFamily="49" charset="-122"/>
              </a:rPr>
              <a:t>大模型插件</a:t>
            </a:r>
            <a:endParaRPr lang="en-US" altLang="zh-CN" sz="16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1600" dirty="0">
                <a:latin typeface="SimHei" panose="02010609060101010101" pitchFamily="49" charset="-122"/>
                <a:ea typeface="SimHei" panose="02010609060101010101" pitchFamily="49" charset="-122"/>
              </a:rPr>
              <a:t>…</a:t>
            </a:r>
            <a:endParaRPr lang="zh-CN" altLang="en-US" sz="16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9538544D-E826-976F-DD4E-13C8E8D404F5}"/>
              </a:ext>
            </a:extLst>
          </p:cNvPr>
          <p:cNvGrpSpPr/>
          <p:nvPr/>
        </p:nvGrpSpPr>
        <p:grpSpPr>
          <a:xfrm>
            <a:off x="7948074" y="1645055"/>
            <a:ext cx="3527952" cy="4686238"/>
            <a:chOff x="946494" y="2356870"/>
            <a:chExt cx="3229605" cy="4223364"/>
          </a:xfrm>
          <a:solidFill>
            <a:schemeClr val="bg2"/>
          </a:solidFill>
        </p:grpSpPr>
        <p:sp>
          <p:nvSpPr>
            <p:cNvPr id="6" name="矩形: 圆角 9">
              <a:extLst>
                <a:ext uri="{FF2B5EF4-FFF2-40B4-BE49-F238E27FC236}">
                  <a16:creationId xmlns:a16="http://schemas.microsoft.com/office/drawing/2014/main" id="{1E4D2891-2D41-DB95-587C-B5B63FECEF52}"/>
                </a:ext>
              </a:extLst>
            </p:cNvPr>
            <p:cNvSpPr/>
            <p:nvPr/>
          </p:nvSpPr>
          <p:spPr>
            <a:xfrm>
              <a:off x="946494" y="2521632"/>
              <a:ext cx="3229605" cy="4058602"/>
            </a:xfrm>
            <a:prstGeom prst="roundRect">
              <a:avLst>
                <a:gd name="adj" fmla="val 7662"/>
              </a:avLst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10">
              <a:extLst>
                <a:ext uri="{FF2B5EF4-FFF2-40B4-BE49-F238E27FC236}">
                  <a16:creationId xmlns:a16="http://schemas.microsoft.com/office/drawing/2014/main" id="{7EA173A8-1680-FAD4-CF3D-E34EDBAAAA05}"/>
                </a:ext>
              </a:extLst>
            </p:cNvPr>
            <p:cNvSpPr txBox="1"/>
            <p:nvPr/>
          </p:nvSpPr>
          <p:spPr>
            <a:xfrm>
              <a:off x="1163764" y="2356870"/>
              <a:ext cx="2155866" cy="429934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基础设施</a:t>
              </a:r>
              <a:endParaRPr lang="en-US" altLang="zh-CN" b="1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11">
              <a:extLst>
                <a:ext uri="{FF2B5EF4-FFF2-40B4-BE49-F238E27FC236}">
                  <a16:creationId xmlns:a16="http://schemas.microsoft.com/office/drawing/2014/main" id="{678B1D75-0FAC-136B-DAFA-81A2061778F6}"/>
                </a:ext>
              </a:extLst>
            </p:cNvPr>
            <p:cNvSpPr txBox="1"/>
            <p:nvPr/>
          </p:nvSpPr>
          <p:spPr>
            <a:xfrm>
              <a:off x="1213753" y="2850546"/>
              <a:ext cx="2792809" cy="286108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提供通用能力：</a:t>
              </a:r>
              <a:endPara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配置与密钥管理</a:t>
              </a:r>
              <a:endParaRPr lang="en-US" altLang="zh-CN" sz="16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结构化日志</a:t>
              </a:r>
              <a:endParaRPr lang="en-US" altLang="zh-CN" sz="16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定时任务</a:t>
              </a:r>
              <a:endParaRPr lang="en-US" altLang="zh-CN" sz="16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事件总线</a:t>
              </a:r>
              <a:endParaRPr lang="en-US" altLang="zh-CN" sz="16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记忆检索</a:t>
              </a:r>
              <a:endParaRPr lang="en-US" altLang="zh-CN" sz="16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沙箱安全</a:t>
              </a:r>
              <a:endParaRPr lang="en-US" altLang="zh-CN" sz="16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algn="l">
                <a:lnSpc>
                  <a:spcPct val="150000"/>
                </a:lnSpc>
              </a:pPr>
              <a:endParaRPr lang="en-US" altLang="zh-CN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86694486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3823" y="816878"/>
            <a:ext cx="8307839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多消息处理流程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EFB517-0F8C-BD3B-4996-02D1D256E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3" y="1445164"/>
            <a:ext cx="10789731" cy="434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338100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147B3-0D02-A75B-EEC3-C188B778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4B1AF-2A49-1C36-6214-FFF5F141F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3" y="816878"/>
            <a:ext cx="8307839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消息流程示意图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AA72B0-3151-38CD-559C-ECDC2D87C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41" y="1393141"/>
            <a:ext cx="10143768" cy="51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51050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3823" y="816878"/>
            <a:ext cx="8307839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Harness</a:t>
            </a:r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7AB369-8694-D345-C6D0-89FF11338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56" y="1367741"/>
            <a:ext cx="9637343" cy="509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95370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CFCE-DEFE-7882-0167-A0DF81F9D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0059C4-9E05-C123-8490-87E83F0F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2" y="881920"/>
            <a:ext cx="5019103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Harness</a:t>
            </a:r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</a:t>
            </a:r>
          </a:p>
        </p:txBody>
      </p:sp>
      <p:sp>
        <p:nvSpPr>
          <p:cNvPr id="7" name="燕尾形 5">
            <a:extLst>
              <a:ext uri="{FF2B5EF4-FFF2-40B4-BE49-F238E27FC236}">
                <a16:creationId xmlns:a16="http://schemas.microsoft.com/office/drawing/2014/main" id="{35D58DBA-C721-5094-1C13-C4CD84B7528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23834" y="2283280"/>
            <a:ext cx="3036464" cy="97246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2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入口与分流</a:t>
            </a:r>
            <a:endParaRPr lang="zh-CN" altLang="en-US" sz="2800" kern="0" spc="200" dirty="0">
              <a:solidFill>
                <a:schemeClr val="l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8" name="燕尾形 6">
            <a:extLst>
              <a:ext uri="{FF2B5EF4-FFF2-40B4-BE49-F238E27FC236}">
                <a16:creationId xmlns:a16="http://schemas.microsoft.com/office/drawing/2014/main" id="{21FF931E-602D-4A18-18D2-5CA1FBCB5E6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67340" y="2283280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燕尾形 7">
            <a:extLst>
              <a:ext uri="{FF2B5EF4-FFF2-40B4-BE49-F238E27FC236}">
                <a16:creationId xmlns:a16="http://schemas.microsoft.com/office/drawing/2014/main" id="{823A4520-6479-1B16-3E0B-B4B1BCFABC4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69068" y="2283280"/>
            <a:ext cx="3247732" cy="9724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20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Harness</a:t>
            </a:r>
            <a:r>
              <a:rPr lang="zh-CN" altLang="en-US" sz="20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会话编排</a:t>
            </a:r>
          </a:p>
        </p:txBody>
      </p:sp>
      <p:sp>
        <p:nvSpPr>
          <p:cNvPr id="11" name="燕尾形 8">
            <a:extLst>
              <a:ext uri="{FF2B5EF4-FFF2-40B4-BE49-F238E27FC236}">
                <a16:creationId xmlns:a16="http://schemas.microsoft.com/office/drawing/2014/main" id="{0B2FC3EF-F01C-DC4D-4407-E702ABA94A2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712574" y="2283280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燕尾形 12">
            <a:extLst>
              <a:ext uri="{FF2B5EF4-FFF2-40B4-BE49-F238E27FC236}">
                <a16:creationId xmlns:a16="http://schemas.microsoft.com/office/drawing/2014/main" id="{DB6D4A16-DA2A-5D6E-FB86-FB0FCF18F19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314304" y="2283280"/>
            <a:ext cx="3315595" cy="972463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20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Runtime</a:t>
            </a:r>
            <a:r>
              <a:rPr lang="zh-CN" altLang="en-US" sz="20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与支撑层</a:t>
            </a:r>
          </a:p>
        </p:txBody>
      </p:sp>
      <p:sp>
        <p:nvSpPr>
          <p:cNvPr id="13" name="矩形 13">
            <a:extLst>
              <a:ext uri="{FF2B5EF4-FFF2-40B4-BE49-F238E27FC236}">
                <a16:creationId xmlns:a16="http://schemas.microsoft.com/office/drawing/2014/main" id="{B3243C5C-6785-2C43-9276-010B92CB816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23833" y="3396561"/>
            <a:ext cx="3036465" cy="8954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负责接住用户不同的使用方式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6">
            <a:extLst>
              <a:ext uri="{FF2B5EF4-FFF2-40B4-BE49-F238E27FC236}">
                <a16:creationId xmlns:a16="http://schemas.microsoft.com/office/drawing/2014/main" id="{0EBBF27D-C9B6-171C-7551-061FD60A5F4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4304" y="3396559"/>
            <a:ext cx="3036465" cy="8954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执行完整的</a:t>
            </a:r>
            <a:r>
              <a:rPr lang="en-US" altLang="zh-CN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agent loop</a:t>
            </a:r>
            <a:endParaRPr lang="en-US" altLang="zh-CN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矩形 5">
            <a:extLst>
              <a:ext uri="{FF2B5EF4-FFF2-40B4-BE49-F238E27FC236}">
                <a16:creationId xmlns:a16="http://schemas.microsoft.com/office/drawing/2014/main" id="{C4CDD022-1D1A-2D15-BEC5-54F0E6839A6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24269" y="4026475"/>
            <a:ext cx="8653131" cy="1646847"/>
          </a:xfrm>
          <a:prstGeom prst="rect">
            <a:avLst/>
          </a:prstGeom>
          <a:noFill/>
          <a:ln w="6350">
            <a:solidFill>
              <a:schemeClr val="accent1">
                <a:alpha val="2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6">
            <a:extLst>
              <a:ext uri="{FF2B5EF4-FFF2-40B4-BE49-F238E27FC236}">
                <a16:creationId xmlns:a16="http://schemas.microsoft.com/office/drawing/2014/main" id="{32133687-48BB-EFC9-2C92-C2C34CD4B7A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473508" y="4104497"/>
            <a:ext cx="5000687" cy="1470803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1800" marR="0" lvl="0" indent="-431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Arial" panose="020B0604020202020204" pitchFamily="34" charset="0"/>
              <a:buChar char="•"/>
            </a:pP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预处理上下文</a:t>
            </a:r>
            <a:r>
              <a:rPr lang="en-US" altLang="zh-CN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-&gt;</a:t>
            </a: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流式采样</a:t>
            </a:r>
            <a:r>
              <a:rPr lang="en-US" altLang="zh-CN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thinking-&gt;</a:t>
            </a: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执行工具</a:t>
            </a:r>
            <a:r>
              <a:rPr lang="en-US" altLang="zh-CN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-&gt;</a:t>
            </a: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拼接</a:t>
            </a:r>
            <a:r>
              <a:rPr lang="en-US" altLang="zh-CN" sz="1400" spc="180" dirty="0" err="1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toolResult</a:t>
            </a:r>
            <a:r>
              <a:rPr lang="en-US" altLang="zh-CN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-&gt;</a:t>
            </a: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判断是否回流到下一轮</a:t>
            </a:r>
            <a:endParaRPr kumimoji="0" lang="zh-CN" altLang="en-US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431800" marR="0" lvl="0" indent="-431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Arial" panose="020B0604020202020204" pitchFamily="34" charset="0"/>
              <a:buChar char="•"/>
            </a:pPr>
            <a:r>
              <a:rPr kumimoji="0" lang="zh-CN" altLang="en-US" sz="1400" kern="1200" cap="none" spc="18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模型负责生成意图</a:t>
            </a:r>
            <a:endParaRPr kumimoji="0" lang="en-US" altLang="zh-CN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431800" marR="0" lvl="0" indent="-431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Arial" panose="020B0604020202020204" pitchFamily="34" charset="0"/>
              <a:buChar char="•"/>
            </a:pPr>
            <a:r>
              <a:rPr kumimoji="0" lang="zh-CN" altLang="en-US" sz="1400" kern="1200" cap="none" spc="18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工具负责和外部世界交互</a:t>
            </a:r>
            <a:endParaRPr kumimoji="0" lang="en-US" altLang="zh-CN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431800" marR="0" lvl="0" indent="-431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Arial" panose="020B0604020202020204" pitchFamily="34" charset="0"/>
              <a:buChar char="•"/>
            </a:pPr>
            <a:r>
              <a:rPr kumimoji="0" lang="zh-CN" altLang="en-US" sz="1400" kern="1200" cap="none" spc="18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系统再把结果补回上下文</a:t>
            </a:r>
            <a:endParaRPr kumimoji="0" lang="en-US" altLang="zh-CN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18" name="直接连接符 11">
            <a:extLst>
              <a:ext uri="{FF2B5EF4-FFF2-40B4-BE49-F238E27FC236}">
                <a16:creationId xmlns:a16="http://schemas.microsoft.com/office/drawing/2014/main" id="{380D770C-79D7-6CFA-6F10-1FB848D26DB7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4169503" y="4098809"/>
            <a:ext cx="0" cy="1363879"/>
          </a:xfrm>
          <a:prstGeom prst="line">
            <a:avLst/>
          </a:prstGeom>
          <a:ln w="635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7">
            <a:extLst>
              <a:ext uri="{FF2B5EF4-FFF2-40B4-BE49-F238E27FC236}">
                <a16:creationId xmlns:a16="http://schemas.microsoft.com/office/drawing/2014/main" id="{24F44E14-2784-B027-3EE3-CD9E8749639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328274" y="4170371"/>
            <a:ext cx="2537224" cy="1255414"/>
          </a:xfrm>
          <a:prstGeom prst="rect">
            <a:avLst/>
          </a:prstGeom>
          <a:ln>
            <a:noFill/>
          </a:ln>
        </p:spPr>
        <p:txBody>
          <a:bodyPr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 marR="0" lvl="0" indent="-381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v"/>
            </a:pPr>
            <a:r>
              <a:rPr lang="en-US" altLang="zh-CN" sz="22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Loop</a:t>
            </a:r>
            <a:endParaRPr kumimoji="0" lang="zh-CN" altLang="en-US" sz="2200" kern="1200" cap="none" spc="14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矩形 13">
            <a:extLst>
              <a:ext uri="{FF2B5EF4-FFF2-40B4-BE49-F238E27FC236}">
                <a16:creationId xmlns:a16="http://schemas.microsoft.com/office/drawing/2014/main" id="{34F9ABBE-75E4-7DFE-44D1-112F05A9907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144797" y="3396559"/>
            <a:ext cx="3036465" cy="8954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将不同的会话统一为</a:t>
            </a:r>
            <a:r>
              <a:rPr lang="en-US" altLang="zh-CN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turn</a:t>
            </a: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契约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6">
            <a:extLst>
              <a:ext uri="{FF2B5EF4-FFF2-40B4-BE49-F238E27FC236}">
                <a16:creationId xmlns:a16="http://schemas.microsoft.com/office/drawing/2014/main" id="{77AF84D9-AF48-0C1F-C42F-097E4D28B0B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23833" y="1634783"/>
            <a:ext cx="7039704" cy="380511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</a:pPr>
            <a:r>
              <a:rPr kumimoji="0" lang="en-US" altLang="zh-CN" sz="1600" kern="1200" cap="none" spc="18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Harness</a:t>
            </a:r>
            <a:r>
              <a:rPr kumimoji="0" lang="zh-CN" altLang="en-US" sz="1600" kern="1200" cap="none" spc="18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负责将不同入口的请求统一成同一种</a:t>
            </a:r>
            <a:r>
              <a:rPr kumimoji="0" lang="en-US" altLang="zh-CN" sz="1600" kern="1200" cap="none" spc="18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agent</a:t>
            </a:r>
            <a:r>
              <a:rPr kumimoji="0" lang="zh-CN" altLang="en-US" sz="1600" kern="1200" cap="none" spc="18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运行方式</a:t>
            </a:r>
            <a:endParaRPr kumimoji="0" lang="en-US" altLang="zh-CN" sz="16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3441851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5C492946-ABDD-464A-B6A5-6BDE1E6D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18" y="742537"/>
            <a:ext cx="8307839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记忆管理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FB6D3-AF4B-8D0B-8342-67F9B92779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218" y="1440062"/>
            <a:ext cx="8745134" cy="487183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70035AD-3B28-A3DF-3250-EC7C2C7585C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4352" y="1663700"/>
            <a:ext cx="2803591" cy="1120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</a:pP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企业或组织下发的开关与限制，用来约束系统能做什么，不能做什么</a:t>
            </a:r>
            <a:endParaRPr kumimoji="0" lang="en-US" altLang="zh-CN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矩形 6">
            <a:extLst>
              <a:ext uri="{FF2B5EF4-FFF2-40B4-BE49-F238E27FC236}">
                <a16:creationId xmlns:a16="http://schemas.microsoft.com/office/drawing/2014/main" id="{0B6E18CD-7262-CDD7-AD82-326114BFB16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184352" y="3007503"/>
            <a:ext cx="2803591" cy="1120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</a:pP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系统级、项目级、用户级规则文件，告诉模型该如何工作</a:t>
            </a:r>
            <a:endParaRPr lang="en-US" altLang="zh-CN" sz="1400" spc="180" dirty="0">
              <a:solidFill>
                <a:schemeClr val="dk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9" name="矩形 6">
            <a:extLst>
              <a:ext uri="{FF2B5EF4-FFF2-40B4-BE49-F238E27FC236}">
                <a16:creationId xmlns:a16="http://schemas.microsoft.com/office/drawing/2014/main" id="{AFDE1A52-362A-A5B1-B698-BF04B5019FC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184351" y="4659701"/>
            <a:ext cx="2803591" cy="1120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</a:pP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当前会话沉淀、项目团队范围的记忆、面向特定</a:t>
            </a:r>
            <a:r>
              <a:rPr lang="en-US" altLang="zh-CN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Agent</a:t>
            </a: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的专属记忆，以及动态记忆</a:t>
            </a:r>
            <a:endParaRPr lang="en-US" altLang="zh-CN" sz="1400" spc="180" dirty="0">
              <a:solidFill>
                <a:schemeClr val="dk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0931512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B8680-6283-575B-5ACD-5BA6020B9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3FE8A8FA-2B3B-5DEB-E990-5006D7B6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18" y="742537"/>
            <a:ext cx="8307839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记忆管理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ED380C-E6E1-5354-6DDB-1068AEFED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18" y="1318800"/>
            <a:ext cx="8730182" cy="5069300"/>
          </a:xfrm>
          <a:prstGeom prst="rect">
            <a:avLst/>
          </a:prstGeom>
        </p:spPr>
      </p:pic>
      <p:sp>
        <p:nvSpPr>
          <p:cNvPr id="4" name="矩形 6">
            <a:extLst>
              <a:ext uri="{FF2B5EF4-FFF2-40B4-BE49-F238E27FC236}">
                <a16:creationId xmlns:a16="http://schemas.microsoft.com/office/drawing/2014/main" id="{80552468-03A0-6008-FC5D-5477719DFF2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285952" y="5134867"/>
            <a:ext cx="2803591" cy="1120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</a:pP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加载记忆的路径：记忆文件、附件注入、进入下一轮</a:t>
            </a:r>
            <a:endParaRPr kumimoji="0" lang="en-US" altLang="zh-CN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8918681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21F6-06FC-D62B-619E-F6558F1E8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15C14143-9CCE-952C-23A3-008CA578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18" y="742537"/>
            <a:ext cx="8307839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工具系统</a:t>
            </a:r>
          </a:p>
        </p:txBody>
      </p:sp>
      <p:sp>
        <p:nvSpPr>
          <p:cNvPr id="4" name="矩形 6">
            <a:extLst>
              <a:ext uri="{FF2B5EF4-FFF2-40B4-BE49-F238E27FC236}">
                <a16:creationId xmlns:a16="http://schemas.microsoft.com/office/drawing/2014/main" id="{339D2C77-27EB-4511-B945-E3DA0347A17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285952" y="5134867"/>
            <a:ext cx="2803591" cy="1120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</a:pPr>
            <a:r>
              <a:rPr kumimoji="0" lang="zh-CN" altLang="en-US" sz="1400" kern="1200" cap="none" spc="18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内建工具、</a:t>
            </a:r>
            <a:r>
              <a:rPr kumimoji="0" lang="en-US" altLang="zh-CN" sz="1400" kern="1200" cap="none" spc="18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MCP</a:t>
            </a:r>
            <a:r>
              <a:rPr kumimoji="0" lang="zh-CN" altLang="en-US" sz="1400" kern="1200" cap="none" spc="18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外部能力、</a:t>
            </a:r>
            <a:r>
              <a:rPr kumimoji="0" lang="en-US" altLang="zh-CN" sz="1400" kern="1200" cap="none" spc="18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skills/plugins</a:t>
            </a:r>
            <a:r>
              <a:rPr kumimoji="0" lang="zh-CN" altLang="en-US" sz="1400" kern="1200" cap="none" spc="18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扩展能力，运行时都统一表现为能力，能力表现形式多样，使用方式一致。</a:t>
            </a:r>
            <a:endParaRPr kumimoji="0" lang="en-US" altLang="zh-CN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2525D-BC0C-87E9-24F2-24AF58CF9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18" y="1318800"/>
            <a:ext cx="8846734" cy="493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502025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759689" y="1826333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4376232" y="1821789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zh-CN" altLang="en-US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核心目标</a:t>
            </a:r>
          </a:p>
        </p:txBody>
      </p:sp>
      <p:sp>
        <p:nvSpPr>
          <p:cNvPr id="43" name="文本框 42"/>
          <p:cNvSpPr txBox="1"/>
          <p:nvPr>
            <p:custDataLst>
              <p:tags r:id="rId4"/>
            </p:custDataLst>
          </p:nvPr>
        </p:nvSpPr>
        <p:spPr>
          <a:xfrm>
            <a:off x="4376232" y="2702803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zh-CN" altLang="en-US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+mn-ea"/>
              </a:rPr>
              <a:t>技术架构</a:t>
            </a:r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9689" y="2705055"/>
            <a:ext cx="616585" cy="52324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3759692" y="3575223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</a:t>
            </a:r>
          </a:p>
        </p:txBody>
      </p:sp>
      <p:sp>
        <p:nvSpPr>
          <p:cNvPr id="57" name="文本框 56"/>
          <p:cNvSpPr txBox="1"/>
          <p:nvPr>
            <p:custDataLst>
              <p:tags r:id="rId7"/>
            </p:custDataLst>
          </p:nvPr>
        </p:nvSpPr>
        <p:spPr>
          <a:xfrm>
            <a:off x="4376232" y="3577011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团队与计划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393964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3823" y="816878"/>
            <a:ext cx="8307839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团队组成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48AEE-DAD6-F26E-9D65-2D241B3B71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333" y="1393141"/>
            <a:ext cx="7570517" cy="3095039"/>
          </a:xfrm>
          <a:prstGeom prst="rect">
            <a:avLst/>
          </a:prstGeom>
        </p:spPr>
      </p:pic>
      <p:sp>
        <p:nvSpPr>
          <p:cNvPr id="5" name="矩形 5">
            <a:extLst>
              <a:ext uri="{FF2B5EF4-FFF2-40B4-BE49-F238E27FC236}">
                <a16:creationId xmlns:a16="http://schemas.microsoft.com/office/drawing/2014/main" id="{E6B443E4-ABF9-2FB6-E01A-E231EF3921E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39295" y="4549140"/>
            <a:ext cx="8706685" cy="1780021"/>
          </a:xfrm>
          <a:prstGeom prst="rect">
            <a:avLst/>
          </a:prstGeom>
          <a:noFill/>
          <a:ln w="6350">
            <a:solidFill>
              <a:schemeClr val="accent1">
                <a:alpha val="2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C60BE0AC-D757-E048-AD10-711AF125A2B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88535" y="4648200"/>
            <a:ext cx="5066944" cy="1573969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1800" marR="0" lvl="0" indent="-431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Arial" panose="020B0604020202020204" pitchFamily="34" charset="0"/>
              <a:buChar char="•"/>
            </a:pP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产品经理：负责从业务需求侧到产品需求的转化，</a:t>
            </a:r>
            <a:r>
              <a:rPr lang="en-US" altLang="zh-CN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PRD</a:t>
            </a: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编写等， </a:t>
            </a:r>
            <a:r>
              <a:rPr lang="en-US" altLang="zh-CN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 HC</a:t>
            </a:r>
            <a:endParaRPr kumimoji="0" lang="zh-CN" altLang="en-US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431800" marR="0" lvl="0" indent="-431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Arial" panose="020B0604020202020204" pitchFamily="34" charset="0"/>
              <a:buChar char="•"/>
            </a:pP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前端开发：面向用户侧的交互界面开发，</a:t>
            </a:r>
            <a:r>
              <a:rPr lang="en-US" altLang="zh-CN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 HC</a:t>
            </a:r>
            <a:endParaRPr kumimoji="0" lang="en-US" altLang="zh-CN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431800" marR="0" lvl="0" indent="-431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Arial" panose="020B0604020202020204" pitchFamily="34" charset="0"/>
              <a:buChar char="•"/>
            </a:pP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后端开发：</a:t>
            </a:r>
            <a:r>
              <a:rPr lang="en-US" altLang="zh-CN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Agent</a:t>
            </a: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后端开发，</a:t>
            </a:r>
            <a:r>
              <a:rPr lang="en-US" altLang="zh-CN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java + python,2/3 HC</a:t>
            </a:r>
          </a:p>
          <a:p>
            <a:pPr marL="431800" marR="0" lvl="0" indent="-431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Arial" panose="020B0604020202020204" pitchFamily="34" charset="0"/>
              <a:buChar char="•"/>
            </a:pPr>
            <a:r>
              <a:rPr lang="zh-CN" altLang="en-US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测试：对系统质量把关，保障高质量交付，</a:t>
            </a:r>
            <a:r>
              <a:rPr lang="en-US" altLang="zh-CN" sz="1400" spc="18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 HC</a:t>
            </a:r>
            <a:endParaRPr kumimoji="0" lang="en-US" altLang="zh-CN" sz="1400" kern="1200" cap="none" spc="18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7" name="直接连接符 11">
            <a:extLst>
              <a:ext uri="{FF2B5EF4-FFF2-40B4-BE49-F238E27FC236}">
                <a16:creationId xmlns:a16="http://schemas.microsoft.com/office/drawing/2014/main" id="{4F10630B-89BA-30F7-B294-FE2DE2A0B041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4397889" y="4804950"/>
            <a:ext cx="0" cy="1363879"/>
          </a:xfrm>
          <a:prstGeom prst="line">
            <a:avLst/>
          </a:prstGeom>
          <a:ln w="635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AB6F9995-4A17-C76F-07F2-8B154F1CF43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290313" y="4797330"/>
            <a:ext cx="3007721" cy="1255414"/>
          </a:xfrm>
          <a:prstGeom prst="rect">
            <a:avLst/>
          </a:prstGeom>
          <a:ln>
            <a:noFill/>
          </a:ln>
        </p:spPr>
        <p:txBody>
          <a:bodyPr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 marR="0" lvl="0" indent="-381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v"/>
            </a:pPr>
            <a:r>
              <a:rPr kumimoji="0" lang="zh-CN" altLang="en-US" sz="2200" kern="1200" cap="none" spc="14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团队组成</a:t>
            </a:r>
            <a:r>
              <a:rPr lang="zh-CN" altLang="en-US" sz="22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2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5/6</a:t>
            </a:r>
            <a:r>
              <a:rPr lang="zh-CN" altLang="en-US" sz="22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2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HC</a:t>
            </a:r>
            <a:endParaRPr kumimoji="0" lang="en-US" altLang="zh-CN" sz="2200" kern="1200" cap="none" spc="14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2415971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3823" y="816878"/>
            <a:ext cx="8307839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sz="32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计划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9C72E-611C-77E7-73BC-12655D483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12" y="1640413"/>
            <a:ext cx="10070268" cy="3594527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18885_4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18885"/>
  <p:tag name="KSO_WM_SLIDE_LAYOUT" val="a_l"/>
  <p:tag name="KSO_WM_SLIDE_LAYOUT_CNT" val="1_1"/>
  <p:tag name="KSO_WM_TEMPLATE_SUBCATEGORY" val="0"/>
  <p:tag name="KSO_WM_TEMPLATE_MASTER_TYPE" val="1"/>
  <p:tag name="KSO_WM_TEMPLATE_COLOR_TYPE" val="0"/>
  <p:tag name="KSO_WM_SPECIAL_SOURCE" val="bdnul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18885_4*l_h_i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文化定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18885_4*l_h_a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运营方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custom20218885_4*l_h_a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18885_4*l_h_i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10775_4*m_h_a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10775_4*m_h_i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10775_4*m_h_a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10775_4*m_h_i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10775_4*m_h_a*1_3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10775_4*m_h_f*1_3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4638_1*l_i*1_1"/>
  <p:tag name="KSO_WM_TEMPLATE_CATEGORY" val="diagram"/>
  <p:tag name="KSO_WM_TEMPLATE_INDEX" val="20204638"/>
  <p:tag name="KSO_WM_UNIT_LAYERLEVEL" val="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04638_1*l_h_f*1_1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4638_1*l_i*1_2"/>
  <p:tag name="KSO_WM_TEMPLATE_CATEGORY" val="diagram"/>
  <p:tag name="KSO_WM_TEMPLATE_INDEX" val="20204638"/>
  <p:tag name="KSO_WM_UNIT_LAYERLEVEL" val="1_1"/>
  <p:tag name="KSO_WM_TAG_VERSION" val="1.0"/>
  <p:tag name="KSO_WM_BEAUTIFY_FLAG" val="#wm#"/>
  <p:tag name="KSO_WM_UNIT_LINE_FORE_SCHEMECOLOR_INDEX_BRIGHTNESS" val="-0.5"/>
  <p:tag name="KSO_WM_UNIT_LINE_FORE_SCHEMECOLOR_INDEX" val="5"/>
  <p:tag name="KSO_WM_UNIT_LINE_FILL_TYPE" val="2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4638_1*l_h_f*1_2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05830_1*m_h_i*1_1_2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5830_1*m_h_f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05830_1*m_h_i*1_2_2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5830_1*m_h_f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05830_1*m_h_i*1_1_3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05830_1*m_h_i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6"/>
  <p:tag name="KSO_WM_UNIT_ID" val="diagram20205830_1*m_h_i*1_1_6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7"/>
  <p:tag name="KSO_WM_UNIT_ID" val="diagram20205830_1*m_h_i*1_1_7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05830_1*m_h_i*1_2_3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05830_1*m_h_i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6"/>
  <p:tag name="KSO_WM_UNIT_ID" val="diagram20205830_1*m_h_i*1_2_6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7"/>
  <p:tag name="KSO_WM_UNIT_ID" val="diagram20205830_1*m_h_i*1_2_7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8"/>
  <p:tag name="KSO_WM_UNIT_ID" val="diagram20205830_1*m_h_i*1_1_8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LINE_FORE_SCHEMECOLOR_INDEX_BRIGHTNESS" val="0.5"/>
  <p:tag name="KSO_WM_UNIT_LINE_FORE_SCHEMECOLOR_INDEX" val="13"/>
  <p:tag name="KSO_WM_UNIT_LINE_FILL_TYPE" val="2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8"/>
  <p:tag name="KSO_WM_UNIT_ID" val="diagram20205830_1*m_h_i*1_2_8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LINE_FORE_SCHEMECOLOR_INDEX_BRIGHTNESS" val="0.5"/>
  <p:tag name="KSO_WM_UNIT_LINE_FORE_SCHEMECOLOR_INDEX" val="13"/>
  <p:tag name="KSO_WM_UNIT_LINE_FILL_TYPE" val="2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05830_1*m_h_i*1_2_2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5830_1*m_h_f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05830_1*m_h_i*1_2_3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05830_1*m_h_i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6"/>
  <p:tag name="KSO_WM_UNIT_ID" val="diagram20205830_1*m_h_i*1_2_6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7"/>
  <p:tag name="KSO_WM_UNIT_ID" val="diagram20205830_1*m_h_i*1_2_7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8"/>
  <p:tag name="KSO_WM_UNIT_ID" val="diagram20205830_1*m_h_i*1_2_8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LINE_FORE_SCHEMECOLOR_INDEX_BRIGHTNESS" val="0.5"/>
  <p:tag name="KSO_WM_UNIT_LINE_FORE_SCHEMECOLOR_INDEX" val="13"/>
  <p:tag name="KSO_WM_UNIT_LINE_FILL_TYPE" val="2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4638_1*l_i*1_1"/>
  <p:tag name="KSO_WM_TEMPLATE_CATEGORY" val="diagram"/>
  <p:tag name="KSO_WM_TEMPLATE_INDEX" val="20204638"/>
  <p:tag name="KSO_WM_UNIT_LAYERLEVEL" val="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04638_1*l_h_f*1_1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4638_1*l_i*1_2"/>
  <p:tag name="KSO_WM_TEMPLATE_CATEGORY" val="diagram"/>
  <p:tag name="KSO_WM_TEMPLATE_INDEX" val="20204638"/>
  <p:tag name="KSO_WM_UNIT_LAYERLEVEL" val="1_1"/>
  <p:tag name="KSO_WM_TAG_VERSION" val="1.0"/>
  <p:tag name="KSO_WM_BEAUTIFY_FLAG" val="#wm#"/>
  <p:tag name="KSO_WM_UNIT_LINE_FORE_SCHEMECOLOR_INDEX_BRIGHTNESS" val="-0.5"/>
  <p:tag name="KSO_WM_UNIT_LINE_FORE_SCHEMECOLOR_INDEX" val="5"/>
  <p:tag name="KSO_WM_UNIT_LINE_FILL_TYPE" val="2"/>
  <p:tag name="KSO_WM_UNIT_USESOURCEFORMAT_APPL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4638_1*l_h_f*1_2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05830_1*m_h_i*1_2_4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5"/>
  <p:tag name="KSO_WM_UNIT_ID" val="diagram20205830_1*m_h_i*1_2_5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05830_1*m_h_i*1_2_4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5"/>
  <p:tag name="KSO_WM_UNIT_ID" val="diagram20205830_1*m_h_i*1_2_5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4"/>
  <p:tag name="KSO_WM_UNIT_ID" val="diagram20205830_1*m_h_i*1_1_4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5"/>
  <p:tag name="KSO_WM_UNIT_ID" val="diagram20205830_1*m_h_i*1_1_5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18885_4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18885"/>
  <p:tag name="KSO_WM_SLIDE_LAYOUT" val="a_l"/>
  <p:tag name="KSO_WM_SLIDE_LAYOUT_CNT" val="1_1"/>
  <p:tag name="KSO_WM_TEMPLATE_SUBCATEGORY" val="0"/>
  <p:tag name="KSO_WM_TEMPLATE_MASTER_TYPE" val="1"/>
  <p:tag name="KSO_WM_TEMPLATE_COLOR_TYPE" val="0"/>
  <p:tag name="KSO_WM_SPECIAL_SOURCE" val="bdnul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18885_4*l_h_i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文化定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18885_4*l_h_a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运营方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custom20218885_4*l_h_a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18885_4*l_h_i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10775_4*m_h_a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10775_4*m_h_i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10775_4*m_h_a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10775_4*m_h_i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10775_4*m_h_a*1_3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10775_4*m_h_f*1_3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4638_1*l_i*1_1"/>
  <p:tag name="KSO_WM_TEMPLATE_CATEGORY" val="diagram"/>
  <p:tag name="KSO_WM_TEMPLATE_INDEX" val="20204638"/>
  <p:tag name="KSO_WM_UNIT_LAYERLEVEL" val="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04638_1*l_h_f*1_1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4638_1*l_i*1_2"/>
  <p:tag name="KSO_WM_TEMPLATE_CATEGORY" val="diagram"/>
  <p:tag name="KSO_WM_TEMPLATE_INDEX" val="20204638"/>
  <p:tag name="KSO_WM_UNIT_LAYERLEVEL" val="1_1"/>
  <p:tag name="KSO_WM_TAG_VERSION" val="1.0"/>
  <p:tag name="KSO_WM_BEAUTIFY_FLAG" val="#wm#"/>
  <p:tag name="KSO_WM_UNIT_LINE_FORE_SCHEMECOLOR_INDEX_BRIGHTNESS" val="-0.5"/>
  <p:tag name="KSO_WM_UNIT_LINE_FORE_SCHEMECOLOR_INDEX" val="5"/>
  <p:tag name="KSO_WM_UNIT_LINE_FILL_TYPE" val="2"/>
  <p:tag name="KSO_WM_UNIT_USESOURCEFORMAT_APPL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4638_1*l_h_f*1_2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04638_1*l_h_f*1_1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04638_1*l_h_f*1_1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04638_1*l_h_f*1_1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04638_1*l_h_f*1_1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04638_1*l_h_f*1_1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04638_1*l_h_f*1_1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18885_4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18885"/>
  <p:tag name="KSO_WM_SLIDE_LAYOUT" val="a_l"/>
  <p:tag name="KSO_WM_SLIDE_LAYOUT_CNT" val="1_1"/>
  <p:tag name="KSO_WM_TEMPLATE_SUBCATEGORY" val="0"/>
  <p:tag name="KSO_WM_TEMPLATE_MASTER_TYPE" val="1"/>
  <p:tag name="KSO_WM_TEMPLATE_COLOR_TYPE" val="0"/>
  <p:tag name="KSO_WM_SPECIAL_SOURCE" val="bdnul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18885_4*l_h_i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文化定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18885_4*l_h_a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运营方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custom20218885_4*l_h_a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18885_4*l_h_i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4638_1*l_i*1_1"/>
  <p:tag name="KSO_WM_TEMPLATE_CATEGORY" val="diagram"/>
  <p:tag name="KSO_WM_TEMPLATE_INDEX" val="20204638"/>
  <p:tag name="KSO_WM_UNIT_LAYERLEVEL" val="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04638_1*l_h_f*1_1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4638_1*l_i*1_2"/>
  <p:tag name="KSO_WM_TEMPLATE_CATEGORY" val="diagram"/>
  <p:tag name="KSO_WM_TEMPLATE_INDEX" val="20204638"/>
  <p:tag name="KSO_WM_UNIT_LAYERLEVEL" val="1_1"/>
  <p:tag name="KSO_WM_TAG_VERSION" val="1.0"/>
  <p:tag name="KSO_WM_BEAUTIFY_FLAG" val="#wm#"/>
  <p:tag name="KSO_WM_UNIT_LINE_FORE_SCHEMECOLOR_INDEX_BRIGHTNESS" val="-0.5"/>
  <p:tag name="KSO_WM_UNIT_LINE_FORE_SCHEMECOLOR_INDEX" val="5"/>
  <p:tag name="KSO_WM_UNIT_LINE_FILL_TYPE" val="2"/>
  <p:tag name="KSO_WM_UNIT_USESOURCEFORMAT_APPLY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4638_1*l_h_f*1_2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theme/theme1.xml><?xml version="1.0" encoding="utf-8"?>
<a:theme xmlns:a="http://schemas.openxmlformats.org/drawingml/2006/main" name="White">
  <a:themeElements>
    <a:clrScheme name="极客邦">
      <a:dk1>
        <a:srgbClr val="4D4D4D"/>
      </a:dk1>
      <a:lt1>
        <a:sysClr val="window" lastClr="FFFFFF"/>
      </a:lt1>
      <a:dk2>
        <a:srgbClr val="44546A"/>
      </a:dk2>
      <a:lt2>
        <a:srgbClr val="E7E6E6"/>
      </a:lt2>
      <a:accent1>
        <a:srgbClr val="1D5E9E"/>
      </a:accent1>
      <a:accent2>
        <a:srgbClr val="198743"/>
      </a:accent2>
      <a:accent3>
        <a:srgbClr val="EA5429"/>
      </a:accent3>
      <a:accent4>
        <a:srgbClr val="E60012"/>
      </a:accent4>
      <a:accent5>
        <a:srgbClr val="4472C4"/>
      </a:accent5>
      <a:accent6>
        <a:srgbClr val="70AD47"/>
      </a:accent6>
      <a:hlink>
        <a:srgbClr val="00B0F0"/>
      </a:hlink>
      <a:folHlink>
        <a:srgbClr val="FFFFFF"/>
      </a:folHlink>
    </a:clrScheme>
    <a:fontScheme name="极客邦常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演示文稿1" id="{A46FBE2B-B011-4643-89D7-4E51E37BBDB2}" vid="{8EF7A4E8-5DDA-5242-A16E-CB225224F7D0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TGO新模板</Template>
  <TotalTime>1685</TotalTime>
  <Words>1056</Words>
  <Application>Microsoft Office PowerPoint</Application>
  <PresentationFormat>Widescreen</PresentationFormat>
  <Paragraphs>113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DengXian</vt:lpstr>
      <vt:lpstr>Helvetica Neue</vt:lpstr>
      <vt:lpstr>微软雅黑</vt:lpstr>
      <vt:lpstr>微软雅黑</vt:lpstr>
      <vt:lpstr>SimHei</vt:lpstr>
      <vt:lpstr>Algerian</vt:lpstr>
      <vt:lpstr>Arial</vt:lpstr>
      <vt:lpstr>Calibri</vt:lpstr>
      <vt:lpstr>Wingdings</vt:lpstr>
      <vt:lpstr>White</vt:lpstr>
      <vt:lpstr>PowerPoint Presentation</vt:lpstr>
      <vt:lpstr>PowerPoint Presentation</vt:lpstr>
      <vt:lpstr>企业级Agent产品理念</vt:lpstr>
      <vt:lpstr>可靠协作Agent的三大核心能力</vt:lpstr>
      <vt:lpstr>PowerPoint Presentation</vt:lpstr>
      <vt:lpstr>Agent层级架构</vt:lpstr>
      <vt:lpstr>Agent层级架构</vt:lpstr>
      <vt:lpstr>Agent层级架构</vt:lpstr>
      <vt:lpstr>多消息处理流程</vt:lpstr>
      <vt:lpstr>消息流程示意图</vt:lpstr>
      <vt:lpstr>Harness架构</vt:lpstr>
      <vt:lpstr>Harness架构</vt:lpstr>
      <vt:lpstr>记忆管理</vt:lpstr>
      <vt:lpstr>记忆管理</vt:lpstr>
      <vt:lpstr>工具系统</vt:lpstr>
      <vt:lpstr>PowerPoint Presentation</vt:lpstr>
      <vt:lpstr>团队组成</vt:lpstr>
      <vt:lpstr>计划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Frank Ng</cp:lastModifiedBy>
  <cp:revision>107</cp:revision>
  <dcterms:created xsi:type="dcterms:W3CDTF">2019-06-10T12:16:29Z</dcterms:created>
  <dcterms:modified xsi:type="dcterms:W3CDTF">2026-06-07T11:19:58Z</dcterms:modified>
</cp:coreProperties>
</file>