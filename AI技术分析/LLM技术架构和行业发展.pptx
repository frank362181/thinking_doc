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39"/>
  </p:notesMasterIdLst>
  <p:handoutMasterIdLst>
    <p:handoutMasterId r:id="rId40"/>
  </p:handoutMasterIdLst>
  <p:sldIdLst>
    <p:sldId id="277" r:id="rId3"/>
    <p:sldId id="350" r:id="rId4"/>
    <p:sldId id="328" r:id="rId5"/>
    <p:sldId id="355" r:id="rId6"/>
    <p:sldId id="356" r:id="rId7"/>
    <p:sldId id="357" r:id="rId8"/>
    <p:sldId id="358" r:id="rId9"/>
    <p:sldId id="359" r:id="rId10"/>
    <p:sldId id="360" r:id="rId11"/>
    <p:sldId id="361" r:id="rId12"/>
    <p:sldId id="351" r:id="rId13"/>
    <p:sldId id="378" r:id="rId14"/>
    <p:sldId id="368" r:id="rId15"/>
    <p:sldId id="375" r:id="rId16"/>
    <p:sldId id="367" r:id="rId17"/>
    <p:sldId id="376" r:id="rId18"/>
    <p:sldId id="377" r:id="rId19"/>
    <p:sldId id="372" r:id="rId20"/>
    <p:sldId id="374" r:id="rId21"/>
    <p:sldId id="382" r:id="rId22"/>
    <p:sldId id="383" r:id="rId23"/>
    <p:sldId id="384" r:id="rId24"/>
    <p:sldId id="385" r:id="rId25"/>
    <p:sldId id="386" r:id="rId26"/>
    <p:sldId id="369" r:id="rId27"/>
    <p:sldId id="371" r:id="rId28"/>
    <p:sldId id="387" r:id="rId29"/>
    <p:sldId id="366" r:id="rId30"/>
    <p:sldId id="364" r:id="rId31"/>
    <p:sldId id="362" r:id="rId32"/>
    <p:sldId id="379" r:id="rId33"/>
    <p:sldId id="363" r:id="rId34"/>
    <p:sldId id="365" r:id="rId35"/>
    <p:sldId id="381" r:id="rId36"/>
    <p:sldId id="389" r:id="rId37"/>
    <p:sldId id="278" r:id="rId38"/>
  </p:sldIdLst>
  <p:sldSz cx="9144000" cy="5143500" type="screen16x9"/>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6"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F6FD"/>
    <a:srgbClr val="E6F6FF"/>
    <a:srgbClr val="E7F6FF"/>
    <a:srgbClr val="EAF7FE"/>
    <a:srgbClr val="E9F6FE"/>
    <a:srgbClr val="E6F5FE"/>
    <a:srgbClr val="00B7FF"/>
    <a:srgbClr val="08409C"/>
    <a:srgbClr val="EAF7FF"/>
    <a:srgbClr val="FA87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4" autoAdjust="0"/>
    <p:restoredTop sz="93537" autoAdjust="0"/>
  </p:normalViewPr>
  <p:slideViewPr>
    <p:cSldViewPr showGuides="1">
      <p:cViewPr>
        <p:scale>
          <a:sx n="100" d="100"/>
          <a:sy n="100" d="100"/>
        </p:scale>
        <p:origin x="416" y="1128"/>
      </p:cViewPr>
      <p:guideLst>
        <p:guide orient="horz" pos="1646"/>
        <p:guide pos="288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2" d="100"/>
          <a:sy n="52" d="100"/>
        </p:scale>
        <p:origin x="201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1D68BB5-7A29-452A-B3CC-64403C83207F}" type="datetimeFigureOut">
              <a:rPr lang="zh-CN" altLang="en-US" smtClean="0"/>
              <a:t>2023/7/3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416367D-8BCC-4E7C-A347-ABEDA546BB8E}"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8AAAC1-B233-4B85-822D-9B0B2A1B9A49}" type="datetimeFigureOut">
              <a:rPr lang="zh-CN" altLang="en-US" smtClean="0"/>
              <a:t>2023/7/3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F512F2-B00E-4900-B8F4-C8F10FD3E0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14630" indent="-214630" defTabSz="685800" fontAlgn="ctr">
              <a:lnSpc>
                <a:spcPct val="150000"/>
              </a:lnSpc>
              <a:buFont typeface="Wingdings" panose="05000000000000000000" pitchFamily="2" charset="2"/>
              <a:buChar char="Ø"/>
            </a:pPr>
            <a:r>
              <a:rPr lang="zh-CN" altLang="en-US" sz="1200" dirty="0">
                <a:solidFill>
                  <a:prstClr val="black"/>
                </a:solidFill>
                <a:latin typeface="微软雅黑" panose="020B0503020204020204" pitchFamily="34" charset="-122"/>
                <a:ea typeface="微软雅黑" panose="020B0503020204020204" pitchFamily="34" charset="-122"/>
              </a:rPr>
              <a:t>面向客户的跨产品的合同研发项目。强调主产品。</a:t>
            </a: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14630" indent="-214630" defTabSz="685800" fontAlgn="ctr">
              <a:lnSpc>
                <a:spcPct val="150000"/>
              </a:lnSpc>
              <a:buFont typeface="Wingdings" panose="05000000000000000000" pitchFamily="2" charset="2"/>
              <a:buChar char="Ø"/>
            </a:pPr>
            <a:r>
              <a:rPr lang="zh-CN" altLang="en-US" sz="1200" dirty="0">
                <a:solidFill>
                  <a:prstClr val="black"/>
                </a:solidFill>
                <a:latin typeface="微软雅黑" panose="020B0503020204020204" pitchFamily="34" charset="-122"/>
                <a:ea typeface="微软雅黑" panose="020B0503020204020204" pitchFamily="34" charset="-122"/>
              </a:rPr>
              <a:t>面向客户的跨产品的合同研发项目。强调主产品。</a:t>
            </a: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4</a:t>
            </a:fld>
            <a:endParaRPr lang="zh-CN" altLang="en-US"/>
          </a:p>
        </p:txBody>
      </p:sp>
    </p:spTree>
    <p:extLst>
      <p:ext uri="{BB962C8B-B14F-4D97-AF65-F5344CB8AC3E}">
        <p14:creationId xmlns:p14="http://schemas.microsoft.com/office/powerpoint/2010/main" val="2811522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14630" indent="-214630" defTabSz="685800" fontAlgn="ctr">
              <a:lnSpc>
                <a:spcPct val="150000"/>
              </a:lnSpc>
              <a:buFont typeface="Wingdings" panose="05000000000000000000" pitchFamily="2" charset="2"/>
              <a:buChar char="Ø"/>
            </a:pPr>
            <a:r>
              <a:rPr lang="zh-CN" altLang="en-US" sz="1200" dirty="0">
                <a:solidFill>
                  <a:prstClr val="black"/>
                </a:solidFill>
                <a:latin typeface="微软雅黑" panose="020B0503020204020204" pitchFamily="34" charset="-122"/>
                <a:ea typeface="微软雅黑" panose="020B0503020204020204" pitchFamily="34" charset="-122"/>
              </a:rPr>
              <a:t>面向客户的跨产品的合同研发项目。强调主产品。</a:t>
            </a: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5</a:t>
            </a:fld>
            <a:endParaRPr lang="zh-CN" altLang="en-US"/>
          </a:p>
        </p:txBody>
      </p:sp>
    </p:spTree>
    <p:extLst>
      <p:ext uri="{BB962C8B-B14F-4D97-AF65-F5344CB8AC3E}">
        <p14:creationId xmlns:p14="http://schemas.microsoft.com/office/powerpoint/2010/main" val="1762196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14630" indent="-214630" defTabSz="685800" fontAlgn="ctr">
              <a:lnSpc>
                <a:spcPct val="150000"/>
              </a:lnSpc>
              <a:buFont typeface="Wingdings" panose="05000000000000000000" pitchFamily="2" charset="2"/>
              <a:buChar char="Ø"/>
            </a:pPr>
            <a:r>
              <a:rPr lang="zh-CN" altLang="en-US" sz="1200" dirty="0">
                <a:solidFill>
                  <a:prstClr val="black"/>
                </a:solidFill>
                <a:latin typeface="微软雅黑" panose="020B0503020204020204" pitchFamily="34" charset="-122"/>
                <a:ea typeface="微软雅黑" panose="020B0503020204020204" pitchFamily="34" charset="-122"/>
              </a:rPr>
              <a:t>面向客户的跨产品的合同研发项目。强调主产品。</a:t>
            </a: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6</a:t>
            </a:fld>
            <a:endParaRPr lang="zh-CN" altLang="en-US"/>
          </a:p>
        </p:txBody>
      </p:sp>
    </p:spTree>
    <p:extLst>
      <p:ext uri="{BB962C8B-B14F-4D97-AF65-F5344CB8AC3E}">
        <p14:creationId xmlns:p14="http://schemas.microsoft.com/office/powerpoint/2010/main" val="571492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14630" indent="-214630" defTabSz="685800" fontAlgn="ctr">
              <a:lnSpc>
                <a:spcPct val="150000"/>
              </a:lnSpc>
              <a:buFont typeface="Wingdings" panose="05000000000000000000" pitchFamily="2" charset="2"/>
              <a:buChar char="Ø"/>
            </a:pPr>
            <a:r>
              <a:rPr lang="zh-CN" altLang="en-US" sz="1200" dirty="0">
                <a:solidFill>
                  <a:prstClr val="black"/>
                </a:solidFill>
                <a:latin typeface="微软雅黑" panose="020B0503020204020204" pitchFamily="34" charset="-122"/>
                <a:ea typeface="微软雅黑" panose="020B0503020204020204" pitchFamily="34" charset="-122"/>
              </a:rPr>
              <a:t>面向客户的跨产品的合同研发项目。强调主产品。</a:t>
            </a: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7</a:t>
            </a:fld>
            <a:endParaRPr lang="zh-CN" altLang="en-US"/>
          </a:p>
        </p:txBody>
      </p:sp>
    </p:spTree>
    <p:extLst>
      <p:ext uri="{BB962C8B-B14F-4D97-AF65-F5344CB8AC3E}">
        <p14:creationId xmlns:p14="http://schemas.microsoft.com/office/powerpoint/2010/main" val="1716213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8</a:t>
            </a:fld>
            <a:endParaRPr lang="zh-CN" altLang="en-US"/>
          </a:p>
        </p:txBody>
      </p:sp>
    </p:spTree>
    <p:extLst>
      <p:ext uri="{BB962C8B-B14F-4D97-AF65-F5344CB8AC3E}">
        <p14:creationId xmlns:p14="http://schemas.microsoft.com/office/powerpoint/2010/main" val="2837902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9</a:t>
            </a:fld>
            <a:endParaRPr lang="zh-CN" altLang="en-US"/>
          </a:p>
        </p:txBody>
      </p:sp>
    </p:spTree>
    <p:extLst>
      <p:ext uri="{BB962C8B-B14F-4D97-AF65-F5344CB8AC3E}">
        <p14:creationId xmlns:p14="http://schemas.microsoft.com/office/powerpoint/2010/main" val="3063489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10</a:t>
            </a:fld>
            <a:endParaRPr lang="zh-CN" altLang="en-US"/>
          </a:p>
        </p:txBody>
      </p:sp>
    </p:spTree>
    <p:extLst>
      <p:ext uri="{BB962C8B-B14F-4D97-AF65-F5344CB8AC3E}">
        <p14:creationId xmlns:p14="http://schemas.microsoft.com/office/powerpoint/2010/main" val="908996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12</a:t>
            </a:fld>
            <a:endParaRPr lang="zh-CN" altLang="en-US"/>
          </a:p>
        </p:txBody>
      </p:sp>
    </p:spTree>
    <p:extLst>
      <p:ext uri="{BB962C8B-B14F-4D97-AF65-F5344CB8AC3E}">
        <p14:creationId xmlns:p14="http://schemas.microsoft.com/office/powerpoint/2010/main" val="3779175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13</a:t>
            </a:fld>
            <a:endParaRPr lang="zh-CN" altLang="en-US"/>
          </a:p>
        </p:txBody>
      </p:sp>
    </p:spTree>
    <p:extLst>
      <p:ext uri="{BB962C8B-B14F-4D97-AF65-F5344CB8AC3E}">
        <p14:creationId xmlns:p14="http://schemas.microsoft.com/office/powerpoint/2010/main" val="3471519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14</a:t>
            </a:fld>
            <a:endParaRPr lang="zh-CN" altLang="en-US"/>
          </a:p>
        </p:txBody>
      </p:sp>
    </p:spTree>
    <p:extLst>
      <p:ext uri="{BB962C8B-B14F-4D97-AF65-F5344CB8AC3E}">
        <p14:creationId xmlns:p14="http://schemas.microsoft.com/office/powerpoint/2010/main" val="858246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15</a:t>
            </a:fld>
            <a:endParaRPr lang="zh-CN" altLang="en-US"/>
          </a:p>
        </p:txBody>
      </p:sp>
    </p:spTree>
    <p:extLst>
      <p:ext uri="{BB962C8B-B14F-4D97-AF65-F5344CB8AC3E}">
        <p14:creationId xmlns:p14="http://schemas.microsoft.com/office/powerpoint/2010/main" val="7530688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16</a:t>
            </a:fld>
            <a:endParaRPr lang="zh-CN" altLang="en-US"/>
          </a:p>
        </p:txBody>
      </p:sp>
    </p:spTree>
    <p:extLst>
      <p:ext uri="{BB962C8B-B14F-4D97-AF65-F5344CB8AC3E}">
        <p14:creationId xmlns:p14="http://schemas.microsoft.com/office/powerpoint/2010/main" val="3877176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17</a:t>
            </a:fld>
            <a:endParaRPr lang="zh-CN" altLang="en-US"/>
          </a:p>
        </p:txBody>
      </p:sp>
    </p:spTree>
    <p:extLst>
      <p:ext uri="{BB962C8B-B14F-4D97-AF65-F5344CB8AC3E}">
        <p14:creationId xmlns:p14="http://schemas.microsoft.com/office/powerpoint/2010/main" val="2021546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18</a:t>
            </a:fld>
            <a:endParaRPr lang="zh-CN" altLang="en-US"/>
          </a:p>
        </p:txBody>
      </p:sp>
    </p:spTree>
    <p:extLst>
      <p:ext uri="{BB962C8B-B14F-4D97-AF65-F5344CB8AC3E}">
        <p14:creationId xmlns:p14="http://schemas.microsoft.com/office/powerpoint/2010/main" val="3537857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19</a:t>
            </a:fld>
            <a:endParaRPr lang="zh-CN" altLang="en-US"/>
          </a:p>
        </p:txBody>
      </p:sp>
    </p:spTree>
    <p:extLst>
      <p:ext uri="{BB962C8B-B14F-4D97-AF65-F5344CB8AC3E}">
        <p14:creationId xmlns:p14="http://schemas.microsoft.com/office/powerpoint/2010/main" val="39298839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20</a:t>
            </a:fld>
            <a:endParaRPr lang="zh-CN" altLang="en-US"/>
          </a:p>
        </p:txBody>
      </p:sp>
    </p:spTree>
    <p:extLst>
      <p:ext uri="{BB962C8B-B14F-4D97-AF65-F5344CB8AC3E}">
        <p14:creationId xmlns:p14="http://schemas.microsoft.com/office/powerpoint/2010/main" val="37402252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21</a:t>
            </a:fld>
            <a:endParaRPr lang="zh-CN" altLang="en-US"/>
          </a:p>
        </p:txBody>
      </p:sp>
    </p:spTree>
    <p:extLst>
      <p:ext uri="{BB962C8B-B14F-4D97-AF65-F5344CB8AC3E}">
        <p14:creationId xmlns:p14="http://schemas.microsoft.com/office/powerpoint/2010/main" val="467693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22</a:t>
            </a:fld>
            <a:endParaRPr lang="zh-CN" altLang="en-US"/>
          </a:p>
        </p:txBody>
      </p:sp>
    </p:spTree>
    <p:extLst>
      <p:ext uri="{BB962C8B-B14F-4D97-AF65-F5344CB8AC3E}">
        <p14:creationId xmlns:p14="http://schemas.microsoft.com/office/powerpoint/2010/main" val="561042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23</a:t>
            </a:fld>
            <a:endParaRPr lang="zh-CN" altLang="en-US"/>
          </a:p>
        </p:txBody>
      </p:sp>
    </p:spTree>
    <p:extLst>
      <p:ext uri="{BB962C8B-B14F-4D97-AF65-F5344CB8AC3E}">
        <p14:creationId xmlns:p14="http://schemas.microsoft.com/office/powerpoint/2010/main" val="3726674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24</a:t>
            </a:fld>
            <a:endParaRPr lang="zh-CN" altLang="en-US"/>
          </a:p>
        </p:txBody>
      </p:sp>
    </p:spTree>
    <p:extLst>
      <p:ext uri="{BB962C8B-B14F-4D97-AF65-F5344CB8AC3E}">
        <p14:creationId xmlns:p14="http://schemas.microsoft.com/office/powerpoint/2010/main" val="6747057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25</a:t>
            </a:fld>
            <a:endParaRPr lang="zh-CN" altLang="en-US"/>
          </a:p>
        </p:txBody>
      </p:sp>
    </p:spTree>
    <p:extLst>
      <p:ext uri="{BB962C8B-B14F-4D97-AF65-F5344CB8AC3E}">
        <p14:creationId xmlns:p14="http://schemas.microsoft.com/office/powerpoint/2010/main" val="11906133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26</a:t>
            </a:fld>
            <a:endParaRPr lang="zh-CN" altLang="en-US"/>
          </a:p>
        </p:txBody>
      </p:sp>
    </p:spTree>
    <p:extLst>
      <p:ext uri="{BB962C8B-B14F-4D97-AF65-F5344CB8AC3E}">
        <p14:creationId xmlns:p14="http://schemas.microsoft.com/office/powerpoint/2010/main" val="2631170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27</a:t>
            </a:fld>
            <a:endParaRPr lang="zh-CN" altLang="en-US"/>
          </a:p>
        </p:txBody>
      </p:sp>
    </p:spTree>
    <p:extLst>
      <p:ext uri="{BB962C8B-B14F-4D97-AF65-F5344CB8AC3E}">
        <p14:creationId xmlns:p14="http://schemas.microsoft.com/office/powerpoint/2010/main" val="14139929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29</a:t>
            </a:fld>
            <a:endParaRPr lang="zh-CN" altLang="en-US"/>
          </a:p>
        </p:txBody>
      </p:sp>
    </p:spTree>
    <p:extLst>
      <p:ext uri="{BB962C8B-B14F-4D97-AF65-F5344CB8AC3E}">
        <p14:creationId xmlns:p14="http://schemas.microsoft.com/office/powerpoint/2010/main" val="25772463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30</a:t>
            </a:fld>
            <a:endParaRPr lang="zh-CN" altLang="en-US"/>
          </a:p>
        </p:txBody>
      </p:sp>
    </p:spTree>
    <p:extLst>
      <p:ext uri="{BB962C8B-B14F-4D97-AF65-F5344CB8AC3E}">
        <p14:creationId xmlns:p14="http://schemas.microsoft.com/office/powerpoint/2010/main" val="3727871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31</a:t>
            </a:fld>
            <a:endParaRPr lang="zh-CN" altLang="en-US"/>
          </a:p>
        </p:txBody>
      </p:sp>
    </p:spTree>
    <p:extLst>
      <p:ext uri="{BB962C8B-B14F-4D97-AF65-F5344CB8AC3E}">
        <p14:creationId xmlns:p14="http://schemas.microsoft.com/office/powerpoint/2010/main" val="42334768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32</a:t>
            </a:fld>
            <a:endParaRPr lang="zh-CN" altLang="en-US"/>
          </a:p>
        </p:txBody>
      </p:sp>
    </p:spTree>
    <p:extLst>
      <p:ext uri="{BB962C8B-B14F-4D97-AF65-F5344CB8AC3E}">
        <p14:creationId xmlns:p14="http://schemas.microsoft.com/office/powerpoint/2010/main" val="37728344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33</a:t>
            </a:fld>
            <a:endParaRPr lang="zh-CN" altLang="en-US"/>
          </a:p>
        </p:txBody>
      </p:sp>
    </p:spTree>
    <p:extLst>
      <p:ext uri="{BB962C8B-B14F-4D97-AF65-F5344CB8AC3E}">
        <p14:creationId xmlns:p14="http://schemas.microsoft.com/office/powerpoint/2010/main" val="3573712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defTabSz="685800" fontAlgn="ctr">
              <a:lnSpc>
                <a:spcPct val="150000"/>
              </a:lnSpc>
              <a:buFont typeface="Wingdings" panose="05000000000000000000" pitchFamily="2" charset="2"/>
              <a:buNone/>
            </a:pPr>
            <a:endParaRPr lang="en-US" altLang="zh-CN" sz="1200" dirty="0">
              <a:solidFill>
                <a:prstClr val="black"/>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C2E0C6E5-CF64-49AD-A4BA-440EA5B84509}" type="slidenum">
              <a:rPr lang="zh-CN" altLang="en-US" smtClean="0"/>
              <a:t>35</a:t>
            </a:fld>
            <a:endParaRPr lang="zh-CN" altLang="en-US"/>
          </a:p>
        </p:txBody>
      </p:sp>
    </p:spTree>
    <p:extLst>
      <p:ext uri="{BB962C8B-B14F-4D97-AF65-F5344CB8AC3E}">
        <p14:creationId xmlns:p14="http://schemas.microsoft.com/office/powerpoint/2010/main" val="37548589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2.jpe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8.jpeg"/><Relationship Id="rId4" Type="http://schemas.openxmlformats.org/officeDocument/2006/relationships/image" Target="../media/image7.jpe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jpeg"/><Relationship Id="rId4"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2.xml"/><Relationship Id="rId1" Type="http://schemas.openxmlformats.org/officeDocument/2006/relationships/tags" Target="../tags/tag1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3.xml"/><Relationship Id="rId5" Type="http://schemas.openxmlformats.org/officeDocument/2006/relationships/image" Target="../media/image12.png"/><Relationship Id="rId4" Type="http://schemas.openxmlformats.org/officeDocument/2006/relationships/image" Target="../media/image11.emf"/></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标题占位符 1"/>
          <p:cNvSpPr>
            <a:spLocks noGrp="1"/>
          </p:cNvSpPr>
          <p:nvPr>
            <p:ph type="title"/>
          </p:nvPr>
        </p:nvSpPr>
        <p:spPr>
          <a:xfrm>
            <a:off x="1326468" y="1924496"/>
            <a:ext cx="6491064" cy="643793"/>
          </a:xfrm>
          <a:prstGeom prst="rect">
            <a:avLst/>
          </a:prstGeom>
        </p:spPr>
        <p:txBody>
          <a:bodyPr vert="horz" lIns="91440" tIns="45720" rIns="91440" bIns="45720" rtlCol="0" anchor="ctr">
            <a:noAutofit/>
          </a:bodyPr>
          <a:lstStyle>
            <a:lvl1pPr algn="ctr">
              <a:defRPr sz="3200" b="1">
                <a:solidFill>
                  <a:srgbClr val="08409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5" name="内容占位符 14"/>
          <p:cNvSpPr>
            <a:spLocks noGrp="1"/>
          </p:cNvSpPr>
          <p:nvPr>
            <p:ph sz="quarter" idx="10"/>
          </p:nvPr>
        </p:nvSpPr>
        <p:spPr>
          <a:xfrm>
            <a:off x="1944006" y="2572568"/>
            <a:ext cx="5255988" cy="503238"/>
          </a:xfrm>
          <a:prstGeom prst="rect">
            <a:avLst/>
          </a:prstGeom>
        </p:spPr>
        <p:txBody>
          <a:bodyPr anchor="ctr"/>
          <a:lstStyle>
            <a:lvl1pPr algn="ctr">
              <a:defRPr sz="2400" b="1">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
        <p:nvSpPr>
          <p:cNvPr id="5"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bg1"/>
                </a:solidFill>
                <a:latin typeface="微软雅黑" panose="020B0503020204020204" pitchFamily="34" charset="-122"/>
                <a:ea typeface="微软雅黑" panose="020B0503020204020204" pitchFamily="34" charset="-122"/>
              </a:rPr>
              <a:t>密级：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bg1"/>
                </a:solidFill>
                <a:latin typeface="微软雅黑" panose="020B0503020204020204" pitchFamily="34" charset="-122"/>
                <a:ea typeface="微软雅黑" panose="020B0503020204020204" pitchFamily="34" charset="-122"/>
              </a:rPr>
              <a:t>密级：   </a:t>
            </a:r>
          </a:p>
        </p:txBody>
      </p:sp>
      <p:sp>
        <p:nvSpPr>
          <p:cNvPr id="6" name="标题占位符 1"/>
          <p:cNvSpPr>
            <a:spLocks noGrp="1"/>
          </p:cNvSpPr>
          <p:nvPr>
            <p:ph type="title"/>
          </p:nvPr>
        </p:nvSpPr>
        <p:spPr>
          <a:xfrm>
            <a:off x="1326468" y="1924496"/>
            <a:ext cx="6491064" cy="643793"/>
          </a:xfrm>
          <a:prstGeom prst="rect">
            <a:avLst/>
          </a:prstGeom>
        </p:spPr>
        <p:txBody>
          <a:bodyPr vert="horz" lIns="91440" tIns="45720" rIns="91440" bIns="45720" rtlCol="0" anchor="ctr">
            <a:noAutofit/>
          </a:bodyPr>
          <a:lstStyle>
            <a:lvl1pPr algn="ctr">
              <a:defRPr sz="3200" b="1">
                <a:solidFill>
                  <a:srgbClr val="08409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7" name="内容占位符 14"/>
          <p:cNvSpPr>
            <a:spLocks noGrp="1"/>
          </p:cNvSpPr>
          <p:nvPr>
            <p:ph sz="quarter" idx="10"/>
          </p:nvPr>
        </p:nvSpPr>
        <p:spPr>
          <a:xfrm>
            <a:off x="1944006" y="2572568"/>
            <a:ext cx="5255988" cy="503238"/>
          </a:xfrm>
          <a:prstGeom prst="rect">
            <a:avLst/>
          </a:prstGeom>
        </p:spPr>
        <p:txBody>
          <a:bodyPr anchor="ctr"/>
          <a:lstStyle>
            <a:lvl1pPr algn="ctr">
              <a:defRPr sz="2400" b="0">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bg1"/>
                </a:solidFill>
                <a:latin typeface="微软雅黑" panose="020B0503020204020204" pitchFamily="34" charset="-122"/>
                <a:ea typeface="微软雅黑" panose="020B0503020204020204" pitchFamily="34" charset="-122"/>
              </a:rPr>
              <a:t>密级：   </a:t>
            </a:r>
          </a:p>
        </p:txBody>
      </p:sp>
      <p:sp>
        <p:nvSpPr>
          <p:cNvPr id="3" name="圆角矩形 2"/>
          <p:cNvSpPr/>
          <p:nvPr userDrawn="1">
            <p:custDataLst>
              <p:tags r:id="rId1"/>
            </p:custDataLst>
          </p:nvPr>
        </p:nvSpPr>
        <p:spPr>
          <a:xfrm>
            <a:off x="1059406" y="452013"/>
            <a:ext cx="1597367" cy="1543674"/>
          </a:xfrm>
          <a:prstGeom prst="roundRect">
            <a:avLst>
              <a:gd name="adj" fmla="val 0"/>
            </a:avLst>
          </a:prstGeom>
          <a:solidFill>
            <a:srgbClr val="FFFFFF">
              <a:alpha val="5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7"/>
          <p:cNvSpPr txBox="1"/>
          <p:nvPr userDrawn="1">
            <p:custDataLst>
              <p:tags r:id="rId2"/>
            </p:custDataLst>
          </p:nvPr>
        </p:nvSpPr>
        <p:spPr>
          <a:xfrm>
            <a:off x="1187624" y="1252612"/>
            <a:ext cx="2388870" cy="527050"/>
          </a:xfrm>
          <a:prstGeom prst="rect">
            <a:avLst/>
          </a:prstGeom>
        </p:spPr>
        <p:txBody>
          <a:bodyPr>
            <a:noAutofit/>
          </a:bodyPr>
          <a:lstStyle/>
          <a:p>
            <a:pPr algn="l"/>
            <a:r>
              <a:rPr lang="en-US" altLang="zh-CN" sz="2000" kern="0" dirty="0">
                <a:solidFill>
                  <a:srgbClr val="08409C"/>
                </a:solidFill>
                <a:latin typeface="微软雅黑" panose="020B0503020204020204" pitchFamily="34" charset="-122"/>
                <a:ea typeface="微软雅黑" panose="020B0503020204020204" pitchFamily="34" charset="-122"/>
                <a:cs typeface="微软雅黑" panose="020B0503020204020204" pitchFamily="34" charset="-122"/>
              </a:rPr>
              <a:t>CONTENTS</a:t>
            </a:r>
          </a:p>
        </p:txBody>
      </p:sp>
      <p:sp>
        <p:nvSpPr>
          <p:cNvPr id="5" name="矩形 4"/>
          <p:cNvSpPr/>
          <p:nvPr userDrawn="1"/>
        </p:nvSpPr>
        <p:spPr>
          <a:xfrm flipV="1">
            <a:off x="1312337" y="1687469"/>
            <a:ext cx="1656184" cy="67029"/>
          </a:xfrm>
          <a:prstGeom prst="rect">
            <a:avLst/>
          </a:prstGeom>
          <a:gradFill>
            <a:gsLst>
              <a:gs pos="0">
                <a:srgbClr val="00B7FF"/>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7"/>
          <p:cNvSpPr>
            <a:spLocks noGrp="1"/>
          </p:cNvSpPr>
          <p:nvPr userDrawn="1">
            <p:custDataLst>
              <p:tags r:id="rId3"/>
            </p:custDataLst>
          </p:nvPr>
        </p:nvSpPr>
        <p:spPr>
          <a:xfrm>
            <a:off x="755551" y="483900"/>
            <a:ext cx="1726565" cy="92202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800" b="1" dirty="0">
                <a:solidFill>
                  <a:srgbClr val="08409C"/>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bg1"/>
                </a:solidFill>
                <a:latin typeface="微软雅黑" panose="020B0503020204020204" pitchFamily="34" charset="-122"/>
                <a:ea typeface="微软雅黑" panose="020B0503020204020204" pitchFamily="34" charset="-122"/>
              </a:rPr>
              <a:t>密级：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8" name="内容占位符 6"/>
          <p:cNvSpPr>
            <a:spLocks noGrp="1"/>
          </p:cNvSpPr>
          <p:nvPr>
            <p:ph sz="quarter" idx="10" hasCustomPrompt="1"/>
          </p:nvPr>
        </p:nvSpPr>
        <p:spPr>
          <a:xfrm>
            <a:off x="4095074" y="1319785"/>
            <a:ext cx="953852" cy="720105"/>
          </a:xfrm>
          <a:prstGeom prst="rect">
            <a:avLst/>
          </a:prstGeom>
        </p:spPr>
        <p:txBody>
          <a:bodyPr anchor="ctr"/>
          <a:lstStyle>
            <a:lvl1pPr algn="ctr">
              <a:defRPr sz="3200" b="1" i="0">
                <a:solidFill>
                  <a:srgbClr val="08409C"/>
                </a:solidFill>
                <a:latin typeface="微软雅黑" panose="020B0503020204020204" pitchFamily="34" charset="-122"/>
                <a:ea typeface="微软雅黑" panose="020B0503020204020204" pitchFamily="34" charset="-122"/>
              </a:defRPr>
            </a:lvl1pPr>
            <a:lvl2pPr marL="0" algn="l" defTabSz="914400" rtl="0" eaLnBrk="1" latinLnBrk="0" hangingPunct="1">
              <a:defRPr lang="zh-CN" altLang="en-US" sz="4400" kern="1200" dirty="0" smtClean="0">
                <a:solidFill>
                  <a:srgbClr val="0059E9"/>
                </a:solidFill>
                <a:latin typeface="Impact" panose="020B0806030902050204" pitchFamily="34" charset="0"/>
                <a:ea typeface="Arial" panose="020B0604020202020204"/>
                <a:cs typeface="Arial" panose="020B0604020202020204"/>
                <a:sym typeface="Arial" panose="020B0604020202020204"/>
              </a:defRPr>
            </a:lvl2pPr>
            <a:lvl3pPr marL="0" algn="l" defTabSz="914400" rtl="0" eaLnBrk="1" latinLnBrk="0" hangingPunct="1">
              <a:defRPr lang="zh-CN" altLang="en-US" sz="4400" kern="1200" dirty="0" smtClean="0">
                <a:solidFill>
                  <a:srgbClr val="0059E9"/>
                </a:solidFill>
                <a:latin typeface="Impact" panose="020B0806030902050204" pitchFamily="34" charset="0"/>
                <a:ea typeface="Arial" panose="020B0604020202020204"/>
                <a:cs typeface="Arial" panose="020B0604020202020204"/>
                <a:sym typeface="Arial" panose="020B0604020202020204"/>
              </a:defRPr>
            </a:lvl3pPr>
            <a:lvl4pPr marL="0" algn="l" defTabSz="914400" rtl="0" eaLnBrk="1" latinLnBrk="0" hangingPunct="1">
              <a:defRPr lang="zh-CN" altLang="en-US" sz="4400" kern="1200" dirty="0" smtClean="0">
                <a:solidFill>
                  <a:srgbClr val="0059E9"/>
                </a:solidFill>
                <a:latin typeface="Impact" panose="020B0806030902050204" pitchFamily="34" charset="0"/>
                <a:ea typeface="Arial" panose="020B0604020202020204"/>
                <a:cs typeface="Arial" panose="020B0604020202020204"/>
                <a:sym typeface="Arial" panose="020B0604020202020204"/>
              </a:defRPr>
            </a:lvl4pPr>
            <a:lvl5pPr marL="0" algn="l" defTabSz="914400" rtl="0" eaLnBrk="1" latinLnBrk="0" hangingPunct="1">
              <a:defRPr lang="zh-CN" altLang="en-US" sz="4400" kern="1200" dirty="0">
                <a:solidFill>
                  <a:srgbClr val="0059E9"/>
                </a:solidFill>
                <a:latin typeface="Impact" panose="020B0806030902050204" pitchFamily="34" charset="0"/>
                <a:ea typeface="Arial" panose="020B0604020202020204"/>
                <a:cs typeface="Arial" panose="020B0604020202020204"/>
                <a:sym typeface="Arial" panose="020B0604020202020204"/>
              </a:defRPr>
            </a:lvl5pPr>
          </a:lstStyle>
          <a:p>
            <a:pPr lvl="0"/>
            <a:r>
              <a:rPr lang="en-US" altLang="zh-CN" dirty="0"/>
              <a:t>01</a:t>
            </a:r>
            <a:endParaRPr lang="zh-CN" altLang="en-US" dirty="0"/>
          </a:p>
        </p:txBody>
      </p:sp>
      <p:sp>
        <p:nvSpPr>
          <p:cNvPr id="11" name="内容占位符 9"/>
          <p:cNvSpPr>
            <a:spLocks noGrp="1"/>
          </p:cNvSpPr>
          <p:nvPr>
            <p:ph sz="quarter" idx="11" hasCustomPrompt="1"/>
          </p:nvPr>
        </p:nvSpPr>
        <p:spPr>
          <a:xfrm>
            <a:off x="1439652" y="2427734"/>
            <a:ext cx="6264696" cy="504056"/>
          </a:xfrm>
          <a:prstGeom prst="rect">
            <a:avLst/>
          </a:prstGeom>
        </p:spPr>
        <p:txBody>
          <a:bodyPr anchor="ctr"/>
          <a:lstStyle>
            <a:lvl1pPr algn="ctr">
              <a:defRPr sz="2800" b="1">
                <a:solidFill>
                  <a:srgbClr val="08409C"/>
                </a:solidFill>
                <a:latin typeface="微软雅黑" panose="020B0503020204020204" pitchFamily="34" charset="-122"/>
                <a:ea typeface="微软雅黑" panose="020B0503020204020204" pitchFamily="34" charset="-122"/>
              </a:defRPr>
            </a:lvl1pPr>
            <a:lvl2pPr marL="457200" indent="0">
              <a:buFontTx/>
              <a:buNone/>
              <a:defRPr sz="2800" b="1">
                <a:solidFill>
                  <a:schemeClr val="tx1">
                    <a:lumMod val="75000"/>
                    <a:lumOff val="25000"/>
                  </a:schemeClr>
                </a:solidFill>
                <a:latin typeface="+mn-ea"/>
                <a:ea typeface="+mn-ea"/>
              </a:defRPr>
            </a:lvl2pPr>
            <a:lvl3pPr marL="914400" indent="0">
              <a:buFontTx/>
              <a:buNone/>
              <a:defRPr sz="2800">
                <a:latin typeface="+mn-ea"/>
                <a:ea typeface="+mn-ea"/>
              </a:defRPr>
            </a:lvl3pPr>
            <a:lvl4pPr marL="1371600" indent="0">
              <a:buFontTx/>
              <a:buNone/>
              <a:defRPr sz="2800">
                <a:latin typeface="+mn-ea"/>
                <a:ea typeface="+mn-ea"/>
              </a:defRPr>
            </a:lvl4pPr>
            <a:lvl5pPr marL="1828800" indent="0">
              <a:buFontTx/>
              <a:buNone/>
              <a:defRPr sz="2800">
                <a:latin typeface="+mn-ea"/>
                <a:ea typeface="+mn-ea"/>
              </a:defRPr>
            </a:lvl5pPr>
          </a:lstStyle>
          <a:p>
            <a:pPr lvl="0"/>
            <a:r>
              <a:rPr lang="zh-CN" altLang="en-US" dirty="0"/>
              <a:t>此处是大纲标题样式</a:t>
            </a:r>
          </a:p>
        </p:txBody>
      </p:sp>
      <p:sp>
        <p:nvSpPr>
          <p:cNvPr id="14"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密级：   </a:t>
            </a:r>
          </a:p>
        </p:txBody>
      </p:sp>
      <p:pic>
        <p:nvPicPr>
          <p:cNvPr id="5" name="图片 4" descr="C:\Users\Administrator\Desktop\cccccccc.pngcccccccc"/>
          <p:cNvPicPr>
            <a:picLocks noChangeAspect="1"/>
          </p:cNvPicPr>
          <p:nvPr userDrawn="1">
            <p:custDataLst>
              <p:tags r:id="rId1"/>
            </p:custDataLst>
          </p:nvPr>
        </p:nvPicPr>
        <p:blipFill>
          <a:blip r:embed="rId4"/>
          <a:srcRect/>
          <a:stretch>
            <a:fillRect/>
          </a:stretch>
        </p:blipFill>
        <p:spPr>
          <a:xfrm>
            <a:off x="3635896" y="1435998"/>
            <a:ext cx="514350" cy="4876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bg>
      <p:bgPr>
        <a:solidFill>
          <a:schemeClr val="bg1"/>
        </a:solidFill>
        <a:effectLst/>
      </p:bgPr>
    </p:bg>
    <p:spTree>
      <p:nvGrpSpPr>
        <p:cNvPr id="1" name=""/>
        <p:cNvGrpSpPr/>
        <p:nvPr/>
      </p:nvGrpSpPr>
      <p:grpSpPr>
        <a:xfrm>
          <a:off x="0" y="0"/>
          <a:ext cx="0" cy="0"/>
          <a:chOff x="0" y="0"/>
          <a:chExt cx="0" cy="0"/>
        </a:xfrm>
      </p:grpSpPr>
      <p:sp>
        <p:nvSpPr>
          <p:cNvPr id="6" name="内容占位符 8"/>
          <p:cNvSpPr>
            <a:spLocks noGrp="1"/>
          </p:cNvSpPr>
          <p:nvPr>
            <p:ph sz="quarter" idx="11" hasCustomPrompt="1"/>
          </p:nvPr>
        </p:nvSpPr>
        <p:spPr>
          <a:xfrm>
            <a:off x="683568" y="1131590"/>
            <a:ext cx="7783538" cy="2881312"/>
          </a:xfrm>
          <a:prstGeom prst="rect">
            <a:avLst/>
          </a:prstGeom>
        </p:spPr>
        <p:txBody>
          <a:bodyPr/>
          <a:lstStyle>
            <a:lvl1pP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t>单击此处编辑文本</a:t>
            </a:r>
          </a:p>
        </p:txBody>
      </p:sp>
      <p:sp>
        <p:nvSpPr>
          <p:cNvPr id="12"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密级：   </a:t>
            </a:r>
          </a:p>
        </p:txBody>
      </p:sp>
      <p:sp>
        <p:nvSpPr>
          <p:cNvPr id="7" name="内容占位符 4"/>
          <p:cNvSpPr>
            <a:spLocks noGrp="1"/>
          </p:cNvSpPr>
          <p:nvPr>
            <p:ph sz="quarter" idx="10" hasCustomPrompt="1"/>
          </p:nvPr>
        </p:nvSpPr>
        <p:spPr>
          <a:xfrm>
            <a:off x="899592" y="239611"/>
            <a:ext cx="5544616" cy="504056"/>
          </a:xfrm>
          <a:prstGeom prst="rect">
            <a:avLst/>
          </a:prstGeom>
        </p:spPr>
        <p:txBody>
          <a:bodyPr anchor="ctr"/>
          <a:lstStyle>
            <a:lvl1pPr>
              <a:defRPr sz="2400" b="1">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96589"/>
            <a:ext cx="844642" cy="42332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自定义版式">
    <p:bg>
      <p:bgPr>
        <a:solidFill>
          <a:schemeClr val="bg1"/>
        </a:solidFill>
        <a:effectLst/>
      </p:bgPr>
    </p:bg>
    <p:spTree>
      <p:nvGrpSpPr>
        <p:cNvPr id="1" name=""/>
        <p:cNvGrpSpPr/>
        <p:nvPr/>
      </p:nvGrpSpPr>
      <p:grpSpPr>
        <a:xfrm>
          <a:off x="0" y="0"/>
          <a:ext cx="0" cy="0"/>
          <a:chOff x="0" y="0"/>
          <a:chExt cx="0" cy="0"/>
        </a:xfrm>
      </p:grpSpPr>
      <p:sp>
        <p:nvSpPr>
          <p:cNvPr id="3"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密级：   </a:t>
            </a:r>
          </a:p>
        </p:txBody>
      </p:sp>
      <p:sp>
        <p:nvSpPr>
          <p:cNvPr id="11" name="内容占位符 8"/>
          <p:cNvSpPr>
            <a:spLocks noGrp="1"/>
          </p:cNvSpPr>
          <p:nvPr>
            <p:ph sz="quarter" idx="11" hasCustomPrompt="1"/>
          </p:nvPr>
        </p:nvSpPr>
        <p:spPr>
          <a:xfrm>
            <a:off x="683568" y="1131590"/>
            <a:ext cx="7783538" cy="2881312"/>
          </a:xfrm>
          <a:prstGeom prst="rect">
            <a:avLst/>
          </a:prstGeom>
        </p:spPr>
        <p:txBody>
          <a:bodyPr/>
          <a:lstStyle>
            <a:lvl1pP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t>单击此处编辑文本</a:t>
            </a:r>
          </a:p>
        </p:txBody>
      </p:sp>
      <p:sp>
        <p:nvSpPr>
          <p:cNvPr id="12" name="内容占位符 4"/>
          <p:cNvSpPr>
            <a:spLocks noGrp="1"/>
          </p:cNvSpPr>
          <p:nvPr>
            <p:ph sz="quarter" idx="10" hasCustomPrompt="1"/>
          </p:nvPr>
        </p:nvSpPr>
        <p:spPr>
          <a:xfrm>
            <a:off x="899592" y="239611"/>
            <a:ext cx="5544616" cy="504056"/>
          </a:xfrm>
          <a:prstGeom prst="rect">
            <a:avLst/>
          </a:prstGeom>
        </p:spPr>
        <p:txBody>
          <a:bodyPr anchor="ctr"/>
          <a:lstStyle>
            <a:lvl1pPr>
              <a:defRPr sz="2400" b="1">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96589"/>
            <a:ext cx="844642" cy="42332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自定义版式">
    <p:bg>
      <p:bgPr>
        <a:solidFill>
          <a:schemeClr val="bg1"/>
        </a:solidFill>
        <a:effectLst/>
      </p:bgPr>
    </p:bg>
    <p:spTree>
      <p:nvGrpSpPr>
        <p:cNvPr id="1" name=""/>
        <p:cNvGrpSpPr/>
        <p:nvPr/>
      </p:nvGrpSpPr>
      <p:grpSpPr>
        <a:xfrm>
          <a:off x="0" y="0"/>
          <a:ext cx="0" cy="0"/>
          <a:chOff x="0" y="0"/>
          <a:chExt cx="0" cy="0"/>
        </a:xfrm>
      </p:grpSpPr>
      <p:sp>
        <p:nvSpPr>
          <p:cNvPr id="3"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密级：   </a:t>
            </a:r>
          </a:p>
        </p:txBody>
      </p:sp>
      <p:sp>
        <p:nvSpPr>
          <p:cNvPr id="11" name="内容占位符 8"/>
          <p:cNvSpPr>
            <a:spLocks noGrp="1"/>
          </p:cNvSpPr>
          <p:nvPr>
            <p:ph sz="quarter" idx="11" hasCustomPrompt="1"/>
          </p:nvPr>
        </p:nvSpPr>
        <p:spPr>
          <a:xfrm>
            <a:off x="683568" y="1131590"/>
            <a:ext cx="7783538" cy="2881312"/>
          </a:xfrm>
          <a:prstGeom prst="rect">
            <a:avLst/>
          </a:prstGeom>
        </p:spPr>
        <p:txBody>
          <a:bodyPr/>
          <a:lstStyle>
            <a:lvl1pP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t>单击此处编辑文本</a:t>
            </a:r>
          </a:p>
        </p:txBody>
      </p:sp>
      <p:sp>
        <p:nvSpPr>
          <p:cNvPr id="12" name="内容占位符 4"/>
          <p:cNvSpPr>
            <a:spLocks noGrp="1"/>
          </p:cNvSpPr>
          <p:nvPr>
            <p:ph sz="quarter" idx="10" hasCustomPrompt="1"/>
          </p:nvPr>
        </p:nvSpPr>
        <p:spPr>
          <a:xfrm>
            <a:off x="899592" y="239611"/>
            <a:ext cx="5544616" cy="504056"/>
          </a:xfrm>
          <a:prstGeom prst="rect">
            <a:avLst/>
          </a:prstGeom>
        </p:spPr>
        <p:txBody>
          <a:bodyPr anchor="ctr"/>
          <a:lstStyle>
            <a:lvl1pPr>
              <a:defRPr sz="2400" b="1">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pic>
        <p:nvPicPr>
          <p:cNvPr id="13" name="图片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96589"/>
            <a:ext cx="844642" cy="423328"/>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文本框 5"/>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defRPr/>
            </a:pPr>
            <a:r>
              <a:rPr lang="zh-CN" altLang="en-US" sz="1400" dirty="0">
                <a:solidFill>
                  <a:schemeClr val="bg1"/>
                </a:solidFill>
                <a:latin typeface="微软雅黑" panose="020B0503020204020204" pitchFamily="34" charset="-122"/>
                <a:ea typeface="微软雅黑" panose="020B0503020204020204" pitchFamily="34" charset="-122"/>
              </a:rPr>
              <a:t>密级：   </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pic>
        <p:nvPicPr>
          <p:cNvPr id="6" name="图片 5" descr="ppt首页0100_看图王"/>
          <p:cNvPicPr>
            <a:picLocks noChangeAspect="1"/>
          </p:cNvPicPr>
          <p:nvPr userDrawn="1">
            <p:custDataLst>
              <p:tags r:id="rId1"/>
            </p:custDataLst>
          </p:nvPr>
        </p:nvPicPr>
        <p:blipFill>
          <a:blip r:embed="rId4"/>
          <a:stretch>
            <a:fillRect/>
          </a:stretch>
        </p:blipFill>
        <p:spPr>
          <a:xfrm>
            <a:off x="0" y="0"/>
            <a:ext cx="9144000" cy="5143500"/>
          </a:xfrm>
          <a:prstGeom prst="rect">
            <a:avLst/>
          </a:prstGeom>
        </p:spPr>
      </p:pic>
      <p:pic>
        <p:nvPicPr>
          <p:cNvPr id="7" name="图片 6" descr="图层 30_看图王"/>
          <p:cNvPicPr>
            <a:picLocks noChangeAspect="1"/>
          </p:cNvPicPr>
          <p:nvPr userDrawn="1">
            <p:custDataLst>
              <p:tags r:id="rId2"/>
            </p:custDataLst>
          </p:nvPr>
        </p:nvPicPr>
        <p:blipFill>
          <a:blip r:embed="rId5"/>
          <a:stretch>
            <a:fillRect/>
          </a:stretch>
        </p:blipFill>
        <p:spPr>
          <a:xfrm>
            <a:off x="0" y="1708150"/>
            <a:ext cx="9144000" cy="160464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标题占位符 1"/>
          <p:cNvSpPr>
            <a:spLocks noGrp="1"/>
          </p:cNvSpPr>
          <p:nvPr>
            <p:ph type="title"/>
          </p:nvPr>
        </p:nvSpPr>
        <p:spPr>
          <a:xfrm>
            <a:off x="1326468" y="1924496"/>
            <a:ext cx="6491064" cy="643793"/>
          </a:xfrm>
          <a:prstGeom prst="rect">
            <a:avLst/>
          </a:prstGeom>
        </p:spPr>
        <p:txBody>
          <a:bodyPr vert="horz" lIns="91440" tIns="45720" rIns="91440" bIns="45720" rtlCol="0" anchor="ctr">
            <a:noAutofit/>
          </a:bodyPr>
          <a:lstStyle>
            <a:lvl1pPr algn="ctr">
              <a:defRPr sz="3200" b="1">
                <a:solidFill>
                  <a:srgbClr val="08409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15" name="内容占位符 14"/>
          <p:cNvSpPr>
            <a:spLocks noGrp="1"/>
          </p:cNvSpPr>
          <p:nvPr>
            <p:ph sz="quarter" idx="10"/>
          </p:nvPr>
        </p:nvSpPr>
        <p:spPr>
          <a:xfrm>
            <a:off x="1944006" y="2572568"/>
            <a:ext cx="5255988" cy="503238"/>
          </a:xfrm>
          <a:prstGeom prst="rect">
            <a:avLst/>
          </a:prstGeom>
        </p:spPr>
        <p:txBody>
          <a:bodyPr anchor="ctr"/>
          <a:lstStyle>
            <a:lvl1pPr algn="ctr">
              <a:defRPr sz="2400" b="1">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标题占位符 1"/>
          <p:cNvSpPr>
            <a:spLocks noGrp="1"/>
          </p:cNvSpPr>
          <p:nvPr>
            <p:ph type="title"/>
          </p:nvPr>
        </p:nvSpPr>
        <p:spPr>
          <a:xfrm>
            <a:off x="1326468" y="1924496"/>
            <a:ext cx="6491064" cy="643793"/>
          </a:xfrm>
          <a:prstGeom prst="rect">
            <a:avLst/>
          </a:prstGeom>
        </p:spPr>
        <p:txBody>
          <a:bodyPr vert="horz" lIns="91440" tIns="45720" rIns="91440" bIns="45720" rtlCol="0" anchor="ctr">
            <a:noAutofit/>
          </a:bodyPr>
          <a:lstStyle>
            <a:lvl1pPr algn="ctr">
              <a:defRPr sz="3200" b="1">
                <a:solidFill>
                  <a:srgbClr val="08409C"/>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7" name="内容占位符 14"/>
          <p:cNvSpPr>
            <a:spLocks noGrp="1"/>
          </p:cNvSpPr>
          <p:nvPr>
            <p:ph sz="quarter" idx="10"/>
          </p:nvPr>
        </p:nvSpPr>
        <p:spPr>
          <a:xfrm>
            <a:off x="1944006" y="2572568"/>
            <a:ext cx="5255988" cy="503238"/>
          </a:xfrm>
          <a:prstGeom prst="rect">
            <a:avLst/>
          </a:prstGeom>
        </p:spPr>
        <p:txBody>
          <a:bodyPr anchor="ctr"/>
          <a:lstStyle>
            <a:lvl1pPr algn="ctr">
              <a:defRPr sz="2400" b="0">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3" name="圆角矩形 2"/>
          <p:cNvSpPr/>
          <p:nvPr userDrawn="1">
            <p:custDataLst>
              <p:tags r:id="rId1"/>
            </p:custDataLst>
          </p:nvPr>
        </p:nvSpPr>
        <p:spPr>
          <a:xfrm>
            <a:off x="1059406" y="452013"/>
            <a:ext cx="1597367" cy="1543674"/>
          </a:xfrm>
          <a:prstGeom prst="roundRect">
            <a:avLst>
              <a:gd name="adj" fmla="val 0"/>
            </a:avLst>
          </a:prstGeom>
          <a:solidFill>
            <a:srgbClr val="FFFFFF">
              <a:alpha val="5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7"/>
          <p:cNvSpPr txBox="1"/>
          <p:nvPr userDrawn="1">
            <p:custDataLst>
              <p:tags r:id="rId2"/>
            </p:custDataLst>
          </p:nvPr>
        </p:nvSpPr>
        <p:spPr>
          <a:xfrm>
            <a:off x="1187624" y="1252612"/>
            <a:ext cx="2388870" cy="527050"/>
          </a:xfrm>
          <a:prstGeom prst="rect">
            <a:avLst/>
          </a:prstGeom>
        </p:spPr>
        <p:txBody>
          <a:bodyPr>
            <a:noAutofit/>
          </a:bodyPr>
          <a:lstStyle/>
          <a:p>
            <a:pPr algn="l"/>
            <a:r>
              <a:rPr lang="en-US" altLang="zh-CN" sz="2000" kern="0" dirty="0">
                <a:solidFill>
                  <a:srgbClr val="08409C"/>
                </a:solidFill>
                <a:latin typeface="微软雅黑" panose="020B0503020204020204" pitchFamily="34" charset="-122"/>
                <a:ea typeface="微软雅黑" panose="020B0503020204020204" pitchFamily="34" charset="-122"/>
                <a:cs typeface="微软雅黑" panose="020B0503020204020204" pitchFamily="34" charset="-122"/>
              </a:rPr>
              <a:t>CONTENTS</a:t>
            </a:r>
          </a:p>
        </p:txBody>
      </p:sp>
      <p:sp>
        <p:nvSpPr>
          <p:cNvPr id="5" name="矩形 4"/>
          <p:cNvSpPr/>
          <p:nvPr userDrawn="1"/>
        </p:nvSpPr>
        <p:spPr>
          <a:xfrm flipV="1">
            <a:off x="1312337" y="1687469"/>
            <a:ext cx="1656184" cy="67029"/>
          </a:xfrm>
          <a:prstGeom prst="rect">
            <a:avLst/>
          </a:prstGeom>
          <a:gradFill>
            <a:gsLst>
              <a:gs pos="0">
                <a:srgbClr val="00B7FF"/>
              </a:gs>
              <a:gs pos="100000">
                <a:srgbClr val="FFFFFF"/>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7"/>
          <p:cNvSpPr>
            <a:spLocks noGrp="1"/>
          </p:cNvSpPr>
          <p:nvPr userDrawn="1">
            <p:custDataLst>
              <p:tags r:id="rId3"/>
            </p:custDataLst>
          </p:nvPr>
        </p:nvSpPr>
        <p:spPr>
          <a:xfrm>
            <a:off x="755551" y="483900"/>
            <a:ext cx="1726565" cy="922020"/>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sz="2800" b="1" dirty="0">
                <a:solidFill>
                  <a:srgbClr val="08409C"/>
                </a:solidFill>
                <a:latin typeface="微软雅黑" panose="020B0503020204020204" pitchFamily="34" charset="-122"/>
                <a:ea typeface="微软雅黑" panose="020B0503020204020204" pitchFamily="34" charset="-122"/>
                <a:cs typeface="微软雅黑" panose="020B0503020204020204" pitchFamily="34" charset="-122"/>
              </a:rPr>
              <a:t>目录</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自定义版式">
    <p:bg>
      <p:bgPr>
        <a:blipFill dpi="0" rotWithShape="0">
          <a:blip r:embed="rId3">
            <a:lum/>
          </a:blip>
          <a:srcRect/>
          <a:stretch>
            <a:fillRect/>
          </a:stretch>
        </a:blipFill>
        <a:effectLst/>
      </p:bgPr>
    </p:bg>
    <p:spTree>
      <p:nvGrpSpPr>
        <p:cNvPr id="1" name=""/>
        <p:cNvGrpSpPr/>
        <p:nvPr/>
      </p:nvGrpSpPr>
      <p:grpSpPr>
        <a:xfrm>
          <a:off x="0" y="0"/>
          <a:ext cx="0" cy="0"/>
          <a:chOff x="0" y="0"/>
          <a:chExt cx="0" cy="0"/>
        </a:xfrm>
      </p:grpSpPr>
      <p:sp>
        <p:nvSpPr>
          <p:cNvPr id="8" name="内容占位符 6"/>
          <p:cNvSpPr>
            <a:spLocks noGrp="1"/>
          </p:cNvSpPr>
          <p:nvPr>
            <p:ph sz="quarter" idx="10" hasCustomPrompt="1"/>
          </p:nvPr>
        </p:nvSpPr>
        <p:spPr>
          <a:xfrm>
            <a:off x="4095074" y="1319785"/>
            <a:ext cx="953852" cy="720105"/>
          </a:xfrm>
          <a:prstGeom prst="rect">
            <a:avLst/>
          </a:prstGeom>
        </p:spPr>
        <p:txBody>
          <a:bodyPr anchor="ctr"/>
          <a:lstStyle>
            <a:lvl1pPr algn="ctr">
              <a:defRPr sz="3200" b="1" i="0">
                <a:solidFill>
                  <a:srgbClr val="08409C"/>
                </a:solidFill>
                <a:latin typeface="微软雅黑" panose="020B0503020204020204" pitchFamily="34" charset="-122"/>
                <a:ea typeface="微软雅黑" panose="020B0503020204020204" pitchFamily="34" charset="-122"/>
              </a:defRPr>
            </a:lvl1pPr>
            <a:lvl2pPr marL="0" algn="l" defTabSz="914400" rtl="0" eaLnBrk="1" latinLnBrk="0" hangingPunct="1">
              <a:defRPr lang="zh-CN" altLang="en-US" sz="4400" kern="1200" dirty="0" smtClean="0">
                <a:solidFill>
                  <a:srgbClr val="0059E9"/>
                </a:solidFill>
                <a:latin typeface="Impact" panose="020B0806030902050204" pitchFamily="34" charset="0"/>
                <a:ea typeface="Arial" panose="020B0604020202020204"/>
                <a:cs typeface="Arial" panose="020B0604020202020204"/>
                <a:sym typeface="Arial" panose="020B0604020202020204"/>
              </a:defRPr>
            </a:lvl2pPr>
            <a:lvl3pPr marL="0" algn="l" defTabSz="914400" rtl="0" eaLnBrk="1" latinLnBrk="0" hangingPunct="1">
              <a:defRPr lang="zh-CN" altLang="en-US" sz="4400" kern="1200" dirty="0" smtClean="0">
                <a:solidFill>
                  <a:srgbClr val="0059E9"/>
                </a:solidFill>
                <a:latin typeface="Impact" panose="020B0806030902050204" pitchFamily="34" charset="0"/>
                <a:ea typeface="Arial" panose="020B0604020202020204"/>
                <a:cs typeface="Arial" panose="020B0604020202020204"/>
                <a:sym typeface="Arial" panose="020B0604020202020204"/>
              </a:defRPr>
            </a:lvl3pPr>
            <a:lvl4pPr marL="0" algn="l" defTabSz="914400" rtl="0" eaLnBrk="1" latinLnBrk="0" hangingPunct="1">
              <a:defRPr lang="zh-CN" altLang="en-US" sz="4400" kern="1200" dirty="0" smtClean="0">
                <a:solidFill>
                  <a:srgbClr val="0059E9"/>
                </a:solidFill>
                <a:latin typeface="Impact" panose="020B0806030902050204" pitchFamily="34" charset="0"/>
                <a:ea typeface="Arial" panose="020B0604020202020204"/>
                <a:cs typeface="Arial" panose="020B0604020202020204"/>
                <a:sym typeface="Arial" panose="020B0604020202020204"/>
              </a:defRPr>
            </a:lvl4pPr>
            <a:lvl5pPr marL="0" algn="l" defTabSz="914400" rtl="0" eaLnBrk="1" latinLnBrk="0" hangingPunct="1">
              <a:defRPr lang="zh-CN" altLang="en-US" sz="4400" kern="1200" dirty="0">
                <a:solidFill>
                  <a:srgbClr val="0059E9"/>
                </a:solidFill>
                <a:latin typeface="Impact" panose="020B0806030902050204" pitchFamily="34" charset="0"/>
                <a:ea typeface="Arial" panose="020B0604020202020204"/>
                <a:cs typeface="Arial" panose="020B0604020202020204"/>
                <a:sym typeface="Arial" panose="020B0604020202020204"/>
              </a:defRPr>
            </a:lvl5pPr>
          </a:lstStyle>
          <a:p>
            <a:pPr lvl="0"/>
            <a:r>
              <a:rPr lang="en-US" altLang="zh-CN" dirty="0"/>
              <a:t>01</a:t>
            </a:r>
            <a:endParaRPr lang="zh-CN" altLang="en-US" dirty="0"/>
          </a:p>
        </p:txBody>
      </p:sp>
      <p:sp>
        <p:nvSpPr>
          <p:cNvPr id="11" name="内容占位符 9"/>
          <p:cNvSpPr>
            <a:spLocks noGrp="1"/>
          </p:cNvSpPr>
          <p:nvPr>
            <p:ph sz="quarter" idx="11" hasCustomPrompt="1"/>
          </p:nvPr>
        </p:nvSpPr>
        <p:spPr>
          <a:xfrm>
            <a:off x="1439652" y="2427734"/>
            <a:ext cx="6264696" cy="504056"/>
          </a:xfrm>
          <a:prstGeom prst="rect">
            <a:avLst/>
          </a:prstGeom>
        </p:spPr>
        <p:txBody>
          <a:bodyPr anchor="ctr"/>
          <a:lstStyle>
            <a:lvl1pPr algn="ctr">
              <a:defRPr sz="2800" b="1">
                <a:solidFill>
                  <a:srgbClr val="08409C"/>
                </a:solidFill>
                <a:latin typeface="微软雅黑" panose="020B0503020204020204" pitchFamily="34" charset="-122"/>
                <a:ea typeface="微软雅黑" panose="020B0503020204020204" pitchFamily="34" charset="-122"/>
              </a:defRPr>
            </a:lvl1pPr>
            <a:lvl2pPr marL="457200" indent="0">
              <a:buFontTx/>
              <a:buNone/>
              <a:defRPr sz="2800" b="1">
                <a:solidFill>
                  <a:schemeClr val="tx1">
                    <a:lumMod val="75000"/>
                    <a:lumOff val="25000"/>
                  </a:schemeClr>
                </a:solidFill>
                <a:latin typeface="+mn-ea"/>
                <a:ea typeface="+mn-ea"/>
              </a:defRPr>
            </a:lvl2pPr>
            <a:lvl3pPr marL="914400" indent="0">
              <a:buFontTx/>
              <a:buNone/>
              <a:defRPr sz="2800">
                <a:latin typeface="+mn-ea"/>
                <a:ea typeface="+mn-ea"/>
              </a:defRPr>
            </a:lvl3pPr>
            <a:lvl4pPr marL="1371600" indent="0">
              <a:buFontTx/>
              <a:buNone/>
              <a:defRPr sz="2800">
                <a:latin typeface="+mn-ea"/>
                <a:ea typeface="+mn-ea"/>
              </a:defRPr>
            </a:lvl4pPr>
            <a:lvl5pPr marL="1828800" indent="0">
              <a:buFontTx/>
              <a:buNone/>
              <a:defRPr sz="2800">
                <a:latin typeface="+mn-ea"/>
                <a:ea typeface="+mn-ea"/>
              </a:defRPr>
            </a:lvl5pPr>
          </a:lstStyle>
          <a:p>
            <a:pPr lvl="0"/>
            <a:r>
              <a:rPr lang="zh-CN" altLang="en-US" dirty="0"/>
              <a:t>此处是大纲标题样式</a:t>
            </a:r>
          </a:p>
        </p:txBody>
      </p:sp>
      <p:pic>
        <p:nvPicPr>
          <p:cNvPr id="5" name="图片 4" descr="C:\Users\Administrator\Desktop\cccccccc.pngcccccccc"/>
          <p:cNvPicPr>
            <a:picLocks noChangeAspect="1"/>
          </p:cNvPicPr>
          <p:nvPr userDrawn="1">
            <p:custDataLst>
              <p:tags r:id="rId1"/>
            </p:custDataLst>
          </p:nvPr>
        </p:nvPicPr>
        <p:blipFill>
          <a:blip r:embed="rId4"/>
          <a:srcRect/>
          <a:stretch>
            <a:fillRect/>
          </a:stretch>
        </p:blipFill>
        <p:spPr>
          <a:xfrm>
            <a:off x="3635896" y="1435998"/>
            <a:ext cx="514350" cy="4876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自定义版式">
    <p:bg>
      <p:bgPr>
        <a:solidFill>
          <a:schemeClr val="bg1"/>
        </a:solidFill>
        <a:effectLst/>
      </p:bgPr>
    </p:bg>
    <p:spTree>
      <p:nvGrpSpPr>
        <p:cNvPr id="1" name=""/>
        <p:cNvGrpSpPr/>
        <p:nvPr/>
      </p:nvGrpSpPr>
      <p:grpSpPr>
        <a:xfrm>
          <a:off x="0" y="0"/>
          <a:ext cx="0" cy="0"/>
          <a:chOff x="0" y="0"/>
          <a:chExt cx="0" cy="0"/>
        </a:xfrm>
      </p:grpSpPr>
      <p:sp>
        <p:nvSpPr>
          <p:cNvPr id="6" name="内容占位符 8"/>
          <p:cNvSpPr>
            <a:spLocks noGrp="1"/>
          </p:cNvSpPr>
          <p:nvPr>
            <p:ph sz="quarter" idx="11" hasCustomPrompt="1"/>
          </p:nvPr>
        </p:nvSpPr>
        <p:spPr>
          <a:xfrm>
            <a:off x="683568" y="1131590"/>
            <a:ext cx="7783538" cy="2881312"/>
          </a:xfrm>
          <a:prstGeom prst="rect">
            <a:avLst/>
          </a:prstGeom>
        </p:spPr>
        <p:txBody>
          <a:bodyPr/>
          <a:lstStyle>
            <a:lvl1pP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t>单击此处编辑文本</a:t>
            </a:r>
          </a:p>
        </p:txBody>
      </p:sp>
      <p:sp>
        <p:nvSpPr>
          <p:cNvPr id="7" name="内容占位符 4"/>
          <p:cNvSpPr>
            <a:spLocks noGrp="1"/>
          </p:cNvSpPr>
          <p:nvPr>
            <p:ph sz="quarter" idx="10" hasCustomPrompt="1"/>
          </p:nvPr>
        </p:nvSpPr>
        <p:spPr>
          <a:xfrm>
            <a:off x="899592" y="239611"/>
            <a:ext cx="5544616" cy="504056"/>
          </a:xfrm>
          <a:prstGeom prst="rect">
            <a:avLst/>
          </a:prstGeom>
        </p:spPr>
        <p:txBody>
          <a:bodyPr anchor="ctr"/>
          <a:lstStyle>
            <a:lvl1pPr>
              <a:defRPr sz="2400" b="1">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pic>
        <p:nvPicPr>
          <p:cNvPr id="8" name="图片 7"/>
          <p:cNvPicPr>
            <a:picLocks noChangeAspect="1"/>
          </p:cNvPicPr>
          <p:nvPr userDrawn="1"/>
        </p:nvPicPr>
        <p:blipFill>
          <a:blip r:embed="rId2"/>
          <a:stretch>
            <a:fillRect/>
          </a:stretch>
        </p:blipFill>
        <p:spPr>
          <a:xfrm>
            <a:off x="0" y="296589"/>
            <a:ext cx="844642" cy="423328"/>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自定义版式">
    <p:bg>
      <p:bgPr>
        <a:solidFill>
          <a:schemeClr val="bg1"/>
        </a:solidFill>
        <a:effectLst/>
      </p:bgPr>
    </p:bg>
    <p:spTree>
      <p:nvGrpSpPr>
        <p:cNvPr id="1" name=""/>
        <p:cNvGrpSpPr/>
        <p:nvPr/>
      </p:nvGrpSpPr>
      <p:grpSpPr>
        <a:xfrm>
          <a:off x="0" y="0"/>
          <a:ext cx="0" cy="0"/>
          <a:chOff x="0" y="0"/>
          <a:chExt cx="0" cy="0"/>
        </a:xfrm>
      </p:grpSpPr>
      <p:sp>
        <p:nvSpPr>
          <p:cNvPr id="12" name="内容占位符 4"/>
          <p:cNvSpPr>
            <a:spLocks noGrp="1"/>
          </p:cNvSpPr>
          <p:nvPr>
            <p:ph sz="quarter" idx="10" hasCustomPrompt="1"/>
          </p:nvPr>
        </p:nvSpPr>
        <p:spPr>
          <a:xfrm>
            <a:off x="899592" y="239611"/>
            <a:ext cx="5544616" cy="504056"/>
          </a:xfrm>
          <a:prstGeom prst="rect">
            <a:avLst/>
          </a:prstGeom>
        </p:spPr>
        <p:txBody>
          <a:bodyPr anchor="ctr"/>
          <a:lstStyle>
            <a:lvl1pPr>
              <a:defRPr sz="2400" b="1">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pic>
        <p:nvPicPr>
          <p:cNvPr id="13" name="图片 12"/>
          <p:cNvPicPr>
            <a:picLocks noChangeAspect="1"/>
          </p:cNvPicPr>
          <p:nvPr userDrawn="1"/>
        </p:nvPicPr>
        <p:blipFill>
          <a:blip r:embed="rId2"/>
          <a:stretch>
            <a:fillRect/>
          </a:stretch>
        </p:blipFill>
        <p:spPr>
          <a:xfrm>
            <a:off x="0" y="296589"/>
            <a:ext cx="844642" cy="42332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自定义版式">
    <p:bg>
      <p:bgPr>
        <a:solidFill>
          <a:schemeClr val="bg1"/>
        </a:solidFill>
        <a:effectLst/>
      </p:bgPr>
    </p:bg>
    <p:spTree>
      <p:nvGrpSpPr>
        <p:cNvPr id="1" name=""/>
        <p:cNvGrpSpPr/>
        <p:nvPr/>
      </p:nvGrpSpPr>
      <p:grpSpPr>
        <a:xfrm>
          <a:off x="0" y="0"/>
          <a:ext cx="0" cy="0"/>
          <a:chOff x="0" y="0"/>
          <a:chExt cx="0" cy="0"/>
        </a:xfrm>
      </p:grpSpPr>
      <p:sp>
        <p:nvSpPr>
          <p:cNvPr id="45" name="矩形 44"/>
          <p:cNvSpPr/>
          <p:nvPr userDrawn="1">
            <p:custDataLst>
              <p:tags r:id="rId1"/>
            </p:custDataLst>
          </p:nvPr>
        </p:nvSpPr>
        <p:spPr>
          <a:xfrm>
            <a:off x="0" y="-1"/>
            <a:ext cx="9144000" cy="5143501"/>
          </a:xfrm>
          <a:prstGeom prst="rect">
            <a:avLst/>
          </a:prstGeom>
          <a:solidFill>
            <a:schemeClr val="bg1">
              <a:lumMod val="8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3"/>
          <p:cNvSpPr txBox="1"/>
          <p:nvPr userDrawn="1"/>
        </p:nvSpPr>
        <p:spPr>
          <a:xfrm>
            <a:off x="323528" y="4636239"/>
            <a:ext cx="835806" cy="284693"/>
          </a:xfrm>
          <a:prstGeom prst="rect">
            <a:avLst/>
          </a:prstGeom>
          <a:noFill/>
        </p:spPr>
        <p:txBody>
          <a:bodyPr wrap="none" lIns="68580" tIns="34290" rIns="68580" bIns="34290" rtlCol="0">
            <a:spAutoFit/>
          </a:bodyPr>
          <a:lstStyle/>
          <a:p>
            <a:pPr marL="0" marR="0" lvl="0" indent="0" algn="l" defTabSz="685800" rtl="0" eaLnBrk="1" fontAlgn="auto" latinLnBrk="0" hangingPunct="1">
              <a:lnSpc>
                <a:spcPct val="100000"/>
              </a:lnSpc>
              <a:spcBef>
                <a:spcPts val="0"/>
              </a:spcBef>
              <a:spcAft>
                <a:spcPts val="0"/>
              </a:spcAft>
              <a:buClrTx/>
              <a:buSzTx/>
              <a:buFontTx/>
              <a:buNone/>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rPr>
              <a:t>密级：   </a:t>
            </a:r>
          </a:p>
        </p:txBody>
      </p:sp>
      <p:sp>
        <p:nvSpPr>
          <p:cNvPr id="11" name="内容占位符 8"/>
          <p:cNvSpPr>
            <a:spLocks noGrp="1"/>
          </p:cNvSpPr>
          <p:nvPr>
            <p:ph sz="quarter" idx="11" hasCustomPrompt="1"/>
          </p:nvPr>
        </p:nvSpPr>
        <p:spPr>
          <a:xfrm>
            <a:off x="683568" y="1131590"/>
            <a:ext cx="7783538" cy="2881312"/>
          </a:xfrm>
          <a:prstGeom prst="rect">
            <a:avLst/>
          </a:prstGeom>
        </p:spPr>
        <p:txBody>
          <a:bodyPr/>
          <a:lstStyle>
            <a:lvl1pPr>
              <a:defRPr sz="1400">
                <a:solidFill>
                  <a:schemeClr val="tx1">
                    <a:lumMod val="85000"/>
                    <a:lumOff val="15000"/>
                  </a:schemeClr>
                </a:solidFill>
                <a:latin typeface="微软雅黑" panose="020B0503020204020204" pitchFamily="34" charset="-122"/>
                <a:ea typeface="微软雅黑" panose="020B0503020204020204" pitchFamily="34" charset="-122"/>
              </a:defRPr>
            </a:lvl1pPr>
            <a:lvl2pPr marL="457200" indent="0">
              <a:buNone/>
              <a:defRPr/>
            </a:lvl2pPr>
          </a:lstStyle>
          <a:p>
            <a:pPr lvl="0"/>
            <a:r>
              <a:rPr lang="zh-CN" altLang="en-US" dirty="0"/>
              <a:t>单击此处编辑文本</a:t>
            </a:r>
          </a:p>
        </p:txBody>
      </p:sp>
      <p:sp>
        <p:nvSpPr>
          <p:cNvPr id="12" name="内容占位符 4"/>
          <p:cNvSpPr>
            <a:spLocks noGrp="1"/>
          </p:cNvSpPr>
          <p:nvPr>
            <p:ph sz="quarter" idx="10" hasCustomPrompt="1"/>
          </p:nvPr>
        </p:nvSpPr>
        <p:spPr>
          <a:xfrm>
            <a:off x="899592" y="239611"/>
            <a:ext cx="5544616" cy="504056"/>
          </a:xfrm>
          <a:prstGeom prst="rect">
            <a:avLst/>
          </a:prstGeom>
        </p:spPr>
        <p:txBody>
          <a:bodyPr anchor="ctr"/>
          <a:lstStyle>
            <a:lvl1pPr>
              <a:defRPr sz="2400" b="1">
                <a:solidFill>
                  <a:srgbClr val="08409C"/>
                </a:solidFill>
                <a:latin typeface="微软雅黑" panose="020B0503020204020204" pitchFamily="34" charset="-122"/>
                <a:ea typeface="微软雅黑" panose="020B0503020204020204" pitchFamily="34" charset="-122"/>
              </a:defRPr>
            </a:lvl1pPr>
          </a:lstStyle>
          <a:p>
            <a:pPr lvl="0"/>
            <a:r>
              <a:rPr lang="zh-CN" altLang="en-US" dirty="0"/>
              <a:t>单击此处编辑小标题</a:t>
            </a:r>
          </a:p>
        </p:txBody>
      </p:sp>
      <p:pic>
        <p:nvPicPr>
          <p:cNvPr id="13" name="图片 12"/>
          <p:cNvPicPr>
            <a:picLocks noChangeAspect="1"/>
          </p:cNvPicPr>
          <p:nvPr userDrawn="1"/>
        </p:nvPicPr>
        <p:blipFill>
          <a:blip r:embed="rId3"/>
          <a:stretch>
            <a:fillRect/>
          </a:stretch>
        </p:blipFill>
        <p:spPr>
          <a:xfrm>
            <a:off x="0" y="296589"/>
            <a:ext cx="844642" cy="423328"/>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Title and Blank">
    <p:spTree>
      <p:nvGrpSpPr>
        <p:cNvPr id="1" name=""/>
        <p:cNvGrpSpPr/>
        <p:nvPr/>
      </p:nvGrpSpPr>
      <p:grpSpPr>
        <a:xfrm>
          <a:off x="0" y="0"/>
          <a:ext cx="0" cy="0"/>
          <a:chOff x="0" y="0"/>
          <a:chExt cx="0" cy="0"/>
        </a:xfrm>
      </p:grpSpPr>
      <p:sp>
        <p:nvSpPr>
          <p:cNvPr id="2" name="Title 1"/>
          <p:cNvSpPr>
            <a:spLocks noGrp="1"/>
          </p:cNvSpPr>
          <p:nvPr>
            <p:ph type="title"/>
          </p:nvPr>
        </p:nvSpPr>
        <p:spPr>
          <a:xfrm>
            <a:off x="190508" y="171465"/>
            <a:ext cx="8761412" cy="498597"/>
          </a:xfrm>
        </p:spPr>
        <p:txBody>
          <a:bodyPr/>
          <a:lstStyle>
            <a:lvl1pPr>
              <a:defRPr sz="3605"/>
            </a:lvl1pPr>
          </a:lstStyle>
          <a:p>
            <a:r>
              <a:rPr lang="en-US" dirty="0"/>
              <a:t>Click to edit Master title style</a:t>
            </a:r>
          </a:p>
        </p:txBody>
      </p:sp>
      <p:sp>
        <p:nvSpPr>
          <p:cNvPr id="4" name="Footer Placeholder 3"/>
          <p:cNvSpPr>
            <a:spLocks noGrp="1"/>
          </p:cNvSpPr>
          <p:nvPr>
            <p:ph type="ftr" sz="quarter" idx="10"/>
          </p:nvPr>
        </p:nvSpPr>
        <p:spPr>
          <a:xfrm>
            <a:off x="527957" y="4876180"/>
            <a:ext cx="6676572" cy="173124"/>
          </a:xfrm>
          <a:prstGeom prst="rect">
            <a:avLst/>
          </a:prstGeom>
        </p:spPr>
        <p:txBody>
          <a:bodyPr lIns="121854" tIns="60927" rIns="121854" bIns="60927"/>
          <a:lstStyle/>
          <a:p>
            <a:r>
              <a:rPr lang="en-US" dirty="0">
                <a:solidFill>
                  <a:srgbClr val="000000"/>
                </a:solidFill>
              </a:rPr>
              <a:t>Project Copper  |  28 September 2011</a:t>
            </a:r>
          </a:p>
        </p:txBody>
      </p:sp>
      <p:sp>
        <p:nvSpPr>
          <p:cNvPr id="5" name="Slide Number Placeholder 4"/>
          <p:cNvSpPr>
            <a:spLocks noGrp="1"/>
          </p:cNvSpPr>
          <p:nvPr>
            <p:ph type="sldNum" sz="quarter" idx="11"/>
          </p:nvPr>
        </p:nvSpPr>
        <p:spPr>
          <a:xfrm>
            <a:off x="190504" y="4847326"/>
            <a:ext cx="279400" cy="230832"/>
          </a:xfrm>
          <a:prstGeom prst="rect">
            <a:avLst/>
          </a:prstGeom>
        </p:spPr>
        <p:txBody>
          <a:bodyPr lIns="121854" tIns="60927" rIns="121854" bIns="60927"/>
          <a:lstStyle/>
          <a:p>
            <a:fld id="{40E66EAE-ED76-480A-B12B-B80DD0270597}" type="slidenum">
              <a:rPr lang="en-US" smtClean="0">
                <a:solidFill>
                  <a:srgbClr val="000000"/>
                </a:solidFill>
              </a:rPr>
              <a:t>‹#›</a:t>
            </a:fld>
            <a:endParaRPr lang="en-US">
              <a:solidFill>
                <a:srgbClr val="000000"/>
              </a:solidFill>
            </a:endParaRPr>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9" y="171454"/>
            <a:ext cx="8363938" cy="499790"/>
          </a:xfrm>
        </p:spPr>
        <p:txBody>
          <a:bodyPr/>
          <a:lstStyle/>
          <a:p>
            <a:r>
              <a:rPr lang="en-US"/>
              <a:t>Click to edit Master title style</a:t>
            </a:r>
            <a:endParaRPr lang="en-US" dirty="0"/>
          </a:p>
        </p:txBody>
      </p:sp>
      <p:sp>
        <p:nvSpPr>
          <p:cNvPr id="5" name="Text Placeholder 4"/>
          <p:cNvSpPr>
            <a:spLocks noGrp="1"/>
          </p:cNvSpPr>
          <p:nvPr>
            <p:ph type="body" sz="quarter" idx="10"/>
          </p:nvPr>
        </p:nvSpPr>
        <p:spPr>
          <a:xfrm>
            <a:off x="389439" y="1085852"/>
            <a:ext cx="8363938" cy="843964"/>
          </a:xfrm>
        </p:spPr>
        <p:txBody>
          <a:bodyPr/>
          <a:lstStyle>
            <a:lvl1pPr marL="0" indent="0">
              <a:spcBef>
                <a:spcPts val="0"/>
              </a:spcBef>
              <a:spcAft>
                <a:spcPts val="675"/>
              </a:spcAft>
              <a:buNone/>
              <a:defRPr sz="3015" spc="-75" baseline="0">
                <a:latin typeface="Segoe UI Light" panose="020B0502040204020203" pitchFamily="34" charset="0"/>
              </a:defRPr>
            </a:lvl1pPr>
            <a:lvl2pPr marL="0" indent="0">
              <a:spcBef>
                <a:spcPts val="0"/>
              </a:spcBef>
              <a:spcAft>
                <a:spcPts val="300"/>
              </a:spcAft>
              <a:buNone/>
              <a:defRPr sz="1470" spc="-38" baseline="0">
                <a:gradFill flip="none" rotWithShape="1">
                  <a:gsLst>
                    <a:gs pos="0">
                      <a:schemeClr val="tx1">
                        <a:lumMod val="75000"/>
                      </a:schemeClr>
                    </a:gs>
                    <a:gs pos="86000">
                      <a:schemeClr val="tx1">
                        <a:lumMod val="75000"/>
                      </a:schemeClr>
                    </a:gs>
                  </a:gsLst>
                  <a:path path="circle">
                    <a:fillToRect r="100000" b="100000"/>
                  </a:path>
                  <a:tileRect l="-100000" t="-100000"/>
                </a:gradFill>
              </a:defRPr>
            </a:lvl2pPr>
            <a:lvl3pPr marL="0" indent="0">
              <a:spcBef>
                <a:spcPts val="0"/>
              </a:spcBef>
              <a:spcAft>
                <a:spcPts val="300"/>
              </a:spcAft>
              <a:buNone/>
              <a:defRPr sz="1470"/>
            </a:lvl3pPr>
            <a:lvl4pPr marL="0" indent="0">
              <a:spcBef>
                <a:spcPts val="0"/>
              </a:spcBef>
              <a:spcAft>
                <a:spcPts val="300"/>
              </a:spcAft>
              <a:buNone/>
              <a:defRPr/>
            </a:lvl4pPr>
            <a:lvl5pPr marL="0" indent="0">
              <a:spcBef>
                <a:spcPts val="0"/>
              </a:spcBef>
              <a:spcAft>
                <a:spcPts val="300"/>
              </a:spcAft>
              <a:buNone/>
              <a:defRPr/>
            </a:lvl5pPr>
          </a:lstStyle>
          <a:p>
            <a:pPr lvl="0"/>
            <a:r>
              <a:rPr lang="en-US"/>
              <a:t>Click to edit Master text styles</a:t>
            </a:r>
          </a:p>
          <a:p>
            <a:pPr lvl="1"/>
            <a:r>
              <a:rPr lang="en-US"/>
              <a:t>Second level</a:t>
            </a: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168" y="1169"/>
          <a:ext cx="1167" cy="1167"/>
        </p:xfrm>
        <a:graphic>
          <a:graphicData uri="http://schemas.openxmlformats.org/presentationml/2006/ole">
            <mc:AlternateContent xmlns:mc="http://schemas.openxmlformats.org/markup-compatibility/2006">
              <mc:Choice xmlns:v="urn:schemas-microsoft-com:vml" Requires="v">
                <p:oleObj name="think-cell Slide" r:id="rId3" imgW="12700" imgH="12700" progId="TCLayout.ActiveDocument.1">
                  <p:embed/>
                </p:oleObj>
              </mc:Choice>
              <mc:Fallback>
                <p:oleObj name="think-cell Slide" r:id="rId3" imgW="12700" imgH="12700" progId="TCLayout.ActiveDocument.1">
                  <p:embed/>
                  <p:pic>
                    <p:nvPicPr>
                      <p:cNvPr id="0" name="Object 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68" y="1169"/>
                        <a:ext cx="1167" cy="11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p>
        </p:txBody>
      </p:sp>
      <p:pic>
        <p:nvPicPr>
          <p:cNvPr id="3" name="Picture 2" descr="WinAzure_rgb_Wht_S.png"/>
          <p:cNvPicPr>
            <a:picLocks noChangeAspect="1"/>
          </p:cNvPicPr>
          <p:nvPr userDrawn="1"/>
        </p:nvPicPr>
        <p:blipFill>
          <a:blip r:embed="rId5" cstate="print">
            <a:duotone>
              <a:prstClr val="black"/>
              <a:schemeClr val="accent6">
                <a:tint val="45000"/>
                <a:satMod val="400000"/>
              </a:schemeClr>
            </a:duotone>
            <a:extLst>
              <a:ext uri="{28A0092B-C50C-407E-A947-70E740481C1C}">
                <a14:useLocalDpi xmlns:a14="http://schemas.microsoft.com/office/drawing/2010/main" val="0"/>
              </a:ext>
            </a:extLst>
          </a:blip>
          <a:stretch>
            <a:fillRect/>
          </a:stretch>
        </p:blipFill>
        <p:spPr>
          <a:xfrm>
            <a:off x="269181" y="4723451"/>
            <a:ext cx="1277391" cy="306493"/>
          </a:xfrm>
          <a:prstGeom prst="rect">
            <a:avLst/>
          </a:prstGeom>
        </p:spPr>
      </p:pic>
      <p:sp>
        <p:nvSpPr>
          <p:cNvPr id="7" name="Slide Number Placeholder 6"/>
          <p:cNvSpPr>
            <a:spLocks noGrp="1"/>
          </p:cNvSpPr>
          <p:nvPr>
            <p:ph type="sldNum" sz="quarter" idx="4"/>
          </p:nvPr>
        </p:nvSpPr>
        <p:spPr>
          <a:xfrm>
            <a:off x="6552772" y="4767602"/>
            <a:ext cx="2133678" cy="273168"/>
          </a:xfrm>
          <a:prstGeom prst="rect">
            <a:avLst/>
          </a:prstGeom>
        </p:spPr>
        <p:txBody>
          <a:bodyPr vert="horz" lIns="91397" tIns="45698" rIns="91397" bIns="45698" rtlCol="0" anchor="ctr"/>
          <a:lstStyle>
            <a:lvl1pPr algn="r">
              <a:defRPr sz="735">
                <a:solidFill>
                  <a:schemeClr val="tx1">
                    <a:tint val="75000"/>
                  </a:schemeClr>
                </a:solidFill>
              </a:defRPr>
            </a:lvl1pPr>
          </a:lstStyle>
          <a:p>
            <a:fld id="{FFB82908-4842-4340-9D73-01C813DDC308}" type="slidenum">
              <a:rPr lang="en-US" smtClean="0">
                <a:solidFill>
                  <a:srgbClr val="505050">
                    <a:tint val="75000"/>
                  </a:srgbClr>
                </a:solidFill>
              </a:rPr>
              <a:t>‹#›</a:t>
            </a:fld>
            <a:endParaRPr lang="en-US" dirty="0">
              <a:solidFill>
                <a:srgbClr val="505050">
                  <a:tint val="75000"/>
                </a:srgbClr>
              </a:solidFill>
            </a:endParaRP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01932" y="891883"/>
            <a:ext cx="8740142" cy="1607328"/>
          </a:xfrm>
        </p:spPr>
        <p:txBody>
          <a:bodyPr/>
          <a:lstStyle>
            <a:lvl1pPr marL="0" indent="0">
              <a:buNone/>
              <a:defRPr>
                <a:gradFill>
                  <a:gsLst>
                    <a:gs pos="1250">
                      <a:schemeClr val="tx2"/>
                    </a:gs>
                    <a:gs pos="99000">
                      <a:schemeClr val="tx2"/>
                    </a:gs>
                  </a:gsLst>
                  <a:lin ang="5400000" scaled="0"/>
                </a:gradFill>
              </a:defRPr>
            </a:lvl1pPr>
            <a:lvl2pPr marL="0" indent="0">
              <a:buFontTx/>
              <a:buNone/>
              <a:defRPr sz="1470"/>
            </a:lvl2pPr>
            <a:lvl3pPr marL="168275" indent="0">
              <a:buNone/>
              <a:defRPr/>
            </a:lvl3pPr>
            <a:lvl4pPr marL="335915" indent="0">
              <a:buNone/>
              <a:defRPr/>
            </a:lvl4pPr>
            <a:lvl5pPr marL="50419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17.xml"/><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17.xml"/><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17.xml"/><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05018" y="1901540"/>
            <a:ext cx="7133964" cy="643793"/>
          </a:xfrm>
          <a:prstGeom prst="rect">
            <a:avLst/>
          </a:prstGeom>
        </p:spPr>
        <p:txBody>
          <a:bodyPr/>
          <a:lstStyle/>
          <a:p>
            <a:pPr algn="ctr"/>
            <a:r>
              <a:rPr lang="en-US" altLang="zh-CN"/>
              <a:t>LLM</a:t>
            </a:r>
            <a:r>
              <a:rPr lang="zh-CN" altLang="en-US"/>
              <a:t>技术架构</a:t>
            </a:r>
            <a:r>
              <a:rPr lang="en-US" altLang="zh-CN"/>
              <a:t>&amp;</a:t>
            </a:r>
            <a:r>
              <a:rPr lang="zh-CN" altLang="en-US"/>
              <a:t>行业应用</a:t>
            </a:r>
            <a:endParaRPr lang="zh-CN" altLang="en-US" sz="3200" dirty="0">
              <a:solidFill>
                <a:srgbClr val="08409C"/>
              </a:solidFill>
            </a:endParaRPr>
          </a:p>
        </p:txBody>
      </p:sp>
      <p:sp>
        <p:nvSpPr>
          <p:cNvPr id="3" name="内容占位符 2"/>
          <p:cNvSpPr>
            <a:spLocks noGrp="1"/>
          </p:cNvSpPr>
          <p:nvPr>
            <p:ph sz="quarter" idx="10"/>
          </p:nvPr>
        </p:nvSpPr>
        <p:spPr>
          <a:xfrm>
            <a:off x="2267585" y="2715766"/>
            <a:ext cx="3907155" cy="504056"/>
          </a:xfrm>
          <a:prstGeom prst="rect">
            <a:avLst/>
          </a:prstGeom>
        </p:spPr>
        <p:txBody>
          <a:bodyPr/>
          <a:lstStyle/>
          <a:p>
            <a:pPr algn="r">
              <a:lnSpc>
                <a:spcPct val="150000"/>
              </a:lnSpc>
            </a:pPr>
            <a:r>
              <a:rPr lang="en-US" altLang="zh-CN" sz="1600" b="0">
                <a:solidFill>
                  <a:srgbClr val="08409C"/>
                </a:solidFill>
              </a:rPr>
              <a:t>2023</a:t>
            </a:r>
            <a:r>
              <a:rPr lang="zh-CN" altLang="en-US" sz="1600" b="0">
                <a:solidFill>
                  <a:srgbClr val="08409C"/>
                </a:solidFill>
              </a:rPr>
              <a:t>年</a:t>
            </a:r>
            <a:r>
              <a:rPr lang="en-US" altLang="zh-CN" sz="1600" b="0"/>
              <a:t>6</a:t>
            </a:r>
            <a:r>
              <a:rPr lang="zh-CN" altLang="en-US" sz="1600" b="0">
                <a:solidFill>
                  <a:srgbClr val="08409C"/>
                </a:solidFill>
              </a:rPr>
              <a:t>月</a:t>
            </a:r>
            <a:r>
              <a:rPr lang="en-US" altLang="zh-CN" sz="1600" b="0"/>
              <a:t>23</a:t>
            </a:r>
            <a:r>
              <a:rPr lang="zh-CN" altLang="en-US" sz="1600" b="0">
                <a:solidFill>
                  <a:srgbClr val="08409C"/>
                </a:solidFill>
              </a:rPr>
              <a:t>日</a:t>
            </a:r>
            <a:endParaRPr lang="zh-CN" altLang="en-US" sz="1600" b="0" dirty="0">
              <a:solidFill>
                <a:srgbClr val="08409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en-US" altLang="zh-CN" dirty="0"/>
              <a:t>01</a:t>
            </a:r>
            <a:endParaRPr lang="zh-CN" altLang="en-US" dirty="0"/>
          </a:p>
        </p:txBody>
      </p:sp>
      <p:sp>
        <p:nvSpPr>
          <p:cNvPr id="3" name="内容占位符 2"/>
          <p:cNvSpPr>
            <a:spLocks noGrp="1"/>
          </p:cNvSpPr>
          <p:nvPr>
            <p:ph sz="quarter" idx="11"/>
          </p:nvPr>
        </p:nvSpPr>
        <p:spPr>
          <a:xfrm>
            <a:off x="876300" y="2427605"/>
            <a:ext cx="6828155" cy="504190"/>
          </a:xfrm>
        </p:spPr>
        <p:txBody>
          <a:bodyPr/>
          <a:lstStyle/>
          <a:p>
            <a:r>
              <a:rPr lang="en-US" altLang="zh-CN"/>
              <a:t>1</a:t>
            </a:r>
            <a:r>
              <a:rPr lang="zh-CN" altLang="en-US"/>
              <a:t>：</a:t>
            </a:r>
            <a:r>
              <a:rPr lang="en-US" altLang="zh-CN"/>
              <a:t>AI</a:t>
            </a:r>
            <a:r>
              <a:rPr lang="zh-CN" altLang="en-US"/>
              <a:t>发展</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en-US" altLang="zh-CN" sz="1800"/>
              <a:t>AI</a:t>
            </a:r>
            <a:r>
              <a:rPr lang="zh-CN" altLang="en-US" sz="1800"/>
              <a:t>发展史：</a:t>
            </a:r>
            <a:r>
              <a:rPr lang="zh-CN" altLang="en-US" sz="1600"/>
              <a:t>从决策到生成</a:t>
            </a:r>
            <a:endParaRPr lang="zh-CN" altLang="en-US" sz="1600" dirty="0"/>
          </a:p>
        </p:txBody>
      </p:sp>
      <p:pic>
        <p:nvPicPr>
          <p:cNvPr id="6" name="Picture 5">
            <a:extLst>
              <a:ext uri="{FF2B5EF4-FFF2-40B4-BE49-F238E27FC236}">
                <a16:creationId xmlns:a16="http://schemas.microsoft.com/office/drawing/2014/main" id="{08897CA9-97BF-FFC6-C157-704BD8DCFF6F}"/>
              </a:ext>
            </a:extLst>
          </p:cNvPr>
          <p:cNvPicPr>
            <a:picLocks noChangeAspect="1"/>
          </p:cNvPicPr>
          <p:nvPr/>
        </p:nvPicPr>
        <p:blipFill>
          <a:blip r:embed="rId3"/>
          <a:stretch>
            <a:fillRect/>
          </a:stretch>
        </p:blipFill>
        <p:spPr>
          <a:xfrm>
            <a:off x="0" y="696380"/>
            <a:ext cx="9144000" cy="51911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en-US" altLang="zh-CN" sz="1800"/>
              <a:t>AI</a:t>
            </a:r>
            <a:r>
              <a:rPr lang="zh-CN" altLang="en-US" sz="1800"/>
              <a:t>发展史：</a:t>
            </a:r>
            <a:r>
              <a:rPr lang="zh-CN" altLang="en-US" sz="1600"/>
              <a:t>决策式</a:t>
            </a:r>
            <a:r>
              <a:rPr lang="en-US" altLang="zh-CN" sz="1600"/>
              <a:t>AI</a:t>
            </a:r>
            <a:r>
              <a:rPr lang="zh-CN" altLang="en-US" sz="1600"/>
              <a:t>与生成式</a:t>
            </a:r>
            <a:r>
              <a:rPr lang="en-US" altLang="zh-CN" sz="1600"/>
              <a:t>AI</a:t>
            </a:r>
            <a:r>
              <a:rPr lang="zh-CN" altLang="en-US" sz="1600"/>
              <a:t>对比</a:t>
            </a:r>
            <a:endParaRPr lang="zh-CN" altLang="en-US" sz="1600" dirty="0"/>
          </a:p>
        </p:txBody>
      </p:sp>
      <p:pic>
        <p:nvPicPr>
          <p:cNvPr id="3" name="Picture 2">
            <a:extLst>
              <a:ext uri="{FF2B5EF4-FFF2-40B4-BE49-F238E27FC236}">
                <a16:creationId xmlns:a16="http://schemas.microsoft.com/office/drawing/2014/main" id="{F2FFA788-CC10-D391-F1CA-43684F9CB9D9}"/>
              </a:ext>
            </a:extLst>
          </p:cNvPr>
          <p:cNvPicPr>
            <a:picLocks noChangeAspect="1"/>
          </p:cNvPicPr>
          <p:nvPr/>
        </p:nvPicPr>
        <p:blipFill>
          <a:blip r:embed="rId3"/>
          <a:stretch>
            <a:fillRect/>
          </a:stretch>
        </p:blipFill>
        <p:spPr>
          <a:xfrm>
            <a:off x="0" y="696380"/>
            <a:ext cx="7452320" cy="4447120"/>
          </a:xfrm>
          <a:prstGeom prst="rect">
            <a:avLst/>
          </a:prstGeom>
        </p:spPr>
      </p:pic>
      <p:sp>
        <p:nvSpPr>
          <p:cNvPr id="5" name="文本框 48">
            <a:extLst>
              <a:ext uri="{FF2B5EF4-FFF2-40B4-BE49-F238E27FC236}">
                <a16:creationId xmlns:a16="http://schemas.microsoft.com/office/drawing/2014/main" id="{51A6B42D-6EEE-17DC-11DB-A0D35BDABF0D}"/>
              </a:ext>
            </a:extLst>
          </p:cNvPr>
          <p:cNvSpPr txBox="1"/>
          <p:nvPr/>
        </p:nvSpPr>
        <p:spPr>
          <a:xfrm>
            <a:off x="7452320" y="699801"/>
            <a:ext cx="1691680" cy="4840684"/>
          </a:xfrm>
          <a:prstGeom prst="rect">
            <a:avLst/>
          </a:prstGeom>
          <a:noFill/>
          <a:ln w="3175">
            <a:solidFill>
              <a:schemeClr val="tx2">
                <a:lumMod val="60000"/>
                <a:lumOff val="40000"/>
              </a:schemeClr>
            </a:solidFill>
          </a:ln>
        </p:spPr>
        <p:txBody>
          <a:bodyPr wrap="square" rtlCol="0">
            <a:spAutoFit/>
          </a:bodyPr>
          <a:lstStyle/>
          <a:p>
            <a:pPr>
              <a:lnSpc>
                <a:spcPct val="150000"/>
              </a:lnSpc>
            </a:pPr>
            <a:endParaRPr lang="en-US" altLang="zh-CN" sz="9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b="1">
                <a:latin typeface="微软雅黑" panose="020B0503020204020204" pitchFamily="34" charset="-122"/>
                <a:ea typeface="微软雅黑" panose="020B0503020204020204" pitchFamily="34" charset="-122"/>
              </a:rPr>
              <a:t>决策式</a:t>
            </a:r>
            <a:r>
              <a:rPr lang="en-US" altLang="zh-CN" sz="1100" b="1">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：学习数据中的条件概率分布，依据已有数据进行分析、判断、预测，主要应用模型有推荐系统和风控系统的辅助决策、用于自动驾驶和机器人的决策智能体。</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b="1">
                <a:latin typeface="微软雅黑" panose="020B0503020204020204" pitchFamily="34" charset="-122"/>
                <a:ea typeface="微软雅黑" panose="020B0503020204020204" pitchFamily="34" charset="-122"/>
              </a:rPr>
              <a:t>生成式</a:t>
            </a:r>
            <a:r>
              <a:rPr lang="en-US" altLang="zh-CN" sz="1100" b="1">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：学习数据中的联合概率分布，并非简单分析已有数据而是学习归纳已有数据后进行演技创造，基于历史进行模仿是、缝合式创作，成成全新的内容来解决判别问题</a:t>
            </a:r>
            <a:r>
              <a:rPr lang="zh-CN" altLang="en-US" sz="900">
                <a:latin typeface="微软雅黑" panose="020B0503020204020204" pitchFamily="34" charset="-122"/>
                <a:ea typeface="微软雅黑" panose="020B0503020204020204" pitchFamily="34" charset="-122"/>
              </a:rPr>
              <a:t>。</a:t>
            </a:r>
            <a:endParaRPr lang="en-US" altLang="zh-CN" sz="9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7336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决策式</a:t>
            </a:r>
            <a:r>
              <a:rPr lang="en-US" altLang="zh-CN" sz="1800"/>
              <a:t>AI</a:t>
            </a:r>
            <a:r>
              <a:rPr lang="zh-CN" altLang="en-US" sz="1800"/>
              <a:t>：</a:t>
            </a:r>
            <a:r>
              <a:rPr lang="zh-CN" altLang="en-US" sz="1600"/>
              <a:t>推荐系统等已创造巨大市场</a:t>
            </a:r>
            <a:endParaRPr lang="zh-CN" altLang="en-US" sz="1600" dirty="0"/>
          </a:p>
        </p:txBody>
      </p:sp>
      <p:sp>
        <p:nvSpPr>
          <p:cNvPr id="5" name="文本框 48">
            <a:extLst>
              <a:ext uri="{FF2B5EF4-FFF2-40B4-BE49-F238E27FC236}">
                <a16:creationId xmlns:a16="http://schemas.microsoft.com/office/drawing/2014/main" id="{51A6B42D-6EEE-17DC-11DB-A0D35BDABF0D}"/>
              </a:ext>
            </a:extLst>
          </p:cNvPr>
          <p:cNvSpPr txBox="1"/>
          <p:nvPr/>
        </p:nvSpPr>
        <p:spPr>
          <a:xfrm>
            <a:off x="7452320" y="699801"/>
            <a:ext cx="1691680" cy="4078937"/>
          </a:xfrm>
          <a:prstGeom prst="rect">
            <a:avLst/>
          </a:prstGeom>
          <a:noFill/>
          <a:ln w="3175">
            <a:solidFill>
              <a:schemeClr val="tx2">
                <a:lumMod val="60000"/>
                <a:lumOff val="40000"/>
              </a:schemeClr>
            </a:solidFill>
          </a:ln>
        </p:spPr>
        <p:txBody>
          <a:bodyPr wrap="square" rtlCol="0">
            <a:spAutoFit/>
          </a:bodyPr>
          <a:lstStyle/>
          <a:p>
            <a:pPr>
              <a:lnSpc>
                <a:spcPct val="150000"/>
              </a:lnSpc>
            </a:pPr>
            <a:endParaRPr lang="en-US" altLang="zh-CN" sz="9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b="1">
                <a:latin typeface="微软雅黑" panose="020B0503020204020204" pitchFamily="34" charset="-122"/>
                <a:ea typeface="微软雅黑" panose="020B0503020204020204" pitchFamily="34" charset="-122"/>
              </a:rPr>
              <a:t>决策式</a:t>
            </a:r>
            <a:r>
              <a:rPr lang="en-US" altLang="zh-CN" sz="1100" b="1">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a:t>
            </a:r>
            <a:r>
              <a:rPr lang="en-US" altLang="zh-CN" sz="1100">
                <a:latin typeface="微软雅黑" panose="020B0503020204020204" pitchFamily="34" charset="-122"/>
                <a:ea typeface="微软雅黑" panose="020B0503020204020204" pitchFamily="34" charset="-122"/>
              </a:rPr>
              <a:t>2016</a:t>
            </a:r>
            <a:r>
              <a:rPr lang="zh-CN" altLang="en-US" sz="1100">
                <a:latin typeface="微软雅黑" panose="020B0503020204020204" pitchFamily="34" charset="-122"/>
                <a:ea typeface="微软雅黑" panose="020B0503020204020204" pitchFamily="34" charset="-122"/>
              </a:rPr>
              <a:t>年，人工智能技术全面爆发，决策式</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开始大规模应用，包括推荐算法、</a:t>
            </a:r>
            <a:r>
              <a:rPr lang="en-US" altLang="zh-CN" sz="1100">
                <a:latin typeface="微软雅黑" panose="020B0503020204020204" pitchFamily="34" charset="-122"/>
                <a:ea typeface="微软雅黑" panose="020B0503020204020204" pitchFamily="34" charset="-122"/>
              </a:rPr>
              <a:t>CV</a:t>
            </a:r>
            <a:r>
              <a:rPr lang="zh-CN" altLang="en-US" sz="1100">
                <a:latin typeface="微软雅黑" panose="020B0503020204020204" pitchFamily="34" charset="-122"/>
                <a:ea typeface="微软雅黑" panose="020B0503020204020204" pitchFamily="34" charset="-122"/>
              </a:rPr>
              <a:t>、</a:t>
            </a:r>
            <a:r>
              <a:rPr lang="en-US" altLang="zh-CN" sz="1100">
                <a:latin typeface="微软雅黑" panose="020B0503020204020204" pitchFamily="34" charset="-122"/>
                <a:ea typeface="微软雅黑" panose="020B0503020204020204" pitchFamily="34" charset="-122"/>
              </a:rPr>
              <a:t>NLP</a:t>
            </a:r>
            <a:r>
              <a:rPr lang="zh-CN" altLang="en-US" sz="1100">
                <a:latin typeface="微软雅黑" panose="020B0503020204020204" pitchFamily="34" charset="-122"/>
                <a:ea typeface="微软雅黑" panose="020B0503020204020204" pitchFamily="34" charset="-122"/>
              </a:rPr>
              <a:t>等。全球</a:t>
            </a:r>
            <a:r>
              <a:rPr lang="en-US" altLang="zh-CN" sz="1100">
                <a:latin typeface="微软雅黑" panose="020B0503020204020204" pitchFamily="34" charset="-122"/>
                <a:ea typeface="微软雅黑" panose="020B0503020204020204" pitchFamily="34" charset="-122"/>
              </a:rPr>
              <a:t>600</a:t>
            </a:r>
            <a:r>
              <a:rPr lang="zh-CN" altLang="en-US" sz="1100">
                <a:latin typeface="微软雅黑" panose="020B0503020204020204" pitchFamily="34" charset="-122"/>
                <a:ea typeface="微软雅黑" panose="020B0503020204020204" pitchFamily="34" charset="-122"/>
              </a:rPr>
              <a:t>亿</a:t>
            </a:r>
            <a:r>
              <a:rPr lang="en-US" altLang="zh-CN" sz="1100">
                <a:latin typeface="微软雅黑" panose="020B0503020204020204" pitchFamily="34" charset="-122"/>
                <a:ea typeface="微软雅黑" panose="020B0503020204020204" pitchFamily="34" charset="-122"/>
              </a:rPr>
              <a:t>$</a:t>
            </a:r>
            <a:r>
              <a:rPr lang="zh-CN" altLang="en-US" sz="1100">
                <a:latin typeface="微软雅黑" panose="020B0503020204020204" pitchFamily="34" charset="-122"/>
                <a:ea typeface="微软雅黑" panose="020B0503020204020204" pitchFamily="34" charset="-122"/>
              </a:rPr>
              <a:t>市场规模到</a:t>
            </a:r>
            <a:r>
              <a:rPr lang="en-US" altLang="zh-CN" sz="1100">
                <a:latin typeface="微软雅黑" panose="020B0503020204020204" pitchFamily="34" charset="-122"/>
                <a:ea typeface="微软雅黑" panose="020B0503020204020204" pitchFamily="34" charset="-122"/>
              </a:rPr>
              <a:t>2021</a:t>
            </a:r>
            <a:r>
              <a:rPr lang="zh-CN" altLang="en-US" sz="1100">
                <a:latin typeface="微软雅黑" panose="020B0503020204020204" pitchFamily="34" charset="-122"/>
                <a:ea typeface="微软雅黑" panose="020B0503020204020204" pitchFamily="34" charset="-122"/>
              </a:rPr>
              <a:t>年近</a:t>
            </a:r>
            <a:r>
              <a:rPr lang="en-US" altLang="zh-CN" sz="1100">
                <a:latin typeface="微软雅黑" panose="020B0503020204020204" pitchFamily="34" charset="-122"/>
                <a:ea typeface="微软雅黑" panose="020B0503020204020204" pitchFamily="34" charset="-122"/>
              </a:rPr>
              <a:t>3000</a:t>
            </a:r>
            <a:r>
              <a:rPr lang="zh-CN" altLang="en-US" sz="1100">
                <a:latin typeface="微软雅黑" panose="020B0503020204020204" pitchFamily="34" charset="-122"/>
                <a:ea typeface="微软雅黑" panose="020B0503020204020204" pitchFamily="34" charset="-122"/>
              </a:rPr>
              <a:t>亿</a:t>
            </a:r>
            <a:r>
              <a:rPr lang="en-US" altLang="zh-CN" sz="1100">
                <a:latin typeface="微软雅黑" panose="020B0503020204020204" pitchFamily="34" charset="-122"/>
                <a:ea typeface="微软雅黑" panose="020B0503020204020204" pitchFamily="34" charset="-122"/>
              </a:rPr>
              <a:t>$</a:t>
            </a:r>
            <a:r>
              <a:rPr lang="zh-CN" altLang="en-US" sz="1100">
                <a:latin typeface="微软雅黑" panose="020B0503020204020204" pitchFamily="34" charset="-122"/>
                <a:ea typeface="微软雅黑" panose="020B0503020204020204" pitchFamily="34" charset="-122"/>
              </a:rPr>
              <a:t>。</a:t>
            </a:r>
            <a:r>
              <a:rPr lang="en-US" altLang="zh-CN" sz="1100">
                <a:latin typeface="微软雅黑" panose="020B0503020204020204" pitchFamily="34" charset="-122"/>
                <a:ea typeface="微软雅黑" panose="020B0503020204020204" pitchFamily="34" charset="-122"/>
              </a:rPr>
              <a:t>NLP</a:t>
            </a:r>
            <a:r>
              <a:rPr lang="zh-CN" altLang="en-US" sz="1100">
                <a:latin typeface="微软雅黑" panose="020B0503020204020204" pitchFamily="34" charset="-122"/>
                <a:ea typeface="微软雅黑" panose="020B0503020204020204" pitchFamily="34" charset="-122"/>
              </a:rPr>
              <a:t>的加持下商汤、亚马逊、字节、特斯拉等公司高速发展。</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b="1">
                <a:latin typeface="微软雅黑" panose="020B0503020204020204" pitchFamily="34" charset="-122"/>
                <a:ea typeface="微软雅黑" panose="020B0503020204020204" pitchFamily="34" charset="-122"/>
              </a:rPr>
              <a:t>生成式</a:t>
            </a:r>
            <a:r>
              <a:rPr lang="en-US" altLang="zh-CN" sz="1100" b="1">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：经过前期技术积累进入爆发期，技术进一步应用和成熟，后续市场空间更为广阔</a:t>
            </a:r>
            <a:r>
              <a:rPr lang="zh-CN" altLang="en-US" sz="900">
                <a:latin typeface="微软雅黑" panose="020B0503020204020204" pitchFamily="34" charset="-122"/>
                <a:ea typeface="微软雅黑" panose="020B0503020204020204" pitchFamily="34" charset="-122"/>
              </a:rPr>
              <a:t>。</a:t>
            </a:r>
            <a:endParaRPr lang="en-US" altLang="zh-CN" sz="900" dirty="0">
              <a:latin typeface="微软雅黑" panose="020B0503020204020204" pitchFamily="34" charset="-122"/>
              <a:ea typeface="微软雅黑" panose="020B0503020204020204" pitchFamily="34" charset="-122"/>
            </a:endParaRPr>
          </a:p>
        </p:txBody>
      </p:sp>
      <p:pic>
        <p:nvPicPr>
          <p:cNvPr id="6" name="Picture 5">
            <a:extLst>
              <a:ext uri="{FF2B5EF4-FFF2-40B4-BE49-F238E27FC236}">
                <a16:creationId xmlns:a16="http://schemas.microsoft.com/office/drawing/2014/main" id="{94AC55C3-39EA-667C-448E-152FD787C2D2}"/>
              </a:ext>
            </a:extLst>
          </p:cNvPr>
          <p:cNvPicPr>
            <a:picLocks noChangeAspect="1"/>
          </p:cNvPicPr>
          <p:nvPr/>
        </p:nvPicPr>
        <p:blipFill>
          <a:blip r:embed="rId3"/>
          <a:stretch>
            <a:fillRect/>
          </a:stretch>
        </p:blipFill>
        <p:spPr>
          <a:xfrm>
            <a:off x="0" y="717546"/>
            <a:ext cx="7452320" cy="4425953"/>
          </a:xfrm>
          <a:prstGeom prst="rect">
            <a:avLst/>
          </a:prstGeom>
        </p:spPr>
      </p:pic>
    </p:spTree>
    <p:extLst>
      <p:ext uri="{BB962C8B-B14F-4D97-AF65-F5344CB8AC3E}">
        <p14:creationId xmlns:p14="http://schemas.microsoft.com/office/powerpoint/2010/main" val="4219602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决策式</a:t>
            </a:r>
            <a:r>
              <a:rPr lang="en-US" altLang="zh-CN" sz="1800"/>
              <a:t>AI</a:t>
            </a:r>
            <a:r>
              <a:rPr lang="zh-CN" altLang="en-US" sz="1800"/>
              <a:t>：</a:t>
            </a:r>
            <a:r>
              <a:rPr lang="zh-CN" altLang="en-US" sz="1600"/>
              <a:t>推荐系统等已创造巨大市场</a:t>
            </a:r>
            <a:endParaRPr lang="zh-CN" altLang="en-US" sz="1600" dirty="0"/>
          </a:p>
        </p:txBody>
      </p:sp>
      <p:sp>
        <p:nvSpPr>
          <p:cNvPr id="5" name="文本框 48">
            <a:extLst>
              <a:ext uri="{FF2B5EF4-FFF2-40B4-BE49-F238E27FC236}">
                <a16:creationId xmlns:a16="http://schemas.microsoft.com/office/drawing/2014/main" id="{51A6B42D-6EEE-17DC-11DB-A0D35BDABF0D}"/>
              </a:ext>
            </a:extLst>
          </p:cNvPr>
          <p:cNvSpPr txBox="1"/>
          <p:nvPr/>
        </p:nvSpPr>
        <p:spPr>
          <a:xfrm>
            <a:off x="0" y="699801"/>
            <a:ext cx="9144000" cy="1539780"/>
          </a:xfrm>
          <a:prstGeom prst="rect">
            <a:avLst/>
          </a:prstGeom>
          <a:noFill/>
          <a:ln w="3175">
            <a:solidFill>
              <a:schemeClr val="tx2">
                <a:lumMod val="60000"/>
                <a:lumOff val="40000"/>
              </a:schemeClr>
            </a:solidFill>
          </a:ln>
        </p:spPr>
        <p:txBody>
          <a:bodyPr wrap="square" rtlCol="0">
            <a:spAutoFit/>
          </a:bodyPr>
          <a:lstStyle/>
          <a:p>
            <a:pPr>
              <a:lnSpc>
                <a:spcPct val="150000"/>
              </a:lnSpc>
            </a:pPr>
            <a:endParaRPr lang="en-US" altLang="zh-CN" sz="9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b="1">
                <a:latin typeface="微软雅黑" panose="020B0503020204020204" pitchFamily="34" charset="-122"/>
                <a:ea typeface="微软雅黑" panose="020B0503020204020204" pitchFamily="34" charset="-122"/>
              </a:rPr>
              <a:t>电商推荐</a:t>
            </a:r>
            <a:r>
              <a:rPr lang="zh-CN" altLang="en-US" sz="1100">
                <a:latin typeface="微软雅黑" panose="020B0503020204020204" pitchFamily="34" charset="-122"/>
                <a:ea typeface="微软雅黑" panose="020B0503020204020204" pitchFamily="34" charset="-122"/>
              </a:rPr>
              <a:t>：深度挖掘用户和物品的关联关系，将商品、店铺精准推荐给用户。</a:t>
            </a:r>
            <a:r>
              <a:rPr lang="en-US" altLang="zh-CN" sz="1100">
                <a:latin typeface="微软雅黑" panose="020B0503020204020204" pitchFamily="34" charset="-122"/>
                <a:ea typeface="微软雅黑" panose="020B0503020204020204" pitchFamily="34" charset="-122"/>
              </a:rPr>
              <a:t>2003</a:t>
            </a:r>
            <a:r>
              <a:rPr lang="zh-CN" altLang="en-US" sz="1100">
                <a:latin typeface="微软雅黑" panose="020B0503020204020204" pitchFamily="34" charset="-122"/>
                <a:ea typeface="微软雅黑" panose="020B0503020204020204" pitchFamily="34" charset="-122"/>
              </a:rPr>
              <a:t>年，亚马逊将协同过滤算法应用到电商行业，凭借推荐商品与用户需求精准匹配、大幅降低用户检索用时，据统计亚马逊个性化推荐系统为其贡献了</a:t>
            </a:r>
            <a:r>
              <a:rPr lang="en-US" altLang="zh-CN" sz="1100">
                <a:latin typeface="微软雅黑" panose="020B0503020204020204" pitchFamily="34" charset="-122"/>
                <a:ea typeface="微软雅黑" panose="020B0503020204020204" pitchFamily="34" charset="-122"/>
              </a:rPr>
              <a:t>35%</a:t>
            </a:r>
            <a:r>
              <a:rPr lang="zh-CN" altLang="en-US" sz="1100">
                <a:latin typeface="微软雅黑" panose="020B0503020204020204" pitchFamily="34" charset="-122"/>
                <a:ea typeface="微软雅黑" panose="020B0503020204020204" pitchFamily="34" charset="-122"/>
              </a:rPr>
              <a:t>以上的销售额；京东推荐算法订单占总体订单的</a:t>
            </a:r>
            <a:r>
              <a:rPr lang="en-US" altLang="zh-CN" sz="1100">
                <a:latin typeface="微软雅黑" panose="020B0503020204020204" pitchFamily="34" charset="-122"/>
                <a:ea typeface="微软雅黑" panose="020B0503020204020204" pitchFamily="34" charset="-122"/>
              </a:rPr>
              <a:t>10%</a:t>
            </a:r>
            <a:r>
              <a:rPr lang="zh-CN" altLang="en-US" sz="1100">
                <a:latin typeface="微软雅黑" panose="020B0503020204020204" pitchFamily="34" charset="-122"/>
                <a:ea typeface="微软雅黑" panose="020B0503020204020204" pitchFamily="34" charset="-122"/>
              </a:rPr>
              <a:t>。</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b="1">
                <a:latin typeface="微软雅黑" panose="020B0503020204020204" pitchFamily="34" charset="-122"/>
                <a:ea typeface="微软雅黑" panose="020B0503020204020204" pitchFamily="34" charset="-122"/>
              </a:rPr>
              <a:t>新闻、音乐、视频等推荐</a:t>
            </a:r>
            <a:r>
              <a:rPr lang="zh-CN" altLang="en-US" sz="1100">
                <a:latin typeface="微软雅黑" panose="020B0503020204020204" pitchFamily="34" charset="-122"/>
                <a:ea typeface="微软雅黑" panose="020B0503020204020204" pitchFamily="34" charset="-122"/>
              </a:rPr>
              <a:t>：分析用户长期兴趣和短期兴趣，根据兴趣标签将内容实时推送给用户。推荐算法通过对用户观看、停留、点赞等行为的实时分析，精准刻画用户画像，将用户可能感兴趣的内容推荐给用户，降低人工运营规则的摄入，显著提高了用户的粘性。</a:t>
            </a:r>
            <a:endParaRPr lang="en-US" altLang="zh-CN" sz="1100" dirty="0">
              <a:latin typeface="微软雅黑" panose="020B0503020204020204" pitchFamily="34" charset="-122"/>
              <a:ea typeface="微软雅黑" panose="020B0503020204020204" pitchFamily="34" charset="-122"/>
            </a:endParaRPr>
          </a:p>
        </p:txBody>
      </p:sp>
      <p:pic>
        <p:nvPicPr>
          <p:cNvPr id="3" name="Picture 2">
            <a:extLst>
              <a:ext uri="{FF2B5EF4-FFF2-40B4-BE49-F238E27FC236}">
                <a16:creationId xmlns:a16="http://schemas.microsoft.com/office/drawing/2014/main" id="{2AFF98F9-8DA1-D6A5-267A-E2D6DFE8D6D0}"/>
              </a:ext>
            </a:extLst>
          </p:cNvPr>
          <p:cNvPicPr>
            <a:picLocks noChangeAspect="1"/>
          </p:cNvPicPr>
          <p:nvPr/>
        </p:nvPicPr>
        <p:blipFill>
          <a:blip r:embed="rId3"/>
          <a:stretch>
            <a:fillRect/>
          </a:stretch>
        </p:blipFill>
        <p:spPr>
          <a:xfrm>
            <a:off x="1926" y="2239581"/>
            <a:ext cx="9142074" cy="2903919"/>
          </a:xfrm>
          <a:prstGeom prst="rect">
            <a:avLst/>
          </a:prstGeom>
        </p:spPr>
      </p:pic>
    </p:spTree>
    <p:extLst>
      <p:ext uri="{BB962C8B-B14F-4D97-AF65-F5344CB8AC3E}">
        <p14:creationId xmlns:p14="http://schemas.microsoft.com/office/powerpoint/2010/main" val="3779206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决策式</a:t>
            </a:r>
            <a:r>
              <a:rPr lang="en-US" altLang="zh-CN" sz="1800"/>
              <a:t>AI</a:t>
            </a:r>
            <a:r>
              <a:rPr lang="zh-CN" altLang="en-US" sz="1800"/>
              <a:t>：</a:t>
            </a:r>
            <a:r>
              <a:rPr lang="zh-CN" altLang="en-US" sz="1600"/>
              <a:t>推荐系统等已创造巨大市场</a:t>
            </a:r>
            <a:endParaRPr lang="zh-CN" altLang="en-US" sz="1600" dirty="0"/>
          </a:p>
        </p:txBody>
      </p:sp>
      <p:sp>
        <p:nvSpPr>
          <p:cNvPr id="5" name="文本框 48">
            <a:extLst>
              <a:ext uri="{FF2B5EF4-FFF2-40B4-BE49-F238E27FC236}">
                <a16:creationId xmlns:a16="http://schemas.microsoft.com/office/drawing/2014/main" id="{51A6B42D-6EEE-17DC-11DB-A0D35BDABF0D}"/>
              </a:ext>
            </a:extLst>
          </p:cNvPr>
          <p:cNvSpPr txBox="1"/>
          <p:nvPr/>
        </p:nvSpPr>
        <p:spPr>
          <a:xfrm>
            <a:off x="0" y="699801"/>
            <a:ext cx="9144000" cy="778034"/>
          </a:xfrm>
          <a:prstGeom prst="rect">
            <a:avLst/>
          </a:prstGeom>
          <a:noFill/>
          <a:ln w="3175">
            <a:solidFill>
              <a:schemeClr val="tx2">
                <a:lumMod val="60000"/>
                <a:lumOff val="40000"/>
              </a:schemeClr>
            </a:solidFill>
          </a:ln>
        </p:spPr>
        <p:txBody>
          <a:bodyPr wrap="square" rtlCol="0">
            <a:spAutoFit/>
          </a:bodyPr>
          <a:lstStyle/>
          <a:p>
            <a:pPr>
              <a:lnSpc>
                <a:spcPct val="150000"/>
              </a:lnSpc>
            </a:pPr>
            <a:endParaRPr lang="en-US" altLang="zh-CN" sz="9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b="1">
                <a:latin typeface="微软雅黑" panose="020B0503020204020204" pitchFamily="34" charset="-122"/>
                <a:ea typeface="微软雅黑" panose="020B0503020204020204" pitchFamily="34" charset="-122"/>
              </a:rPr>
              <a:t>字节跳动</a:t>
            </a:r>
            <a:r>
              <a:rPr lang="zh-CN" altLang="en-US" sz="1100">
                <a:latin typeface="微软雅黑" panose="020B0503020204020204" pitchFamily="34" charset="-122"/>
                <a:ea typeface="微软雅黑" panose="020B0503020204020204" pitchFamily="34" charset="-122"/>
              </a:rPr>
              <a:t>：</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驱动抖音、头条精准推荐内容，</a:t>
            </a:r>
            <a:r>
              <a:rPr lang="en-US" altLang="zh-CN" sz="1100">
                <a:latin typeface="微软雅黑" panose="020B0503020204020204" pitchFamily="34" charset="-122"/>
                <a:ea typeface="微软雅黑" panose="020B0503020204020204" pitchFamily="34" charset="-122"/>
              </a:rPr>
              <a:t>10</a:t>
            </a:r>
            <a:r>
              <a:rPr lang="zh-CN" altLang="en-US" sz="1100">
                <a:latin typeface="微软雅黑" panose="020B0503020204020204" pitchFamily="34" charset="-122"/>
                <a:ea typeface="微软雅黑" panose="020B0503020204020204" pitchFamily="34" charset="-122"/>
              </a:rPr>
              <a:t>年内估值超过</a:t>
            </a:r>
            <a:r>
              <a:rPr lang="en-US" altLang="zh-CN" sz="1100">
                <a:latin typeface="微软雅黑" panose="020B0503020204020204" pitchFamily="34" charset="-122"/>
                <a:ea typeface="微软雅黑" panose="020B0503020204020204" pitchFamily="34" charset="-122"/>
              </a:rPr>
              <a:t>3000</a:t>
            </a:r>
            <a:r>
              <a:rPr lang="zh-CN" altLang="en-US" sz="1100">
                <a:latin typeface="微软雅黑" panose="020B0503020204020204" pitchFamily="34" charset="-122"/>
                <a:ea typeface="微软雅黑" panose="020B0503020204020204" pitchFamily="34" charset="-122"/>
              </a:rPr>
              <a:t>亿美金。凭借判别式</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等先进算法对用户画像的学习，抖音、头条等产品，将内容与广告等高效、精准推荐给用户，快速驱动自身用户数、业绩与估值增长。</a:t>
            </a:r>
            <a:endParaRPr lang="en-US" altLang="zh-CN" sz="1100" dirty="0">
              <a:latin typeface="微软雅黑" panose="020B0503020204020204" pitchFamily="34" charset="-122"/>
              <a:ea typeface="微软雅黑" panose="020B0503020204020204" pitchFamily="34" charset="-122"/>
            </a:endParaRPr>
          </a:p>
        </p:txBody>
      </p:sp>
      <p:pic>
        <p:nvPicPr>
          <p:cNvPr id="6" name="Picture 5">
            <a:extLst>
              <a:ext uri="{FF2B5EF4-FFF2-40B4-BE49-F238E27FC236}">
                <a16:creationId xmlns:a16="http://schemas.microsoft.com/office/drawing/2014/main" id="{BB34F474-DB0E-9B37-AE16-77D4DF2DC3B8}"/>
              </a:ext>
            </a:extLst>
          </p:cNvPr>
          <p:cNvPicPr>
            <a:picLocks noChangeAspect="1"/>
          </p:cNvPicPr>
          <p:nvPr/>
        </p:nvPicPr>
        <p:blipFill>
          <a:blip r:embed="rId3"/>
          <a:stretch>
            <a:fillRect/>
          </a:stretch>
        </p:blipFill>
        <p:spPr>
          <a:xfrm>
            <a:off x="0" y="1741934"/>
            <a:ext cx="9144000" cy="2736045"/>
          </a:xfrm>
          <a:prstGeom prst="rect">
            <a:avLst/>
          </a:prstGeom>
        </p:spPr>
      </p:pic>
    </p:spTree>
    <p:extLst>
      <p:ext uri="{BB962C8B-B14F-4D97-AF65-F5344CB8AC3E}">
        <p14:creationId xmlns:p14="http://schemas.microsoft.com/office/powerpoint/2010/main" val="4106117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决策式</a:t>
            </a:r>
            <a:r>
              <a:rPr lang="en-US" altLang="zh-CN" sz="1800"/>
              <a:t>AI</a:t>
            </a:r>
            <a:r>
              <a:rPr lang="zh-CN" altLang="en-US" sz="1800"/>
              <a:t>：</a:t>
            </a:r>
            <a:r>
              <a:rPr lang="zh-CN" altLang="en-US" sz="1600"/>
              <a:t>图像识别推自动驾驶快速发展</a:t>
            </a:r>
            <a:endParaRPr lang="zh-CN" altLang="en-US" sz="1600" dirty="0"/>
          </a:p>
        </p:txBody>
      </p:sp>
      <p:sp>
        <p:nvSpPr>
          <p:cNvPr id="5" name="文本框 48">
            <a:extLst>
              <a:ext uri="{FF2B5EF4-FFF2-40B4-BE49-F238E27FC236}">
                <a16:creationId xmlns:a16="http://schemas.microsoft.com/office/drawing/2014/main" id="{51A6B42D-6EEE-17DC-11DB-A0D35BDABF0D}"/>
              </a:ext>
            </a:extLst>
          </p:cNvPr>
          <p:cNvSpPr txBox="1"/>
          <p:nvPr/>
        </p:nvSpPr>
        <p:spPr>
          <a:xfrm>
            <a:off x="0" y="699801"/>
            <a:ext cx="9144000" cy="1285865"/>
          </a:xfrm>
          <a:prstGeom prst="rect">
            <a:avLst/>
          </a:prstGeom>
          <a:noFill/>
          <a:ln w="3175">
            <a:solidFill>
              <a:schemeClr val="tx2">
                <a:lumMod val="60000"/>
                <a:lumOff val="40000"/>
              </a:schemeClr>
            </a:solidFill>
          </a:ln>
        </p:spPr>
        <p:txBody>
          <a:bodyPr wrap="square" rtlCol="0">
            <a:spAutoFit/>
          </a:bodyPr>
          <a:lstStyle/>
          <a:p>
            <a:pPr>
              <a:lnSpc>
                <a:spcPct val="150000"/>
              </a:lnSpc>
            </a:pPr>
            <a:endParaRPr lang="en-US" altLang="zh-CN" sz="9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b="1">
                <a:latin typeface="微软雅黑" panose="020B0503020204020204" pitchFamily="34" charset="-122"/>
                <a:ea typeface="微软雅黑" panose="020B0503020204020204" pitchFamily="34" charset="-122"/>
              </a:rPr>
              <a:t>自动驾驶</a:t>
            </a:r>
            <a:r>
              <a:rPr lang="zh-CN" altLang="en-US" sz="1100">
                <a:latin typeface="微软雅黑" panose="020B0503020204020204" pitchFamily="34" charset="-122"/>
                <a:ea typeface="微软雅黑" panose="020B0503020204020204" pitchFamily="34" charset="-122"/>
              </a:rPr>
              <a:t>：</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智能分析、识别路况，渗透率不断提升。借助决策式</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，自动驾驶汽车可分析判别各种路况，并可对多种物体进行识别与跟踪，从而提高形成的安全性，例如行人、空旷行驶空间、地上标注、红绿灯、车辆等。据</a:t>
            </a:r>
            <a:r>
              <a:rPr lang="en-US" altLang="zh-CN" sz="1100">
                <a:latin typeface="微软雅黑" panose="020B0503020204020204" pitchFamily="34" charset="-122"/>
                <a:ea typeface="微软雅黑" panose="020B0503020204020204" pitchFamily="34" charset="-122"/>
              </a:rPr>
              <a:t>Research And Markets 2021</a:t>
            </a:r>
            <a:r>
              <a:rPr lang="zh-CN" altLang="en-US" sz="1100">
                <a:latin typeface="微软雅黑" panose="020B0503020204020204" pitchFamily="34" charset="-122"/>
                <a:ea typeface="微软雅黑" panose="020B0503020204020204" pitchFamily="34" charset="-122"/>
              </a:rPr>
              <a:t>分析，无人驾驶市场规模达</a:t>
            </a:r>
            <a:r>
              <a:rPr lang="en-US" altLang="zh-CN" sz="1100">
                <a:latin typeface="微软雅黑" panose="020B0503020204020204" pitchFamily="34" charset="-122"/>
                <a:ea typeface="微软雅黑" panose="020B0503020204020204" pitchFamily="34" charset="-122"/>
              </a:rPr>
              <a:t>273</a:t>
            </a:r>
            <a:r>
              <a:rPr lang="zh-CN" altLang="en-US" sz="1100">
                <a:latin typeface="微软雅黑" panose="020B0503020204020204" pitchFamily="34" charset="-122"/>
                <a:ea typeface="微软雅黑" panose="020B0503020204020204" pitchFamily="34" charset="-122"/>
              </a:rPr>
              <a:t>亿美金，</a:t>
            </a:r>
            <a:r>
              <a:rPr lang="en-US" altLang="zh-CN" sz="1100">
                <a:latin typeface="微软雅黑" panose="020B0503020204020204" pitchFamily="34" charset="-122"/>
                <a:ea typeface="微软雅黑" panose="020B0503020204020204" pitchFamily="34" charset="-122"/>
              </a:rPr>
              <a:t>2026</a:t>
            </a:r>
            <a:r>
              <a:rPr lang="zh-CN" altLang="en-US" sz="1100">
                <a:latin typeface="微软雅黑" panose="020B0503020204020204" pitchFamily="34" charset="-122"/>
                <a:ea typeface="微软雅黑" panose="020B0503020204020204" pitchFamily="34" charset="-122"/>
              </a:rPr>
              <a:t>年将达到</a:t>
            </a:r>
            <a:r>
              <a:rPr lang="en-US" altLang="zh-CN" sz="1100">
                <a:latin typeface="微软雅黑" panose="020B0503020204020204" pitchFamily="34" charset="-122"/>
                <a:ea typeface="微软雅黑" panose="020B0503020204020204" pitchFamily="34" charset="-122"/>
              </a:rPr>
              <a:t>594</a:t>
            </a:r>
            <a:r>
              <a:rPr lang="zh-CN" altLang="en-US" sz="1100">
                <a:latin typeface="微软雅黑" panose="020B0503020204020204" pitchFamily="34" charset="-122"/>
                <a:ea typeface="微软雅黑" panose="020B0503020204020204" pitchFamily="34" charset="-122"/>
              </a:rPr>
              <a:t>亿美金，复合增长率将会达到</a:t>
            </a:r>
            <a:r>
              <a:rPr lang="en-US" altLang="zh-CN" sz="1100">
                <a:latin typeface="微软雅黑" panose="020B0503020204020204" pitchFamily="34" charset="-122"/>
                <a:ea typeface="微软雅黑" panose="020B0503020204020204" pitchFamily="34" charset="-122"/>
              </a:rPr>
              <a:t>16.8%</a:t>
            </a:r>
            <a:r>
              <a:rPr lang="zh-CN" altLang="en-US" sz="1100">
                <a:latin typeface="微软雅黑" panose="020B0503020204020204" pitchFamily="34" charset="-122"/>
                <a:ea typeface="微软雅黑" panose="020B0503020204020204" pitchFamily="34" charset="-122"/>
              </a:rPr>
              <a:t>。</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带动产业链发展，多环节均有高市值上市公司和高估值公司。如蔚来、理想等。</a:t>
            </a:r>
            <a:endParaRPr lang="en-US" altLang="zh-CN" sz="1100">
              <a:latin typeface="微软雅黑" panose="020B0503020204020204" pitchFamily="34" charset="-122"/>
              <a:ea typeface="微软雅黑" panose="020B0503020204020204" pitchFamily="34" charset="-122"/>
            </a:endParaRPr>
          </a:p>
        </p:txBody>
      </p:sp>
      <p:pic>
        <p:nvPicPr>
          <p:cNvPr id="3" name="Picture 2">
            <a:extLst>
              <a:ext uri="{FF2B5EF4-FFF2-40B4-BE49-F238E27FC236}">
                <a16:creationId xmlns:a16="http://schemas.microsoft.com/office/drawing/2014/main" id="{7B7D8EF3-9D7E-CC68-F6EE-B70D7E844697}"/>
              </a:ext>
            </a:extLst>
          </p:cNvPr>
          <p:cNvPicPr>
            <a:picLocks noChangeAspect="1"/>
          </p:cNvPicPr>
          <p:nvPr/>
        </p:nvPicPr>
        <p:blipFill>
          <a:blip r:embed="rId3"/>
          <a:stretch>
            <a:fillRect/>
          </a:stretch>
        </p:blipFill>
        <p:spPr>
          <a:xfrm>
            <a:off x="28203" y="1995686"/>
            <a:ext cx="9144000" cy="3041864"/>
          </a:xfrm>
          <a:prstGeom prst="rect">
            <a:avLst/>
          </a:prstGeom>
        </p:spPr>
      </p:pic>
    </p:spTree>
    <p:extLst>
      <p:ext uri="{BB962C8B-B14F-4D97-AF65-F5344CB8AC3E}">
        <p14:creationId xmlns:p14="http://schemas.microsoft.com/office/powerpoint/2010/main" val="380984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生成式</a:t>
            </a:r>
            <a:r>
              <a:rPr lang="en-US" altLang="zh-CN" sz="1800"/>
              <a:t>AI</a:t>
            </a:r>
            <a:r>
              <a:rPr lang="zh-CN" altLang="en-US" sz="1800"/>
              <a:t>：</a:t>
            </a:r>
            <a:r>
              <a:rPr lang="zh-CN" altLang="en-US" sz="1600"/>
              <a:t>最有商业前景的人工智能技术</a:t>
            </a:r>
            <a:endParaRPr lang="zh-CN" altLang="en-US" sz="1600" dirty="0"/>
          </a:p>
        </p:txBody>
      </p:sp>
      <p:sp>
        <p:nvSpPr>
          <p:cNvPr id="5" name="文本框 48">
            <a:extLst>
              <a:ext uri="{FF2B5EF4-FFF2-40B4-BE49-F238E27FC236}">
                <a16:creationId xmlns:a16="http://schemas.microsoft.com/office/drawing/2014/main" id="{51A6B42D-6EEE-17DC-11DB-A0D35BDABF0D}"/>
              </a:ext>
            </a:extLst>
          </p:cNvPr>
          <p:cNvSpPr txBox="1"/>
          <p:nvPr/>
        </p:nvSpPr>
        <p:spPr>
          <a:xfrm>
            <a:off x="0" y="699801"/>
            <a:ext cx="9144000" cy="1031949"/>
          </a:xfrm>
          <a:prstGeom prst="rect">
            <a:avLst/>
          </a:prstGeom>
          <a:noFill/>
          <a:ln w="3175">
            <a:solidFill>
              <a:schemeClr val="tx2">
                <a:lumMod val="60000"/>
                <a:lumOff val="40000"/>
              </a:schemeClr>
            </a:solidFill>
          </a:ln>
        </p:spPr>
        <p:txBody>
          <a:bodyPr wrap="square" rtlCol="0">
            <a:spAutoFit/>
          </a:bodyPr>
          <a:lstStyle/>
          <a:p>
            <a:pPr>
              <a:lnSpc>
                <a:spcPct val="150000"/>
              </a:lnSpc>
            </a:pPr>
            <a:endParaRPr lang="en-US" altLang="zh-CN" sz="9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en-US" altLang="zh-CN" sz="1100" b="1">
                <a:latin typeface="微软雅黑" panose="020B0503020204020204" pitchFamily="34" charset="-122"/>
                <a:ea typeface="微软雅黑" panose="020B0503020204020204" pitchFamily="34" charset="-122"/>
              </a:rPr>
              <a:t>2025</a:t>
            </a:r>
            <a:r>
              <a:rPr lang="zh-CN" altLang="en-US" sz="1100" b="1">
                <a:latin typeface="微软雅黑" panose="020B0503020204020204" pitchFamily="34" charset="-122"/>
                <a:ea typeface="微软雅黑" panose="020B0503020204020204" pitchFamily="34" charset="-122"/>
              </a:rPr>
              <a:t>年</a:t>
            </a:r>
            <a:r>
              <a:rPr lang="zh-CN" altLang="en-US" sz="1100">
                <a:latin typeface="微软雅黑" panose="020B0503020204020204" pitchFamily="34" charset="-122"/>
                <a:ea typeface="微软雅黑" panose="020B0503020204020204" pitchFamily="34" charset="-122"/>
              </a:rPr>
              <a:t>：生成式</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产生的数据将占到所有数据的</a:t>
            </a:r>
            <a:r>
              <a:rPr lang="en-US" altLang="zh-CN" sz="1100">
                <a:latin typeface="微软雅黑" panose="020B0503020204020204" pitchFamily="34" charset="-122"/>
                <a:ea typeface="微软雅黑" panose="020B0503020204020204" pitchFamily="34" charset="-122"/>
              </a:rPr>
              <a:t>10%</a:t>
            </a:r>
            <a:r>
              <a:rPr lang="zh-CN" altLang="en-US" sz="1100">
                <a:latin typeface="微软雅黑" panose="020B0503020204020204" pitchFamily="34" charset="-122"/>
                <a:ea typeface="微软雅黑" panose="020B0503020204020204" pitchFamily="34" charset="-122"/>
              </a:rPr>
              <a:t>，而</a:t>
            </a:r>
            <a:r>
              <a:rPr lang="en-US" altLang="zh-CN" sz="1100">
                <a:latin typeface="微软雅黑" panose="020B0503020204020204" pitchFamily="34" charset="-122"/>
                <a:ea typeface="微软雅黑" panose="020B0503020204020204" pitchFamily="34" charset="-122"/>
              </a:rPr>
              <a:t>2021</a:t>
            </a:r>
            <a:r>
              <a:rPr lang="zh-CN" altLang="en-US" sz="1100">
                <a:latin typeface="微软雅黑" panose="020B0503020204020204" pitchFamily="34" charset="-122"/>
                <a:ea typeface="微软雅黑" panose="020B0503020204020204" pitchFamily="34" charset="-122"/>
              </a:rPr>
              <a:t>还不到</a:t>
            </a:r>
            <a:r>
              <a:rPr lang="en-US" altLang="zh-CN" sz="1100">
                <a:latin typeface="微软雅黑" panose="020B0503020204020204" pitchFamily="34" charset="-122"/>
                <a:ea typeface="微软雅黑" panose="020B0503020204020204" pitchFamily="34" charset="-122"/>
              </a:rPr>
              <a:t>1%</a:t>
            </a:r>
            <a:r>
              <a:rPr lang="zh-CN" altLang="en-US" sz="1100">
                <a:latin typeface="微软雅黑" panose="020B0503020204020204" pitchFamily="34" charset="-122"/>
                <a:ea typeface="微软雅黑" panose="020B0503020204020204" pitchFamily="34" charset="-122"/>
              </a:rPr>
              <a:t>。</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en-US" altLang="zh-CN" sz="1100">
                <a:latin typeface="微软雅黑" panose="020B0503020204020204" pitchFamily="34" charset="-122"/>
                <a:ea typeface="微软雅黑" panose="020B0503020204020204" pitchFamily="34" charset="-122"/>
              </a:rPr>
              <a:t>2025</a:t>
            </a:r>
            <a:r>
              <a:rPr lang="zh-CN" altLang="en-US" sz="1100">
                <a:latin typeface="微软雅黑" panose="020B0503020204020204" pitchFamily="34" charset="-122"/>
                <a:ea typeface="微软雅黑" panose="020B0503020204020204" pitchFamily="34" charset="-122"/>
              </a:rPr>
              <a:t>年，</a:t>
            </a:r>
            <a:r>
              <a:rPr lang="en-US" altLang="zh-CN" sz="1100">
                <a:latin typeface="微软雅黑" panose="020B0503020204020204" pitchFamily="34" charset="-122"/>
                <a:ea typeface="微软雅黑" panose="020B0503020204020204" pitchFamily="34" charset="-122"/>
              </a:rPr>
              <a:t>30%</a:t>
            </a:r>
            <a:r>
              <a:rPr lang="zh-CN" altLang="en-US" sz="1100">
                <a:latin typeface="微软雅黑" panose="020B0503020204020204" pitchFamily="34" charset="-122"/>
                <a:ea typeface="微软雅黑" panose="020B0503020204020204" pitchFamily="34" charset="-122"/>
              </a:rPr>
              <a:t>的大型组织出站消息将由生成式</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生成；</a:t>
            </a:r>
            <a:r>
              <a:rPr lang="en-US" altLang="zh-CN" sz="1100">
                <a:latin typeface="微软雅黑" panose="020B0503020204020204" pitchFamily="34" charset="-122"/>
                <a:ea typeface="微软雅黑" panose="020B0503020204020204" pitchFamily="34" charset="-122"/>
              </a:rPr>
              <a:t>50%</a:t>
            </a:r>
            <a:r>
              <a:rPr lang="zh-CN" altLang="en-US" sz="1100">
                <a:latin typeface="微软雅黑" panose="020B0503020204020204" pitchFamily="34" charset="-122"/>
                <a:ea typeface="微软雅黑" panose="020B0503020204020204" pitchFamily="34" charset="-122"/>
              </a:rPr>
              <a:t>的药物发现与研发将使用生成式</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en-US" altLang="zh-CN" sz="1100">
                <a:latin typeface="微软雅黑" panose="020B0503020204020204" pitchFamily="34" charset="-122"/>
                <a:ea typeface="微软雅黑" panose="020B0503020204020204" pitchFamily="34" charset="-122"/>
              </a:rPr>
              <a:t>2027</a:t>
            </a:r>
            <a:r>
              <a:rPr lang="zh-CN" altLang="en-US" sz="1100">
                <a:latin typeface="微软雅黑" panose="020B0503020204020204" pitchFamily="34" charset="-122"/>
                <a:ea typeface="微软雅黑" panose="020B0503020204020204" pitchFamily="34" charset="-122"/>
              </a:rPr>
              <a:t>年，</a:t>
            </a:r>
            <a:r>
              <a:rPr lang="en-US" altLang="zh-CN" sz="1100">
                <a:latin typeface="微软雅黑" panose="020B0503020204020204" pitchFamily="34" charset="-122"/>
                <a:ea typeface="微软雅黑" panose="020B0503020204020204" pitchFamily="34" charset="-122"/>
              </a:rPr>
              <a:t>30%</a:t>
            </a:r>
            <a:r>
              <a:rPr lang="zh-CN" altLang="en-US" sz="1100">
                <a:latin typeface="微软雅黑" panose="020B0503020204020204" pitchFamily="34" charset="-122"/>
                <a:ea typeface="微软雅黑" panose="020B0503020204020204" pitchFamily="34" charset="-122"/>
              </a:rPr>
              <a:t>的制造商将使用生成式</a:t>
            </a:r>
            <a:r>
              <a:rPr lang="en-US" altLang="zh-CN" sz="1100">
                <a:latin typeface="微软雅黑" panose="020B0503020204020204" pitchFamily="34" charset="-122"/>
                <a:ea typeface="微软雅黑" panose="020B0503020204020204" pitchFamily="34" charset="-122"/>
              </a:rPr>
              <a:t>Aides</a:t>
            </a:r>
            <a:r>
              <a:rPr lang="zh-CN" altLang="en-US" sz="1100">
                <a:latin typeface="微软雅黑" panose="020B0503020204020204" pitchFamily="34" charset="-122"/>
                <a:ea typeface="微软雅黑" panose="020B0503020204020204" pitchFamily="34" charset="-122"/>
              </a:rPr>
              <a:t>提高产品研发效率。</a:t>
            </a:r>
            <a:endParaRPr lang="en-US" altLang="zh-CN" sz="1100">
              <a:latin typeface="微软雅黑" panose="020B0503020204020204" pitchFamily="34" charset="-122"/>
              <a:ea typeface="微软雅黑" panose="020B0503020204020204" pitchFamily="34" charset="-122"/>
            </a:endParaRPr>
          </a:p>
        </p:txBody>
      </p:sp>
      <p:pic>
        <p:nvPicPr>
          <p:cNvPr id="6" name="Picture 5">
            <a:extLst>
              <a:ext uri="{FF2B5EF4-FFF2-40B4-BE49-F238E27FC236}">
                <a16:creationId xmlns:a16="http://schemas.microsoft.com/office/drawing/2014/main" id="{19468E94-C247-DD4D-DAF8-05A8DDEBD907}"/>
              </a:ext>
            </a:extLst>
          </p:cNvPr>
          <p:cNvPicPr>
            <a:picLocks noChangeAspect="1"/>
          </p:cNvPicPr>
          <p:nvPr/>
        </p:nvPicPr>
        <p:blipFill>
          <a:blip r:embed="rId3"/>
          <a:stretch>
            <a:fillRect/>
          </a:stretch>
        </p:blipFill>
        <p:spPr>
          <a:xfrm>
            <a:off x="0" y="1985667"/>
            <a:ext cx="9144000" cy="3157833"/>
          </a:xfrm>
          <a:prstGeom prst="rect">
            <a:avLst/>
          </a:prstGeom>
        </p:spPr>
      </p:pic>
    </p:spTree>
    <p:extLst>
      <p:ext uri="{BB962C8B-B14F-4D97-AF65-F5344CB8AC3E}">
        <p14:creationId xmlns:p14="http://schemas.microsoft.com/office/powerpoint/2010/main" val="1041513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生成式</a:t>
            </a:r>
            <a:r>
              <a:rPr lang="en-US" altLang="zh-CN" sz="1800"/>
              <a:t>AI</a:t>
            </a:r>
            <a:r>
              <a:rPr lang="zh-CN" altLang="en-US" sz="1800"/>
              <a:t>：</a:t>
            </a:r>
            <a:r>
              <a:rPr lang="en-US" altLang="zh-CN" sz="1600"/>
              <a:t>2022</a:t>
            </a:r>
            <a:r>
              <a:rPr lang="zh-CN" altLang="en-US" sz="1600"/>
              <a:t>年是拐点</a:t>
            </a:r>
            <a:endParaRPr lang="zh-CN" altLang="en-US" sz="1600" dirty="0"/>
          </a:p>
        </p:txBody>
      </p:sp>
      <p:sp>
        <p:nvSpPr>
          <p:cNvPr id="5" name="文本框 48">
            <a:extLst>
              <a:ext uri="{FF2B5EF4-FFF2-40B4-BE49-F238E27FC236}">
                <a16:creationId xmlns:a16="http://schemas.microsoft.com/office/drawing/2014/main" id="{51A6B42D-6EEE-17DC-11DB-A0D35BDABF0D}"/>
              </a:ext>
            </a:extLst>
          </p:cNvPr>
          <p:cNvSpPr txBox="1"/>
          <p:nvPr/>
        </p:nvSpPr>
        <p:spPr>
          <a:xfrm>
            <a:off x="0" y="699801"/>
            <a:ext cx="9144000" cy="1078116"/>
          </a:xfrm>
          <a:prstGeom prst="rect">
            <a:avLst/>
          </a:prstGeom>
          <a:noFill/>
          <a:ln w="3175">
            <a:solidFill>
              <a:schemeClr val="tx2">
                <a:lumMod val="60000"/>
                <a:lumOff val="40000"/>
              </a:schemeClr>
            </a:solidFill>
          </a:ln>
        </p:spPr>
        <p:txBody>
          <a:bodyPr wrap="square" rtlCol="0">
            <a:spAutoFit/>
          </a:bodyPr>
          <a:lstStyle/>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架构改造：深度神经网的学习能力和模型的大小呈正相关，规模越大训练难度越高，需要对结构进行改进，拥有更强并行性的</a:t>
            </a:r>
            <a:r>
              <a:rPr lang="en-US" altLang="zh-CN" sz="1100">
                <a:latin typeface="微软雅黑" panose="020B0503020204020204" pitchFamily="34" charset="-122"/>
                <a:ea typeface="微软雅黑" panose="020B0503020204020204" pitchFamily="34" charset="-122"/>
              </a:rPr>
              <a:t>Transformer</a:t>
            </a:r>
            <a:r>
              <a:rPr lang="zh-CN" altLang="en-US" sz="1100">
                <a:latin typeface="微软雅黑" panose="020B0503020204020204" pitchFamily="34" charset="-122"/>
                <a:ea typeface="微软雅黑" panose="020B0503020204020204" pitchFamily="34" charset="-122"/>
              </a:rPr>
              <a:t>架构带来深度神经网络参数量从最早的几万到目前的数千亿的跃升。</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数据增多：拥有的优质训练数据越多，算法从中学习的效果越好。</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算力提升：大规模深度学习模型的参数和数据量达到一定量级，需要相应的算力支持，目前大规模模型的训练算力是原来的</a:t>
            </a:r>
            <a:r>
              <a:rPr lang="en-US" altLang="zh-CN" sz="1100">
                <a:latin typeface="微软雅黑" panose="020B0503020204020204" pitchFamily="34" charset="-122"/>
                <a:ea typeface="微软雅黑" panose="020B0503020204020204" pitchFamily="34" charset="-122"/>
              </a:rPr>
              <a:t>10~100</a:t>
            </a:r>
            <a:r>
              <a:rPr lang="zh-CN" altLang="en-US" sz="1100">
                <a:latin typeface="微软雅黑" panose="020B0503020204020204" pitchFamily="34" charset="-122"/>
                <a:ea typeface="微软雅黑" panose="020B0503020204020204" pitchFamily="34" charset="-122"/>
              </a:rPr>
              <a:t>倍。</a:t>
            </a:r>
            <a:endParaRPr lang="en-US" altLang="zh-CN" sz="1100">
              <a:latin typeface="微软雅黑" panose="020B0503020204020204" pitchFamily="34" charset="-122"/>
              <a:ea typeface="微软雅黑" panose="020B0503020204020204" pitchFamily="34" charset="-122"/>
            </a:endParaRPr>
          </a:p>
        </p:txBody>
      </p:sp>
      <p:pic>
        <p:nvPicPr>
          <p:cNvPr id="3" name="Picture 2">
            <a:extLst>
              <a:ext uri="{FF2B5EF4-FFF2-40B4-BE49-F238E27FC236}">
                <a16:creationId xmlns:a16="http://schemas.microsoft.com/office/drawing/2014/main" id="{59BEB98F-6E62-8CBC-F382-A07A38BF6AC0}"/>
              </a:ext>
            </a:extLst>
          </p:cNvPr>
          <p:cNvPicPr>
            <a:picLocks noChangeAspect="1"/>
          </p:cNvPicPr>
          <p:nvPr/>
        </p:nvPicPr>
        <p:blipFill>
          <a:blip r:embed="rId3"/>
          <a:stretch>
            <a:fillRect/>
          </a:stretch>
        </p:blipFill>
        <p:spPr>
          <a:xfrm>
            <a:off x="0" y="1731751"/>
            <a:ext cx="6127204" cy="3411750"/>
          </a:xfrm>
          <a:prstGeom prst="rect">
            <a:avLst/>
          </a:prstGeom>
        </p:spPr>
      </p:pic>
      <p:pic>
        <p:nvPicPr>
          <p:cNvPr id="8" name="Picture 7">
            <a:extLst>
              <a:ext uri="{FF2B5EF4-FFF2-40B4-BE49-F238E27FC236}">
                <a16:creationId xmlns:a16="http://schemas.microsoft.com/office/drawing/2014/main" id="{FA9E74D7-1030-252C-C3DB-119570E607CD}"/>
              </a:ext>
            </a:extLst>
          </p:cNvPr>
          <p:cNvPicPr>
            <a:picLocks noChangeAspect="1"/>
          </p:cNvPicPr>
          <p:nvPr/>
        </p:nvPicPr>
        <p:blipFill>
          <a:blip r:embed="rId4"/>
          <a:stretch>
            <a:fillRect/>
          </a:stretch>
        </p:blipFill>
        <p:spPr>
          <a:xfrm>
            <a:off x="6127204" y="1731751"/>
            <a:ext cx="3016796" cy="3360279"/>
          </a:xfrm>
          <a:prstGeom prst="rect">
            <a:avLst/>
          </a:prstGeom>
        </p:spPr>
      </p:pic>
    </p:spTree>
    <p:extLst>
      <p:ext uri="{BB962C8B-B14F-4D97-AF65-F5344CB8AC3E}">
        <p14:creationId xmlns:p14="http://schemas.microsoft.com/office/powerpoint/2010/main" val="4168274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en-US" altLang="zh-CN"/>
              <a:t>02</a:t>
            </a:r>
            <a:endParaRPr lang="zh-CN" altLang="en-US" dirty="0"/>
          </a:p>
        </p:txBody>
      </p:sp>
      <p:sp>
        <p:nvSpPr>
          <p:cNvPr id="3" name="内容占位符 2"/>
          <p:cNvSpPr>
            <a:spLocks noGrp="1"/>
          </p:cNvSpPr>
          <p:nvPr>
            <p:ph sz="quarter" idx="11"/>
          </p:nvPr>
        </p:nvSpPr>
        <p:spPr>
          <a:xfrm>
            <a:off x="296545" y="2427605"/>
            <a:ext cx="8827135" cy="504190"/>
          </a:xfrm>
        </p:spPr>
        <p:txBody>
          <a:bodyPr/>
          <a:lstStyle/>
          <a:p>
            <a:r>
              <a:rPr lang="en-US" altLang="zh-CN"/>
              <a:t>2</a:t>
            </a:r>
            <a:r>
              <a:rPr lang="zh-CN" altLang="en-US"/>
              <a:t>：</a:t>
            </a:r>
            <a:r>
              <a:rPr lang="en-US" altLang="zh-CN"/>
              <a:t>AI</a:t>
            </a:r>
            <a:r>
              <a:rPr lang="zh-CN" altLang="en-US"/>
              <a:t>技术架构演化</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技术架构：</a:t>
            </a:r>
            <a:r>
              <a:rPr lang="en-US" altLang="zh-CN" sz="1600"/>
              <a:t>GPT</a:t>
            </a:r>
            <a:r>
              <a:rPr lang="zh-CN" altLang="en-US" sz="1600"/>
              <a:t>与传统</a:t>
            </a:r>
            <a:r>
              <a:rPr lang="en-US" altLang="zh-CN" sz="1600"/>
              <a:t>AI</a:t>
            </a:r>
            <a:r>
              <a:rPr lang="zh-CN" altLang="en-US" sz="1600"/>
              <a:t>的区别</a:t>
            </a:r>
            <a:endParaRPr lang="zh-CN" altLang="en-US" sz="1600" dirty="0"/>
          </a:p>
        </p:txBody>
      </p:sp>
    </p:spTree>
    <p:extLst>
      <p:ext uri="{BB962C8B-B14F-4D97-AF65-F5344CB8AC3E}">
        <p14:creationId xmlns:p14="http://schemas.microsoft.com/office/powerpoint/2010/main" val="29373680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技术架构：</a:t>
            </a:r>
            <a:r>
              <a:rPr lang="en-US" altLang="zh-CN" sz="1600"/>
              <a:t>GPT</a:t>
            </a:r>
            <a:r>
              <a:rPr lang="zh-CN" altLang="en-US" sz="1600"/>
              <a:t>技术演化路线</a:t>
            </a:r>
            <a:endParaRPr lang="zh-CN" altLang="en-US" sz="1600" dirty="0"/>
          </a:p>
        </p:txBody>
      </p:sp>
      <p:pic>
        <p:nvPicPr>
          <p:cNvPr id="3" name="Picture 2">
            <a:extLst>
              <a:ext uri="{FF2B5EF4-FFF2-40B4-BE49-F238E27FC236}">
                <a16:creationId xmlns:a16="http://schemas.microsoft.com/office/drawing/2014/main" id="{EFA3887B-4142-02A6-F543-F24E4662B38F}"/>
              </a:ext>
            </a:extLst>
          </p:cNvPr>
          <p:cNvPicPr>
            <a:picLocks noChangeAspect="1"/>
          </p:cNvPicPr>
          <p:nvPr/>
        </p:nvPicPr>
        <p:blipFill>
          <a:blip r:embed="rId3"/>
          <a:stretch>
            <a:fillRect/>
          </a:stretch>
        </p:blipFill>
        <p:spPr>
          <a:xfrm>
            <a:off x="0" y="915566"/>
            <a:ext cx="9144000" cy="3894756"/>
          </a:xfrm>
          <a:prstGeom prst="rect">
            <a:avLst/>
          </a:prstGeom>
        </p:spPr>
      </p:pic>
    </p:spTree>
    <p:extLst>
      <p:ext uri="{BB962C8B-B14F-4D97-AF65-F5344CB8AC3E}">
        <p14:creationId xmlns:p14="http://schemas.microsoft.com/office/powerpoint/2010/main" val="3995047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5616624" cy="363202"/>
          </a:xfrm>
        </p:spPr>
        <p:txBody>
          <a:bodyPr/>
          <a:lstStyle/>
          <a:p>
            <a:r>
              <a:rPr lang="zh-CN" altLang="en-US" sz="1800"/>
              <a:t>技术架构：</a:t>
            </a:r>
            <a:r>
              <a:rPr lang="en-US" altLang="zh-CN" sz="1600"/>
              <a:t>AI</a:t>
            </a:r>
            <a:r>
              <a:rPr lang="zh-CN" altLang="en-US" sz="1600"/>
              <a:t>大模型里程碑式的胜利</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0" y="812830"/>
            <a:ext cx="9144000" cy="4423327"/>
          </a:xfrm>
          <a:prstGeom prst="rect">
            <a:avLst/>
          </a:prstGeom>
          <a:noFill/>
          <a:ln w="3175">
            <a:solidFill>
              <a:schemeClr val="tx2">
                <a:lumMod val="60000"/>
                <a:lumOff val="40000"/>
              </a:schemeClr>
            </a:solidFill>
          </a:ln>
        </p:spPr>
        <p:txBody>
          <a:bodyPr wrap="square" rtlCol="0">
            <a:spAutoFit/>
          </a:bodyPr>
          <a:lstStyle/>
          <a:p>
            <a:pPr marL="342900" indent="-342900">
              <a:lnSpc>
                <a:spcPct val="150000"/>
              </a:lnSpc>
              <a:buFont typeface="Wingdings" panose="05000000000000000000" pitchFamily="2" charset="2"/>
              <a:buChar char="q"/>
            </a:pPr>
            <a:r>
              <a:rPr lang="zh-CN" altLang="en-US" sz="1900" b="1">
                <a:latin typeface="微软雅黑" panose="020B0503020204020204" pitchFamily="34" charset="-122"/>
                <a:ea typeface="微软雅黑" panose="020B0503020204020204" pitchFamily="34" charset="-122"/>
              </a:rPr>
              <a:t>单一大模型</a:t>
            </a:r>
            <a:r>
              <a:rPr lang="zh-CN" altLang="en-US" sz="1900">
                <a:latin typeface="微软雅黑" panose="020B0503020204020204" pitchFamily="34" charset="-122"/>
                <a:ea typeface="微软雅黑" panose="020B0503020204020204" pitchFamily="34" charset="-122"/>
              </a:rPr>
              <a:t>：</a:t>
            </a:r>
            <a:r>
              <a:rPr lang="zh-CN" altLang="en-US" sz="1900">
                <a:latin typeface="NSimSun" panose="02010609030101010101" pitchFamily="49" charset="-122"/>
                <a:ea typeface="NSimSun" panose="02010609030101010101" pitchFamily="49" charset="-122"/>
              </a:rPr>
              <a:t>又称为预训练模型、或基础模型，是“大算力</a:t>
            </a:r>
            <a:r>
              <a:rPr lang="en-US" altLang="zh-CN" sz="1900">
                <a:latin typeface="NSimSun" panose="02010609030101010101" pitchFamily="49" charset="-122"/>
                <a:ea typeface="NSimSun" panose="02010609030101010101" pitchFamily="49" charset="-122"/>
              </a:rPr>
              <a:t>+</a:t>
            </a:r>
            <a:r>
              <a:rPr lang="zh-CN" altLang="en-US" sz="1900">
                <a:latin typeface="NSimSun" panose="02010609030101010101" pitchFamily="49" charset="-122"/>
                <a:ea typeface="NSimSun" panose="02010609030101010101" pitchFamily="49" charset="-122"/>
              </a:rPr>
              <a:t>强算法”结合的产物。大模型通常是在大规模无标注数据上进行训练，学习出一种特征和规则。</a:t>
            </a:r>
            <a:endParaRPr lang="en-US" altLang="zh-CN" sz="1900">
              <a:latin typeface="NSimSun" panose="02010609030101010101" pitchFamily="49" charset="-122"/>
              <a:ea typeface="NSimSun" panose="02010609030101010101" pitchFamily="49" charset="-122"/>
            </a:endParaRPr>
          </a:p>
          <a:p>
            <a:pPr marL="342900" indent="-342900">
              <a:lnSpc>
                <a:spcPct val="150000"/>
              </a:lnSpc>
              <a:buFont typeface="Wingdings" panose="05000000000000000000" pitchFamily="2" charset="2"/>
              <a:buChar char="q"/>
            </a:pPr>
            <a:r>
              <a:rPr lang="zh-CN" altLang="en-US" sz="1900" b="1">
                <a:latin typeface="微软雅黑" panose="020B0503020204020204" pitchFamily="34" charset="-122"/>
                <a:ea typeface="微软雅黑" panose="020B0503020204020204" pitchFamily="34" charset="-122"/>
              </a:rPr>
              <a:t>迁移学习</a:t>
            </a:r>
            <a:r>
              <a:rPr lang="zh-CN" altLang="en-US" sz="1900">
                <a:latin typeface="微软雅黑" panose="020B0503020204020204" pitchFamily="34" charset="-122"/>
                <a:ea typeface="微软雅黑" panose="020B0503020204020204" pitchFamily="34" charset="-122"/>
              </a:rPr>
              <a:t>：</a:t>
            </a:r>
            <a:r>
              <a:rPr lang="zh-CN" altLang="en-US" sz="1900">
                <a:latin typeface="NSimSun" panose="02010609030101010101" pitchFamily="49" charset="-122"/>
                <a:ea typeface="NSimSun" panose="02010609030101010101" pitchFamily="49" charset="-122"/>
              </a:rPr>
              <a:t>是预训练技术的主要思想。当目标场景的数据不足时，首先在数据量庞大的公开数据集上训练基于</a:t>
            </a:r>
            <a:r>
              <a:rPr lang="zh-CN" altLang="en-US" sz="1900" b="1">
                <a:latin typeface="NSimSun" panose="02010609030101010101" pitchFamily="49" charset="-122"/>
                <a:ea typeface="NSimSun" panose="02010609030101010101" pitchFamily="49" charset="-122"/>
              </a:rPr>
              <a:t>深度神经网络</a:t>
            </a:r>
            <a:r>
              <a:rPr lang="zh-CN" altLang="en-US" sz="1900">
                <a:latin typeface="NSimSun" panose="02010609030101010101" pitchFamily="49" charset="-122"/>
                <a:ea typeface="NSimSun" panose="02010609030101010101" pitchFamily="49" charset="-122"/>
              </a:rPr>
              <a:t>的</a:t>
            </a:r>
            <a:r>
              <a:rPr lang="en-US" altLang="zh-CN" sz="1900">
                <a:latin typeface="NSimSun" panose="02010609030101010101" pitchFamily="49" charset="-122"/>
                <a:ea typeface="NSimSun" panose="02010609030101010101" pitchFamily="49" charset="-122"/>
              </a:rPr>
              <a:t>AI</a:t>
            </a:r>
            <a:r>
              <a:rPr lang="zh-CN" altLang="en-US" sz="1900">
                <a:latin typeface="NSimSun" panose="02010609030101010101" pitchFamily="49" charset="-122"/>
                <a:ea typeface="NSimSun" panose="02010609030101010101" pitchFamily="49" charset="-122"/>
              </a:rPr>
              <a:t>模型，然后将其迁移到目标场景钟，通过目标场景中的小数据集进行微调，使模型达到需要的性能。这种在公开数据集训练过的深层网络模型，就是“预训练模型”</a:t>
            </a:r>
            <a:r>
              <a:rPr lang="zh-CN" altLang="en-US" sz="1900">
                <a:latin typeface="微软雅黑" panose="020B0503020204020204" pitchFamily="34" charset="-122"/>
                <a:ea typeface="微软雅黑" panose="020B0503020204020204" pitchFamily="34" charset="-122"/>
              </a:rPr>
              <a:t>。</a:t>
            </a:r>
            <a:endParaRPr lang="en-US" altLang="zh-CN" sz="190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q"/>
            </a:pPr>
            <a:r>
              <a:rPr lang="zh-CN" altLang="en-US" sz="1900" b="1">
                <a:latin typeface="微软雅黑" panose="020B0503020204020204" pitchFamily="34" charset="-122"/>
                <a:ea typeface="微软雅黑" panose="020B0503020204020204" pitchFamily="34" charset="-122"/>
              </a:rPr>
              <a:t>开发应用</a:t>
            </a:r>
            <a:r>
              <a:rPr lang="zh-CN" altLang="en-US" sz="1900">
                <a:latin typeface="微软雅黑" panose="020B0503020204020204" pitchFamily="34" charset="-122"/>
                <a:ea typeface="微软雅黑" panose="020B0503020204020204" pitchFamily="34" charset="-122"/>
              </a:rPr>
              <a:t>：</a:t>
            </a:r>
            <a:r>
              <a:rPr lang="zh-CN" altLang="en-US" sz="1900">
                <a:latin typeface="NSimSun" panose="02010609030101010101" pitchFamily="49" charset="-122"/>
                <a:ea typeface="NSimSun" panose="02010609030101010101" pitchFamily="49" charset="-122"/>
              </a:rPr>
              <a:t>基于大模型应用开发时，将大模型进行微调，或者不进行微调，就可以完成多个应用场景的任务；且大模型具有自监督学习能力，不需要或很少需要通过人工标注的数据进行训练，降低训练成本，加速</a:t>
            </a:r>
            <a:r>
              <a:rPr lang="en-US" altLang="zh-CN" sz="1900">
                <a:latin typeface="NSimSun" panose="02010609030101010101" pitchFamily="49" charset="-122"/>
                <a:ea typeface="NSimSun" panose="02010609030101010101" pitchFamily="49" charset="-122"/>
              </a:rPr>
              <a:t>AI</a:t>
            </a:r>
            <a:r>
              <a:rPr lang="zh-CN" altLang="en-US" sz="1900">
                <a:latin typeface="NSimSun" panose="02010609030101010101" pitchFamily="49" charset="-122"/>
                <a:ea typeface="NSimSun" panose="02010609030101010101" pitchFamily="49" charset="-122"/>
              </a:rPr>
              <a:t>产业化，降低</a:t>
            </a:r>
            <a:r>
              <a:rPr lang="en-US" altLang="zh-CN" sz="1900">
                <a:latin typeface="NSimSun" panose="02010609030101010101" pitchFamily="49" charset="-122"/>
                <a:ea typeface="NSimSun" panose="02010609030101010101" pitchFamily="49" charset="-122"/>
              </a:rPr>
              <a:t>AI</a:t>
            </a:r>
            <a:r>
              <a:rPr lang="zh-CN" altLang="en-US" sz="1900">
                <a:latin typeface="NSimSun" panose="02010609030101010101" pitchFamily="49" charset="-122"/>
                <a:ea typeface="NSimSun" panose="02010609030101010101" pitchFamily="49" charset="-122"/>
              </a:rPr>
              <a:t>应用的门槛</a:t>
            </a:r>
            <a:r>
              <a:rPr lang="zh-CN" altLang="en-US" sz="1900">
                <a:latin typeface="微软雅黑" panose="020B0503020204020204" pitchFamily="34" charset="-122"/>
                <a:ea typeface="微软雅黑" panose="020B0503020204020204" pitchFamily="34" charset="-122"/>
              </a:rPr>
              <a:t>。</a:t>
            </a:r>
            <a:endParaRPr lang="en-US" altLang="zh-CN" sz="19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69754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5616624" cy="363202"/>
          </a:xfrm>
        </p:spPr>
        <p:txBody>
          <a:bodyPr/>
          <a:lstStyle/>
          <a:p>
            <a:r>
              <a:rPr lang="zh-CN" altLang="en-US" sz="1800"/>
              <a:t>技术架构：</a:t>
            </a:r>
            <a:r>
              <a:rPr lang="en-US" altLang="zh-CN" sz="1600"/>
              <a:t>GPT</a:t>
            </a:r>
            <a:r>
              <a:rPr lang="zh-CN" altLang="en-US" sz="1600"/>
              <a:t>模型特征之一</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0" y="812830"/>
            <a:ext cx="9144000" cy="476092"/>
          </a:xfrm>
          <a:prstGeom prst="rect">
            <a:avLst/>
          </a:prstGeom>
          <a:noFill/>
          <a:ln w="3175">
            <a:solidFill>
              <a:schemeClr val="tx2">
                <a:lumMod val="60000"/>
                <a:lumOff val="40000"/>
              </a:schemeClr>
            </a:solidFill>
          </a:ln>
        </p:spPr>
        <p:txBody>
          <a:bodyPr wrap="square" rtlCol="0">
            <a:spAutoFit/>
          </a:bodyPr>
          <a:lstStyle/>
          <a:p>
            <a:pPr marL="342900" indent="-342900">
              <a:lnSpc>
                <a:spcPct val="150000"/>
              </a:lnSpc>
              <a:buFont typeface="Wingdings" panose="05000000000000000000" pitchFamily="2" charset="2"/>
              <a:buChar char="q"/>
            </a:pPr>
            <a:r>
              <a:rPr lang="zh-CN" altLang="en-US" sz="1900" b="1">
                <a:latin typeface="微软雅黑" panose="020B0503020204020204" pitchFamily="34" charset="-122"/>
                <a:ea typeface="微软雅黑" panose="020B0503020204020204" pitchFamily="34" charset="-122"/>
              </a:rPr>
              <a:t>单一大模型</a:t>
            </a:r>
            <a:r>
              <a:rPr lang="zh-CN" altLang="en-US" sz="1900">
                <a:latin typeface="微软雅黑" panose="020B0503020204020204" pitchFamily="34" charset="-122"/>
                <a:ea typeface="微软雅黑" panose="020B0503020204020204" pitchFamily="34" charset="-122"/>
              </a:rPr>
              <a:t>：</a:t>
            </a:r>
            <a:r>
              <a:rPr lang="en-US" altLang="zh-CN" sz="1900">
                <a:latin typeface="NSimSun" panose="02010609030101010101" pitchFamily="49" charset="-122"/>
                <a:ea typeface="NSimSun" panose="02010609030101010101" pitchFamily="49" charset="-122"/>
              </a:rPr>
              <a:t>1)</a:t>
            </a:r>
            <a:r>
              <a:rPr lang="zh-CN" altLang="en-US" sz="1900">
                <a:latin typeface="NSimSun" panose="02010609030101010101" pitchFamily="49" charset="-122"/>
                <a:ea typeface="NSimSun" panose="02010609030101010101" pitchFamily="49" charset="-122"/>
              </a:rPr>
              <a:t>更多的模型参数量</a:t>
            </a:r>
            <a:r>
              <a:rPr lang="en-US" altLang="zh-CN" sz="1900">
                <a:latin typeface="NSimSun" panose="02010609030101010101" pitchFamily="49" charset="-122"/>
                <a:ea typeface="NSimSun" panose="02010609030101010101" pitchFamily="49" charset="-122"/>
              </a:rPr>
              <a:t>;2)</a:t>
            </a:r>
            <a:r>
              <a:rPr lang="zh-CN" altLang="en-US" sz="1900">
                <a:latin typeface="NSimSun" panose="02010609030101010101" pitchFamily="49" charset="-122"/>
                <a:ea typeface="NSimSun" panose="02010609030101010101" pitchFamily="49" charset="-122"/>
              </a:rPr>
              <a:t>更大的数据处理量</a:t>
            </a:r>
            <a:r>
              <a:rPr lang="en-US" altLang="zh-CN" sz="1900">
                <a:latin typeface="NSimSun" panose="02010609030101010101" pitchFamily="49" charset="-122"/>
                <a:ea typeface="NSimSun" panose="02010609030101010101" pitchFamily="49" charset="-122"/>
              </a:rPr>
              <a:t>;3)</a:t>
            </a:r>
            <a:r>
              <a:rPr lang="zh-CN" altLang="en-US" sz="1900">
                <a:latin typeface="NSimSun" panose="02010609030101010101" pitchFamily="49" charset="-122"/>
                <a:ea typeface="NSimSun" panose="02010609030101010101" pitchFamily="49" charset="-122"/>
              </a:rPr>
              <a:t>更大的训练计算量。</a:t>
            </a:r>
            <a:endParaRPr lang="en-US" altLang="zh-CN" sz="1900">
              <a:latin typeface="NSimSun" panose="02010609030101010101" pitchFamily="49" charset="-122"/>
              <a:ea typeface="NSimSun" panose="02010609030101010101" pitchFamily="49" charset="-122"/>
            </a:endParaRPr>
          </a:p>
        </p:txBody>
      </p:sp>
      <p:pic>
        <p:nvPicPr>
          <p:cNvPr id="5" name="Picture 4">
            <a:extLst>
              <a:ext uri="{FF2B5EF4-FFF2-40B4-BE49-F238E27FC236}">
                <a16:creationId xmlns:a16="http://schemas.microsoft.com/office/drawing/2014/main" id="{297ECA07-1EF9-296E-8559-8DF96BFBB304}"/>
              </a:ext>
            </a:extLst>
          </p:cNvPr>
          <p:cNvPicPr>
            <a:picLocks noChangeAspect="1"/>
          </p:cNvPicPr>
          <p:nvPr/>
        </p:nvPicPr>
        <p:blipFill>
          <a:blip r:embed="rId3"/>
          <a:stretch>
            <a:fillRect/>
          </a:stretch>
        </p:blipFill>
        <p:spPr>
          <a:xfrm>
            <a:off x="539552" y="1288922"/>
            <a:ext cx="8352928" cy="3854578"/>
          </a:xfrm>
          <a:prstGeom prst="rect">
            <a:avLst/>
          </a:prstGeom>
        </p:spPr>
      </p:pic>
    </p:spTree>
    <p:extLst>
      <p:ext uri="{BB962C8B-B14F-4D97-AF65-F5344CB8AC3E}">
        <p14:creationId xmlns:p14="http://schemas.microsoft.com/office/powerpoint/2010/main" val="1023502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5616624" cy="363202"/>
          </a:xfrm>
        </p:spPr>
        <p:txBody>
          <a:bodyPr/>
          <a:lstStyle/>
          <a:p>
            <a:r>
              <a:rPr lang="zh-CN" altLang="en-US" sz="1800"/>
              <a:t>技术架构：</a:t>
            </a:r>
            <a:r>
              <a:rPr lang="en-US" altLang="zh-CN" sz="1600"/>
              <a:t>GPT</a:t>
            </a:r>
            <a:r>
              <a:rPr lang="zh-CN" altLang="en-US" sz="1600"/>
              <a:t>模型特征之二</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0" y="812830"/>
            <a:ext cx="9144000" cy="3813032"/>
          </a:xfrm>
          <a:prstGeom prst="rect">
            <a:avLst/>
          </a:prstGeom>
          <a:noFill/>
          <a:ln w="3175">
            <a:solidFill>
              <a:schemeClr val="tx2">
                <a:lumMod val="60000"/>
                <a:lumOff val="40000"/>
              </a:schemeClr>
            </a:solidFill>
          </a:ln>
        </p:spPr>
        <p:txBody>
          <a:bodyPr wrap="square" rtlCol="0">
            <a:spAutoFit/>
          </a:bodyPr>
          <a:lstStyle/>
          <a:p>
            <a:pPr marL="342900" indent="-342900">
              <a:lnSpc>
                <a:spcPct val="150000"/>
              </a:lnSpc>
              <a:buFont typeface="Wingdings" panose="05000000000000000000" pitchFamily="2" charset="2"/>
              <a:buChar char="q"/>
            </a:pPr>
            <a:r>
              <a:rPr lang="zh-CN" altLang="en-US" sz="1900" b="1">
                <a:latin typeface="微软雅黑" panose="020B0503020204020204" pitchFamily="34" charset="-122"/>
                <a:ea typeface="微软雅黑" panose="020B0503020204020204" pitchFamily="34" charset="-122"/>
              </a:rPr>
              <a:t>预训练语言模型</a:t>
            </a:r>
            <a:r>
              <a:rPr lang="zh-CN" altLang="en-US" sz="1900">
                <a:latin typeface="微软雅黑" panose="020B0503020204020204" pitchFamily="34" charset="-122"/>
                <a:ea typeface="微软雅黑" panose="020B0503020204020204" pitchFamily="34" charset="-122"/>
              </a:rPr>
              <a:t>：</a:t>
            </a:r>
            <a:r>
              <a:rPr lang="zh-CN" altLang="en-US" sz="1900">
                <a:latin typeface="NSimSun" panose="02010609030101010101" pitchFamily="49" charset="-122"/>
                <a:ea typeface="NSimSun" panose="02010609030101010101" pitchFamily="49" charset="-122"/>
              </a:rPr>
              <a:t>关注预训练语言模型和</a:t>
            </a:r>
            <a:r>
              <a:rPr lang="en-US" altLang="zh-CN" sz="1900">
                <a:latin typeface="NSimSun" panose="02010609030101010101" pitchFamily="49" charset="-122"/>
                <a:ea typeface="NSimSun" panose="02010609030101010101" pitchFamily="49" charset="-122"/>
              </a:rPr>
              <a:t>Transformer</a:t>
            </a:r>
            <a:r>
              <a:rPr lang="zh-CN" altLang="en-US" sz="1900">
                <a:latin typeface="NSimSun" panose="02010609030101010101" pitchFamily="49" charset="-122"/>
                <a:ea typeface="NSimSun" panose="02010609030101010101" pitchFamily="49" charset="-122"/>
              </a:rPr>
              <a:t>特征抽取器。</a:t>
            </a:r>
            <a:r>
              <a:rPr lang="en-US" altLang="zh-CN" sz="1900">
                <a:latin typeface="NSimSun" panose="02010609030101010101" pitchFamily="49" charset="-122"/>
                <a:ea typeface="NSimSun" panose="02010609030101010101" pitchFamily="49" charset="-122"/>
              </a:rPr>
              <a:t>GPT</a:t>
            </a:r>
            <a:r>
              <a:rPr lang="zh-CN" altLang="en-US" sz="1900">
                <a:latin typeface="NSimSun" panose="02010609030101010101" pitchFamily="49" charset="-122"/>
                <a:ea typeface="NSimSun" panose="02010609030101010101" pitchFamily="49" charset="-122"/>
              </a:rPr>
              <a:t>简单来讲就是一种利用</a:t>
            </a:r>
            <a:r>
              <a:rPr lang="en-US" altLang="zh-CN" sz="1900">
                <a:latin typeface="NSimSun" panose="02010609030101010101" pitchFamily="49" charset="-122"/>
                <a:ea typeface="NSimSun" panose="02010609030101010101" pitchFamily="49" charset="-122"/>
              </a:rPr>
              <a:t>Transformer</a:t>
            </a:r>
            <a:r>
              <a:rPr lang="zh-CN" altLang="en-US" sz="1900">
                <a:latin typeface="NSimSun" panose="02010609030101010101" pitchFamily="49" charset="-122"/>
                <a:ea typeface="NSimSun" panose="02010609030101010101" pitchFamily="49" charset="-122"/>
              </a:rPr>
              <a:t>作为特征抽取器，基于语言模型进行预训练的模型。</a:t>
            </a:r>
            <a:endParaRPr lang="en-US" altLang="zh-CN" sz="1900">
              <a:latin typeface="NSimSun" panose="02010609030101010101" pitchFamily="49" charset="-122"/>
              <a:ea typeface="NSimSun" panose="02010609030101010101" pitchFamily="49" charset="-122"/>
            </a:endParaRPr>
          </a:p>
          <a:p>
            <a:pPr marL="800100" lvl="1" indent="-342900">
              <a:lnSpc>
                <a:spcPct val="150000"/>
              </a:lnSpc>
              <a:buFont typeface="Wingdings" panose="05000000000000000000" pitchFamily="2" charset="2"/>
              <a:buChar char="Ø"/>
            </a:pPr>
            <a:r>
              <a:rPr lang="zh-CN" altLang="en-US">
                <a:latin typeface="MS UI Gothic" panose="020B0600070205080204" pitchFamily="34" charset="-128"/>
                <a:ea typeface="MS UI Gothic" panose="020B0600070205080204" pitchFamily="34" charset="-128"/>
              </a:rPr>
              <a:t>预训练语言模型无需人工标签，为</a:t>
            </a:r>
            <a:r>
              <a:rPr lang="en-US" altLang="zh-CN">
                <a:latin typeface="MS UI Gothic" panose="020B0600070205080204" pitchFamily="34" charset="-128"/>
                <a:ea typeface="MS UI Gothic" panose="020B0600070205080204" pitchFamily="34" charset="-128"/>
              </a:rPr>
              <a:t>NLP</a:t>
            </a:r>
            <a:r>
              <a:rPr lang="zh-CN" altLang="en-US">
                <a:latin typeface="MS UI Gothic" panose="020B0600070205080204" pitchFamily="34" charset="-128"/>
                <a:ea typeface="MS UI Gothic" panose="020B0600070205080204" pitchFamily="34" charset="-128"/>
              </a:rPr>
              <a:t>研究带来质变。先利用无标注的数据，使得模型能够学到一些潜在的跟标注无关的知识，在最终任务上预训练模型就可以利用大量的无标注数据知识，标志</a:t>
            </a:r>
            <a:r>
              <a:rPr lang="en-US" altLang="zh-CN">
                <a:latin typeface="MS UI Gothic" panose="020B0600070205080204" pitchFamily="34" charset="-128"/>
                <a:ea typeface="MS UI Gothic" panose="020B0600070205080204" pitchFamily="34" charset="-128"/>
              </a:rPr>
              <a:t>NLP</a:t>
            </a:r>
            <a:r>
              <a:rPr lang="zh-CN" altLang="en-US">
                <a:latin typeface="MS UI Gothic" panose="020B0600070205080204" pitchFamily="34" charset="-128"/>
                <a:ea typeface="MS UI Gothic" panose="020B0600070205080204" pitchFamily="34" charset="-128"/>
              </a:rPr>
              <a:t>进入大规模复制阶段。</a:t>
            </a:r>
            <a:endParaRPr lang="en-US" altLang="zh-CN">
              <a:latin typeface="MS UI Gothic" panose="020B0600070205080204" pitchFamily="34" charset="-128"/>
              <a:ea typeface="MS UI Gothic" panose="020B0600070205080204" pitchFamily="34" charset="-128"/>
            </a:endParaRPr>
          </a:p>
          <a:p>
            <a:pPr marL="800100" lvl="1" indent="-342900">
              <a:lnSpc>
                <a:spcPct val="150000"/>
              </a:lnSpc>
              <a:buFont typeface="Wingdings" panose="05000000000000000000" pitchFamily="2" charset="2"/>
              <a:buChar char="Ø"/>
            </a:pPr>
            <a:r>
              <a:rPr lang="zh-CN" altLang="en-US">
                <a:latin typeface="MS UI Gothic" panose="020B0600070205080204" pitchFamily="34" charset="-128"/>
                <a:ea typeface="MS UI Gothic" panose="020B0600070205080204" pitchFamily="34" charset="-128"/>
              </a:rPr>
              <a:t>预训练语言模型与神经网络语言模型的区别在于初始参数的选取。相较于神经网络语言模型，可利用海量的无标注数据，对数据处理程度要求低；且具备上下文交互的能力。</a:t>
            </a:r>
            <a:endParaRPr lang="en-US" altLang="zh-CN">
              <a:latin typeface="MS UI Gothic" panose="020B0600070205080204" pitchFamily="34" charset="-128"/>
              <a:ea typeface="MS UI Gothic" panose="020B0600070205080204" pitchFamily="34" charset="-128"/>
            </a:endParaRPr>
          </a:p>
          <a:p>
            <a:pPr marL="800100" lvl="1" indent="-342900">
              <a:lnSpc>
                <a:spcPct val="150000"/>
              </a:lnSpc>
              <a:buFont typeface="Wingdings" panose="05000000000000000000" pitchFamily="2" charset="2"/>
              <a:buChar char="Ø"/>
            </a:pPr>
            <a:endParaRPr lang="en-US" altLang="zh-CN">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1595707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5616624" cy="363202"/>
          </a:xfrm>
        </p:spPr>
        <p:txBody>
          <a:bodyPr/>
          <a:lstStyle/>
          <a:p>
            <a:r>
              <a:rPr lang="zh-CN" altLang="en-US" sz="1800"/>
              <a:t>技术架构：</a:t>
            </a:r>
            <a:r>
              <a:rPr lang="en-US" altLang="zh-CN" sz="1600"/>
              <a:t>GPT</a:t>
            </a:r>
            <a:r>
              <a:rPr lang="zh-CN" altLang="en-US" sz="1600"/>
              <a:t>模型特征之三</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0" y="812830"/>
            <a:ext cx="5076056" cy="1211870"/>
          </a:xfrm>
          <a:prstGeom prst="rect">
            <a:avLst/>
          </a:prstGeom>
          <a:noFill/>
          <a:ln w="3175">
            <a:solidFill>
              <a:schemeClr val="tx2">
                <a:lumMod val="60000"/>
                <a:lumOff val="40000"/>
              </a:schemeClr>
            </a:solidFill>
          </a:ln>
        </p:spPr>
        <p:txBody>
          <a:bodyPr wrap="square" rtlCol="0">
            <a:spAutoFit/>
          </a:bodyPr>
          <a:lstStyle/>
          <a:p>
            <a:pPr marL="288000" indent="-342900">
              <a:lnSpc>
                <a:spcPct val="150000"/>
              </a:lnSpc>
              <a:buFont typeface="Wingdings" panose="05000000000000000000" pitchFamily="2" charset="2"/>
              <a:buChar char="q"/>
            </a:pPr>
            <a:r>
              <a:rPr lang="en-US" altLang="zh-CN" sz="1900" b="1">
                <a:latin typeface="微软雅黑" panose="020B0503020204020204" pitchFamily="34" charset="-122"/>
                <a:ea typeface="微软雅黑" panose="020B0503020204020204" pitchFamily="34" charset="-122"/>
              </a:rPr>
              <a:t>Transformer</a:t>
            </a:r>
            <a:r>
              <a:rPr lang="zh-CN" altLang="en-US" sz="1900">
                <a:latin typeface="微软雅黑" panose="020B0503020204020204" pitchFamily="34" charset="-122"/>
                <a:ea typeface="微软雅黑" panose="020B0503020204020204" pitchFamily="34" charset="-122"/>
              </a:rPr>
              <a:t>：</a:t>
            </a:r>
            <a:endParaRPr lang="en-US" altLang="zh-CN" sz="1900">
              <a:latin typeface="微软雅黑" panose="020B0503020204020204" pitchFamily="34" charset="-122"/>
              <a:ea typeface="微软雅黑" panose="020B0503020204020204" pitchFamily="34" charset="-122"/>
            </a:endParaRPr>
          </a:p>
          <a:p>
            <a:pPr>
              <a:lnSpc>
                <a:spcPct val="150000"/>
              </a:lnSpc>
            </a:pPr>
            <a:r>
              <a:rPr lang="en-US" altLang="zh-CN" sz="1600">
                <a:latin typeface="NSimSun" panose="02010609030101010101" pitchFamily="49" charset="-122"/>
                <a:ea typeface="NSimSun" panose="02010609030101010101" pitchFamily="49" charset="-122"/>
              </a:rPr>
              <a:t>1)</a:t>
            </a:r>
            <a:r>
              <a:rPr lang="zh-CN" altLang="en-US" sz="1600">
                <a:latin typeface="NSimSun" panose="02010609030101010101" pitchFamily="49" charset="-122"/>
                <a:ea typeface="NSimSun" panose="02010609030101010101" pitchFamily="49" charset="-122"/>
              </a:rPr>
              <a:t>大模型高效运行的根基</a:t>
            </a:r>
            <a:r>
              <a:rPr lang="en-US" altLang="zh-CN" sz="1600">
                <a:latin typeface="NSimSun" panose="02010609030101010101" pitchFamily="49" charset="-122"/>
                <a:ea typeface="NSimSun" panose="02010609030101010101" pitchFamily="49" charset="-122"/>
              </a:rPr>
              <a:t>;2)</a:t>
            </a:r>
            <a:r>
              <a:rPr lang="zh-CN" altLang="en-US" sz="1600">
                <a:latin typeface="NSimSun" panose="02010609030101010101" pitchFamily="49" charset="-122"/>
                <a:ea typeface="NSimSun" panose="02010609030101010101" pitchFamily="49" charset="-122"/>
              </a:rPr>
              <a:t>并行计算能力更强</a:t>
            </a:r>
            <a:r>
              <a:rPr lang="en-US" altLang="zh-CN" sz="1600">
                <a:latin typeface="NSimSun" panose="02010609030101010101" pitchFamily="49" charset="-122"/>
                <a:ea typeface="NSimSun" panose="02010609030101010101" pitchFamily="49" charset="-122"/>
              </a:rPr>
              <a:t>;</a:t>
            </a:r>
          </a:p>
          <a:p>
            <a:pPr>
              <a:lnSpc>
                <a:spcPct val="150000"/>
              </a:lnSpc>
            </a:pPr>
            <a:r>
              <a:rPr lang="en-US" altLang="zh-CN" sz="1600">
                <a:latin typeface="NSimSun" panose="02010609030101010101" pitchFamily="49" charset="-122"/>
                <a:ea typeface="NSimSun" panose="02010609030101010101" pitchFamily="49" charset="-122"/>
              </a:rPr>
              <a:t>3)GPT</a:t>
            </a:r>
            <a:r>
              <a:rPr lang="zh-CN" altLang="en-US" sz="1600">
                <a:latin typeface="NSimSun" panose="02010609030101010101" pitchFamily="49" charset="-122"/>
                <a:ea typeface="NSimSun" panose="02010609030101010101" pitchFamily="49" charset="-122"/>
              </a:rPr>
              <a:t>模型的核心</a:t>
            </a:r>
            <a:r>
              <a:rPr lang="en-US" altLang="zh-CN" sz="1600">
                <a:latin typeface="NSimSun" panose="02010609030101010101" pitchFamily="49" charset="-122"/>
                <a:ea typeface="NSimSun" panose="02010609030101010101" pitchFamily="49" charset="-122"/>
              </a:rPr>
              <a:t>;4)</a:t>
            </a:r>
            <a:r>
              <a:rPr lang="zh-CN" altLang="en-US" sz="1600">
                <a:latin typeface="NSimSun" panose="02010609030101010101" pitchFamily="49" charset="-122"/>
                <a:ea typeface="NSimSun" panose="02010609030101010101" pitchFamily="49" charset="-122"/>
              </a:rPr>
              <a:t>技术上是调度架构和运算逻辑。</a:t>
            </a:r>
            <a:endParaRPr lang="en-US" altLang="zh-CN" sz="1600">
              <a:latin typeface="NSimSun" panose="02010609030101010101" pitchFamily="49" charset="-122"/>
              <a:ea typeface="NSimSun" panose="02010609030101010101" pitchFamily="49" charset="-122"/>
            </a:endParaRPr>
          </a:p>
        </p:txBody>
      </p:sp>
      <p:pic>
        <p:nvPicPr>
          <p:cNvPr id="7" name="Picture 6">
            <a:extLst>
              <a:ext uri="{FF2B5EF4-FFF2-40B4-BE49-F238E27FC236}">
                <a16:creationId xmlns:a16="http://schemas.microsoft.com/office/drawing/2014/main" id="{89FE2CF3-A61F-6D2A-8D1B-387089C99D67}"/>
              </a:ext>
            </a:extLst>
          </p:cNvPr>
          <p:cNvPicPr>
            <a:picLocks noChangeAspect="1"/>
          </p:cNvPicPr>
          <p:nvPr/>
        </p:nvPicPr>
        <p:blipFill>
          <a:blip r:embed="rId3"/>
          <a:stretch>
            <a:fillRect/>
          </a:stretch>
        </p:blipFill>
        <p:spPr>
          <a:xfrm>
            <a:off x="5652120" y="696380"/>
            <a:ext cx="2880320" cy="4233206"/>
          </a:xfrm>
          <a:prstGeom prst="rect">
            <a:avLst/>
          </a:prstGeom>
        </p:spPr>
      </p:pic>
      <p:pic>
        <p:nvPicPr>
          <p:cNvPr id="8" name="Picture 7">
            <a:extLst>
              <a:ext uri="{FF2B5EF4-FFF2-40B4-BE49-F238E27FC236}">
                <a16:creationId xmlns:a16="http://schemas.microsoft.com/office/drawing/2014/main" id="{B1D4B943-95AC-79D3-B16D-56F6A1F82F66}"/>
              </a:ext>
            </a:extLst>
          </p:cNvPr>
          <p:cNvPicPr>
            <a:picLocks noChangeAspect="1"/>
          </p:cNvPicPr>
          <p:nvPr/>
        </p:nvPicPr>
        <p:blipFill>
          <a:blip r:embed="rId4"/>
          <a:stretch>
            <a:fillRect/>
          </a:stretch>
        </p:blipFill>
        <p:spPr>
          <a:xfrm>
            <a:off x="107504" y="2586169"/>
            <a:ext cx="4968552" cy="2511232"/>
          </a:xfrm>
          <a:prstGeom prst="rect">
            <a:avLst/>
          </a:prstGeom>
        </p:spPr>
      </p:pic>
    </p:spTree>
    <p:extLst>
      <p:ext uri="{BB962C8B-B14F-4D97-AF65-F5344CB8AC3E}">
        <p14:creationId xmlns:p14="http://schemas.microsoft.com/office/powerpoint/2010/main" val="442960202"/>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5616624" cy="363202"/>
          </a:xfrm>
        </p:spPr>
        <p:txBody>
          <a:bodyPr/>
          <a:lstStyle/>
          <a:p>
            <a:r>
              <a:rPr lang="zh-CN" altLang="en-US" sz="1800"/>
              <a:t>技术架构：</a:t>
            </a:r>
            <a:r>
              <a:rPr lang="en-US" altLang="zh-CN" sz="1600"/>
              <a:t>Transformer</a:t>
            </a:r>
            <a:r>
              <a:rPr lang="zh-CN" altLang="en-US" sz="1600"/>
              <a:t>标志着基础模型时代开始</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0" y="733895"/>
            <a:ext cx="9144000" cy="4409605"/>
          </a:xfrm>
          <a:prstGeom prst="rect">
            <a:avLst/>
          </a:prstGeom>
          <a:noFill/>
          <a:ln w="3175">
            <a:solidFill>
              <a:schemeClr val="tx2">
                <a:lumMod val="60000"/>
                <a:lumOff val="40000"/>
              </a:schemeClr>
            </a:solidFill>
          </a:ln>
        </p:spPr>
        <p:txBody>
          <a:bodyPr wrap="square" rtlCol="0">
            <a:spAutoFit/>
          </a:bodyPr>
          <a:lstStyle/>
          <a:p>
            <a:pPr marL="342900" indent="-342900">
              <a:lnSpc>
                <a:spcPct val="150000"/>
              </a:lnSpc>
              <a:buFont typeface="Wingdings" panose="05000000000000000000" pitchFamily="2" charset="2"/>
              <a:buChar char="q"/>
            </a:pPr>
            <a:r>
              <a:rPr lang="zh-CN" altLang="en-US" sz="1900" b="1">
                <a:latin typeface="微软雅黑" panose="020B0503020204020204" pitchFamily="34" charset="-122"/>
                <a:ea typeface="微软雅黑" panose="020B0503020204020204" pitchFamily="34" charset="-122"/>
              </a:rPr>
              <a:t>迁移学习使基础模型成为可能</a:t>
            </a:r>
            <a:endParaRPr lang="en-US" altLang="zh-CN" sz="1900" b="1">
              <a:latin typeface="微软雅黑" panose="020B0503020204020204" pitchFamily="34" charset="-122"/>
              <a:ea typeface="微软雅黑" panose="020B0503020204020204" pitchFamily="34" charset="-122"/>
            </a:endParaRPr>
          </a:p>
          <a:p>
            <a:pPr marL="756000" indent="-342900">
              <a:lnSpc>
                <a:spcPct val="150000"/>
              </a:lnSpc>
              <a:buFont typeface="Wingdings" panose="05000000000000000000" pitchFamily="2" charset="2"/>
              <a:buChar char="Ø"/>
            </a:pPr>
            <a:r>
              <a:rPr lang="zh-CN" altLang="en-US">
                <a:latin typeface="MS Gothic" panose="020B0609070205080204" pitchFamily="49" charset="-128"/>
                <a:ea typeface="MS Gothic" panose="020B0609070205080204" pitchFamily="49" charset="-128"/>
              </a:rPr>
              <a:t>技术层面上，基础模型通过迁移学习和规模得以实现。迁移学习是从一项任务中学习到的知识应用于另一项任务。</a:t>
            </a:r>
            <a:endParaRPr lang="en-US" altLang="zh-CN">
              <a:latin typeface="MS Gothic" panose="020B0609070205080204" pitchFamily="49" charset="-128"/>
              <a:ea typeface="MS Gothic" panose="020B0609070205080204" pitchFamily="49" charset="-128"/>
            </a:endParaRPr>
          </a:p>
          <a:p>
            <a:pPr marL="756000" indent="-342900">
              <a:lnSpc>
                <a:spcPct val="150000"/>
              </a:lnSpc>
              <a:buFont typeface="Wingdings" panose="05000000000000000000" pitchFamily="2" charset="2"/>
              <a:buChar char="Ø"/>
            </a:pPr>
            <a:r>
              <a:rPr lang="zh-CN" altLang="en-US">
                <a:latin typeface="MS Gothic" panose="020B0609070205080204" pitchFamily="49" charset="-128"/>
                <a:ea typeface="MS Gothic" panose="020B0609070205080204" pitchFamily="49" charset="-128"/>
              </a:rPr>
              <a:t>深度学习是迁移学习的主要方法，在替代任务上训练模型，通过微调来适应感兴趣的下游任务。</a:t>
            </a:r>
            <a:endParaRPr lang="en-US" altLang="zh-CN">
              <a:latin typeface="MS Gothic" panose="020B0609070205080204" pitchFamily="49" charset="-128"/>
              <a:ea typeface="MS Gothic" panose="020B0609070205080204" pitchFamily="49" charset="-128"/>
            </a:endParaRPr>
          </a:p>
          <a:p>
            <a:pPr marL="342900" indent="-342900">
              <a:lnSpc>
                <a:spcPct val="150000"/>
              </a:lnSpc>
              <a:buFont typeface="Wingdings" panose="05000000000000000000" pitchFamily="2" charset="2"/>
              <a:buChar char="q"/>
            </a:pPr>
            <a:r>
              <a:rPr lang="zh-CN" altLang="en-US" sz="1900" b="1">
                <a:latin typeface="微软雅黑" panose="020B0503020204020204" pitchFamily="34" charset="-122"/>
                <a:ea typeface="微软雅黑" panose="020B0503020204020204" pitchFamily="34" charset="-122"/>
              </a:rPr>
              <a:t>规模化使基础模型更强大</a:t>
            </a:r>
            <a:endParaRPr lang="en-US" altLang="zh-CN" sz="1900">
              <a:latin typeface="微软雅黑" panose="020B0503020204020204" pitchFamily="34" charset="-122"/>
              <a:ea typeface="微软雅黑" panose="020B0503020204020204" pitchFamily="34" charset="-122"/>
            </a:endParaRPr>
          </a:p>
          <a:p>
            <a:pPr marL="756000" indent="-342900">
              <a:lnSpc>
                <a:spcPct val="150000"/>
              </a:lnSpc>
              <a:buFont typeface="Wingdings" panose="05000000000000000000" pitchFamily="2" charset="2"/>
              <a:buChar char="Ø"/>
            </a:pPr>
            <a:r>
              <a:rPr lang="zh-CN" altLang="en-US">
                <a:latin typeface="MS Gothic" panose="020B0609070205080204" pitchFamily="49" charset="-128"/>
                <a:ea typeface="MS Gothic" panose="020B0609070205080204" pitchFamily="49" charset="-128"/>
              </a:rPr>
              <a:t>规模化三要素：计算机硬件</a:t>
            </a:r>
            <a:r>
              <a:rPr lang="en-US" altLang="zh-CN">
                <a:latin typeface="MS Gothic" panose="020B0609070205080204" pitchFamily="49" charset="-128"/>
                <a:ea typeface="MS Gothic" panose="020B0609070205080204" pitchFamily="49" charset="-128"/>
              </a:rPr>
              <a:t>(</a:t>
            </a:r>
            <a:r>
              <a:rPr lang="zh-CN" altLang="en-US">
                <a:latin typeface="MS Gothic" panose="020B0609070205080204" pitchFamily="49" charset="-128"/>
                <a:ea typeface="MS Gothic" panose="020B0609070205080204" pitchFamily="49" charset="-128"/>
              </a:rPr>
              <a:t>算力</a:t>
            </a:r>
            <a:r>
              <a:rPr lang="en-US" altLang="zh-CN">
                <a:latin typeface="MS Gothic" panose="020B0609070205080204" pitchFamily="49" charset="-128"/>
                <a:ea typeface="MS Gothic" panose="020B0609070205080204" pitchFamily="49" charset="-128"/>
              </a:rPr>
              <a:t>)</a:t>
            </a:r>
            <a:r>
              <a:rPr lang="zh-CN" altLang="en-US">
                <a:latin typeface="MS Gothic" panose="020B0609070205080204" pitchFamily="49" charset="-128"/>
                <a:ea typeface="MS Gothic" panose="020B0609070205080204" pitchFamily="49" charset="-128"/>
              </a:rPr>
              <a:t>、</a:t>
            </a:r>
            <a:r>
              <a:rPr lang="en-US" altLang="zh-CN">
                <a:latin typeface="MS Gothic" panose="020B0609070205080204" pitchFamily="49" charset="-128"/>
                <a:ea typeface="MS Gothic" panose="020B0609070205080204" pitchFamily="49" charset="-128"/>
              </a:rPr>
              <a:t>Transformer</a:t>
            </a:r>
            <a:r>
              <a:rPr lang="zh-CN" altLang="en-US">
                <a:latin typeface="MS Gothic" panose="020B0609070205080204" pitchFamily="49" charset="-128"/>
                <a:ea typeface="MS Gothic" panose="020B0609070205080204" pitchFamily="49" charset="-128"/>
              </a:rPr>
              <a:t>模型架构开发</a:t>
            </a:r>
            <a:r>
              <a:rPr lang="en-US" altLang="zh-CN">
                <a:latin typeface="MS Gothic" panose="020B0609070205080204" pitchFamily="49" charset="-128"/>
                <a:ea typeface="MS Gothic" panose="020B0609070205080204" pitchFamily="49" charset="-128"/>
              </a:rPr>
              <a:t>(</a:t>
            </a:r>
            <a:r>
              <a:rPr lang="zh-CN" altLang="en-US">
                <a:latin typeface="MS Gothic" panose="020B0609070205080204" pitchFamily="49" charset="-128"/>
                <a:ea typeface="MS Gothic" panose="020B0609070205080204" pitchFamily="49" charset="-128"/>
              </a:rPr>
              <a:t>算法</a:t>
            </a:r>
            <a:r>
              <a:rPr lang="en-US" altLang="zh-CN">
                <a:latin typeface="MS Gothic" panose="020B0609070205080204" pitchFamily="49" charset="-128"/>
                <a:ea typeface="MS Gothic" panose="020B0609070205080204" pitchFamily="49" charset="-128"/>
              </a:rPr>
              <a:t>)</a:t>
            </a:r>
            <a:r>
              <a:rPr lang="zh-CN" altLang="en-US">
                <a:latin typeface="MS Gothic" panose="020B0609070205080204" pitchFamily="49" charset="-128"/>
                <a:ea typeface="MS Gothic" panose="020B0609070205080204" pitchFamily="49" charset="-128"/>
              </a:rPr>
              <a:t>、更多训练数据</a:t>
            </a:r>
            <a:r>
              <a:rPr lang="en-US" altLang="zh-CN">
                <a:latin typeface="MS Gothic" panose="020B0609070205080204" pitchFamily="49" charset="-128"/>
                <a:ea typeface="MS Gothic" panose="020B0609070205080204" pitchFamily="49" charset="-128"/>
              </a:rPr>
              <a:t>(</a:t>
            </a:r>
            <a:r>
              <a:rPr lang="zh-CN" altLang="en-US">
                <a:latin typeface="MS Gothic" panose="020B0609070205080204" pitchFamily="49" charset="-128"/>
                <a:ea typeface="MS Gothic" panose="020B0609070205080204" pitchFamily="49" charset="-128"/>
              </a:rPr>
              <a:t>数据</a:t>
            </a:r>
            <a:r>
              <a:rPr lang="en-US" altLang="zh-CN">
                <a:latin typeface="MS Gothic" panose="020B0609070205080204" pitchFamily="49" charset="-128"/>
                <a:ea typeface="MS Gothic" panose="020B0609070205080204" pitchFamily="49" charset="-128"/>
              </a:rPr>
              <a:t>)</a:t>
            </a:r>
          </a:p>
          <a:p>
            <a:pPr marL="756000" indent="-342900">
              <a:lnSpc>
                <a:spcPct val="150000"/>
              </a:lnSpc>
              <a:buFont typeface="Wingdings" panose="05000000000000000000" pitchFamily="2" charset="2"/>
              <a:buChar char="Ø"/>
            </a:pPr>
            <a:r>
              <a:rPr lang="zh-CN" altLang="en-US">
                <a:latin typeface="MS Gothic" panose="020B0609070205080204" pitchFamily="49" charset="-128"/>
                <a:ea typeface="MS Gothic" panose="020B0609070205080204" pitchFamily="49" charset="-128"/>
              </a:rPr>
              <a:t>基于</a:t>
            </a:r>
            <a:r>
              <a:rPr lang="en-US" altLang="zh-CN">
                <a:latin typeface="MS Gothic" panose="020B0609070205080204" pitchFamily="49" charset="-128"/>
                <a:ea typeface="MS Gothic" panose="020B0609070205080204" pitchFamily="49" charset="-128"/>
              </a:rPr>
              <a:t>Transformer</a:t>
            </a:r>
            <a:r>
              <a:rPr lang="zh-CN" altLang="en-US">
                <a:latin typeface="MS Gothic" panose="020B0609070205080204" pitchFamily="49" charset="-128"/>
                <a:ea typeface="MS Gothic" panose="020B0609070205080204" pitchFamily="49" charset="-128"/>
              </a:rPr>
              <a:t>的建模方法应用于文本、图像、语音、表格数据等逐步形成使用一套统一的工具来开发各种模态的基础模型理念得以成熟。</a:t>
            </a:r>
            <a:endParaRPr lang="en-US" altLang="zh-CN">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40446972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6120680" cy="363202"/>
          </a:xfrm>
        </p:spPr>
        <p:txBody>
          <a:bodyPr/>
          <a:lstStyle/>
          <a:p>
            <a:r>
              <a:rPr lang="zh-CN" altLang="en-US" sz="1800"/>
              <a:t>技术架构：</a:t>
            </a:r>
            <a:r>
              <a:rPr lang="en-US" altLang="zh-CN" sz="1600"/>
              <a:t>Transformer</a:t>
            </a:r>
            <a:r>
              <a:rPr lang="zh-CN" altLang="en-US" sz="1600"/>
              <a:t>不同技术场景对应不同的技术原理</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179512" y="776707"/>
            <a:ext cx="7776864" cy="1154162"/>
          </a:xfrm>
          <a:prstGeom prst="rect">
            <a:avLst/>
          </a:prstGeom>
          <a:noFill/>
          <a:ln w="3175">
            <a:solidFill>
              <a:schemeClr val="tx2">
                <a:lumMod val="60000"/>
                <a:lumOff val="40000"/>
              </a:schemeClr>
            </a:solidFill>
          </a:ln>
        </p:spPr>
        <p:txBody>
          <a:bodyPr wrap="square" rtlCol="0">
            <a:spAutoFit/>
          </a:bodyPr>
          <a:lstStyle/>
          <a:p>
            <a:pPr marL="342900" indent="-342900">
              <a:lnSpc>
                <a:spcPct val="150000"/>
              </a:lnSpc>
              <a:buFont typeface="Wingdings" panose="05000000000000000000" pitchFamily="2" charset="2"/>
              <a:buChar char="Ø"/>
            </a:pPr>
            <a:r>
              <a:rPr lang="zh-CN" altLang="en-US" sz="1600">
                <a:latin typeface="微软雅黑" panose="020B0503020204020204" pitchFamily="34" charset="-122"/>
                <a:ea typeface="微软雅黑" panose="020B0503020204020204" pitchFamily="34" charset="-122"/>
              </a:rPr>
              <a:t>自回归架构：</a:t>
            </a:r>
            <a:r>
              <a:rPr lang="en-US" altLang="zh-CN" sz="1600">
                <a:latin typeface="微软雅黑" panose="020B0503020204020204" pitchFamily="34" charset="-122"/>
                <a:ea typeface="微软雅黑" panose="020B0503020204020204" pitchFamily="34" charset="-122"/>
              </a:rPr>
              <a:t>GPT-3</a:t>
            </a:r>
            <a:r>
              <a:rPr lang="zh-CN" altLang="en-US" sz="1600">
                <a:latin typeface="微软雅黑" panose="020B0503020204020204" pitchFamily="34" charset="-122"/>
                <a:ea typeface="微软雅黑" panose="020B0503020204020204" pitchFamily="34" charset="-122"/>
              </a:rPr>
              <a:t>，偏好生成性任务</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1600">
                <a:latin typeface="微软雅黑" panose="020B0503020204020204" pitchFamily="34" charset="-122"/>
                <a:ea typeface="微软雅黑" panose="020B0503020204020204" pitchFamily="34" charset="-122"/>
              </a:rPr>
              <a:t>双向</a:t>
            </a:r>
            <a:r>
              <a:rPr lang="en-US" altLang="zh-CN" sz="1600">
                <a:latin typeface="微软雅黑" panose="020B0503020204020204" pitchFamily="34" charset="-122"/>
                <a:ea typeface="微软雅黑" panose="020B0503020204020204" pitchFamily="34" charset="-122"/>
              </a:rPr>
              <a:t>Transformer+Mask</a:t>
            </a:r>
            <a:r>
              <a:rPr lang="zh-CN" altLang="en-US" sz="1600">
                <a:latin typeface="微软雅黑" panose="020B0503020204020204" pitchFamily="34" charset="-122"/>
                <a:ea typeface="微软雅黑" panose="020B0503020204020204" pitchFamily="34" charset="-122"/>
              </a:rPr>
              <a:t>自编码架构：</a:t>
            </a:r>
            <a:r>
              <a:rPr lang="en-US" altLang="zh-CN" sz="1600">
                <a:latin typeface="微软雅黑" panose="020B0503020204020204" pitchFamily="34" charset="-122"/>
                <a:ea typeface="微软雅黑" panose="020B0503020204020204" pitchFamily="34" charset="-122"/>
              </a:rPr>
              <a:t>BERT,</a:t>
            </a:r>
            <a:r>
              <a:rPr lang="zh-CN" altLang="en-US" sz="1600">
                <a:latin typeface="微软雅黑" panose="020B0503020204020204" pitchFamily="34" charset="-122"/>
                <a:ea typeface="微软雅黑" panose="020B0503020204020204" pitchFamily="34" charset="-122"/>
              </a:rPr>
              <a:t>偏好自然语言理解</a:t>
            </a:r>
            <a:endParaRPr lang="en-US" altLang="zh-CN" sz="160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en-US" altLang="zh-CN" sz="1600">
                <a:latin typeface="微软雅黑" panose="020B0503020204020204" pitchFamily="34" charset="-122"/>
                <a:ea typeface="微软雅黑" panose="020B0503020204020204" pitchFamily="34" charset="-122"/>
              </a:rPr>
              <a:t>Encoder-decoder</a:t>
            </a:r>
            <a:r>
              <a:rPr lang="zh-CN" altLang="en-US" sz="1600">
                <a:latin typeface="微软雅黑" panose="020B0503020204020204" pitchFamily="34" charset="-122"/>
                <a:ea typeface="微软雅黑" panose="020B0503020204020204" pitchFamily="34" charset="-122"/>
              </a:rPr>
              <a:t>架构：</a:t>
            </a:r>
            <a:r>
              <a:rPr lang="en-US" altLang="zh-CN" sz="1600">
                <a:latin typeface="微软雅黑" panose="020B0503020204020204" pitchFamily="34" charset="-122"/>
                <a:ea typeface="微软雅黑" panose="020B0503020204020204" pitchFamily="34" charset="-122"/>
              </a:rPr>
              <a:t>T5</a:t>
            </a:r>
            <a:r>
              <a:rPr lang="zh-CN" altLang="en-US" sz="1600">
                <a:latin typeface="微软雅黑" panose="020B0503020204020204" pitchFamily="34" charset="-122"/>
                <a:ea typeface="微软雅黑" panose="020B0503020204020204" pitchFamily="34" charset="-122"/>
              </a:rPr>
              <a:t>，使用单向</a:t>
            </a:r>
            <a:r>
              <a:rPr lang="en-US" altLang="zh-CN" sz="1600">
                <a:latin typeface="微软雅黑" panose="020B0503020204020204" pitchFamily="34" charset="-122"/>
                <a:ea typeface="微软雅黑" panose="020B0503020204020204" pitchFamily="34" charset="-122"/>
              </a:rPr>
              <a:t>/</a:t>
            </a:r>
            <a:r>
              <a:rPr lang="zh-CN" altLang="en-US" sz="1600">
                <a:latin typeface="微软雅黑" panose="020B0503020204020204" pitchFamily="34" charset="-122"/>
                <a:ea typeface="微软雅黑" panose="020B0503020204020204" pitchFamily="34" charset="-122"/>
              </a:rPr>
              <a:t>双向</a:t>
            </a:r>
            <a:r>
              <a:rPr lang="en-US" altLang="zh-CN" sz="1600">
                <a:latin typeface="微软雅黑" panose="020B0503020204020204" pitchFamily="34" charset="-122"/>
                <a:ea typeface="微软雅黑" panose="020B0503020204020204" pitchFamily="34" charset="-122"/>
              </a:rPr>
              <a:t>attention</a:t>
            </a:r>
            <a:r>
              <a:rPr lang="zh-CN" altLang="en-US" sz="1600">
                <a:latin typeface="微软雅黑" panose="020B0503020204020204" pitchFamily="34" charset="-122"/>
                <a:ea typeface="微软雅黑" panose="020B0503020204020204" pitchFamily="34" charset="-122"/>
              </a:rPr>
              <a:t>，偏好条件文本生成</a:t>
            </a:r>
            <a:endParaRPr lang="en-US" altLang="zh-CN" sz="1600">
              <a:latin typeface="NSimSun" panose="02010609030101010101" pitchFamily="49" charset="-122"/>
              <a:ea typeface="NSimSun" panose="02010609030101010101" pitchFamily="49" charset="-122"/>
            </a:endParaRPr>
          </a:p>
        </p:txBody>
      </p:sp>
      <p:pic>
        <p:nvPicPr>
          <p:cNvPr id="5" name="Picture 4">
            <a:extLst>
              <a:ext uri="{FF2B5EF4-FFF2-40B4-BE49-F238E27FC236}">
                <a16:creationId xmlns:a16="http://schemas.microsoft.com/office/drawing/2014/main" id="{D32A1452-477F-79CE-AF77-D0F39F6E417B}"/>
              </a:ext>
            </a:extLst>
          </p:cNvPr>
          <p:cNvPicPr>
            <a:picLocks noChangeAspect="1"/>
          </p:cNvPicPr>
          <p:nvPr/>
        </p:nvPicPr>
        <p:blipFill>
          <a:blip r:embed="rId3"/>
          <a:stretch>
            <a:fillRect/>
          </a:stretch>
        </p:blipFill>
        <p:spPr>
          <a:xfrm>
            <a:off x="35497" y="1930869"/>
            <a:ext cx="9001000" cy="3212631"/>
          </a:xfrm>
          <a:prstGeom prst="rect">
            <a:avLst/>
          </a:prstGeom>
        </p:spPr>
      </p:pic>
    </p:spTree>
    <p:extLst>
      <p:ext uri="{BB962C8B-B14F-4D97-AF65-F5344CB8AC3E}">
        <p14:creationId xmlns:p14="http://schemas.microsoft.com/office/powerpoint/2010/main" val="31257061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6120680" cy="363202"/>
          </a:xfrm>
        </p:spPr>
        <p:txBody>
          <a:bodyPr/>
          <a:lstStyle/>
          <a:p>
            <a:r>
              <a:rPr lang="zh-CN" altLang="en-US" sz="1800"/>
              <a:t>技术架构：</a:t>
            </a:r>
            <a:r>
              <a:rPr lang="en-US" altLang="zh-CN" sz="1600"/>
              <a:t>GPT-1</a:t>
            </a:r>
            <a:r>
              <a:rPr lang="zh-CN" altLang="en-US" sz="1600"/>
              <a:t>借助预训练，进行无监督训练和有监督微调</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179512" y="776707"/>
            <a:ext cx="7776864" cy="773289"/>
          </a:xfrm>
          <a:prstGeom prst="rect">
            <a:avLst/>
          </a:prstGeom>
          <a:noFill/>
          <a:ln w="3175">
            <a:solidFill>
              <a:schemeClr val="tx2">
                <a:lumMod val="60000"/>
                <a:lumOff val="40000"/>
              </a:schemeClr>
            </a:solidFill>
          </a:ln>
        </p:spPr>
        <p:txBody>
          <a:bodyPr wrap="square" rtlCol="0">
            <a:spAutoFit/>
          </a:bodyPr>
          <a:lstStyle/>
          <a:p>
            <a:pPr>
              <a:lnSpc>
                <a:spcPct val="150000"/>
              </a:lnSpc>
            </a:pPr>
            <a:r>
              <a:rPr lang="zh-CN" altLang="en-US" sz="1600">
                <a:latin typeface="NSimSun" panose="02010609030101010101" pitchFamily="49" charset="-122"/>
                <a:ea typeface="NSimSun" panose="02010609030101010101" pitchFamily="49" charset="-122"/>
              </a:rPr>
              <a:t>基于</a:t>
            </a:r>
            <a:r>
              <a:rPr lang="en-US" altLang="zh-CN" sz="1600">
                <a:latin typeface="NSimSun" panose="02010609030101010101" pitchFamily="49" charset="-122"/>
                <a:ea typeface="NSimSun" panose="02010609030101010101" pitchFamily="49" charset="-122"/>
              </a:rPr>
              <a:t>Transformer</a:t>
            </a:r>
            <a:r>
              <a:rPr lang="zh-CN" altLang="en-US" sz="1600">
                <a:latin typeface="NSimSun" panose="02010609030101010101" pitchFamily="49" charset="-122"/>
                <a:ea typeface="NSimSun" panose="02010609030101010101" pitchFamily="49" charset="-122"/>
              </a:rPr>
              <a:t>解除了顺序关联和依赖性前提，采用生成式模型，重点考虑从原始文本中有效学习的能力，减轻</a:t>
            </a:r>
            <a:r>
              <a:rPr lang="en-US" altLang="zh-CN" sz="1600">
                <a:latin typeface="NSimSun" panose="02010609030101010101" pitchFamily="49" charset="-122"/>
                <a:ea typeface="NSimSun" panose="02010609030101010101" pitchFamily="49" charset="-122"/>
              </a:rPr>
              <a:t>NLP</a:t>
            </a:r>
            <a:r>
              <a:rPr lang="zh-CN" altLang="en-US" sz="1600">
                <a:latin typeface="NSimSun" panose="02010609030101010101" pitchFamily="49" charset="-122"/>
                <a:ea typeface="NSimSun" panose="02010609030101010101" pitchFamily="49" charset="-122"/>
              </a:rPr>
              <a:t>中对监督学习的依赖</a:t>
            </a:r>
            <a:endParaRPr lang="en-US" altLang="zh-CN" sz="1600">
              <a:latin typeface="NSimSun" panose="02010609030101010101" pitchFamily="49" charset="-122"/>
              <a:ea typeface="NSimSun" panose="02010609030101010101" pitchFamily="49" charset="-122"/>
            </a:endParaRPr>
          </a:p>
        </p:txBody>
      </p:sp>
      <p:pic>
        <p:nvPicPr>
          <p:cNvPr id="6" name="Picture 5">
            <a:extLst>
              <a:ext uri="{FF2B5EF4-FFF2-40B4-BE49-F238E27FC236}">
                <a16:creationId xmlns:a16="http://schemas.microsoft.com/office/drawing/2014/main" id="{B2B876DC-65A8-6861-1525-05BAF1A3CD3F}"/>
              </a:ext>
            </a:extLst>
          </p:cNvPr>
          <p:cNvPicPr>
            <a:picLocks noChangeAspect="1"/>
          </p:cNvPicPr>
          <p:nvPr/>
        </p:nvPicPr>
        <p:blipFill>
          <a:blip r:embed="rId3"/>
          <a:stretch>
            <a:fillRect/>
          </a:stretch>
        </p:blipFill>
        <p:spPr>
          <a:xfrm>
            <a:off x="539552" y="1707654"/>
            <a:ext cx="6962775" cy="2028825"/>
          </a:xfrm>
          <a:prstGeom prst="rect">
            <a:avLst/>
          </a:prstGeom>
        </p:spPr>
      </p:pic>
      <p:sp>
        <p:nvSpPr>
          <p:cNvPr id="7" name="文本框 48">
            <a:extLst>
              <a:ext uri="{FF2B5EF4-FFF2-40B4-BE49-F238E27FC236}">
                <a16:creationId xmlns:a16="http://schemas.microsoft.com/office/drawing/2014/main" id="{015A69B4-FF2F-6F8B-BAAB-26051161ED96}"/>
              </a:ext>
            </a:extLst>
          </p:cNvPr>
          <p:cNvSpPr txBox="1"/>
          <p:nvPr/>
        </p:nvSpPr>
        <p:spPr>
          <a:xfrm>
            <a:off x="467544" y="3736479"/>
            <a:ext cx="7776864" cy="415498"/>
          </a:xfrm>
          <a:prstGeom prst="rect">
            <a:avLst/>
          </a:prstGeom>
          <a:noFill/>
          <a:ln w="3175">
            <a:solidFill>
              <a:schemeClr val="tx2">
                <a:lumMod val="60000"/>
                <a:lumOff val="40000"/>
              </a:schemeClr>
            </a:solidFill>
          </a:ln>
        </p:spPr>
        <p:txBody>
          <a:bodyPr wrap="square" rtlCol="0">
            <a:spAutoFit/>
          </a:bodyPr>
          <a:lstStyle/>
          <a:p>
            <a:pPr>
              <a:lnSpc>
                <a:spcPct val="150000"/>
              </a:lnSpc>
            </a:pPr>
            <a:r>
              <a:rPr lang="zh-CN" altLang="en-US" sz="1600">
                <a:latin typeface="MS Gothic" panose="020B0609070205080204" pitchFamily="49" charset="-128"/>
                <a:ea typeface="MS Gothic" panose="020B0609070205080204" pitchFamily="49" charset="-128"/>
              </a:rPr>
              <a:t>结合形成一种使用无监督预训练和有监督微调相结合的语言理解任务的“半监督方法”</a:t>
            </a:r>
            <a:endParaRPr lang="en-US" altLang="zh-CN" sz="1600">
              <a:latin typeface="MS Gothic" panose="020B0609070205080204" pitchFamily="49" charset="-128"/>
              <a:ea typeface="MS Gothic" panose="020B0609070205080204" pitchFamily="49" charset="-128"/>
            </a:endParaRPr>
          </a:p>
        </p:txBody>
      </p:sp>
    </p:spTree>
    <p:extLst>
      <p:ext uri="{BB962C8B-B14F-4D97-AF65-F5344CB8AC3E}">
        <p14:creationId xmlns:p14="http://schemas.microsoft.com/office/powerpoint/2010/main" val="548720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7056784" cy="363202"/>
          </a:xfrm>
        </p:spPr>
        <p:txBody>
          <a:bodyPr/>
          <a:lstStyle/>
          <a:p>
            <a:r>
              <a:rPr lang="zh-CN" altLang="en-US" sz="1800"/>
              <a:t>技术架构：</a:t>
            </a:r>
            <a:r>
              <a:rPr lang="en-US" altLang="zh-CN" sz="1600"/>
              <a:t>GPT-1</a:t>
            </a:r>
            <a:r>
              <a:rPr lang="zh-CN" altLang="en-US" sz="1600"/>
              <a:t>模型更简化、计算加速、更适合自然语言生成任务</a:t>
            </a:r>
            <a:r>
              <a:rPr lang="en-US" altLang="zh-CN" sz="1600"/>
              <a:t>(NLG)</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179512" y="776707"/>
            <a:ext cx="7776864" cy="784830"/>
          </a:xfrm>
          <a:prstGeom prst="rect">
            <a:avLst/>
          </a:prstGeom>
          <a:noFill/>
          <a:ln w="3175">
            <a:solidFill>
              <a:schemeClr val="tx2">
                <a:lumMod val="60000"/>
                <a:lumOff val="40000"/>
              </a:schemeClr>
            </a:solidFill>
          </a:ln>
        </p:spPr>
        <p:txBody>
          <a:bodyPr wrap="square" rtlCol="0">
            <a:spAutoFit/>
          </a:bodyPr>
          <a:lstStyle/>
          <a:p>
            <a:pPr marL="285750" indent="-285750">
              <a:lnSpc>
                <a:spcPct val="150000"/>
              </a:lnSpc>
              <a:buFont typeface="Wingdings" panose="05000000000000000000" pitchFamily="2" charset="2"/>
              <a:buChar char="Ø"/>
            </a:pPr>
            <a:r>
              <a:rPr lang="zh-CN" altLang="en-US" sz="1600">
                <a:latin typeface="MS UI Gothic" panose="020B0600070205080204" pitchFamily="34" charset="-128"/>
                <a:ea typeface="MS UI Gothic" panose="020B0600070205080204" pitchFamily="34" charset="-128"/>
              </a:rPr>
              <a:t>相较于</a:t>
            </a:r>
            <a:r>
              <a:rPr lang="en-US" altLang="zh-CN" sz="1600">
                <a:latin typeface="MS UI Gothic" panose="020B0600070205080204" pitchFamily="34" charset="-128"/>
                <a:ea typeface="MS UI Gothic" panose="020B0600070205080204" pitchFamily="34" charset="-128"/>
              </a:rPr>
              <a:t>Transformer</a:t>
            </a:r>
            <a:r>
              <a:rPr lang="zh-CN" altLang="en-US" sz="1600">
                <a:latin typeface="MS UI Gothic" panose="020B0600070205080204" pitchFamily="34" charset="-128"/>
                <a:ea typeface="MS UI Gothic" panose="020B0600070205080204" pitchFamily="34" charset="-128"/>
              </a:rPr>
              <a:t>，</a:t>
            </a:r>
            <a:r>
              <a:rPr lang="en-US" altLang="zh-CN" sz="1600">
                <a:latin typeface="MS UI Gothic" panose="020B0600070205080204" pitchFamily="34" charset="-128"/>
                <a:ea typeface="MS UI Gothic" panose="020B0600070205080204" pitchFamily="34" charset="-128"/>
              </a:rPr>
              <a:t>GPT</a:t>
            </a:r>
            <a:r>
              <a:rPr lang="zh-CN" altLang="en-US" sz="1600">
                <a:latin typeface="MS UI Gothic" panose="020B0600070205080204" pitchFamily="34" charset="-128"/>
                <a:ea typeface="MS UI Gothic" panose="020B0600070205080204" pitchFamily="34" charset="-128"/>
              </a:rPr>
              <a:t>训练一个</a:t>
            </a:r>
            <a:r>
              <a:rPr lang="en-US" altLang="zh-CN" sz="1600">
                <a:latin typeface="MS UI Gothic" panose="020B0600070205080204" pitchFamily="34" charset="-128"/>
                <a:ea typeface="MS UI Gothic" panose="020B0600070205080204" pitchFamily="34" charset="-128"/>
              </a:rPr>
              <a:t>12</a:t>
            </a:r>
            <a:r>
              <a:rPr lang="zh-CN" altLang="en-US" sz="1600">
                <a:latin typeface="MS UI Gothic" panose="020B0600070205080204" pitchFamily="34" charset="-128"/>
                <a:ea typeface="MS UI Gothic" panose="020B0600070205080204" pitchFamily="34" charset="-128"/>
              </a:rPr>
              <a:t>层的</a:t>
            </a:r>
            <a:r>
              <a:rPr lang="en-US" altLang="zh-CN" sz="1600">
                <a:latin typeface="MS UI Gothic" panose="020B0600070205080204" pitchFamily="34" charset="-128"/>
                <a:ea typeface="MS UI Gothic" panose="020B0600070205080204" pitchFamily="34" charset="-128"/>
              </a:rPr>
              <a:t>decoder</a:t>
            </a:r>
          </a:p>
          <a:p>
            <a:pPr marL="285750" indent="-285750">
              <a:lnSpc>
                <a:spcPct val="150000"/>
              </a:lnSpc>
              <a:buFont typeface="Wingdings" panose="05000000000000000000" pitchFamily="2" charset="2"/>
              <a:buChar char="Ø"/>
            </a:pPr>
            <a:r>
              <a:rPr lang="zh-CN" altLang="en-US" sz="1600">
                <a:latin typeface="MS UI Gothic" panose="020B0600070205080204" pitchFamily="34" charset="-128"/>
                <a:ea typeface="MS UI Gothic" panose="020B0600070205080204" pitchFamily="34" charset="-128"/>
              </a:rPr>
              <a:t>相较于</a:t>
            </a:r>
            <a:r>
              <a:rPr lang="en-US" altLang="zh-CN" sz="1600">
                <a:latin typeface="MS UI Gothic" panose="020B0600070205080204" pitchFamily="34" charset="-128"/>
                <a:ea typeface="MS UI Gothic" panose="020B0600070205080204" pitchFamily="34" charset="-128"/>
              </a:rPr>
              <a:t>BERT</a:t>
            </a:r>
            <a:r>
              <a:rPr lang="zh-CN" altLang="en-US" sz="1600">
                <a:latin typeface="MS UI Gothic" panose="020B0600070205080204" pitchFamily="34" charset="-128"/>
                <a:ea typeface="MS UI Gothic" panose="020B0600070205080204" pitchFamily="34" charset="-128"/>
              </a:rPr>
              <a:t>，</a:t>
            </a:r>
            <a:r>
              <a:rPr lang="en-US" altLang="zh-CN" sz="1600">
                <a:latin typeface="MS UI Gothic" panose="020B0600070205080204" pitchFamily="34" charset="-128"/>
                <a:ea typeface="MS UI Gothic" panose="020B0600070205080204" pitchFamily="34" charset="-128"/>
              </a:rPr>
              <a:t>GPT</a:t>
            </a:r>
            <a:r>
              <a:rPr lang="zh-CN" altLang="en-US" sz="1600">
                <a:latin typeface="MS UI Gothic" panose="020B0600070205080204" pitchFamily="34" charset="-128"/>
                <a:ea typeface="MS UI Gothic" panose="020B0600070205080204" pitchFamily="34" charset="-128"/>
              </a:rPr>
              <a:t>仅采用上文预测单词</a:t>
            </a:r>
            <a:endParaRPr lang="en-US" altLang="zh-CN" sz="1600">
              <a:latin typeface="MS UI Gothic" panose="020B0600070205080204" pitchFamily="34" charset="-128"/>
              <a:ea typeface="MS UI Gothic" panose="020B0600070205080204" pitchFamily="34" charset="-128"/>
            </a:endParaRPr>
          </a:p>
        </p:txBody>
      </p:sp>
      <p:pic>
        <p:nvPicPr>
          <p:cNvPr id="3" name="Picture 2">
            <a:extLst>
              <a:ext uri="{FF2B5EF4-FFF2-40B4-BE49-F238E27FC236}">
                <a16:creationId xmlns:a16="http://schemas.microsoft.com/office/drawing/2014/main" id="{41973B61-5C4F-A4E9-77E0-7B585888837C}"/>
              </a:ext>
            </a:extLst>
          </p:cNvPr>
          <p:cNvPicPr>
            <a:picLocks noChangeAspect="1"/>
          </p:cNvPicPr>
          <p:nvPr/>
        </p:nvPicPr>
        <p:blipFill>
          <a:blip r:embed="rId3"/>
          <a:stretch>
            <a:fillRect/>
          </a:stretch>
        </p:blipFill>
        <p:spPr>
          <a:xfrm>
            <a:off x="28208" y="1779662"/>
            <a:ext cx="9080296" cy="3363838"/>
          </a:xfrm>
          <a:prstGeom prst="rect">
            <a:avLst/>
          </a:prstGeom>
        </p:spPr>
      </p:pic>
    </p:spTree>
    <p:extLst>
      <p:ext uri="{BB962C8B-B14F-4D97-AF65-F5344CB8AC3E}">
        <p14:creationId xmlns:p14="http://schemas.microsoft.com/office/powerpoint/2010/main" val="339778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7056784" cy="363202"/>
          </a:xfrm>
        </p:spPr>
        <p:txBody>
          <a:bodyPr/>
          <a:lstStyle/>
          <a:p>
            <a:r>
              <a:rPr lang="zh-CN" altLang="en-US" sz="1800"/>
              <a:t>技术架构：</a:t>
            </a:r>
            <a:r>
              <a:rPr lang="en-US" altLang="zh-CN" sz="1600"/>
              <a:t>GPT-2</a:t>
            </a:r>
            <a:r>
              <a:rPr lang="zh-CN" altLang="en-US" sz="1600"/>
              <a:t>采用多任务，基于</a:t>
            </a:r>
            <a:r>
              <a:rPr lang="en-US" altLang="zh-CN" sz="1600"/>
              <a:t>GPT-1</a:t>
            </a:r>
            <a:r>
              <a:rPr lang="zh-CN" altLang="en-US" sz="1600"/>
              <a:t>继续优化</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179512" y="776707"/>
            <a:ext cx="7776864" cy="784830"/>
          </a:xfrm>
          <a:prstGeom prst="rect">
            <a:avLst/>
          </a:prstGeom>
          <a:noFill/>
          <a:ln w="3175">
            <a:solidFill>
              <a:schemeClr val="tx2">
                <a:lumMod val="60000"/>
                <a:lumOff val="40000"/>
              </a:schemeClr>
            </a:solidFill>
          </a:ln>
        </p:spPr>
        <p:txBody>
          <a:bodyPr wrap="square" rtlCol="0">
            <a:spAutoFit/>
          </a:bodyPr>
          <a:lstStyle/>
          <a:p>
            <a:pPr marL="285750" indent="-285750">
              <a:lnSpc>
                <a:spcPct val="150000"/>
              </a:lnSpc>
              <a:buFont typeface="Wingdings" panose="05000000000000000000" pitchFamily="2" charset="2"/>
              <a:buChar char="Ø"/>
            </a:pPr>
            <a:r>
              <a:rPr lang="zh-CN" altLang="en-US" sz="1600">
                <a:latin typeface="MS UI Gothic" panose="020B0600070205080204" pitchFamily="34" charset="-128"/>
                <a:ea typeface="MS UI Gothic" panose="020B0600070205080204" pitchFamily="34" charset="-128"/>
              </a:rPr>
              <a:t>去掉有监督微调，成为无监督模型</a:t>
            </a:r>
          </a:p>
          <a:p>
            <a:pPr marL="285750" indent="-285750">
              <a:lnSpc>
                <a:spcPct val="150000"/>
              </a:lnSpc>
              <a:buFont typeface="Wingdings" panose="05000000000000000000" pitchFamily="2" charset="2"/>
              <a:buChar char="Ø"/>
            </a:pPr>
            <a:r>
              <a:rPr lang="zh-CN" altLang="en-US" sz="1600">
                <a:latin typeface="MS UI Gothic" panose="020B0600070205080204" pitchFamily="34" charset="-128"/>
                <a:ea typeface="MS UI Gothic" panose="020B0600070205080204" pitchFamily="34" charset="-128"/>
              </a:rPr>
              <a:t>可执行数量惊人的任务</a:t>
            </a:r>
            <a:endParaRPr lang="en-US" altLang="zh-CN" sz="1600">
              <a:latin typeface="MS UI Gothic" panose="020B0600070205080204" pitchFamily="34" charset="-128"/>
              <a:ea typeface="MS UI Gothic" panose="020B0600070205080204" pitchFamily="34" charset="-128"/>
            </a:endParaRPr>
          </a:p>
        </p:txBody>
      </p:sp>
      <p:grpSp>
        <p:nvGrpSpPr>
          <p:cNvPr id="57" name="成组">
            <a:extLst>
              <a:ext uri="{FF2B5EF4-FFF2-40B4-BE49-F238E27FC236}">
                <a16:creationId xmlns:a16="http://schemas.microsoft.com/office/drawing/2014/main" id="{BC2F7931-D0EB-91ED-BB0A-7C521B47F645}"/>
              </a:ext>
            </a:extLst>
          </p:cNvPr>
          <p:cNvGrpSpPr/>
          <p:nvPr/>
        </p:nvGrpSpPr>
        <p:grpSpPr>
          <a:xfrm>
            <a:off x="2826405" y="1695592"/>
            <a:ext cx="2016224" cy="2016223"/>
            <a:chOff x="0" y="0"/>
            <a:chExt cx="3239692" cy="3239692"/>
          </a:xfrm>
        </p:grpSpPr>
        <p:pic>
          <p:nvPicPr>
            <p:cNvPr id="58" name="图像" descr="图像">
              <a:extLst>
                <a:ext uri="{FF2B5EF4-FFF2-40B4-BE49-F238E27FC236}">
                  <a16:creationId xmlns:a16="http://schemas.microsoft.com/office/drawing/2014/main" id="{84686DA5-021A-B6CC-9798-648D1FF2DC74}"/>
                </a:ext>
              </a:extLst>
            </p:cNvPr>
            <p:cNvPicPr>
              <a:picLocks noChangeAspect="1"/>
            </p:cNvPicPr>
            <p:nvPr/>
          </p:nvPicPr>
          <p:blipFill>
            <a:blip r:embed="rId3"/>
            <a:stretch>
              <a:fillRect/>
            </a:stretch>
          </p:blipFill>
          <p:spPr>
            <a:xfrm>
              <a:off x="0" y="0"/>
              <a:ext cx="3239693" cy="3239693"/>
            </a:xfrm>
            <a:prstGeom prst="rect">
              <a:avLst/>
            </a:prstGeom>
            <a:ln w="12700" cap="flat">
              <a:noFill/>
              <a:miter lim="400000"/>
            </a:ln>
            <a:effectLst/>
          </p:spPr>
        </p:pic>
        <p:sp>
          <p:nvSpPr>
            <p:cNvPr id="59" name="圆形">
              <a:extLst>
                <a:ext uri="{FF2B5EF4-FFF2-40B4-BE49-F238E27FC236}">
                  <a16:creationId xmlns:a16="http://schemas.microsoft.com/office/drawing/2014/main" id="{8BCAE316-FBF0-1E72-CFC5-971EE5D586E6}"/>
                </a:ext>
              </a:extLst>
            </p:cNvPr>
            <p:cNvSpPr/>
            <p:nvPr/>
          </p:nvSpPr>
          <p:spPr>
            <a:xfrm>
              <a:off x="421022" y="421022"/>
              <a:ext cx="2397649" cy="2397649"/>
            </a:xfrm>
            <a:prstGeom prst="ellipse">
              <a:avLst/>
            </a:prstGeom>
            <a:solidFill>
              <a:srgbClr val="2151D1"/>
            </a:solidFill>
            <a:ln w="12700" cap="flat">
              <a:noFill/>
              <a:miter lim="400000"/>
            </a:ln>
            <a:effectLst/>
          </p:spPr>
          <p:txBody>
            <a:bodyPr wrap="square" lIns="0" tIns="0" rIns="0" bIns="0" numCol="1" anchor="t">
              <a:noAutofit/>
            </a:bodyPr>
            <a:lstStyle/>
            <a:p>
              <a:endParaRPr/>
            </a:p>
          </p:txBody>
        </p:sp>
      </p:grpSp>
      <p:sp>
        <p:nvSpPr>
          <p:cNvPr id="60" name="文本框 21">
            <a:extLst>
              <a:ext uri="{FF2B5EF4-FFF2-40B4-BE49-F238E27FC236}">
                <a16:creationId xmlns:a16="http://schemas.microsoft.com/office/drawing/2014/main" id="{0A9769A4-89C9-75D4-E79B-AC5BB2807E93}"/>
              </a:ext>
            </a:extLst>
          </p:cNvPr>
          <p:cNvSpPr txBox="1"/>
          <p:nvPr/>
        </p:nvSpPr>
        <p:spPr>
          <a:xfrm>
            <a:off x="3213795" y="2370611"/>
            <a:ext cx="1271080" cy="70788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4000" spc="400">
                <a:solidFill>
                  <a:srgbClr val="FFFFFF"/>
                </a:solidFill>
                <a:latin typeface="PingFang SC Semibold"/>
                <a:ea typeface="PingFang SC Semibold"/>
                <a:cs typeface="PingFang SC Semibold"/>
                <a:sym typeface="PingFang SC Semibold"/>
              </a:defRPr>
            </a:pPr>
            <a:r>
              <a:rPr lang="zh-CN" altLang="en-US"/>
              <a:t>目标</a:t>
            </a:r>
            <a:endParaRPr/>
          </a:p>
        </p:txBody>
      </p:sp>
      <p:sp>
        <p:nvSpPr>
          <p:cNvPr id="62" name="文本框 35">
            <a:extLst>
              <a:ext uri="{FF2B5EF4-FFF2-40B4-BE49-F238E27FC236}">
                <a16:creationId xmlns:a16="http://schemas.microsoft.com/office/drawing/2014/main" id="{629372B2-2D5E-435D-0332-EB8BA8C24222}"/>
              </a:ext>
            </a:extLst>
          </p:cNvPr>
          <p:cNvSpPr txBox="1"/>
          <p:nvPr/>
        </p:nvSpPr>
        <p:spPr>
          <a:xfrm>
            <a:off x="362513" y="2216608"/>
            <a:ext cx="2520282" cy="11741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zh-CN" altLang="en-US" sz="1100"/>
              <a:t>使用大型数据集、高容量模型和监督学习的组合，在训练任务方面表现出色，然而这些任务依然脆弱，对数据分布和任务规范的轻微变化敏感，</a:t>
            </a:r>
            <a:r>
              <a:rPr lang="zh-CN" altLang="en-US" sz="1100" b="1"/>
              <a:t>表现更像</a:t>
            </a:r>
            <a:r>
              <a:rPr lang="en-US" altLang="zh-CN" sz="1100" b="1"/>
              <a:t>AI</a:t>
            </a:r>
            <a:r>
              <a:rPr lang="zh-CN" altLang="en-US" sz="1100" b="1"/>
              <a:t>专家而非通才</a:t>
            </a:r>
            <a:endParaRPr sz="1100" b="1"/>
          </a:p>
        </p:txBody>
      </p:sp>
      <p:sp>
        <p:nvSpPr>
          <p:cNvPr id="63" name="文本框 21">
            <a:extLst>
              <a:ext uri="{FF2B5EF4-FFF2-40B4-BE49-F238E27FC236}">
                <a16:creationId xmlns:a16="http://schemas.microsoft.com/office/drawing/2014/main" id="{26F5DCDA-F786-5719-4979-9D17ADA0E457}"/>
              </a:ext>
            </a:extLst>
          </p:cNvPr>
          <p:cNvSpPr txBox="1"/>
          <p:nvPr/>
        </p:nvSpPr>
        <p:spPr>
          <a:xfrm>
            <a:off x="1763688" y="1877792"/>
            <a:ext cx="1097114" cy="4139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pPr algn="r"/>
            <a:r>
              <a:rPr sz="2000"/>
              <a:t>01</a:t>
            </a:r>
            <a:r>
              <a:rPr lang="zh-CN" altLang="en-US" sz="2000"/>
              <a:t>问题</a:t>
            </a:r>
            <a:endParaRPr sz="2000"/>
          </a:p>
        </p:txBody>
      </p:sp>
      <p:sp>
        <p:nvSpPr>
          <p:cNvPr id="65" name="文本框 35">
            <a:extLst>
              <a:ext uri="{FF2B5EF4-FFF2-40B4-BE49-F238E27FC236}">
                <a16:creationId xmlns:a16="http://schemas.microsoft.com/office/drawing/2014/main" id="{6E166460-ECBC-3F8D-C56C-744C7CAC78C9}"/>
              </a:ext>
            </a:extLst>
          </p:cNvPr>
          <p:cNvSpPr txBox="1"/>
          <p:nvPr/>
        </p:nvSpPr>
        <p:spPr>
          <a:xfrm>
            <a:off x="5048263" y="2127444"/>
            <a:ext cx="2520282" cy="734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zh-CN" altLang="en-US" sz="1100"/>
              <a:t>解决</a:t>
            </a:r>
            <a:r>
              <a:rPr lang="en-US" altLang="zh-CN" sz="1100"/>
              <a:t>zero-shot</a:t>
            </a:r>
            <a:r>
              <a:rPr lang="zh-CN" altLang="en-US" sz="1100"/>
              <a:t>学习问题；</a:t>
            </a:r>
            <a:endParaRPr lang="en-US" altLang="zh-CN" sz="1100"/>
          </a:p>
          <a:p>
            <a:pPr algn="l"/>
            <a:r>
              <a:rPr lang="zh-CN" altLang="en-US" sz="1100"/>
              <a:t>多任务模型，在海量数据喂养训练的基础上适配任何任务形式；</a:t>
            </a:r>
            <a:endParaRPr sz="1100"/>
          </a:p>
        </p:txBody>
      </p:sp>
      <p:sp>
        <p:nvSpPr>
          <p:cNvPr id="66" name="文本框 21">
            <a:extLst>
              <a:ext uri="{FF2B5EF4-FFF2-40B4-BE49-F238E27FC236}">
                <a16:creationId xmlns:a16="http://schemas.microsoft.com/office/drawing/2014/main" id="{7BB31EA1-D90D-A952-6B7F-9FAA2636724D}"/>
              </a:ext>
            </a:extLst>
          </p:cNvPr>
          <p:cNvSpPr txBox="1"/>
          <p:nvPr/>
        </p:nvSpPr>
        <p:spPr>
          <a:xfrm>
            <a:off x="5043202" y="1718978"/>
            <a:ext cx="2049078" cy="4139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r>
              <a:rPr sz="2000"/>
              <a:t>0</a:t>
            </a:r>
            <a:r>
              <a:rPr lang="en-US" sz="2000"/>
              <a:t>2Multi-Task</a:t>
            </a:r>
            <a:endParaRPr sz="2000"/>
          </a:p>
        </p:txBody>
      </p:sp>
      <p:sp>
        <p:nvSpPr>
          <p:cNvPr id="68" name="文本框 35">
            <a:extLst>
              <a:ext uri="{FF2B5EF4-FFF2-40B4-BE49-F238E27FC236}">
                <a16:creationId xmlns:a16="http://schemas.microsoft.com/office/drawing/2014/main" id="{ED361423-53F1-52B0-CBE3-3794A3CF6AED}"/>
              </a:ext>
            </a:extLst>
          </p:cNvPr>
          <p:cNvSpPr txBox="1"/>
          <p:nvPr/>
        </p:nvSpPr>
        <p:spPr>
          <a:xfrm>
            <a:off x="3277514" y="4215627"/>
            <a:ext cx="2520282" cy="734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zh-CN" altLang="en-US" sz="1100"/>
              <a:t>成为通才，执行多任务，最终无需为每个任务手动创建和标记训练数据集</a:t>
            </a:r>
            <a:endParaRPr sz="1100"/>
          </a:p>
        </p:txBody>
      </p:sp>
      <p:sp>
        <p:nvSpPr>
          <p:cNvPr id="69" name="文本框 21">
            <a:extLst>
              <a:ext uri="{FF2B5EF4-FFF2-40B4-BE49-F238E27FC236}">
                <a16:creationId xmlns:a16="http://schemas.microsoft.com/office/drawing/2014/main" id="{B19D7375-E28C-F4EF-32C6-9DD3E41DB8DF}"/>
              </a:ext>
            </a:extLst>
          </p:cNvPr>
          <p:cNvSpPr txBox="1"/>
          <p:nvPr/>
        </p:nvSpPr>
        <p:spPr>
          <a:xfrm>
            <a:off x="3254223" y="3844820"/>
            <a:ext cx="1351158" cy="412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r>
              <a:rPr sz="2000"/>
              <a:t>0</a:t>
            </a:r>
            <a:r>
              <a:rPr lang="en-US" sz="2000"/>
              <a:t>3</a:t>
            </a:r>
            <a:r>
              <a:rPr lang="zh-CN" altLang="en-US" sz="2000"/>
              <a:t>目标</a:t>
            </a:r>
            <a:endParaRPr sz="2000"/>
          </a:p>
        </p:txBody>
      </p:sp>
    </p:spTree>
    <p:extLst>
      <p:ext uri="{BB962C8B-B14F-4D97-AF65-F5344CB8AC3E}">
        <p14:creationId xmlns:p14="http://schemas.microsoft.com/office/powerpoint/2010/main" val="22975572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7056784" cy="363202"/>
          </a:xfrm>
        </p:spPr>
        <p:txBody>
          <a:bodyPr/>
          <a:lstStyle/>
          <a:p>
            <a:r>
              <a:rPr lang="zh-CN" altLang="en-US" sz="1800"/>
              <a:t>技术架构：</a:t>
            </a:r>
            <a:r>
              <a:rPr lang="en-US" altLang="zh-CN" sz="1600"/>
              <a:t>GPT-3</a:t>
            </a:r>
            <a:r>
              <a:rPr lang="zh-CN" altLang="en-US" sz="1600"/>
              <a:t>任务结果难以与人类作品区分</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179512" y="4345530"/>
            <a:ext cx="7776864" cy="784830"/>
          </a:xfrm>
          <a:prstGeom prst="rect">
            <a:avLst/>
          </a:prstGeom>
          <a:noFill/>
          <a:ln w="3175">
            <a:solidFill>
              <a:schemeClr val="tx2">
                <a:lumMod val="60000"/>
                <a:lumOff val="40000"/>
              </a:schemeClr>
            </a:solidFill>
          </a:ln>
        </p:spPr>
        <p:txBody>
          <a:bodyPr wrap="square" rtlCol="0">
            <a:spAutoFit/>
          </a:bodyPr>
          <a:lstStyle/>
          <a:p>
            <a:pPr marL="285750" indent="-285750">
              <a:lnSpc>
                <a:spcPct val="150000"/>
              </a:lnSpc>
              <a:buFont typeface="Wingdings" panose="05000000000000000000" pitchFamily="2" charset="2"/>
              <a:buChar char="Ø"/>
            </a:pPr>
            <a:r>
              <a:rPr lang="en-US" altLang="zh-CN" sz="1600">
                <a:latin typeface="MS UI Gothic" panose="020B0600070205080204" pitchFamily="34" charset="-128"/>
                <a:ea typeface="MS UI Gothic" panose="020B0600070205080204" pitchFamily="34" charset="-128"/>
              </a:rPr>
              <a:t>GPT3</a:t>
            </a:r>
            <a:r>
              <a:rPr lang="zh-CN" altLang="en-US" sz="1600">
                <a:latin typeface="MS UI Gothic" panose="020B0600070205080204" pitchFamily="34" charset="-128"/>
                <a:ea typeface="MS UI Gothic" panose="020B0600070205080204" pitchFamily="34" charset="-128"/>
              </a:rPr>
              <a:t>基于</a:t>
            </a:r>
            <a:r>
              <a:rPr lang="en-US" altLang="zh-CN" sz="1600">
                <a:latin typeface="MS UI Gothic" panose="020B0600070205080204" pitchFamily="34" charset="-128"/>
                <a:ea typeface="MS UI Gothic" panose="020B0600070205080204" pitchFamily="34" charset="-128"/>
              </a:rPr>
              <a:t>GPT2</a:t>
            </a:r>
            <a:r>
              <a:rPr lang="zh-CN" altLang="en-US" sz="1600">
                <a:latin typeface="MS UI Gothic" panose="020B0600070205080204" pitchFamily="34" charset="-128"/>
                <a:ea typeface="MS UI Gothic" panose="020B0600070205080204" pitchFamily="34" charset="-128"/>
              </a:rPr>
              <a:t>的</a:t>
            </a:r>
            <a:r>
              <a:rPr lang="en-US" altLang="zh-CN" sz="1600">
                <a:latin typeface="MS UI Gothic" panose="020B0600070205080204" pitchFamily="34" charset="-128"/>
                <a:ea typeface="MS UI Gothic" panose="020B0600070205080204" pitchFamily="34" charset="-128"/>
              </a:rPr>
              <a:t>ZEROS-SHOT</a:t>
            </a:r>
            <a:r>
              <a:rPr lang="zh-CN" altLang="en-US" sz="1600">
                <a:latin typeface="MS UI Gothic" panose="020B0600070205080204" pitchFamily="34" charset="-128"/>
                <a:ea typeface="MS UI Gothic" panose="020B0600070205080204" pitchFamily="34" charset="-128"/>
              </a:rPr>
              <a:t>与无监督进行改进</a:t>
            </a:r>
          </a:p>
          <a:p>
            <a:pPr marL="285750" indent="-285750">
              <a:lnSpc>
                <a:spcPct val="150000"/>
              </a:lnSpc>
              <a:buFont typeface="Wingdings" panose="05000000000000000000" pitchFamily="2" charset="2"/>
              <a:buChar char="Ø"/>
            </a:pPr>
            <a:r>
              <a:rPr lang="en-US" altLang="zh-CN" sz="1600">
                <a:latin typeface="MS UI Gothic" panose="020B0600070205080204" pitchFamily="34" charset="-128"/>
                <a:ea typeface="MS UI Gothic" panose="020B0600070205080204" pitchFamily="34" charset="-128"/>
              </a:rPr>
              <a:t>175B</a:t>
            </a:r>
            <a:r>
              <a:rPr lang="zh-CN" altLang="en-US" sz="1600">
                <a:latin typeface="MS UI Gothic" panose="020B0600070205080204" pitchFamily="34" charset="-128"/>
                <a:ea typeface="MS UI Gothic" panose="020B0600070205080204" pitchFamily="34" charset="-128"/>
              </a:rPr>
              <a:t>参数，无任何梯度或微调，模型通过与文本交互和</a:t>
            </a:r>
            <a:r>
              <a:rPr lang="en-US" altLang="zh-CN" sz="1600">
                <a:latin typeface="MS UI Gothic" panose="020B0600070205080204" pitchFamily="34" charset="-128"/>
                <a:ea typeface="MS UI Gothic" panose="020B0600070205080204" pitchFamily="34" charset="-128"/>
              </a:rPr>
              <a:t>FEW-SHOT</a:t>
            </a:r>
          </a:p>
        </p:txBody>
      </p:sp>
      <p:grpSp>
        <p:nvGrpSpPr>
          <p:cNvPr id="5" name="成组">
            <a:extLst>
              <a:ext uri="{FF2B5EF4-FFF2-40B4-BE49-F238E27FC236}">
                <a16:creationId xmlns:a16="http://schemas.microsoft.com/office/drawing/2014/main" id="{EDC9E776-7096-A58C-C420-903E378B2429}"/>
              </a:ext>
            </a:extLst>
          </p:cNvPr>
          <p:cNvGrpSpPr/>
          <p:nvPr/>
        </p:nvGrpSpPr>
        <p:grpSpPr>
          <a:xfrm>
            <a:off x="2662254" y="893561"/>
            <a:ext cx="2016224" cy="2016223"/>
            <a:chOff x="0" y="0"/>
            <a:chExt cx="3239692" cy="3239692"/>
          </a:xfrm>
        </p:grpSpPr>
        <p:pic>
          <p:nvPicPr>
            <p:cNvPr id="7" name="图像" descr="图像">
              <a:extLst>
                <a:ext uri="{FF2B5EF4-FFF2-40B4-BE49-F238E27FC236}">
                  <a16:creationId xmlns:a16="http://schemas.microsoft.com/office/drawing/2014/main" id="{E1E477E4-5C27-AAF7-B40A-9870736F5C3B}"/>
                </a:ext>
              </a:extLst>
            </p:cNvPr>
            <p:cNvPicPr>
              <a:picLocks noChangeAspect="1"/>
            </p:cNvPicPr>
            <p:nvPr/>
          </p:nvPicPr>
          <p:blipFill>
            <a:blip r:embed="rId3"/>
            <a:stretch>
              <a:fillRect/>
            </a:stretch>
          </p:blipFill>
          <p:spPr>
            <a:xfrm>
              <a:off x="0" y="0"/>
              <a:ext cx="3239693" cy="3239693"/>
            </a:xfrm>
            <a:prstGeom prst="rect">
              <a:avLst/>
            </a:prstGeom>
            <a:ln w="12700" cap="flat">
              <a:noFill/>
              <a:miter lim="400000"/>
            </a:ln>
            <a:effectLst/>
          </p:spPr>
        </p:pic>
        <p:sp>
          <p:nvSpPr>
            <p:cNvPr id="8" name="圆形">
              <a:extLst>
                <a:ext uri="{FF2B5EF4-FFF2-40B4-BE49-F238E27FC236}">
                  <a16:creationId xmlns:a16="http://schemas.microsoft.com/office/drawing/2014/main" id="{BEE115A9-2BC0-BC8F-9729-C5FB1A21BA7A}"/>
                </a:ext>
              </a:extLst>
            </p:cNvPr>
            <p:cNvSpPr/>
            <p:nvPr/>
          </p:nvSpPr>
          <p:spPr>
            <a:xfrm>
              <a:off x="421022" y="421022"/>
              <a:ext cx="2397649" cy="2397649"/>
            </a:xfrm>
            <a:prstGeom prst="ellipse">
              <a:avLst/>
            </a:prstGeom>
            <a:solidFill>
              <a:srgbClr val="2151D1"/>
            </a:solidFill>
            <a:ln w="12700" cap="flat">
              <a:noFill/>
              <a:miter lim="400000"/>
            </a:ln>
            <a:effectLst/>
          </p:spPr>
          <p:txBody>
            <a:bodyPr wrap="square" lIns="0" tIns="0" rIns="0" bIns="0" numCol="1" anchor="t">
              <a:noAutofit/>
            </a:bodyPr>
            <a:lstStyle/>
            <a:p>
              <a:endParaRPr/>
            </a:p>
          </p:txBody>
        </p:sp>
      </p:grpSp>
      <p:sp>
        <p:nvSpPr>
          <p:cNvPr id="9" name="文本框 21">
            <a:extLst>
              <a:ext uri="{FF2B5EF4-FFF2-40B4-BE49-F238E27FC236}">
                <a16:creationId xmlns:a16="http://schemas.microsoft.com/office/drawing/2014/main" id="{6F284A9F-2937-BFEC-DA6D-42E4A8A2C26A}"/>
              </a:ext>
            </a:extLst>
          </p:cNvPr>
          <p:cNvSpPr txBox="1"/>
          <p:nvPr/>
        </p:nvSpPr>
        <p:spPr>
          <a:xfrm>
            <a:off x="3063689" y="1468506"/>
            <a:ext cx="1271080" cy="95410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algn="ctr">
              <a:defRPr sz="4000" spc="400">
                <a:solidFill>
                  <a:srgbClr val="FFFFFF"/>
                </a:solidFill>
                <a:latin typeface="PingFang SC Semibold"/>
                <a:ea typeface="PingFang SC Semibold"/>
                <a:cs typeface="PingFang SC Semibold"/>
                <a:sym typeface="PingFang SC Semibold"/>
              </a:defRPr>
            </a:pPr>
            <a:r>
              <a:rPr lang="en-US" altLang="zh-CN" sz="2800"/>
              <a:t>GPT-2</a:t>
            </a:r>
            <a:r>
              <a:rPr lang="zh-CN" altLang="en-US" sz="2800"/>
              <a:t>问题</a:t>
            </a:r>
            <a:endParaRPr sz="2800"/>
          </a:p>
        </p:txBody>
      </p:sp>
      <p:sp>
        <p:nvSpPr>
          <p:cNvPr id="10" name="文本框 35">
            <a:extLst>
              <a:ext uri="{FF2B5EF4-FFF2-40B4-BE49-F238E27FC236}">
                <a16:creationId xmlns:a16="http://schemas.microsoft.com/office/drawing/2014/main" id="{C05CA462-A8F1-7A83-593B-9B19D657E4C7}"/>
              </a:ext>
            </a:extLst>
          </p:cNvPr>
          <p:cNvSpPr txBox="1"/>
          <p:nvPr/>
        </p:nvSpPr>
        <p:spPr>
          <a:xfrm>
            <a:off x="198362" y="1414577"/>
            <a:ext cx="2520282" cy="13949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zh-CN" altLang="en-US" sz="1100"/>
              <a:t>实用上，每项任务都需要一个标记示例大数据集，限制语言模型适用性；</a:t>
            </a:r>
            <a:endParaRPr lang="en-US" altLang="zh-CN" sz="1100" b="1"/>
          </a:p>
          <a:p>
            <a:pPr algn="l"/>
            <a:r>
              <a:rPr lang="zh-CN" altLang="en-US" sz="1100" b="1"/>
              <a:t>很难收集一个大型的监督训练数据集，特别是当每个任务都必须重复该过程时</a:t>
            </a:r>
            <a:endParaRPr lang="en-US" altLang="zh-CN" sz="1100"/>
          </a:p>
        </p:txBody>
      </p:sp>
      <p:sp>
        <p:nvSpPr>
          <p:cNvPr id="11" name="文本框 21">
            <a:extLst>
              <a:ext uri="{FF2B5EF4-FFF2-40B4-BE49-F238E27FC236}">
                <a16:creationId xmlns:a16="http://schemas.microsoft.com/office/drawing/2014/main" id="{4E15A749-9CDE-32A1-12C6-04DB576E37F2}"/>
              </a:ext>
            </a:extLst>
          </p:cNvPr>
          <p:cNvSpPr txBox="1"/>
          <p:nvPr/>
        </p:nvSpPr>
        <p:spPr>
          <a:xfrm>
            <a:off x="1599537" y="1075761"/>
            <a:ext cx="1097114" cy="4139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pPr algn="r"/>
            <a:r>
              <a:rPr sz="2000"/>
              <a:t>01</a:t>
            </a:r>
          </a:p>
        </p:txBody>
      </p:sp>
      <p:sp>
        <p:nvSpPr>
          <p:cNvPr id="12" name="文本框 35">
            <a:extLst>
              <a:ext uri="{FF2B5EF4-FFF2-40B4-BE49-F238E27FC236}">
                <a16:creationId xmlns:a16="http://schemas.microsoft.com/office/drawing/2014/main" id="{EA36C1BE-2CDE-25E7-D295-3C3BA9DAC7CA}"/>
              </a:ext>
            </a:extLst>
          </p:cNvPr>
          <p:cNvSpPr txBox="1"/>
          <p:nvPr/>
        </p:nvSpPr>
        <p:spPr>
          <a:xfrm>
            <a:off x="4884112" y="1325413"/>
            <a:ext cx="2520282" cy="73398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zh-CN" altLang="en-US" sz="1100"/>
              <a:t>预训练</a:t>
            </a:r>
            <a:r>
              <a:rPr lang="en-US" altLang="zh-CN" sz="1100"/>
              <a:t>+</a:t>
            </a:r>
            <a:r>
              <a:rPr lang="zh-CN" altLang="en-US" sz="1100"/>
              <a:t>微调范式中，模型特定于训练分布，泛化性差；</a:t>
            </a:r>
            <a:endParaRPr lang="en-US" altLang="zh-CN" sz="1100"/>
          </a:p>
          <a:p>
            <a:pPr algn="l"/>
            <a:r>
              <a:rPr lang="zh-CN" altLang="en-US" sz="1100"/>
              <a:t>微调模型表现可能夸大实际性能</a:t>
            </a:r>
            <a:endParaRPr lang="en-US" altLang="zh-CN" sz="1100"/>
          </a:p>
        </p:txBody>
      </p:sp>
      <p:sp>
        <p:nvSpPr>
          <p:cNvPr id="13" name="文本框 21">
            <a:extLst>
              <a:ext uri="{FF2B5EF4-FFF2-40B4-BE49-F238E27FC236}">
                <a16:creationId xmlns:a16="http://schemas.microsoft.com/office/drawing/2014/main" id="{E8A2D801-8DEB-D7E7-9C7E-1A1F594BCC17}"/>
              </a:ext>
            </a:extLst>
          </p:cNvPr>
          <p:cNvSpPr txBox="1"/>
          <p:nvPr/>
        </p:nvSpPr>
        <p:spPr>
          <a:xfrm>
            <a:off x="4879051" y="916947"/>
            <a:ext cx="2049078" cy="4139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r>
              <a:rPr sz="2000"/>
              <a:t>0</a:t>
            </a:r>
            <a:r>
              <a:rPr lang="en-US" sz="2000"/>
              <a:t>2</a:t>
            </a:r>
            <a:endParaRPr sz="2000"/>
          </a:p>
        </p:txBody>
      </p:sp>
      <p:sp>
        <p:nvSpPr>
          <p:cNvPr id="14" name="文本框 35">
            <a:extLst>
              <a:ext uri="{FF2B5EF4-FFF2-40B4-BE49-F238E27FC236}">
                <a16:creationId xmlns:a16="http://schemas.microsoft.com/office/drawing/2014/main" id="{DB514CE0-CA6E-7EA1-B116-7CE56D3A8828}"/>
              </a:ext>
            </a:extLst>
          </p:cNvPr>
          <p:cNvSpPr txBox="1"/>
          <p:nvPr/>
        </p:nvSpPr>
        <p:spPr>
          <a:xfrm>
            <a:off x="3569231" y="3379161"/>
            <a:ext cx="2520282" cy="734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zh-CN" altLang="en-US" sz="1100"/>
              <a:t>因为人类学习大多数语言任务不需要受监督的数据集，当前</a:t>
            </a:r>
            <a:r>
              <a:rPr lang="en-US" altLang="zh-CN" sz="1100"/>
              <a:t>NLP</a:t>
            </a:r>
            <a:r>
              <a:rPr lang="zh-CN" altLang="en-US" sz="1100"/>
              <a:t>技术在概念上有一定局限性</a:t>
            </a:r>
            <a:endParaRPr sz="1100"/>
          </a:p>
        </p:txBody>
      </p:sp>
      <p:sp>
        <p:nvSpPr>
          <p:cNvPr id="15" name="文本框 21">
            <a:extLst>
              <a:ext uri="{FF2B5EF4-FFF2-40B4-BE49-F238E27FC236}">
                <a16:creationId xmlns:a16="http://schemas.microsoft.com/office/drawing/2014/main" id="{9CB32FAF-B987-5DCA-A2B1-C4303D2C70CF}"/>
              </a:ext>
            </a:extLst>
          </p:cNvPr>
          <p:cNvSpPr txBox="1"/>
          <p:nvPr/>
        </p:nvSpPr>
        <p:spPr>
          <a:xfrm>
            <a:off x="3551422" y="3015944"/>
            <a:ext cx="1351158" cy="4125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r>
              <a:rPr sz="2000"/>
              <a:t>0</a:t>
            </a:r>
            <a:r>
              <a:rPr lang="en-US" sz="2000"/>
              <a:t>3</a:t>
            </a:r>
            <a:endParaRPr sz="2000"/>
          </a:p>
        </p:txBody>
      </p:sp>
    </p:spTree>
    <p:extLst>
      <p:ext uri="{BB962C8B-B14F-4D97-AF65-F5344CB8AC3E}">
        <p14:creationId xmlns:p14="http://schemas.microsoft.com/office/powerpoint/2010/main" val="16558780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7056784" cy="363202"/>
          </a:xfrm>
        </p:spPr>
        <p:txBody>
          <a:bodyPr/>
          <a:lstStyle/>
          <a:p>
            <a:r>
              <a:rPr lang="zh-CN" altLang="en-US" sz="1800"/>
              <a:t>技术架构：</a:t>
            </a:r>
            <a:r>
              <a:rPr lang="en-US" altLang="zh-CN" sz="1600"/>
              <a:t>InstructGPT</a:t>
            </a:r>
            <a:r>
              <a:rPr lang="zh-CN" altLang="en-US" sz="1600"/>
              <a:t>在</a:t>
            </a:r>
            <a:r>
              <a:rPr lang="en-US" altLang="zh-CN" sz="1600"/>
              <a:t>GPT-3</a:t>
            </a:r>
            <a:r>
              <a:rPr lang="zh-CN" altLang="en-US" sz="1600"/>
              <a:t>基础上进一步优化</a:t>
            </a:r>
            <a:endParaRPr lang="zh-CN" altLang="en-US" sz="1600" dirty="0"/>
          </a:p>
        </p:txBody>
      </p:sp>
      <p:sp>
        <p:nvSpPr>
          <p:cNvPr id="2" name="文本框 48">
            <a:extLst>
              <a:ext uri="{FF2B5EF4-FFF2-40B4-BE49-F238E27FC236}">
                <a16:creationId xmlns:a16="http://schemas.microsoft.com/office/drawing/2014/main" id="{82D54755-B0AF-1ACA-94BE-559C05ED572A}"/>
              </a:ext>
            </a:extLst>
          </p:cNvPr>
          <p:cNvSpPr txBox="1"/>
          <p:nvPr/>
        </p:nvSpPr>
        <p:spPr>
          <a:xfrm>
            <a:off x="179512" y="776707"/>
            <a:ext cx="7776864" cy="784830"/>
          </a:xfrm>
          <a:prstGeom prst="rect">
            <a:avLst/>
          </a:prstGeom>
          <a:noFill/>
          <a:ln w="3175">
            <a:solidFill>
              <a:schemeClr val="tx2">
                <a:lumMod val="60000"/>
                <a:lumOff val="40000"/>
              </a:schemeClr>
            </a:solidFill>
          </a:ln>
        </p:spPr>
        <p:txBody>
          <a:bodyPr wrap="square" rtlCol="0">
            <a:spAutoFit/>
          </a:bodyPr>
          <a:lstStyle/>
          <a:p>
            <a:pPr marL="285750" indent="-285750">
              <a:lnSpc>
                <a:spcPct val="150000"/>
              </a:lnSpc>
              <a:buFont typeface="Wingdings" panose="05000000000000000000" pitchFamily="2" charset="2"/>
              <a:buChar char="Ø"/>
            </a:pPr>
            <a:r>
              <a:rPr lang="zh-CN" altLang="en-US" sz="1600">
                <a:latin typeface="MS UI Gothic" panose="020B0600070205080204" pitchFamily="34" charset="-128"/>
                <a:ea typeface="MS UI Gothic" panose="020B0600070205080204" pitchFamily="34" charset="-128"/>
              </a:rPr>
              <a:t>加上</a:t>
            </a:r>
            <a:r>
              <a:rPr lang="en-US" altLang="zh-CN" sz="1600">
                <a:latin typeface="MS UI Gothic" panose="020B0600070205080204" pitchFamily="34" charset="-128"/>
                <a:ea typeface="MS UI Gothic" panose="020B0600070205080204" pitchFamily="34" charset="-128"/>
              </a:rPr>
              <a:t>RLHF</a:t>
            </a:r>
            <a:r>
              <a:rPr lang="zh-CN" altLang="en-US" sz="1600">
                <a:latin typeface="MS UI Gothic" panose="020B0600070205080204" pitchFamily="34" charset="-128"/>
                <a:ea typeface="MS UI Gothic" panose="020B0600070205080204" pitchFamily="34" charset="-128"/>
              </a:rPr>
              <a:t>的强化学习方案</a:t>
            </a:r>
          </a:p>
          <a:p>
            <a:pPr marL="285750" indent="-285750">
              <a:lnSpc>
                <a:spcPct val="150000"/>
              </a:lnSpc>
              <a:buFont typeface="Wingdings" panose="05000000000000000000" pitchFamily="2" charset="2"/>
              <a:buChar char="Ø"/>
            </a:pPr>
            <a:r>
              <a:rPr lang="zh-CN" altLang="en-US" sz="1600">
                <a:latin typeface="MS UI Gothic" panose="020B0600070205080204" pitchFamily="34" charset="-128"/>
                <a:ea typeface="MS UI Gothic" panose="020B0600070205080204" pitchFamily="34" charset="-128"/>
              </a:rPr>
              <a:t>奖励模型</a:t>
            </a:r>
            <a:r>
              <a:rPr lang="en-US" altLang="zh-CN" sz="1600">
                <a:latin typeface="MS UI Gothic" panose="020B0600070205080204" pitchFamily="34" charset="-128"/>
                <a:ea typeface="MS UI Gothic" panose="020B0600070205080204" pitchFamily="34" charset="-128"/>
              </a:rPr>
              <a:t>+PPO</a:t>
            </a:r>
            <a:r>
              <a:rPr lang="zh-CN" altLang="en-US" sz="1600">
                <a:latin typeface="MS UI Gothic" panose="020B0600070205080204" pitchFamily="34" charset="-128"/>
                <a:ea typeface="MS UI Gothic" panose="020B0600070205080204" pitchFamily="34" charset="-128"/>
              </a:rPr>
              <a:t>数据</a:t>
            </a:r>
            <a:endParaRPr lang="en-US" altLang="zh-CN" sz="1600">
              <a:latin typeface="MS UI Gothic" panose="020B0600070205080204" pitchFamily="34" charset="-128"/>
              <a:ea typeface="MS UI Gothic" panose="020B0600070205080204" pitchFamily="34" charset="-128"/>
            </a:endParaRPr>
          </a:p>
        </p:txBody>
      </p:sp>
      <p:pic>
        <p:nvPicPr>
          <p:cNvPr id="5" name="Picture 4">
            <a:extLst>
              <a:ext uri="{FF2B5EF4-FFF2-40B4-BE49-F238E27FC236}">
                <a16:creationId xmlns:a16="http://schemas.microsoft.com/office/drawing/2014/main" id="{EA42F22D-F1DF-95EB-B257-05BFE067A05D}"/>
              </a:ext>
            </a:extLst>
          </p:cNvPr>
          <p:cNvPicPr>
            <a:picLocks noChangeAspect="1"/>
          </p:cNvPicPr>
          <p:nvPr/>
        </p:nvPicPr>
        <p:blipFill>
          <a:blip r:embed="rId3"/>
          <a:stretch>
            <a:fillRect/>
          </a:stretch>
        </p:blipFill>
        <p:spPr>
          <a:xfrm>
            <a:off x="179512" y="1643936"/>
            <a:ext cx="5343525" cy="2219325"/>
          </a:xfrm>
          <a:prstGeom prst="rect">
            <a:avLst/>
          </a:prstGeom>
        </p:spPr>
      </p:pic>
      <p:pic>
        <p:nvPicPr>
          <p:cNvPr id="6" name="Picture 5">
            <a:extLst>
              <a:ext uri="{FF2B5EF4-FFF2-40B4-BE49-F238E27FC236}">
                <a16:creationId xmlns:a16="http://schemas.microsoft.com/office/drawing/2014/main" id="{6A024C75-DBC1-0E5F-E535-173E44196247}"/>
              </a:ext>
            </a:extLst>
          </p:cNvPr>
          <p:cNvPicPr>
            <a:picLocks noChangeAspect="1"/>
          </p:cNvPicPr>
          <p:nvPr/>
        </p:nvPicPr>
        <p:blipFill>
          <a:blip r:embed="rId4"/>
          <a:stretch>
            <a:fillRect/>
          </a:stretch>
        </p:blipFill>
        <p:spPr>
          <a:xfrm>
            <a:off x="1115616" y="1851670"/>
            <a:ext cx="6660232" cy="3144660"/>
          </a:xfrm>
          <a:prstGeom prst="rect">
            <a:avLst/>
          </a:prstGeom>
        </p:spPr>
      </p:pic>
    </p:spTree>
    <p:extLst>
      <p:ext uri="{BB962C8B-B14F-4D97-AF65-F5344CB8AC3E}">
        <p14:creationId xmlns:p14="http://schemas.microsoft.com/office/powerpoint/2010/main" val="1985853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技术架构：</a:t>
            </a:r>
            <a:r>
              <a:rPr lang="en-US" altLang="zh-CN" sz="1600"/>
              <a:t>ChatGPT</a:t>
            </a:r>
            <a:r>
              <a:rPr lang="zh-CN" altLang="en-US" sz="1600"/>
              <a:t>提升了理解人类思维的准确性</a:t>
            </a:r>
            <a:endParaRPr lang="zh-CN" altLang="en-US" sz="1600" dirty="0"/>
          </a:p>
        </p:txBody>
      </p:sp>
      <p:pic>
        <p:nvPicPr>
          <p:cNvPr id="5" name="Picture 4">
            <a:extLst>
              <a:ext uri="{FF2B5EF4-FFF2-40B4-BE49-F238E27FC236}">
                <a16:creationId xmlns:a16="http://schemas.microsoft.com/office/drawing/2014/main" id="{5B17B513-F73D-EF44-E35B-B03A7A637CD2}"/>
              </a:ext>
            </a:extLst>
          </p:cNvPr>
          <p:cNvPicPr>
            <a:picLocks noChangeAspect="1"/>
          </p:cNvPicPr>
          <p:nvPr/>
        </p:nvPicPr>
        <p:blipFill>
          <a:blip r:embed="rId3"/>
          <a:stretch>
            <a:fillRect/>
          </a:stretch>
        </p:blipFill>
        <p:spPr>
          <a:xfrm>
            <a:off x="251520" y="1468988"/>
            <a:ext cx="8784976" cy="3551033"/>
          </a:xfrm>
          <a:prstGeom prst="rect">
            <a:avLst/>
          </a:prstGeom>
        </p:spPr>
      </p:pic>
      <p:sp>
        <p:nvSpPr>
          <p:cNvPr id="2" name="文本框 48">
            <a:extLst>
              <a:ext uri="{FF2B5EF4-FFF2-40B4-BE49-F238E27FC236}">
                <a16:creationId xmlns:a16="http://schemas.microsoft.com/office/drawing/2014/main" id="{CDCA8C62-6299-5A52-AAB4-4ABC2A9B2BA8}"/>
              </a:ext>
            </a:extLst>
          </p:cNvPr>
          <p:cNvSpPr txBox="1"/>
          <p:nvPr/>
        </p:nvSpPr>
        <p:spPr>
          <a:xfrm>
            <a:off x="246718" y="684159"/>
            <a:ext cx="8285721" cy="784830"/>
          </a:xfrm>
          <a:prstGeom prst="rect">
            <a:avLst/>
          </a:prstGeom>
          <a:noFill/>
          <a:ln w="3175">
            <a:solidFill>
              <a:schemeClr val="tx2">
                <a:lumMod val="60000"/>
                <a:lumOff val="40000"/>
              </a:schemeClr>
            </a:solidFill>
          </a:ln>
        </p:spPr>
        <p:txBody>
          <a:bodyPr wrap="square" rtlCol="0">
            <a:spAutoFit/>
          </a:bodyPr>
          <a:lstStyle/>
          <a:p>
            <a:pPr marL="285750" indent="-285750">
              <a:lnSpc>
                <a:spcPct val="150000"/>
              </a:lnSpc>
              <a:buFont typeface="Wingdings" panose="05000000000000000000" pitchFamily="2" charset="2"/>
              <a:buChar char="Ø"/>
            </a:pPr>
            <a:r>
              <a:rPr lang="en-US" altLang="zh-CN" sz="1600">
                <a:latin typeface="MS UI Gothic" panose="020B0600070205080204" pitchFamily="34" charset="-128"/>
                <a:ea typeface="MS UI Gothic" panose="020B0600070205080204" pitchFamily="34" charset="-128"/>
              </a:rPr>
              <a:t>InstructGPT</a:t>
            </a:r>
            <a:r>
              <a:rPr lang="zh-CN" altLang="en-US" sz="1600">
                <a:latin typeface="MS UI Gothic" panose="020B0600070205080204" pitchFamily="34" charset="-128"/>
                <a:ea typeface="MS UI Gothic" panose="020B0600070205080204" pitchFamily="34" charset="-128"/>
              </a:rPr>
              <a:t>与</a:t>
            </a:r>
            <a:r>
              <a:rPr lang="en-US" altLang="zh-CN" sz="1600">
                <a:latin typeface="MS UI Gothic" panose="020B0600070205080204" pitchFamily="34" charset="-128"/>
                <a:ea typeface="MS UI Gothic" panose="020B0600070205080204" pitchFamily="34" charset="-128"/>
              </a:rPr>
              <a:t>ChatGPT</a:t>
            </a:r>
            <a:r>
              <a:rPr lang="zh-CN" altLang="en-US" sz="1600">
                <a:latin typeface="MS UI Gothic" panose="020B0600070205080204" pitchFamily="34" charset="-128"/>
                <a:ea typeface="MS UI Gothic" panose="020B0600070205080204" pitchFamily="34" charset="-128"/>
              </a:rPr>
              <a:t>是同代际模型，</a:t>
            </a:r>
            <a:r>
              <a:rPr lang="en-US" altLang="zh-CN" sz="1600">
                <a:latin typeface="MS UI Gothic" panose="020B0600070205080204" pitchFamily="34" charset="-128"/>
                <a:ea typeface="MS UI Gothic" panose="020B0600070205080204" pitchFamily="34" charset="-128"/>
              </a:rPr>
              <a:t>ChatGPT</a:t>
            </a:r>
            <a:r>
              <a:rPr lang="zh-CN" altLang="en-US" sz="1600">
                <a:latin typeface="MS UI Gothic" panose="020B0600070205080204" pitchFamily="34" charset="-128"/>
                <a:ea typeface="MS UI Gothic" panose="020B0600070205080204" pitchFamily="34" charset="-128"/>
              </a:rPr>
              <a:t>只是具有</a:t>
            </a:r>
            <a:r>
              <a:rPr lang="en-US" altLang="zh-CN" sz="1600">
                <a:latin typeface="MS UI Gothic" panose="020B0600070205080204" pitchFamily="34" charset="-128"/>
                <a:ea typeface="MS UI Gothic" panose="020B0600070205080204" pitchFamily="34" charset="-128"/>
              </a:rPr>
              <a:t>Chat</a:t>
            </a:r>
            <a:r>
              <a:rPr lang="zh-CN" altLang="en-US" sz="1600">
                <a:latin typeface="MS UI Gothic" panose="020B0600070205080204" pitchFamily="34" charset="-128"/>
                <a:ea typeface="MS UI Gothic" panose="020B0600070205080204" pitchFamily="34" charset="-128"/>
              </a:rPr>
              <a:t>属性，且开放公众测试</a:t>
            </a:r>
          </a:p>
          <a:p>
            <a:pPr marL="285750" indent="-285750">
              <a:lnSpc>
                <a:spcPct val="150000"/>
              </a:lnSpc>
              <a:buFont typeface="Wingdings" panose="05000000000000000000" pitchFamily="2" charset="2"/>
              <a:buChar char="Ø"/>
            </a:pPr>
            <a:r>
              <a:rPr lang="en-US" altLang="zh-CN" sz="1600">
                <a:latin typeface="MS UI Gothic" panose="020B0600070205080204" pitchFamily="34" charset="-128"/>
                <a:ea typeface="MS UI Gothic" panose="020B0600070205080204" pitchFamily="34" charset="-128"/>
              </a:rPr>
              <a:t>ChatGPT</a:t>
            </a:r>
            <a:r>
              <a:rPr lang="zh-CN" altLang="en-US" sz="1600">
                <a:latin typeface="MS UI Gothic" panose="020B0600070205080204" pitchFamily="34" charset="-128"/>
                <a:ea typeface="MS UI Gothic" panose="020B0600070205080204" pitchFamily="34" charset="-128"/>
              </a:rPr>
              <a:t>利用了人类反馈数据进行模型训练</a:t>
            </a:r>
            <a:endParaRPr lang="en-US" altLang="zh-CN" sz="1600">
              <a:latin typeface="MS UI Gothic" panose="020B0600070205080204" pitchFamily="34" charset="-128"/>
              <a:ea typeface="MS UI Gothic" panose="020B0600070205080204" pitchFamily="34" charset="-128"/>
            </a:endParaRPr>
          </a:p>
        </p:txBody>
      </p:sp>
    </p:spTree>
    <p:extLst>
      <p:ext uri="{BB962C8B-B14F-4D97-AF65-F5344CB8AC3E}">
        <p14:creationId xmlns:p14="http://schemas.microsoft.com/office/powerpoint/2010/main" val="151640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技术架构：</a:t>
            </a:r>
            <a:r>
              <a:rPr lang="en-US" altLang="zh-CN" sz="1600"/>
              <a:t>ChatGPT</a:t>
            </a:r>
            <a:r>
              <a:rPr lang="zh-CN" altLang="en-US" sz="1600"/>
              <a:t>技术架构</a:t>
            </a:r>
            <a:endParaRPr lang="zh-CN" altLang="en-US" sz="1600" dirty="0"/>
          </a:p>
        </p:txBody>
      </p:sp>
      <p:pic>
        <p:nvPicPr>
          <p:cNvPr id="6" name="Picture 5">
            <a:extLst>
              <a:ext uri="{FF2B5EF4-FFF2-40B4-BE49-F238E27FC236}">
                <a16:creationId xmlns:a16="http://schemas.microsoft.com/office/drawing/2014/main" id="{102CB7F4-A4DA-CFCC-7384-879345B5F302}"/>
              </a:ext>
            </a:extLst>
          </p:cNvPr>
          <p:cNvPicPr>
            <a:picLocks noChangeAspect="1"/>
          </p:cNvPicPr>
          <p:nvPr/>
        </p:nvPicPr>
        <p:blipFill>
          <a:blip r:embed="rId3"/>
          <a:stretch>
            <a:fillRect/>
          </a:stretch>
        </p:blipFill>
        <p:spPr>
          <a:xfrm>
            <a:off x="827584" y="696380"/>
            <a:ext cx="6768752" cy="4447120"/>
          </a:xfrm>
          <a:prstGeom prst="rect">
            <a:avLst/>
          </a:prstGeom>
        </p:spPr>
      </p:pic>
    </p:spTree>
    <p:extLst>
      <p:ext uri="{BB962C8B-B14F-4D97-AF65-F5344CB8AC3E}">
        <p14:creationId xmlns:p14="http://schemas.microsoft.com/office/powerpoint/2010/main" val="3777702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6120680" cy="363202"/>
          </a:xfrm>
        </p:spPr>
        <p:txBody>
          <a:bodyPr/>
          <a:lstStyle/>
          <a:p>
            <a:r>
              <a:rPr lang="zh-CN" altLang="en-US" sz="1800"/>
              <a:t>技术架构：</a:t>
            </a:r>
            <a:r>
              <a:rPr lang="en-US" altLang="zh-CN" sz="1600"/>
              <a:t>ChatGPT</a:t>
            </a:r>
            <a:r>
              <a:rPr lang="zh-CN" altLang="en-US" sz="1600"/>
              <a:t>以基础模型为杠杆，可适用多类下游任务</a:t>
            </a:r>
            <a:endParaRPr lang="zh-CN" altLang="en-US" sz="1600" dirty="0"/>
          </a:p>
        </p:txBody>
      </p:sp>
      <p:pic>
        <p:nvPicPr>
          <p:cNvPr id="3" name="Picture 2">
            <a:extLst>
              <a:ext uri="{FF2B5EF4-FFF2-40B4-BE49-F238E27FC236}">
                <a16:creationId xmlns:a16="http://schemas.microsoft.com/office/drawing/2014/main" id="{27239CE6-A4B2-26B8-82A0-DDCB4FBF4975}"/>
              </a:ext>
            </a:extLst>
          </p:cNvPr>
          <p:cNvPicPr>
            <a:picLocks noChangeAspect="1"/>
          </p:cNvPicPr>
          <p:nvPr/>
        </p:nvPicPr>
        <p:blipFill>
          <a:blip r:embed="rId3"/>
          <a:stretch>
            <a:fillRect/>
          </a:stretch>
        </p:blipFill>
        <p:spPr>
          <a:xfrm>
            <a:off x="2411760" y="1481210"/>
            <a:ext cx="5486400" cy="3662290"/>
          </a:xfrm>
          <a:prstGeom prst="rect">
            <a:avLst/>
          </a:prstGeom>
        </p:spPr>
      </p:pic>
      <p:sp>
        <p:nvSpPr>
          <p:cNvPr id="5" name="文本框 48">
            <a:extLst>
              <a:ext uri="{FF2B5EF4-FFF2-40B4-BE49-F238E27FC236}">
                <a16:creationId xmlns:a16="http://schemas.microsoft.com/office/drawing/2014/main" id="{A932313C-7F5C-E5BA-3BCB-5DEACE35195C}"/>
              </a:ext>
            </a:extLst>
          </p:cNvPr>
          <p:cNvSpPr txBox="1"/>
          <p:nvPr/>
        </p:nvSpPr>
        <p:spPr>
          <a:xfrm>
            <a:off x="107504" y="696380"/>
            <a:ext cx="8285721" cy="784830"/>
          </a:xfrm>
          <a:prstGeom prst="rect">
            <a:avLst/>
          </a:prstGeom>
          <a:noFill/>
          <a:ln w="3175">
            <a:solidFill>
              <a:schemeClr val="tx2">
                <a:lumMod val="60000"/>
                <a:lumOff val="40000"/>
              </a:schemeClr>
            </a:solidFill>
          </a:ln>
        </p:spPr>
        <p:txBody>
          <a:bodyPr wrap="square" rtlCol="0">
            <a:spAutoFit/>
          </a:bodyPr>
          <a:lstStyle/>
          <a:p>
            <a:pPr marL="285750" indent="-285750">
              <a:lnSpc>
                <a:spcPct val="150000"/>
              </a:lnSpc>
              <a:buFont typeface="Wingdings" panose="05000000000000000000" pitchFamily="2" charset="2"/>
              <a:buChar char="Ø"/>
            </a:pPr>
            <a:r>
              <a:rPr lang="zh-CN" altLang="en-US" sz="1600">
                <a:latin typeface="MS UI Gothic" panose="020B0600070205080204" pitchFamily="34" charset="-128"/>
                <a:ea typeface="MS UI Gothic" panose="020B0600070205080204" pitchFamily="34" charset="-128"/>
              </a:rPr>
              <a:t>机器学习使算法同质化、深度学习使模型架构同质化、基础模型使模型本身同质化</a:t>
            </a:r>
            <a:endParaRPr lang="en-US" altLang="zh-CN" sz="1600">
              <a:latin typeface="MS UI Gothic" panose="020B0600070205080204" pitchFamily="34" charset="-128"/>
              <a:ea typeface="MS UI Gothic" panose="020B0600070205080204" pitchFamily="34" charset="-128"/>
            </a:endParaRPr>
          </a:p>
          <a:p>
            <a:pPr marL="285750" indent="-285750">
              <a:lnSpc>
                <a:spcPct val="150000"/>
              </a:lnSpc>
              <a:buFont typeface="Wingdings" panose="05000000000000000000" pitchFamily="2" charset="2"/>
              <a:buChar char="Ø"/>
            </a:pPr>
            <a:r>
              <a:rPr lang="zh-CN" altLang="en-US" sz="1600">
                <a:latin typeface="MS UI Gothic" panose="020B0600070205080204" pitchFamily="34" charset="-128"/>
                <a:ea typeface="MS UI Gothic" panose="020B0600070205080204" pitchFamily="34" charset="-128"/>
              </a:rPr>
              <a:t>基础模型整合构建机器学习系统的方法，提供杠杆作用</a:t>
            </a:r>
          </a:p>
        </p:txBody>
      </p:sp>
    </p:spTree>
    <p:extLst>
      <p:ext uri="{BB962C8B-B14F-4D97-AF65-F5344CB8AC3E}">
        <p14:creationId xmlns:p14="http://schemas.microsoft.com/office/powerpoint/2010/main" val="4126141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en-US" altLang="zh-CN"/>
              <a:t>03</a:t>
            </a:r>
            <a:endParaRPr lang="zh-CN" altLang="en-US" dirty="0"/>
          </a:p>
        </p:txBody>
      </p:sp>
      <p:sp>
        <p:nvSpPr>
          <p:cNvPr id="3" name="内容占位符 2"/>
          <p:cNvSpPr>
            <a:spLocks noGrp="1"/>
          </p:cNvSpPr>
          <p:nvPr>
            <p:ph sz="quarter" idx="11"/>
          </p:nvPr>
        </p:nvSpPr>
        <p:spPr>
          <a:xfrm>
            <a:off x="296545" y="2427605"/>
            <a:ext cx="8827135" cy="504190"/>
          </a:xfrm>
        </p:spPr>
        <p:txBody>
          <a:bodyPr/>
          <a:lstStyle/>
          <a:p>
            <a:r>
              <a:rPr lang="en-US" altLang="zh-CN"/>
              <a:t>3</a:t>
            </a:r>
            <a:r>
              <a:rPr lang="zh-CN" altLang="en-US"/>
              <a:t>：应用场景</a:t>
            </a:r>
            <a:endParaRPr lang="zh-CN" altLang="en-US" dirty="0"/>
          </a:p>
        </p:txBody>
      </p:sp>
    </p:spTree>
    <p:extLst>
      <p:ext uri="{BB962C8B-B14F-4D97-AF65-F5344CB8AC3E}">
        <p14:creationId xmlns:p14="http://schemas.microsoft.com/office/powerpoint/2010/main" val="36924952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6408712" cy="363202"/>
          </a:xfrm>
        </p:spPr>
        <p:txBody>
          <a:bodyPr/>
          <a:lstStyle/>
          <a:p>
            <a:r>
              <a:rPr lang="zh-CN" altLang="en-US" sz="1800"/>
              <a:t>应用场景：</a:t>
            </a:r>
            <a:r>
              <a:rPr lang="en-US" altLang="zh-CN" sz="1600"/>
              <a:t>OpenAI</a:t>
            </a:r>
            <a:r>
              <a:rPr lang="zh-CN" altLang="en-US" sz="1600"/>
              <a:t>专注底层系统，</a:t>
            </a:r>
            <a:r>
              <a:rPr lang="en-US" altLang="zh-CN" sz="1600"/>
              <a:t>Jasper</a:t>
            </a:r>
            <a:r>
              <a:rPr lang="zh-CN" altLang="en-US" sz="1600"/>
              <a:t>等垂直应用四处开花</a:t>
            </a:r>
            <a:endParaRPr lang="zh-CN" altLang="en-US" sz="1600" dirty="0"/>
          </a:p>
        </p:txBody>
      </p:sp>
      <p:pic>
        <p:nvPicPr>
          <p:cNvPr id="3" name="Picture 2">
            <a:extLst>
              <a:ext uri="{FF2B5EF4-FFF2-40B4-BE49-F238E27FC236}">
                <a16:creationId xmlns:a16="http://schemas.microsoft.com/office/drawing/2014/main" id="{550DE4BD-96AD-0D99-04ED-A18C325AFD00}"/>
              </a:ext>
            </a:extLst>
          </p:cNvPr>
          <p:cNvPicPr>
            <a:picLocks noChangeAspect="1"/>
          </p:cNvPicPr>
          <p:nvPr/>
        </p:nvPicPr>
        <p:blipFill>
          <a:blip r:embed="rId3"/>
          <a:stretch>
            <a:fillRect/>
          </a:stretch>
        </p:blipFill>
        <p:spPr>
          <a:xfrm>
            <a:off x="0" y="1653230"/>
            <a:ext cx="9144000" cy="3490270"/>
          </a:xfrm>
          <a:prstGeom prst="rect">
            <a:avLst/>
          </a:prstGeom>
        </p:spPr>
      </p:pic>
      <p:sp>
        <p:nvSpPr>
          <p:cNvPr id="5" name="文本框 48">
            <a:extLst>
              <a:ext uri="{FF2B5EF4-FFF2-40B4-BE49-F238E27FC236}">
                <a16:creationId xmlns:a16="http://schemas.microsoft.com/office/drawing/2014/main" id="{B5C589C5-85BC-2D71-B7B3-3DA42FD07C95}"/>
              </a:ext>
            </a:extLst>
          </p:cNvPr>
          <p:cNvSpPr txBox="1"/>
          <p:nvPr/>
        </p:nvSpPr>
        <p:spPr>
          <a:xfrm>
            <a:off x="0" y="699801"/>
            <a:ext cx="9144000" cy="570284"/>
          </a:xfrm>
          <a:prstGeom prst="rect">
            <a:avLst/>
          </a:prstGeom>
          <a:noFill/>
          <a:ln w="3175">
            <a:solidFill>
              <a:schemeClr val="tx2">
                <a:lumMod val="60000"/>
                <a:lumOff val="40000"/>
              </a:schemeClr>
            </a:solidFill>
          </a:ln>
        </p:spPr>
        <p:txBody>
          <a:bodyPr wrap="square" rtlCol="0">
            <a:spAutoFit/>
          </a:bodyPr>
          <a:lstStyle/>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底层系统：目前海外</a:t>
            </a:r>
            <a:r>
              <a:rPr lang="en-US" altLang="zh-CN" sz="1100">
                <a:latin typeface="微软雅黑" panose="020B0503020204020204" pitchFamily="34" charset="-122"/>
                <a:ea typeface="微软雅黑" panose="020B0503020204020204" pitchFamily="34" charset="-122"/>
              </a:rPr>
              <a:t>AIGC</a:t>
            </a:r>
            <a:r>
              <a:rPr lang="zh-CN" altLang="en-US" sz="1100">
                <a:latin typeface="微软雅黑" panose="020B0503020204020204" pitchFamily="34" charset="-122"/>
                <a:ea typeface="微软雅黑" panose="020B0503020204020204" pitchFamily="34" charset="-122"/>
              </a:rPr>
              <a:t>的公司主要有</a:t>
            </a:r>
            <a:r>
              <a:rPr lang="en-US" altLang="zh-CN" sz="1100">
                <a:latin typeface="微软雅黑" panose="020B0503020204020204" pitchFamily="34" charset="-122"/>
                <a:ea typeface="微软雅黑" panose="020B0503020204020204" pitchFamily="34" charset="-122"/>
              </a:rPr>
              <a:t>Stability AI</a:t>
            </a:r>
            <a:r>
              <a:rPr lang="zh-CN" altLang="en-US" sz="1100">
                <a:latin typeface="微软雅黑" panose="020B0503020204020204" pitchFamily="34" charset="-122"/>
                <a:ea typeface="微软雅黑" panose="020B0503020204020204" pitchFamily="34" charset="-122"/>
              </a:rPr>
              <a:t>、</a:t>
            </a:r>
            <a:r>
              <a:rPr lang="en-US" altLang="zh-CN" sz="1100">
                <a:latin typeface="微软雅黑" panose="020B0503020204020204" pitchFamily="34" charset="-122"/>
                <a:ea typeface="微软雅黑" panose="020B0503020204020204" pitchFamily="34" charset="-122"/>
              </a:rPr>
              <a:t>Midjournety</a:t>
            </a:r>
            <a:r>
              <a:rPr lang="zh-CN" altLang="en-US" sz="1100">
                <a:latin typeface="微软雅黑" panose="020B0503020204020204" pitchFamily="34" charset="-122"/>
                <a:ea typeface="微软雅黑" panose="020B0503020204020204" pitchFamily="34" charset="-122"/>
              </a:rPr>
              <a:t>、</a:t>
            </a:r>
            <a:r>
              <a:rPr lang="en-US" altLang="zh-CN" sz="1100">
                <a:latin typeface="微软雅黑" panose="020B0503020204020204" pitchFamily="34" charset="-122"/>
                <a:ea typeface="微软雅黑" panose="020B0503020204020204" pitchFamily="34" charset="-122"/>
              </a:rPr>
              <a:t>OpenAI</a:t>
            </a:r>
            <a:r>
              <a:rPr lang="zh-CN" altLang="en-US" sz="1100">
                <a:latin typeface="微软雅黑" panose="020B0503020204020204" pitchFamily="34" charset="-122"/>
                <a:ea typeface="微软雅黑" panose="020B0503020204020204" pitchFamily="34" charset="-122"/>
              </a:rPr>
              <a:t>，三家公司的</a:t>
            </a:r>
            <a:r>
              <a:rPr lang="en-US" altLang="zh-CN" sz="1100">
                <a:latin typeface="微软雅黑" panose="020B0503020204020204" pitchFamily="34" charset="-122"/>
                <a:ea typeface="微软雅黑" panose="020B0503020204020204" pitchFamily="34" charset="-122"/>
              </a:rPr>
              <a:t>AIGC</a:t>
            </a:r>
            <a:r>
              <a:rPr lang="zh-CN" altLang="en-US" sz="1100">
                <a:latin typeface="微软雅黑" panose="020B0503020204020204" pitchFamily="34" charset="-122"/>
                <a:ea typeface="微软雅黑" panose="020B0503020204020204" pitchFamily="34" charset="-122"/>
              </a:rPr>
              <a:t>模型均已正式面向</a:t>
            </a:r>
            <a:r>
              <a:rPr lang="en-US" altLang="zh-CN" sz="1100">
                <a:latin typeface="微软雅黑" panose="020B0503020204020204" pitchFamily="34" charset="-122"/>
                <a:ea typeface="微软雅黑" panose="020B0503020204020204" pitchFamily="34" charset="-122"/>
              </a:rPr>
              <a:t>C</a:t>
            </a:r>
            <a:r>
              <a:rPr lang="zh-CN" altLang="en-US" sz="1100">
                <a:latin typeface="微软雅黑" panose="020B0503020204020204" pitchFamily="34" charset="-122"/>
                <a:ea typeface="微软雅黑" panose="020B0503020204020204" pitchFamily="34" charset="-122"/>
              </a:rPr>
              <a:t>端用户发布。</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垂直类应用：在图片</a:t>
            </a:r>
            <a:r>
              <a:rPr lang="en-US" altLang="zh-CN" sz="1100">
                <a:latin typeface="微软雅黑" panose="020B0503020204020204" pitchFamily="34" charset="-122"/>
                <a:ea typeface="微软雅黑" panose="020B0503020204020204" pitchFamily="34" charset="-122"/>
              </a:rPr>
              <a:t>AIGC</a:t>
            </a:r>
            <a:r>
              <a:rPr lang="zh-CN" altLang="en-US" sz="1100">
                <a:latin typeface="微软雅黑" panose="020B0503020204020204" pitchFamily="34" charset="-122"/>
                <a:ea typeface="微软雅黑" panose="020B0503020204020204" pitchFamily="34" charset="-122"/>
              </a:rPr>
              <a:t>领域，</a:t>
            </a:r>
            <a:r>
              <a:rPr lang="en-US" altLang="zh-CN" sz="1100">
                <a:latin typeface="微软雅黑" panose="020B0503020204020204" pitchFamily="34" charset="-122"/>
                <a:ea typeface="微软雅黑" panose="020B0503020204020204" pitchFamily="34" charset="-122"/>
              </a:rPr>
              <a:t>Stability AI</a:t>
            </a:r>
            <a:r>
              <a:rPr lang="zh-CN" altLang="en-US" sz="1100">
                <a:latin typeface="微软雅黑" panose="020B0503020204020204" pitchFamily="34" charset="-122"/>
                <a:ea typeface="微软雅黑" panose="020B0503020204020204" pitchFamily="34" charset="-122"/>
              </a:rPr>
              <a:t>推出了基于自有模型</a:t>
            </a:r>
            <a:r>
              <a:rPr lang="en-US" altLang="zh-CN" sz="1100">
                <a:latin typeface="微软雅黑" panose="020B0503020204020204" pitchFamily="34" charset="-122"/>
                <a:ea typeface="微软雅黑" panose="020B0503020204020204" pitchFamily="34" charset="-122"/>
              </a:rPr>
              <a:t>Stability Diffusion</a:t>
            </a:r>
            <a:r>
              <a:rPr lang="zh-CN" altLang="en-US" sz="1100">
                <a:latin typeface="微软雅黑" panose="020B0503020204020204" pitchFamily="34" charset="-122"/>
                <a:ea typeface="微软雅黑" panose="020B0503020204020204" pitchFamily="34" charset="-122"/>
              </a:rPr>
              <a:t>的</a:t>
            </a:r>
            <a:r>
              <a:rPr lang="en-US" altLang="zh-CN" sz="1100">
                <a:latin typeface="微软雅黑" panose="020B0503020204020204" pitchFamily="34" charset="-122"/>
                <a:ea typeface="微软雅黑" panose="020B0503020204020204" pitchFamily="34" charset="-122"/>
              </a:rPr>
              <a:t>DreamStudio</a:t>
            </a:r>
            <a:r>
              <a:rPr lang="zh-CN" altLang="en-US" sz="1100">
                <a:latin typeface="微软雅黑" panose="020B0503020204020204" pitchFamily="34" charset="-122"/>
                <a:ea typeface="微软雅黑" panose="020B0503020204020204" pitchFamily="34" charset="-122"/>
              </a:rPr>
              <a:t>，文本</a:t>
            </a:r>
            <a:r>
              <a:rPr lang="en-US" altLang="zh-CN" sz="1100">
                <a:latin typeface="微软雅黑" panose="020B0503020204020204" pitchFamily="34" charset="-122"/>
                <a:ea typeface="微软雅黑" panose="020B0503020204020204" pitchFamily="34" charset="-122"/>
              </a:rPr>
              <a:t>AIGC</a:t>
            </a:r>
            <a:r>
              <a:rPr lang="zh-CN" altLang="en-US" sz="1100">
                <a:latin typeface="微软雅黑" panose="020B0503020204020204" pitchFamily="34" charset="-122"/>
                <a:ea typeface="微软雅黑" panose="020B0503020204020204" pitchFamily="34" charset="-122"/>
              </a:rPr>
              <a:t>领域，如</a:t>
            </a:r>
            <a:r>
              <a:rPr lang="en-US" altLang="zh-CN" sz="1100">
                <a:latin typeface="微软雅黑" panose="020B0503020204020204" pitchFamily="34" charset="-122"/>
                <a:ea typeface="微软雅黑" panose="020B0503020204020204" pitchFamily="34" charset="-122"/>
              </a:rPr>
              <a:t>ChatGPT3/4</a:t>
            </a:r>
            <a:r>
              <a:rPr lang="zh-CN" altLang="en-US" sz="1100">
                <a:latin typeface="微软雅黑" panose="020B0503020204020204" pitchFamily="34" charset="-122"/>
                <a:ea typeface="微软雅黑" panose="020B0503020204020204" pitchFamily="34" charset="-122"/>
              </a:rPr>
              <a:t>。</a:t>
            </a:r>
            <a:endParaRPr lang="en-US" altLang="zh-CN" sz="110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075696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应用场景：</a:t>
            </a:r>
            <a:r>
              <a:rPr lang="zh-CN" altLang="en-US" sz="1600"/>
              <a:t>多行业垂直应用</a:t>
            </a:r>
            <a:endParaRPr lang="zh-CN" altLang="en-US" sz="1600" dirty="0"/>
          </a:p>
        </p:txBody>
      </p:sp>
      <p:pic>
        <p:nvPicPr>
          <p:cNvPr id="7" name="Picture 6">
            <a:extLst>
              <a:ext uri="{FF2B5EF4-FFF2-40B4-BE49-F238E27FC236}">
                <a16:creationId xmlns:a16="http://schemas.microsoft.com/office/drawing/2014/main" id="{A7593B41-BEB8-4999-72D5-EFAAC19795B3}"/>
              </a:ext>
            </a:extLst>
          </p:cNvPr>
          <p:cNvPicPr>
            <a:picLocks noChangeAspect="1"/>
          </p:cNvPicPr>
          <p:nvPr/>
        </p:nvPicPr>
        <p:blipFill>
          <a:blip r:embed="rId3"/>
          <a:stretch>
            <a:fillRect/>
          </a:stretch>
        </p:blipFill>
        <p:spPr>
          <a:xfrm>
            <a:off x="179512" y="771550"/>
            <a:ext cx="8352927" cy="4251634"/>
          </a:xfrm>
          <a:prstGeom prst="rect">
            <a:avLst/>
          </a:prstGeom>
        </p:spPr>
      </p:pic>
    </p:spTree>
    <p:extLst>
      <p:ext uri="{BB962C8B-B14F-4D97-AF65-F5344CB8AC3E}">
        <p14:creationId xmlns:p14="http://schemas.microsoft.com/office/powerpoint/2010/main" val="1713881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应用场景：</a:t>
            </a:r>
            <a:r>
              <a:rPr lang="en-US" altLang="zh-CN" sz="1600"/>
              <a:t>ChatGPT</a:t>
            </a:r>
            <a:r>
              <a:rPr lang="zh-CN" altLang="en-US" sz="1600"/>
              <a:t>示例</a:t>
            </a:r>
            <a:endParaRPr lang="zh-CN" altLang="en-US" sz="1600" dirty="0"/>
          </a:p>
        </p:txBody>
      </p:sp>
      <p:pic>
        <p:nvPicPr>
          <p:cNvPr id="3" name="Picture 2">
            <a:extLst>
              <a:ext uri="{FF2B5EF4-FFF2-40B4-BE49-F238E27FC236}">
                <a16:creationId xmlns:a16="http://schemas.microsoft.com/office/drawing/2014/main" id="{314A0C0E-E861-DFC2-7CCE-24728E649334}"/>
              </a:ext>
            </a:extLst>
          </p:cNvPr>
          <p:cNvPicPr>
            <a:picLocks noChangeAspect="1"/>
          </p:cNvPicPr>
          <p:nvPr/>
        </p:nvPicPr>
        <p:blipFill>
          <a:blip r:embed="rId3"/>
          <a:stretch>
            <a:fillRect/>
          </a:stretch>
        </p:blipFill>
        <p:spPr>
          <a:xfrm>
            <a:off x="27424" y="774838"/>
            <a:ext cx="4544576" cy="4352925"/>
          </a:xfrm>
          <a:prstGeom prst="rect">
            <a:avLst/>
          </a:prstGeom>
        </p:spPr>
      </p:pic>
      <p:pic>
        <p:nvPicPr>
          <p:cNvPr id="6" name="Picture 5">
            <a:extLst>
              <a:ext uri="{FF2B5EF4-FFF2-40B4-BE49-F238E27FC236}">
                <a16:creationId xmlns:a16="http://schemas.microsoft.com/office/drawing/2014/main" id="{364377CB-3CFF-171A-B911-E109BE89F068}"/>
              </a:ext>
            </a:extLst>
          </p:cNvPr>
          <p:cNvPicPr>
            <a:picLocks noChangeAspect="1"/>
          </p:cNvPicPr>
          <p:nvPr/>
        </p:nvPicPr>
        <p:blipFill>
          <a:blip r:embed="rId4"/>
          <a:stretch>
            <a:fillRect/>
          </a:stretch>
        </p:blipFill>
        <p:spPr>
          <a:xfrm>
            <a:off x="5004048" y="669338"/>
            <a:ext cx="2952328" cy="4458425"/>
          </a:xfrm>
          <a:prstGeom prst="rect">
            <a:avLst/>
          </a:prstGeom>
        </p:spPr>
      </p:pic>
    </p:spTree>
    <p:extLst>
      <p:ext uri="{BB962C8B-B14F-4D97-AF65-F5344CB8AC3E}">
        <p14:creationId xmlns:p14="http://schemas.microsoft.com/office/powerpoint/2010/main" val="15271623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应用场景：</a:t>
            </a:r>
            <a:r>
              <a:rPr lang="zh-CN" altLang="en-US" sz="1600"/>
              <a:t>代码生成每年节省达数百亿美金</a:t>
            </a:r>
            <a:endParaRPr lang="zh-CN" altLang="en-US" sz="1600" dirty="0"/>
          </a:p>
        </p:txBody>
      </p:sp>
      <p:pic>
        <p:nvPicPr>
          <p:cNvPr id="3" name="Picture 2">
            <a:extLst>
              <a:ext uri="{FF2B5EF4-FFF2-40B4-BE49-F238E27FC236}">
                <a16:creationId xmlns:a16="http://schemas.microsoft.com/office/drawing/2014/main" id="{F6DC3360-FF93-4C58-93B0-51E9C9627D53}"/>
              </a:ext>
            </a:extLst>
          </p:cNvPr>
          <p:cNvPicPr>
            <a:picLocks noChangeAspect="1"/>
          </p:cNvPicPr>
          <p:nvPr/>
        </p:nvPicPr>
        <p:blipFill>
          <a:blip r:embed="rId3"/>
          <a:stretch>
            <a:fillRect/>
          </a:stretch>
        </p:blipFill>
        <p:spPr>
          <a:xfrm>
            <a:off x="35074" y="1563638"/>
            <a:ext cx="4536926" cy="3416796"/>
          </a:xfrm>
          <a:prstGeom prst="rect">
            <a:avLst/>
          </a:prstGeom>
        </p:spPr>
      </p:pic>
      <p:pic>
        <p:nvPicPr>
          <p:cNvPr id="6" name="Picture 5">
            <a:extLst>
              <a:ext uri="{FF2B5EF4-FFF2-40B4-BE49-F238E27FC236}">
                <a16:creationId xmlns:a16="http://schemas.microsoft.com/office/drawing/2014/main" id="{A146FAE9-8702-AF1D-781B-50873624ADD7}"/>
              </a:ext>
            </a:extLst>
          </p:cNvPr>
          <p:cNvPicPr>
            <a:picLocks noChangeAspect="1"/>
          </p:cNvPicPr>
          <p:nvPr/>
        </p:nvPicPr>
        <p:blipFill>
          <a:blip r:embed="rId4"/>
          <a:stretch>
            <a:fillRect/>
          </a:stretch>
        </p:blipFill>
        <p:spPr>
          <a:xfrm>
            <a:off x="3005919" y="1613255"/>
            <a:ext cx="3418310" cy="3317560"/>
          </a:xfrm>
          <a:prstGeom prst="rect">
            <a:avLst/>
          </a:prstGeom>
        </p:spPr>
      </p:pic>
      <p:sp>
        <p:nvSpPr>
          <p:cNvPr id="7" name="文本框 48">
            <a:extLst>
              <a:ext uri="{FF2B5EF4-FFF2-40B4-BE49-F238E27FC236}">
                <a16:creationId xmlns:a16="http://schemas.microsoft.com/office/drawing/2014/main" id="{49F96C78-E35B-1F7A-930D-5A5977A20080}"/>
              </a:ext>
            </a:extLst>
          </p:cNvPr>
          <p:cNvSpPr txBox="1"/>
          <p:nvPr/>
        </p:nvSpPr>
        <p:spPr>
          <a:xfrm>
            <a:off x="0" y="699801"/>
            <a:ext cx="9144000" cy="824200"/>
          </a:xfrm>
          <a:prstGeom prst="rect">
            <a:avLst/>
          </a:prstGeom>
          <a:noFill/>
          <a:ln w="3175">
            <a:solidFill>
              <a:schemeClr val="tx2">
                <a:lumMod val="60000"/>
                <a:lumOff val="40000"/>
              </a:schemeClr>
            </a:solidFill>
          </a:ln>
        </p:spPr>
        <p:txBody>
          <a:bodyPr wrap="square" rtlCol="0">
            <a:spAutoFit/>
          </a:bodyPr>
          <a:lstStyle/>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代码生成：生成式</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将自然语言翻译成代码，极大提升计算机编程智能化、自动化，使得程序员能够在相同时间编写更多的代码，同时提高</a:t>
            </a:r>
            <a:r>
              <a:rPr lang="en-US" altLang="zh-CN" sz="1100">
                <a:latin typeface="微软雅黑" panose="020B0503020204020204" pitchFamily="34" charset="-122"/>
                <a:ea typeface="微软雅黑" panose="020B0503020204020204" pitchFamily="34" charset="-122"/>
              </a:rPr>
              <a:t>debug</a:t>
            </a:r>
            <a:r>
              <a:rPr lang="zh-CN" altLang="en-US" sz="1100">
                <a:latin typeface="微软雅黑" panose="020B0503020204020204" pitchFamily="34" charset="-122"/>
                <a:ea typeface="微软雅黑" panose="020B0503020204020204" pitchFamily="34" charset="-122"/>
              </a:rPr>
              <a:t>的效率。目前</a:t>
            </a:r>
            <a:r>
              <a:rPr lang="en-US" altLang="zh-CN" sz="1100">
                <a:latin typeface="微软雅黑" panose="020B0503020204020204" pitchFamily="34" charset="-122"/>
                <a:ea typeface="微软雅黑" panose="020B0503020204020204" pitchFamily="34" charset="-122"/>
              </a:rPr>
              <a:t>OpenAI</a:t>
            </a:r>
            <a:r>
              <a:rPr lang="zh-CN" altLang="en-US" sz="1100">
                <a:latin typeface="微软雅黑" panose="020B0503020204020204" pitchFamily="34" charset="-122"/>
                <a:ea typeface="微软雅黑" panose="020B0503020204020204" pitchFamily="34" charset="-122"/>
              </a:rPr>
              <a:t>、微软、</a:t>
            </a:r>
            <a:r>
              <a:rPr lang="en-US" altLang="zh-CN" sz="1100">
                <a:latin typeface="微软雅黑" panose="020B0503020204020204" pitchFamily="34" charset="-122"/>
                <a:ea typeface="微软雅黑" panose="020B0503020204020204" pitchFamily="34" charset="-122"/>
              </a:rPr>
              <a:t>Google</a:t>
            </a:r>
            <a:r>
              <a:rPr lang="zh-CN" altLang="en-US" sz="1100">
                <a:latin typeface="微软雅黑" panose="020B0503020204020204" pitchFamily="34" charset="-122"/>
                <a:ea typeface="微软雅黑" panose="020B0503020204020204" pitchFamily="34" charset="-122"/>
              </a:rPr>
              <a:t>、亚马逊、华为等均在</a:t>
            </a:r>
            <a:r>
              <a:rPr lang="en-US" altLang="zh-CN" sz="1100">
                <a:latin typeface="微软雅黑" panose="020B0503020204020204" pitchFamily="34" charset="-122"/>
                <a:ea typeface="微软雅黑" panose="020B0503020204020204" pitchFamily="34" charset="-122"/>
              </a:rPr>
              <a:t>AI</a:t>
            </a:r>
            <a:r>
              <a:rPr lang="zh-CN" altLang="en-US" sz="1100">
                <a:latin typeface="微软雅黑" panose="020B0503020204020204" pitchFamily="34" charset="-122"/>
                <a:ea typeface="微软雅黑" panose="020B0503020204020204" pitchFamily="34" charset="-122"/>
              </a:rPr>
              <a:t>代码生成领域有所布局。</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en-US" altLang="zh-CN" sz="1100">
                <a:latin typeface="微软雅黑" panose="020B0503020204020204" pitchFamily="34" charset="-122"/>
                <a:ea typeface="微软雅黑" panose="020B0503020204020204" pitchFamily="34" charset="-122"/>
              </a:rPr>
              <a:t>Github Copilot</a:t>
            </a:r>
            <a:r>
              <a:rPr lang="zh-CN" altLang="en-US" sz="1100">
                <a:latin typeface="微软雅黑" panose="020B0503020204020204" pitchFamily="34" charset="-122"/>
                <a:ea typeface="微软雅黑" panose="020B0503020204020204" pitchFamily="34" charset="-122"/>
              </a:rPr>
              <a:t>每年节约开发人员成本达百亿美金。</a:t>
            </a:r>
            <a:endParaRPr lang="en-US" altLang="zh-CN" sz="1100">
              <a:latin typeface="微软雅黑" panose="020B0503020204020204" pitchFamily="34" charset="-122"/>
              <a:ea typeface="微软雅黑" panose="020B0503020204020204" pitchFamily="34" charset="-122"/>
            </a:endParaRPr>
          </a:p>
        </p:txBody>
      </p:sp>
      <p:pic>
        <p:nvPicPr>
          <p:cNvPr id="9" name="Picture 8">
            <a:extLst>
              <a:ext uri="{FF2B5EF4-FFF2-40B4-BE49-F238E27FC236}">
                <a16:creationId xmlns:a16="http://schemas.microsoft.com/office/drawing/2014/main" id="{47163AF9-38D3-8C25-C7C5-2CB04CF1D168}"/>
              </a:ext>
            </a:extLst>
          </p:cNvPr>
          <p:cNvPicPr>
            <a:picLocks noChangeAspect="1"/>
          </p:cNvPicPr>
          <p:nvPr/>
        </p:nvPicPr>
        <p:blipFill>
          <a:blip r:embed="rId5"/>
          <a:stretch>
            <a:fillRect/>
          </a:stretch>
        </p:blipFill>
        <p:spPr>
          <a:xfrm>
            <a:off x="4293493" y="1501917"/>
            <a:ext cx="3240782" cy="3540237"/>
          </a:xfrm>
          <a:prstGeom prst="rect">
            <a:avLst/>
          </a:prstGeom>
        </p:spPr>
      </p:pic>
      <p:pic>
        <p:nvPicPr>
          <p:cNvPr id="11" name="Picture 10">
            <a:extLst>
              <a:ext uri="{FF2B5EF4-FFF2-40B4-BE49-F238E27FC236}">
                <a16:creationId xmlns:a16="http://schemas.microsoft.com/office/drawing/2014/main" id="{67D814D1-1AAA-7971-5BA5-094C01574A00}"/>
              </a:ext>
            </a:extLst>
          </p:cNvPr>
          <p:cNvPicPr>
            <a:picLocks noChangeAspect="1"/>
          </p:cNvPicPr>
          <p:nvPr/>
        </p:nvPicPr>
        <p:blipFill>
          <a:blip r:embed="rId6"/>
          <a:stretch>
            <a:fillRect/>
          </a:stretch>
        </p:blipFill>
        <p:spPr>
          <a:xfrm>
            <a:off x="5070326" y="1270085"/>
            <a:ext cx="4038600" cy="3790950"/>
          </a:xfrm>
          <a:prstGeom prst="rect">
            <a:avLst/>
          </a:prstGeom>
        </p:spPr>
      </p:pic>
    </p:spTree>
    <p:extLst>
      <p:ext uri="{BB962C8B-B14F-4D97-AF65-F5344CB8AC3E}">
        <p14:creationId xmlns:p14="http://schemas.microsoft.com/office/powerpoint/2010/main" val="251496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611560" y="333178"/>
            <a:ext cx="5544616" cy="363202"/>
          </a:xfrm>
        </p:spPr>
        <p:txBody>
          <a:bodyPr/>
          <a:lstStyle/>
          <a:p>
            <a:r>
              <a:rPr lang="zh-CN" altLang="en-US" sz="1800"/>
              <a:t>应用场景：</a:t>
            </a:r>
            <a:r>
              <a:rPr lang="en-US" altLang="zh-CN" sz="1600"/>
              <a:t>AIGC</a:t>
            </a:r>
            <a:r>
              <a:rPr lang="zh-CN" altLang="en-US" sz="1600"/>
              <a:t>偏向绘画作品</a:t>
            </a:r>
            <a:endParaRPr lang="zh-CN" altLang="en-US" sz="1600" dirty="0"/>
          </a:p>
        </p:txBody>
      </p:sp>
      <p:sp>
        <p:nvSpPr>
          <p:cNvPr id="9" name="文本框 48">
            <a:extLst>
              <a:ext uri="{FF2B5EF4-FFF2-40B4-BE49-F238E27FC236}">
                <a16:creationId xmlns:a16="http://schemas.microsoft.com/office/drawing/2014/main" id="{C2C32118-9D68-B43E-0914-7FAB099F779C}"/>
              </a:ext>
            </a:extLst>
          </p:cNvPr>
          <p:cNvSpPr txBox="1"/>
          <p:nvPr/>
        </p:nvSpPr>
        <p:spPr>
          <a:xfrm>
            <a:off x="0" y="699801"/>
            <a:ext cx="9144000" cy="1078116"/>
          </a:xfrm>
          <a:prstGeom prst="rect">
            <a:avLst/>
          </a:prstGeom>
          <a:noFill/>
          <a:ln w="3175">
            <a:solidFill>
              <a:schemeClr val="tx2">
                <a:lumMod val="60000"/>
                <a:lumOff val="40000"/>
              </a:schemeClr>
            </a:solidFill>
          </a:ln>
        </p:spPr>
        <p:txBody>
          <a:bodyPr wrap="square" rtlCol="0">
            <a:spAutoFit/>
          </a:bodyPr>
          <a:lstStyle/>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作品类型：创作作品均是绘画，而非照片。</a:t>
            </a:r>
            <a:r>
              <a:rPr lang="en-US" altLang="zh-CN" sz="1100">
                <a:latin typeface="微软雅黑" panose="020B0503020204020204" pitchFamily="34" charset="-122"/>
                <a:ea typeface="微软雅黑" panose="020B0503020204020204" pitchFamily="34" charset="-122"/>
              </a:rPr>
              <a:t>Midjourney</a:t>
            </a:r>
            <a:r>
              <a:rPr lang="zh-CN" altLang="en-US" sz="1100">
                <a:latin typeface="微软雅黑" panose="020B0503020204020204" pitchFamily="34" charset="-122"/>
                <a:ea typeface="微软雅黑" panose="020B0503020204020204" pitchFamily="34" charset="-122"/>
              </a:rPr>
              <a:t>尤其擅长创作奇幻、科幻类型的风景照片。</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服务方式：通过第三方的</a:t>
            </a:r>
            <a:r>
              <a:rPr lang="en-US" altLang="zh-CN" sz="1100">
                <a:latin typeface="微软雅黑" panose="020B0503020204020204" pitchFamily="34" charset="-122"/>
                <a:ea typeface="微软雅黑" panose="020B0503020204020204" pitchFamily="34" charset="-122"/>
              </a:rPr>
              <a:t>Discord</a:t>
            </a:r>
            <a:r>
              <a:rPr lang="zh-CN" altLang="en-US" sz="1100">
                <a:latin typeface="微软雅黑" panose="020B0503020204020204" pitchFamily="34" charset="-122"/>
                <a:ea typeface="微软雅黑" panose="020B0503020204020204" pitchFamily="34" charset="-122"/>
              </a:rPr>
              <a:t>服务器提供付费服务。</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商业模式：主要采用会员费模式。</a:t>
            </a:r>
            <a:r>
              <a:rPr lang="en-US" altLang="zh-CN" sz="1100">
                <a:latin typeface="微软雅黑" panose="020B0503020204020204" pitchFamily="34" charset="-122"/>
                <a:ea typeface="微软雅黑" panose="020B0503020204020204" pitchFamily="34" charset="-122"/>
              </a:rPr>
              <a:t>C</a:t>
            </a:r>
            <a:r>
              <a:rPr lang="zh-CN" altLang="en-US" sz="1100">
                <a:latin typeface="微软雅黑" panose="020B0503020204020204" pitchFamily="34" charset="-122"/>
                <a:ea typeface="微软雅黑" panose="020B0503020204020204" pitchFamily="34" charset="-122"/>
              </a:rPr>
              <a:t>端用户可疑基于使用量的需求，选择不同的套餐，每月费用</a:t>
            </a:r>
            <a:r>
              <a:rPr lang="en-US" altLang="zh-CN" sz="1100">
                <a:latin typeface="微软雅黑" panose="020B0503020204020204" pitchFamily="34" charset="-122"/>
                <a:ea typeface="微软雅黑" panose="020B0503020204020204" pitchFamily="34" charset="-122"/>
              </a:rPr>
              <a:t>10~50</a:t>
            </a:r>
            <a:r>
              <a:rPr lang="zh-CN" altLang="en-US" sz="1100">
                <a:latin typeface="微软雅黑" panose="020B0503020204020204" pitchFamily="34" charset="-122"/>
                <a:ea typeface="微软雅黑" panose="020B0503020204020204" pitchFamily="34" charset="-122"/>
              </a:rPr>
              <a:t>美金之间；</a:t>
            </a:r>
            <a:r>
              <a:rPr lang="en-US" altLang="zh-CN" sz="1100">
                <a:latin typeface="微软雅黑" panose="020B0503020204020204" pitchFamily="34" charset="-122"/>
                <a:ea typeface="微软雅黑" panose="020B0503020204020204" pitchFamily="34" charset="-122"/>
              </a:rPr>
              <a:t>B</a:t>
            </a:r>
            <a:r>
              <a:rPr lang="zh-CN" altLang="en-US" sz="1100">
                <a:latin typeface="微软雅黑" panose="020B0503020204020204" pitchFamily="34" charset="-122"/>
                <a:ea typeface="微软雅黑" panose="020B0503020204020204" pitchFamily="34" charset="-122"/>
              </a:rPr>
              <a:t>端固定为</a:t>
            </a:r>
            <a:r>
              <a:rPr lang="en-US" altLang="zh-CN" sz="1100">
                <a:latin typeface="微软雅黑" panose="020B0503020204020204" pitchFamily="34" charset="-122"/>
                <a:ea typeface="微软雅黑" panose="020B0503020204020204" pitchFamily="34" charset="-122"/>
              </a:rPr>
              <a:t>600</a:t>
            </a:r>
            <a:r>
              <a:rPr lang="zh-CN" altLang="en-US" sz="1100">
                <a:latin typeface="微软雅黑" panose="020B0503020204020204" pitchFamily="34" charset="-122"/>
                <a:ea typeface="微软雅黑" panose="020B0503020204020204" pitchFamily="34" charset="-122"/>
              </a:rPr>
              <a:t>美金。</a:t>
            </a:r>
            <a:endParaRPr lang="en-US" altLang="zh-CN" sz="1100">
              <a:latin typeface="微软雅黑" panose="020B0503020204020204" pitchFamily="34" charset="-122"/>
              <a:ea typeface="微软雅黑" panose="020B0503020204020204" pitchFamily="34" charset="-122"/>
            </a:endParaRPr>
          </a:p>
          <a:p>
            <a:pPr marL="171450" indent="-171450">
              <a:lnSpc>
                <a:spcPct val="150000"/>
              </a:lnSpc>
              <a:buFont typeface="Wingdings" panose="05000000000000000000" pitchFamily="2" charset="2"/>
              <a:buChar char="v"/>
            </a:pPr>
            <a:r>
              <a:rPr lang="zh-CN" altLang="en-US" sz="1100">
                <a:latin typeface="微软雅黑" panose="020B0503020204020204" pitchFamily="34" charset="-122"/>
                <a:ea typeface="微软雅黑" panose="020B0503020204020204" pitchFamily="34" charset="-122"/>
              </a:rPr>
              <a:t>用户数：</a:t>
            </a:r>
            <a:r>
              <a:rPr lang="en-US" altLang="zh-CN" sz="1100">
                <a:latin typeface="微软雅黑" panose="020B0503020204020204" pitchFamily="34" charset="-122"/>
                <a:ea typeface="微软雅黑" panose="020B0503020204020204" pitchFamily="34" charset="-122"/>
              </a:rPr>
              <a:t>Discord</a:t>
            </a:r>
            <a:r>
              <a:rPr lang="zh-CN" altLang="en-US" sz="1100">
                <a:latin typeface="微软雅黑" panose="020B0503020204020204" pitchFamily="34" charset="-122"/>
                <a:ea typeface="微软雅黑" panose="020B0503020204020204" pitchFamily="34" charset="-122"/>
              </a:rPr>
              <a:t>服务器中累计有</a:t>
            </a:r>
            <a:r>
              <a:rPr lang="en-US" altLang="zh-CN" sz="1100">
                <a:latin typeface="微软雅黑" panose="020B0503020204020204" pitchFamily="34" charset="-122"/>
                <a:ea typeface="微软雅黑" panose="020B0503020204020204" pitchFamily="34" charset="-122"/>
              </a:rPr>
              <a:t>300+</a:t>
            </a:r>
            <a:r>
              <a:rPr lang="zh-CN" altLang="en-US" sz="1100">
                <a:latin typeface="微软雅黑" panose="020B0503020204020204" pitchFamily="34" charset="-122"/>
                <a:ea typeface="微软雅黑" panose="020B0503020204020204" pitchFamily="34" charset="-122"/>
              </a:rPr>
              <a:t>万用户。</a:t>
            </a:r>
            <a:endParaRPr lang="en-US" altLang="zh-CN" sz="1100">
              <a:latin typeface="微软雅黑" panose="020B0503020204020204" pitchFamily="34" charset="-122"/>
              <a:ea typeface="微软雅黑" panose="020B0503020204020204" pitchFamily="34" charset="-122"/>
            </a:endParaRPr>
          </a:p>
        </p:txBody>
      </p:sp>
      <p:pic>
        <p:nvPicPr>
          <p:cNvPr id="5" name="Picture 4">
            <a:extLst>
              <a:ext uri="{FF2B5EF4-FFF2-40B4-BE49-F238E27FC236}">
                <a16:creationId xmlns:a16="http://schemas.microsoft.com/office/drawing/2014/main" id="{7A23C330-E350-4FD8-34B4-2766A523F2C1}"/>
              </a:ext>
            </a:extLst>
          </p:cNvPr>
          <p:cNvPicPr>
            <a:picLocks noChangeAspect="1"/>
          </p:cNvPicPr>
          <p:nvPr/>
        </p:nvPicPr>
        <p:blipFill>
          <a:blip r:embed="rId3"/>
          <a:stretch>
            <a:fillRect/>
          </a:stretch>
        </p:blipFill>
        <p:spPr>
          <a:xfrm>
            <a:off x="107504" y="2042745"/>
            <a:ext cx="2533650" cy="2767577"/>
          </a:xfrm>
          <a:prstGeom prst="rect">
            <a:avLst/>
          </a:prstGeom>
        </p:spPr>
      </p:pic>
      <p:sp>
        <p:nvSpPr>
          <p:cNvPr id="7" name="文本框 48">
            <a:extLst>
              <a:ext uri="{FF2B5EF4-FFF2-40B4-BE49-F238E27FC236}">
                <a16:creationId xmlns:a16="http://schemas.microsoft.com/office/drawing/2014/main" id="{0BAD5453-F9F6-68AD-2A67-0D3A29169AAD}"/>
              </a:ext>
            </a:extLst>
          </p:cNvPr>
          <p:cNvSpPr txBox="1"/>
          <p:nvPr/>
        </p:nvSpPr>
        <p:spPr>
          <a:xfrm>
            <a:off x="2586411" y="2211710"/>
            <a:ext cx="1354781" cy="1585690"/>
          </a:xfrm>
          <a:prstGeom prst="rect">
            <a:avLst/>
          </a:prstGeom>
          <a:noFill/>
          <a:ln w="3175">
            <a:solidFill>
              <a:schemeClr val="tx2">
                <a:lumMod val="60000"/>
                <a:lumOff val="40000"/>
              </a:schemeClr>
            </a:solidFill>
          </a:ln>
        </p:spPr>
        <p:txBody>
          <a:bodyPr wrap="square" rtlCol="0">
            <a:spAutoFit/>
          </a:bodyPr>
          <a:lstStyle/>
          <a:p>
            <a:pPr>
              <a:lnSpc>
                <a:spcPct val="150000"/>
              </a:lnSpc>
            </a:pPr>
            <a:r>
              <a:rPr lang="en-US" altLang="zh-CN" sz="1100">
                <a:latin typeface="Maiandra GD" panose="020E0502030308020204" pitchFamily="34" charset="0"/>
                <a:ea typeface="微软雅黑" panose="020B0503020204020204" pitchFamily="34" charset="-122"/>
              </a:rPr>
              <a:t>A</a:t>
            </a:r>
            <a:r>
              <a:rPr lang="zh-CN" altLang="en-US" sz="1100">
                <a:latin typeface="Maiandra GD" panose="020E0502030308020204" pitchFamily="34" charset="0"/>
                <a:ea typeface="微软雅黑" panose="020B0503020204020204" pitchFamily="34" charset="-122"/>
              </a:rPr>
              <a:t> </a:t>
            </a:r>
            <a:r>
              <a:rPr lang="en-US" altLang="zh-CN" sz="1100">
                <a:latin typeface="Maiandra GD" panose="020E0502030308020204" pitchFamily="34" charset="0"/>
                <a:ea typeface="微软雅黑" panose="020B0503020204020204" pitchFamily="34" charset="-122"/>
              </a:rPr>
              <a:t>dream</a:t>
            </a:r>
            <a:r>
              <a:rPr lang="zh-CN" altLang="en-US" sz="1100">
                <a:latin typeface="Maiandra GD" panose="020E0502030308020204" pitchFamily="34" charset="0"/>
                <a:ea typeface="微软雅黑" panose="020B0503020204020204" pitchFamily="34" charset="-122"/>
              </a:rPr>
              <a:t> </a:t>
            </a:r>
            <a:r>
              <a:rPr lang="en-US" altLang="zh-CN" sz="1100">
                <a:latin typeface="Maiandra GD" panose="020E0502030308020204" pitchFamily="34" charset="0"/>
                <a:ea typeface="微软雅黑" panose="020B0503020204020204" pitchFamily="34" charset="-122"/>
              </a:rPr>
              <a:t>of</a:t>
            </a:r>
            <a:r>
              <a:rPr lang="zh-CN" altLang="en-US" sz="1100">
                <a:latin typeface="Maiandra GD" panose="020E0502030308020204" pitchFamily="34" charset="0"/>
                <a:ea typeface="微软雅黑" panose="020B0503020204020204" pitchFamily="34" charset="-122"/>
              </a:rPr>
              <a:t> </a:t>
            </a:r>
            <a:r>
              <a:rPr lang="en-US" altLang="zh-CN" sz="1100">
                <a:latin typeface="Maiandra GD" panose="020E0502030308020204" pitchFamily="34" charset="0"/>
                <a:ea typeface="微软雅黑" panose="020B0503020204020204" pitchFamily="34" charset="-122"/>
              </a:rPr>
              <a:t>sailing</a:t>
            </a:r>
            <a:r>
              <a:rPr lang="zh-CN" altLang="en-US" sz="1100">
                <a:latin typeface="Maiandra GD" panose="020E0502030308020204" pitchFamily="34" charset="0"/>
                <a:ea typeface="微软雅黑" panose="020B0503020204020204" pitchFamily="34" charset="-122"/>
              </a:rPr>
              <a:t> </a:t>
            </a:r>
            <a:r>
              <a:rPr lang="en-US" altLang="zh-CN" sz="1100">
                <a:latin typeface="Maiandra GD" panose="020E0502030308020204" pitchFamily="34" charset="0"/>
                <a:ea typeface="微软雅黑" panose="020B0503020204020204" pitchFamily="34" charset="-122"/>
              </a:rPr>
              <a:t>boat floating on the ocean under the moon,concept art,matte painting</a:t>
            </a:r>
          </a:p>
          <a:p>
            <a:pPr>
              <a:lnSpc>
                <a:spcPct val="150000"/>
              </a:lnSpc>
            </a:pPr>
            <a:r>
              <a:rPr lang="en-US" altLang="zh-CN" sz="1100">
                <a:latin typeface="Maiandra GD" panose="020E0502030308020204" pitchFamily="34" charset="0"/>
                <a:ea typeface="微软雅黑" panose="020B0503020204020204" pitchFamily="34" charset="-122"/>
              </a:rPr>
              <a:t>(stable diffusion)</a:t>
            </a:r>
          </a:p>
        </p:txBody>
      </p:sp>
      <p:pic>
        <p:nvPicPr>
          <p:cNvPr id="11" name="Picture 10">
            <a:extLst>
              <a:ext uri="{FF2B5EF4-FFF2-40B4-BE49-F238E27FC236}">
                <a16:creationId xmlns:a16="http://schemas.microsoft.com/office/drawing/2014/main" id="{FD6617FA-B6C0-1771-35E2-B9B1CF694BE0}"/>
              </a:ext>
            </a:extLst>
          </p:cNvPr>
          <p:cNvPicPr>
            <a:picLocks noChangeAspect="1"/>
          </p:cNvPicPr>
          <p:nvPr/>
        </p:nvPicPr>
        <p:blipFill>
          <a:blip r:embed="rId4"/>
          <a:stretch>
            <a:fillRect/>
          </a:stretch>
        </p:blipFill>
        <p:spPr>
          <a:xfrm>
            <a:off x="6117332" y="1777917"/>
            <a:ext cx="3009900" cy="3365583"/>
          </a:xfrm>
          <a:prstGeom prst="rect">
            <a:avLst/>
          </a:prstGeom>
        </p:spPr>
      </p:pic>
      <p:sp>
        <p:nvSpPr>
          <p:cNvPr id="12" name="文本框 48">
            <a:extLst>
              <a:ext uri="{FF2B5EF4-FFF2-40B4-BE49-F238E27FC236}">
                <a16:creationId xmlns:a16="http://schemas.microsoft.com/office/drawing/2014/main" id="{C8940827-AB82-281F-3CE9-3D69E3757A6F}"/>
              </a:ext>
            </a:extLst>
          </p:cNvPr>
          <p:cNvSpPr txBox="1"/>
          <p:nvPr/>
        </p:nvSpPr>
        <p:spPr>
          <a:xfrm>
            <a:off x="4236119" y="2032820"/>
            <a:ext cx="1920057" cy="1331775"/>
          </a:xfrm>
          <a:prstGeom prst="rect">
            <a:avLst/>
          </a:prstGeom>
          <a:noFill/>
          <a:ln w="3175">
            <a:solidFill>
              <a:schemeClr val="tx2">
                <a:lumMod val="60000"/>
                <a:lumOff val="40000"/>
              </a:schemeClr>
            </a:solidFill>
          </a:ln>
        </p:spPr>
        <p:txBody>
          <a:bodyPr wrap="square" rtlCol="0">
            <a:spAutoFit/>
          </a:bodyPr>
          <a:lstStyle/>
          <a:p>
            <a:pPr>
              <a:lnSpc>
                <a:spcPct val="150000"/>
              </a:lnSpc>
            </a:pPr>
            <a:r>
              <a:rPr lang="en-US" altLang="zh-CN" sz="1100">
                <a:latin typeface="Maiandra GD" panose="020E0502030308020204" pitchFamily="34" charset="0"/>
                <a:ea typeface="微软雅黑" panose="020B0503020204020204" pitchFamily="34" charset="-122"/>
              </a:rPr>
              <a:t>A</a:t>
            </a:r>
            <a:r>
              <a:rPr lang="zh-CN" altLang="en-US" sz="1100">
                <a:latin typeface="Maiandra GD" panose="020E0502030308020204" pitchFamily="34" charset="0"/>
                <a:ea typeface="微软雅黑" panose="020B0503020204020204" pitchFamily="34" charset="-122"/>
              </a:rPr>
              <a:t> </a:t>
            </a:r>
            <a:r>
              <a:rPr lang="en-US" altLang="zh-CN" sz="1100">
                <a:latin typeface="Maiandra GD" panose="020E0502030308020204" pitchFamily="34" charset="0"/>
                <a:ea typeface="微软雅黑" panose="020B0503020204020204" pitchFamily="34" charset="-122"/>
              </a:rPr>
              <a:t>beautiful</a:t>
            </a:r>
            <a:r>
              <a:rPr lang="zh-CN" altLang="en-US" sz="1100">
                <a:latin typeface="Maiandra GD" panose="020E0502030308020204" pitchFamily="34" charset="0"/>
                <a:ea typeface="微软雅黑" panose="020B0503020204020204" pitchFamily="34" charset="-122"/>
              </a:rPr>
              <a:t> </a:t>
            </a:r>
            <a:r>
              <a:rPr lang="en-US" altLang="zh-CN" sz="1100">
                <a:latin typeface="Maiandra GD" panose="020E0502030308020204" pitchFamily="34" charset="0"/>
                <a:ea typeface="微软雅黑" panose="020B0503020204020204" pitchFamily="34" charset="-122"/>
              </a:rPr>
              <a:t>young</a:t>
            </a:r>
            <a:r>
              <a:rPr lang="zh-CN" altLang="en-US" sz="1100">
                <a:latin typeface="Maiandra GD" panose="020E0502030308020204" pitchFamily="34" charset="0"/>
                <a:ea typeface="微软雅黑" panose="020B0503020204020204" pitchFamily="34" charset="-122"/>
              </a:rPr>
              <a:t> </a:t>
            </a:r>
            <a:r>
              <a:rPr lang="en-US" altLang="zh-CN" sz="1100">
                <a:latin typeface="Maiandra GD" panose="020E0502030308020204" pitchFamily="34" charset="0"/>
                <a:ea typeface="微软雅黑" panose="020B0503020204020204" pitchFamily="34" charset="-122"/>
              </a:rPr>
              <a:t>queen,a in palace,dressed wedding dress,anime,big eyes,long hair,a lot of jewelley</a:t>
            </a:r>
          </a:p>
          <a:p>
            <a:pPr>
              <a:lnSpc>
                <a:spcPct val="150000"/>
              </a:lnSpc>
            </a:pPr>
            <a:r>
              <a:rPr lang="en-US" altLang="zh-CN" sz="1100">
                <a:latin typeface="Maiandra GD" panose="020E0502030308020204" pitchFamily="34" charset="0"/>
                <a:ea typeface="微软雅黑" panose="020B0503020204020204" pitchFamily="34" charset="-122"/>
              </a:rPr>
              <a:t>(midjourney)</a:t>
            </a:r>
          </a:p>
        </p:txBody>
      </p:sp>
    </p:spTree>
    <p:extLst>
      <p:ext uri="{BB962C8B-B14F-4D97-AF65-F5344CB8AC3E}">
        <p14:creationId xmlns:p14="http://schemas.microsoft.com/office/powerpoint/2010/main" val="773335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en-US" altLang="zh-CN"/>
              <a:t>04</a:t>
            </a:r>
            <a:endParaRPr lang="zh-CN" altLang="en-US" dirty="0"/>
          </a:p>
        </p:txBody>
      </p:sp>
      <p:sp>
        <p:nvSpPr>
          <p:cNvPr id="3" name="内容占位符 2"/>
          <p:cNvSpPr>
            <a:spLocks noGrp="1"/>
          </p:cNvSpPr>
          <p:nvPr>
            <p:ph sz="quarter" idx="11"/>
          </p:nvPr>
        </p:nvSpPr>
        <p:spPr>
          <a:xfrm>
            <a:off x="296545" y="2427605"/>
            <a:ext cx="8827135" cy="504190"/>
          </a:xfrm>
        </p:spPr>
        <p:txBody>
          <a:bodyPr/>
          <a:lstStyle/>
          <a:p>
            <a:r>
              <a:rPr lang="en-US" altLang="zh-CN"/>
              <a:t>4</a:t>
            </a:r>
            <a:r>
              <a:rPr lang="zh-CN" altLang="en-US"/>
              <a:t>：</a:t>
            </a:r>
            <a:r>
              <a:rPr lang="en-US" altLang="zh-CN"/>
              <a:t>plugin--</a:t>
            </a:r>
            <a:r>
              <a:rPr lang="zh-CN" altLang="en-US"/>
              <a:t>互联网入口的终结者</a:t>
            </a:r>
            <a:endParaRPr lang="zh-CN" altLang="en-US" dirty="0"/>
          </a:p>
        </p:txBody>
      </p:sp>
    </p:spTree>
    <p:extLst>
      <p:ext uri="{BB962C8B-B14F-4D97-AF65-F5344CB8AC3E}">
        <p14:creationId xmlns:p14="http://schemas.microsoft.com/office/powerpoint/2010/main" val="17917860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1"/>
          <p:cNvSpPr>
            <a:spLocks noGrp="1"/>
          </p:cNvSpPr>
          <p:nvPr>
            <p:ph sz="quarter" idx="10"/>
          </p:nvPr>
        </p:nvSpPr>
        <p:spPr>
          <a:xfrm>
            <a:off x="539552" y="333178"/>
            <a:ext cx="7056784" cy="363202"/>
          </a:xfrm>
        </p:spPr>
        <p:txBody>
          <a:bodyPr/>
          <a:lstStyle/>
          <a:p>
            <a:r>
              <a:rPr lang="en-US" altLang="zh-CN" sz="1800"/>
              <a:t>Plugin</a:t>
            </a:r>
            <a:r>
              <a:rPr lang="zh-CN" altLang="en-US" sz="1800"/>
              <a:t>技术架构：</a:t>
            </a:r>
            <a:r>
              <a:rPr lang="zh-CN" altLang="en-US" sz="1600"/>
              <a:t>互联网入口的终结者</a:t>
            </a:r>
            <a:endParaRPr lang="zh-CN" altLang="en-US" sz="1600" dirty="0"/>
          </a:p>
        </p:txBody>
      </p:sp>
      <p:grpSp>
        <p:nvGrpSpPr>
          <p:cNvPr id="5" name="成组">
            <a:extLst>
              <a:ext uri="{FF2B5EF4-FFF2-40B4-BE49-F238E27FC236}">
                <a16:creationId xmlns:a16="http://schemas.microsoft.com/office/drawing/2014/main" id="{EDC9E776-7096-A58C-C420-903E378B2429}"/>
              </a:ext>
            </a:extLst>
          </p:cNvPr>
          <p:cNvGrpSpPr/>
          <p:nvPr/>
        </p:nvGrpSpPr>
        <p:grpSpPr>
          <a:xfrm>
            <a:off x="2553760" y="1185368"/>
            <a:ext cx="2016224" cy="2016223"/>
            <a:chOff x="0" y="0"/>
            <a:chExt cx="3239692" cy="3239692"/>
          </a:xfrm>
        </p:grpSpPr>
        <p:pic>
          <p:nvPicPr>
            <p:cNvPr id="7" name="图像" descr="图像">
              <a:extLst>
                <a:ext uri="{FF2B5EF4-FFF2-40B4-BE49-F238E27FC236}">
                  <a16:creationId xmlns:a16="http://schemas.microsoft.com/office/drawing/2014/main" id="{E1E477E4-5C27-AAF7-B40A-9870736F5C3B}"/>
                </a:ext>
              </a:extLst>
            </p:cNvPr>
            <p:cNvPicPr>
              <a:picLocks noChangeAspect="1"/>
            </p:cNvPicPr>
            <p:nvPr/>
          </p:nvPicPr>
          <p:blipFill>
            <a:blip r:embed="rId3"/>
            <a:stretch>
              <a:fillRect/>
            </a:stretch>
          </p:blipFill>
          <p:spPr>
            <a:xfrm>
              <a:off x="0" y="0"/>
              <a:ext cx="3239693" cy="3239693"/>
            </a:xfrm>
            <a:prstGeom prst="rect">
              <a:avLst/>
            </a:prstGeom>
            <a:ln w="12700" cap="flat">
              <a:noFill/>
              <a:miter lim="400000"/>
            </a:ln>
            <a:effectLst/>
          </p:spPr>
        </p:pic>
        <p:sp>
          <p:nvSpPr>
            <p:cNvPr id="8" name="圆形">
              <a:extLst>
                <a:ext uri="{FF2B5EF4-FFF2-40B4-BE49-F238E27FC236}">
                  <a16:creationId xmlns:a16="http://schemas.microsoft.com/office/drawing/2014/main" id="{BEE115A9-2BC0-BC8F-9729-C5FB1A21BA7A}"/>
                </a:ext>
              </a:extLst>
            </p:cNvPr>
            <p:cNvSpPr/>
            <p:nvPr/>
          </p:nvSpPr>
          <p:spPr>
            <a:xfrm>
              <a:off x="421022" y="421022"/>
              <a:ext cx="2397649" cy="2397649"/>
            </a:xfrm>
            <a:prstGeom prst="ellipse">
              <a:avLst/>
            </a:prstGeom>
            <a:solidFill>
              <a:srgbClr val="2151D1"/>
            </a:solidFill>
            <a:ln w="12700" cap="flat">
              <a:noFill/>
              <a:miter lim="400000"/>
            </a:ln>
            <a:effectLst/>
          </p:spPr>
          <p:txBody>
            <a:bodyPr wrap="square" lIns="0" tIns="0" rIns="0" bIns="0" numCol="1" anchor="t">
              <a:noAutofit/>
            </a:bodyPr>
            <a:lstStyle/>
            <a:p>
              <a:endParaRPr/>
            </a:p>
          </p:txBody>
        </p:sp>
      </p:grpSp>
      <p:sp>
        <p:nvSpPr>
          <p:cNvPr id="9" name="文本框 21">
            <a:extLst>
              <a:ext uri="{FF2B5EF4-FFF2-40B4-BE49-F238E27FC236}">
                <a16:creationId xmlns:a16="http://schemas.microsoft.com/office/drawing/2014/main" id="{6F284A9F-2937-BFEC-DA6D-42E4A8A2C26A}"/>
              </a:ext>
            </a:extLst>
          </p:cNvPr>
          <p:cNvSpPr txBox="1"/>
          <p:nvPr/>
        </p:nvSpPr>
        <p:spPr>
          <a:xfrm>
            <a:off x="2888848" y="1962239"/>
            <a:ext cx="1492178" cy="52322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algn="ctr">
              <a:defRPr sz="4000" spc="400">
                <a:solidFill>
                  <a:srgbClr val="FFFFFF"/>
                </a:solidFill>
                <a:latin typeface="PingFang SC Semibold"/>
                <a:ea typeface="PingFang SC Semibold"/>
                <a:cs typeface="PingFang SC Semibold"/>
                <a:sym typeface="PingFang SC Semibold"/>
              </a:defRPr>
            </a:pPr>
            <a:r>
              <a:rPr lang="en-US" sz="2800"/>
              <a:t>Plugin</a:t>
            </a:r>
            <a:endParaRPr sz="2800"/>
          </a:p>
        </p:txBody>
      </p:sp>
      <p:sp>
        <p:nvSpPr>
          <p:cNvPr id="10" name="文本框 35">
            <a:extLst>
              <a:ext uri="{FF2B5EF4-FFF2-40B4-BE49-F238E27FC236}">
                <a16:creationId xmlns:a16="http://schemas.microsoft.com/office/drawing/2014/main" id="{C05CA462-A8F1-7A83-593B-9B19D657E4C7}"/>
              </a:ext>
            </a:extLst>
          </p:cNvPr>
          <p:cNvSpPr txBox="1"/>
          <p:nvPr/>
        </p:nvSpPr>
        <p:spPr>
          <a:xfrm>
            <a:off x="198362" y="1414577"/>
            <a:ext cx="2520282" cy="7377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en-US" altLang="zh-CN" sz="1100" b="1"/>
              <a:t>2023.3.24</a:t>
            </a:r>
            <a:r>
              <a:rPr lang="zh-CN" altLang="en-US" sz="1100" b="1"/>
              <a:t>发布</a:t>
            </a:r>
            <a:r>
              <a:rPr lang="en-US" altLang="zh-CN" sz="1100" b="1"/>
              <a:t>plugin</a:t>
            </a:r>
            <a:r>
              <a:rPr lang="zh-CN" altLang="en-US" sz="1100" b="1"/>
              <a:t>技术架构，意味着</a:t>
            </a:r>
            <a:r>
              <a:rPr lang="en-US" altLang="zh-CN" sz="1100" b="1"/>
              <a:t>ChatGPT</a:t>
            </a:r>
            <a:r>
              <a:rPr lang="zh-CN" altLang="en-US" sz="1100" b="1"/>
              <a:t>无法访问互联网的限制被解除</a:t>
            </a:r>
            <a:endParaRPr lang="en-US" altLang="zh-CN" sz="1100"/>
          </a:p>
        </p:txBody>
      </p:sp>
      <p:sp>
        <p:nvSpPr>
          <p:cNvPr id="11" name="文本框 21">
            <a:extLst>
              <a:ext uri="{FF2B5EF4-FFF2-40B4-BE49-F238E27FC236}">
                <a16:creationId xmlns:a16="http://schemas.microsoft.com/office/drawing/2014/main" id="{4E15A749-9CDE-32A1-12C6-04DB576E37F2}"/>
              </a:ext>
            </a:extLst>
          </p:cNvPr>
          <p:cNvSpPr txBox="1"/>
          <p:nvPr/>
        </p:nvSpPr>
        <p:spPr>
          <a:xfrm>
            <a:off x="1599537" y="1075761"/>
            <a:ext cx="1097114" cy="4139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pPr algn="r"/>
            <a:r>
              <a:rPr sz="2000"/>
              <a:t>01</a:t>
            </a:r>
          </a:p>
        </p:txBody>
      </p:sp>
      <p:sp>
        <p:nvSpPr>
          <p:cNvPr id="12" name="文本框 35">
            <a:extLst>
              <a:ext uri="{FF2B5EF4-FFF2-40B4-BE49-F238E27FC236}">
                <a16:creationId xmlns:a16="http://schemas.microsoft.com/office/drawing/2014/main" id="{EA36C1BE-2CDE-25E7-D295-3C3BA9DAC7CA}"/>
              </a:ext>
            </a:extLst>
          </p:cNvPr>
          <p:cNvSpPr txBox="1"/>
          <p:nvPr/>
        </p:nvSpPr>
        <p:spPr>
          <a:xfrm>
            <a:off x="4575045" y="1441898"/>
            <a:ext cx="2520282" cy="11787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zh-CN" altLang="en-US" sz="1100"/>
              <a:t>三方插件支持，包括衣食住行，生态化发展；</a:t>
            </a:r>
            <a:r>
              <a:rPr lang="en-US" altLang="zh-CN" sz="1100"/>
              <a:t>AI+</a:t>
            </a:r>
            <a:r>
              <a:rPr lang="zh-CN" altLang="en-US" sz="1100"/>
              <a:t>赋能千行百业，入口彻底改变，伙伴生态将愈发繁荣；多插件协同构建私人定制的人工智能管家</a:t>
            </a:r>
            <a:endParaRPr lang="en-US" altLang="zh-CN" sz="1100"/>
          </a:p>
        </p:txBody>
      </p:sp>
      <p:sp>
        <p:nvSpPr>
          <p:cNvPr id="13" name="文本框 21">
            <a:extLst>
              <a:ext uri="{FF2B5EF4-FFF2-40B4-BE49-F238E27FC236}">
                <a16:creationId xmlns:a16="http://schemas.microsoft.com/office/drawing/2014/main" id="{E8A2D801-8DEB-D7E7-9C7E-1A1F594BCC17}"/>
              </a:ext>
            </a:extLst>
          </p:cNvPr>
          <p:cNvSpPr txBox="1"/>
          <p:nvPr/>
        </p:nvSpPr>
        <p:spPr>
          <a:xfrm>
            <a:off x="4569984" y="1033432"/>
            <a:ext cx="2049078" cy="41395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r>
              <a:rPr sz="2000"/>
              <a:t>0</a:t>
            </a:r>
            <a:r>
              <a:rPr lang="en-US" sz="2000"/>
              <a:t>2</a:t>
            </a:r>
            <a:endParaRPr sz="2000"/>
          </a:p>
        </p:txBody>
      </p:sp>
      <p:sp>
        <p:nvSpPr>
          <p:cNvPr id="14" name="文本框 35">
            <a:extLst>
              <a:ext uri="{FF2B5EF4-FFF2-40B4-BE49-F238E27FC236}">
                <a16:creationId xmlns:a16="http://schemas.microsoft.com/office/drawing/2014/main" id="{DB514CE0-CA6E-7EA1-B116-7CE56D3A8828}"/>
              </a:ext>
            </a:extLst>
          </p:cNvPr>
          <p:cNvSpPr txBox="1"/>
          <p:nvPr/>
        </p:nvSpPr>
        <p:spPr>
          <a:xfrm>
            <a:off x="2736452" y="3640011"/>
            <a:ext cx="3667065" cy="9586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gn="r">
              <a:lnSpc>
                <a:spcPct val="130000"/>
              </a:lnSpc>
              <a:defRPr sz="1200" spc="148">
                <a:solidFill>
                  <a:srgbClr val="535353"/>
                </a:solidFill>
                <a:latin typeface="PingFang SC Regular"/>
                <a:ea typeface="PingFang SC Regular"/>
                <a:cs typeface="PingFang SC Regular"/>
                <a:sym typeface="PingFang SC Regular"/>
              </a:defRPr>
            </a:lvl1pPr>
          </a:lstStyle>
          <a:p>
            <a:pPr algn="l"/>
            <a:r>
              <a:rPr lang="zh-CN" altLang="en-US" sz="1100" b="1"/>
              <a:t>代码解释器</a:t>
            </a:r>
            <a:r>
              <a:rPr lang="zh-CN" altLang="en-US" sz="1100"/>
              <a:t>：接入互联网成功弥补自身短板</a:t>
            </a:r>
            <a:endParaRPr lang="en-US" altLang="zh-CN" sz="1100"/>
          </a:p>
          <a:p>
            <a:pPr algn="l"/>
            <a:r>
              <a:rPr lang="zh-CN" altLang="en-US" sz="1100" b="1"/>
              <a:t>检索器</a:t>
            </a:r>
            <a:r>
              <a:rPr lang="zh-CN" altLang="en-US" sz="1100"/>
              <a:t>：编程变革，支持基于本地磁盘构建沙盒，执行数学问题、数据分析、可视化和文件格式转换等任务；将高度可能替代初级程序员</a:t>
            </a:r>
            <a:endParaRPr sz="1100"/>
          </a:p>
        </p:txBody>
      </p:sp>
      <p:sp>
        <p:nvSpPr>
          <p:cNvPr id="15" name="文本框 21">
            <a:extLst>
              <a:ext uri="{FF2B5EF4-FFF2-40B4-BE49-F238E27FC236}">
                <a16:creationId xmlns:a16="http://schemas.microsoft.com/office/drawing/2014/main" id="{9CB32FAF-B987-5DCA-A2B1-C4303D2C70CF}"/>
              </a:ext>
            </a:extLst>
          </p:cNvPr>
          <p:cNvSpPr txBox="1"/>
          <p:nvPr/>
        </p:nvSpPr>
        <p:spPr>
          <a:xfrm>
            <a:off x="2718644" y="3276794"/>
            <a:ext cx="1351158" cy="4125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110000"/>
              </a:lnSpc>
              <a:defRPr sz="4000" spc="400">
                <a:solidFill>
                  <a:srgbClr val="2151D1"/>
                </a:solidFill>
                <a:latin typeface="DIN Alternate Bold"/>
                <a:ea typeface="DIN Alternate Bold"/>
                <a:cs typeface="DIN Alternate Bold"/>
                <a:sym typeface="DIN Alternate Bold"/>
              </a:defRPr>
            </a:lvl1pPr>
          </a:lstStyle>
          <a:p>
            <a:r>
              <a:rPr sz="2000"/>
              <a:t>0</a:t>
            </a:r>
            <a:r>
              <a:rPr lang="en-US" sz="2000"/>
              <a:t>3</a:t>
            </a:r>
            <a:endParaRPr sz="2000"/>
          </a:p>
        </p:txBody>
      </p:sp>
      <p:pic>
        <p:nvPicPr>
          <p:cNvPr id="3" name="Picture 2">
            <a:extLst>
              <a:ext uri="{FF2B5EF4-FFF2-40B4-BE49-F238E27FC236}">
                <a16:creationId xmlns:a16="http://schemas.microsoft.com/office/drawing/2014/main" id="{E4B0C23C-A16F-2DB1-8A02-3A4AC614EC05}"/>
              </a:ext>
            </a:extLst>
          </p:cNvPr>
          <p:cNvPicPr>
            <a:picLocks noChangeAspect="1"/>
          </p:cNvPicPr>
          <p:nvPr/>
        </p:nvPicPr>
        <p:blipFill>
          <a:blip r:embed="rId4"/>
          <a:stretch>
            <a:fillRect/>
          </a:stretch>
        </p:blipFill>
        <p:spPr>
          <a:xfrm>
            <a:off x="181744" y="2620619"/>
            <a:ext cx="7772400" cy="2456114"/>
          </a:xfrm>
          <a:prstGeom prst="rect">
            <a:avLst/>
          </a:prstGeom>
        </p:spPr>
      </p:pic>
    </p:spTree>
    <p:extLst>
      <p:ext uri="{BB962C8B-B14F-4D97-AF65-F5344CB8AC3E}">
        <p14:creationId xmlns:p14="http://schemas.microsoft.com/office/powerpoint/2010/main" val="2476743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403648" y="3777302"/>
            <a:ext cx="3247682" cy="738664"/>
            <a:chOff x="807960" y="3838822"/>
            <a:chExt cx="3247682" cy="738664"/>
          </a:xfrm>
        </p:grpSpPr>
        <p:sp>
          <p:nvSpPr>
            <p:cNvPr id="7" name="TextBox 1"/>
            <p:cNvSpPr txBox="1"/>
            <p:nvPr/>
          </p:nvSpPr>
          <p:spPr>
            <a:xfrm>
              <a:off x="1463354" y="3838822"/>
              <a:ext cx="2592288" cy="738664"/>
            </a:xfrm>
            <a:prstGeom prst="rect">
              <a:avLst/>
            </a:prstGeom>
            <a:noFill/>
          </p:spPr>
          <p:txBody>
            <a:bodyPr wrap="square" rtlCol="0">
              <a:spAutoFit/>
            </a:bodyPr>
            <a:lstStyle/>
            <a:p>
              <a:r>
                <a:rPr lang="zh-CN" altLang="en-US" sz="1050" dirty="0">
                  <a:solidFill>
                    <a:srgbClr val="47566C"/>
                  </a:solidFill>
                  <a:latin typeface="微软雅黑" panose="020B0503020204020204" pitchFamily="34" charset="-122"/>
                  <a:ea typeface="微软雅黑" panose="020B0503020204020204" pitchFamily="34" charset="-122"/>
                </a:rPr>
                <a:t>恒生电子股份有限公司</a:t>
              </a:r>
              <a:endParaRPr lang="en-US" altLang="zh-CN" sz="1050" dirty="0">
                <a:solidFill>
                  <a:srgbClr val="47566C"/>
                </a:solidFill>
                <a:latin typeface="微软雅黑" panose="020B0503020204020204" pitchFamily="34" charset="-122"/>
                <a:ea typeface="微软雅黑" panose="020B0503020204020204" pitchFamily="34" charset="-122"/>
              </a:endParaRPr>
            </a:p>
            <a:p>
              <a:r>
                <a:rPr lang="en-US" altLang="zh-CN" sz="1050" dirty="0">
                  <a:solidFill>
                    <a:srgbClr val="47566C"/>
                  </a:solidFill>
                  <a:latin typeface="微软雅黑" panose="020B0503020204020204" pitchFamily="34" charset="-122"/>
                  <a:ea typeface="微软雅黑" panose="020B0503020204020204" pitchFamily="34" charset="-122"/>
                </a:rPr>
                <a:t>HUNDSUN TECHNOLOGIES INC.</a:t>
              </a:r>
            </a:p>
            <a:p>
              <a:r>
                <a:rPr lang="en-US" altLang="zh-CN" sz="1050" dirty="0">
                  <a:solidFill>
                    <a:srgbClr val="47566C"/>
                  </a:solidFill>
                  <a:latin typeface="微软雅黑" panose="020B0503020204020204" pitchFamily="34" charset="-122"/>
                  <a:ea typeface="微软雅黑" panose="020B0503020204020204" pitchFamily="34" charset="-122"/>
                </a:rPr>
                <a:t>+86 571-28828888</a:t>
              </a:r>
            </a:p>
            <a:p>
              <a:r>
                <a:rPr lang="en-US" altLang="zh-CN" sz="1050" dirty="0">
                  <a:solidFill>
                    <a:srgbClr val="47566C"/>
                  </a:solidFill>
                  <a:latin typeface="微软雅黑" panose="020B0503020204020204" pitchFamily="34" charset="-122"/>
                  <a:ea typeface="微软雅黑" panose="020B0503020204020204" pitchFamily="34" charset="-122"/>
                </a:rPr>
                <a:t>www.hundsun.com</a:t>
              </a:r>
              <a:endParaRPr lang="zh-CN" altLang="en-US" sz="1050" dirty="0">
                <a:solidFill>
                  <a:srgbClr val="47566C"/>
                </a:solidFill>
                <a:latin typeface="微软雅黑" panose="020B0503020204020204" pitchFamily="34" charset="-122"/>
                <a:ea typeface="微软雅黑" panose="020B0503020204020204" pitchFamily="34" charset="-122"/>
              </a:endParaRPr>
            </a:p>
          </p:txBody>
        </p:sp>
        <p:pic>
          <p:nvPicPr>
            <p:cNvPr id="8" name="Picture 2" descr="C:\Users\yangxiao14590\Desktop\qrcode_for_gh_e0a7a1b1dada_1280-(1).jpg"/>
            <p:cNvPicPr>
              <a:picLocks noChangeAspect="1" noChangeArrowheads="1"/>
            </p:cNvPicPr>
            <p:nvPr/>
          </p:nvPicPr>
          <p:blipFill>
            <a:blip r:embed="rId2" cstate="screen"/>
            <a:srcRect/>
            <a:stretch>
              <a:fillRect/>
            </a:stretch>
          </p:blipFill>
          <p:spPr bwMode="auto">
            <a:xfrm>
              <a:off x="807960" y="3883664"/>
              <a:ext cx="656084" cy="656084"/>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矩形 8"/>
          <p:cNvSpPr/>
          <p:nvPr/>
        </p:nvSpPr>
        <p:spPr>
          <a:xfrm>
            <a:off x="647564" y="4659982"/>
            <a:ext cx="7848872" cy="215444"/>
          </a:xfrm>
          <a:prstGeom prst="rect">
            <a:avLst/>
          </a:prstGeom>
        </p:spPr>
        <p:txBody>
          <a:bodyPr wrap="square">
            <a:spAutoFit/>
          </a:bodyPr>
          <a:lstStyle/>
          <a:p>
            <a:pPr algn="ctr"/>
            <a:r>
              <a:rPr lang="zh-CN" altLang="en-US" sz="800" dirty="0">
                <a:solidFill>
                  <a:srgbClr val="47566C"/>
                </a:solidFill>
                <a:latin typeface="微软雅黑" panose="020B0503020204020204" pitchFamily="34" charset="-122"/>
                <a:ea typeface="微软雅黑" panose="020B0503020204020204" pitchFamily="34" charset="-122"/>
              </a:rPr>
              <a:t>版权（报告、PPT、演讲内容）仅为恒生电子所有，未经书面许可，任何机构和个人不得以任何形式转发、翻版、复制、刊登、发表或引用。</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08cbc63a-f395-49d2-b2a4-8f4869f23985"/>
  <p:tag name="COMMONDATA" val="eyJoZGlkIjoiMGNjZDNhZjc3OTk2ZjAwOWYyYjg0Mjc4MDY2NWFmMTg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dla3lyl">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941</TotalTime>
  <Words>2516</Words>
  <Application>Microsoft Macintosh PowerPoint</Application>
  <PresentationFormat>On-screen Show (16:9)</PresentationFormat>
  <Paragraphs>171</Paragraphs>
  <Slides>36</Slides>
  <Notes>30</Notes>
  <HiddenSlides>0</HiddenSlides>
  <MMClips>0</MMClips>
  <ScaleCrop>false</ScaleCrop>
  <HeadingPairs>
    <vt:vector size="8" baseType="variant">
      <vt:variant>
        <vt:lpstr>Fonts Used</vt:lpstr>
      </vt:variant>
      <vt:variant>
        <vt:i4>14</vt:i4>
      </vt:variant>
      <vt:variant>
        <vt:lpstr>Theme</vt:lpstr>
      </vt:variant>
      <vt:variant>
        <vt:i4>2</vt:i4>
      </vt:variant>
      <vt:variant>
        <vt:lpstr>Embedded OLE Servers</vt:lpstr>
      </vt:variant>
      <vt:variant>
        <vt:i4>1</vt:i4>
      </vt:variant>
      <vt:variant>
        <vt:lpstr>Slide Titles</vt:lpstr>
      </vt:variant>
      <vt:variant>
        <vt:i4>36</vt:i4>
      </vt:variant>
    </vt:vector>
  </HeadingPairs>
  <TitlesOfParts>
    <vt:vector size="53" baseType="lpstr">
      <vt:lpstr>等线</vt:lpstr>
      <vt:lpstr>Maiandra GD</vt:lpstr>
      <vt:lpstr>微软雅黑</vt:lpstr>
      <vt:lpstr>MS Gothic</vt:lpstr>
      <vt:lpstr>MS UI Gothic</vt:lpstr>
      <vt:lpstr>NSimSun</vt:lpstr>
      <vt:lpstr>PingFang SC Regular</vt:lpstr>
      <vt:lpstr>PingFang SC Semibold</vt:lpstr>
      <vt:lpstr>Segoe UI Light</vt:lpstr>
      <vt:lpstr>Arial</vt:lpstr>
      <vt:lpstr>Calibri</vt:lpstr>
      <vt:lpstr>DIN Alternate Bold</vt:lpstr>
      <vt:lpstr>Impact</vt:lpstr>
      <vt:lpstr>Wingdings</vt:lpstr>
      <vt:lpstr>Office 主题​​</vt:lpstr>
      <vt:lpstr>1_Office 主题​​</vt:lpstr>
      <vt:lpstr>think-cell Slide</vt:lpstr>
      <vt:lpstr>LLM技术架构&amp;行业应用</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恒生电子2023PPT模板</dc:title>
  <dc:creator>恒生电子</dc:creator>
  <cp:lastModifiedBy>Frank Ng</cp:lastModifiedBy>
  <cp:revision>236</cp:revision>
  <dcterms:created xsi:type="dcterms:W3CDTF">2023-02-13T06:30:00Z</dcterms:created>
  <dcterms:modified xsi:type="dcterms:W3CDTF">2023-07-03T14:42:20Z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8C58823DCD1D4B87838FF361CF27CD7A</vt:lpwstr>
  </property>
</Properties>
</file>