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8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0" r:id="rId12"/>
  </p:sldIdLst>
  <p:sldSz cx="12192000" cy="6858000"/>
  <p:notesSz cx="6858000" cy="9144000"/>
  <p:defaultTextStyle>
    <a:defPPr marL="0" marR="0" indent="0" algn="l" defTabSz="4572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4127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114300" algn="ctr" defTabSz="4127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228600" algn="ctr" defTabSz="4127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342900" algn="ctr" defTabSz="4127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457200" algn="ctr" defTabSz="4127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571500" algn="ctr" defTabSz="4127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685800" algn="ctr" defTabSz="4127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800100" algn="ctr" defTabSz="4127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914400" algn="ctr" defTabSz="41275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5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4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05" autoAdjust="0"/>
    <p:restoredTop sz="94643"/>
  </p:normalViewPr>
  <p:slideViewPr>
    <p:cSldViewPr snapToGrid="0" showGuides="1">
      <p:cViewPr varScale="1">
        <p:scale>
          <a:sx n="100" d="100"/>
          <a:sy n="100" d="100"/>
        </p:scale>
        <p:origin x="88" y="11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082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72E603-5D1B-4CBE-8096-20BCEF5B30C0}" type="datetimeFigureOut">
              <a:rPr lang="zh-CN" altLang="en-US" smtClean="0"/>
              <a:t>2019-12-31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89F8B3-A901-43B7-8EA2-FB7D82D101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56538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10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5" name="Shape 10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20729234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1pPr>
    <a:lvl2pPr indent="1143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2pPr>
    <a:lvl3pPr indent="2286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3pPr>
    <a:lvl4pPr indent="3429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4pPr>
    <a:lvl5pPr indent="4572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5pPr>
    <a:lvl6pPr indent="5715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6pPr>
    <a:lvl7pPr indent="6858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7pPr>
    <a:lvl8pPr indent="8001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8pPr>
    <a:lvl9pPr indent="9144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tif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与副标题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2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1103" y="5693664"/>
            <a:ext cx="3278234" cy="111238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4905" y="5905096"/>
            <a:ext cx="3630629" cy="900953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 - 居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295" y="100723"/>
            <a:ext cx="2577583" cy="87463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8819" y="303007"/>
            <a:ext cx="3168222" cy="786205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垂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8819" y="303007"/>
            <a:ext cx="3168222" cy="786205"/>
          </a:xfrm>
          <a:prstGeom prst="rect">
            <a:avLst/>
          </a:prstGeom>
        </p:spPr>
      </p:pic>
      <p:sp>
        <p:nvSpPr>
          <p:cNvPr id="26" name="Shape 26"/>
          <p:cNvSpPr>
            <a:spLocks noGrp="1"/>
          </p:cNvSpPr>
          <p:nvPr>
            <p:ph type="pic" sz="half" idx="13"/>
          </p:nvPr>
        </p:nvSpPr>
        <p:spPr>
          <a:xfrm>
            <a:off x="6582990" y="552450"/>
            <a:ext cx="4762501" cy="5753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r>
              <a:rPr lang="zh-CN" altLang="en-US" smtClean="0"/>
              <a:t>将图片拖动到占位符，或单击添加图标</a:t>
            </a:r>
            <a:endParaRPr/>
          </a:p>
        </p:txBody>
      </p:sp>
      <p:sp>
        <p:nvSpPr>
          <p:cNvPr id="27" name="Shape 27"/>
          <p:cNvSpPr>
            <a:spLocks noGrp="1"/>
          </p:cNvSpPr>
          <p:nvPr>
            <p:ph type="title"/>
          </p:nvPr>
        </p:nvSpPr>
        <p:spPr>
          <a:xfrm>
            <a:off x="825500" y="552450"/>
            <a:ext cx="5111750" cy="2806700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zh-CN" altLang="en-US" smtClean="0"/>
              <a:t>单击此处编辑母版标题样式</a:t>
            </a:r>
            <a:endParaRPr/>
          </a:p>
        </p:txBody>
      </p:sp>
      <p:sp>
        <p:nvSpPr>
          <p:cNvPr id="28" name="Shape 28"/>
          <p:cNvSpPr>
            <a:spLocks noGrp="1"/>
          </p:cNvSpPr>
          <p:nvPr>
            <p:ph type="body" sz="quarter" idx="1"/>
          </p:nvPr>
        </p:nvSpPr>
        <p:spPr>
          <a:xfrm>
            <a:off x="825500" y="3422650"/>
            <a:ext cx="5111750" cy="28829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2200"/>
            </a:lvl1pPr>
            <a:lvl2pPr marL="0" indent="114300" algn="ctr">
              <a:spcBef>
                <a:spcPts val="0"/>
              </a:spcBef>
              <a:buSzTx/>
              <a:buNone/>
              <a:defRPr sz="2200"/>
            </a:lvl2pPr>
            <a:lvl3pPr marL="0" indent="228600" algn="ctr">
              <a:spcBef>
                <a:spcPts val="0"/>
              </a:spcBef>
              <a:buSzTx/>
              <a:buNone/>
              <a:defRPr sz="2200"/>
            </a:lvl3pPr>
            <a:lvl4pPr marL="0" indent="342900" algn="ctr">
              <a:spcBef>
                <a:spcPts val="0"/>
              </a:spcBef>
              <a:buSzTx/>
              <a:buNone/>
              <a:defRPr sz="2200"/>
            </a:lvl4pPr>
            <a:lvl5pPr marL="0" indent="457200" algn="ctr">
              <a:spcBef>
                <a:spcPts val="0"/>
              </a:spcBef>
              <a:buSzTx/>
              <a:buNone/>
              <a:defRPr sz="2200"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dirty="0"/>
          </a:p>
        </p:txBody>
      </p:sp>
      <p:sp>
        <p:nvSpPr>
          <p:cNvPr id="29" name="Shape 2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 - 顶部对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8819" y="303007"/>
            <a:ext cx="3168222" cy="786205"/>
          </a:xfrm>
          <a:prstGeom prst="rect">
            <a:avLst/>
          </a:prstGeom>
        </p:spPr>
      </p:pic>
      <p:sp>
        <p:nvSpPr>
          <p:cNvPr id="36" name="Shape 36"/>
          <p:cNvSpPr>
            <a:spLocks noGrp="1"/>
          </p:cNvSpPr>
          <p:nvPr>
            <p:ph type="title"/>
          </p:nvPr>
        </p:nvSpPr>
        <p:spPr>
          <a:xfrm>
            <a:off x="844550" y="800100"/>
            <a:ext cx="10502900" cy="5762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 smtClean="0"/>
              <a:t>单击此处编辑母版标题样式</a:t>
            </a:r>
            <a:endParaRPr dirty="0"/>
          </a:p>
        </p:txBody>
      </p:sp>
      <p:sp>
        <p:nvSpPr>
          <p:cNvPr id="37" name="Shape 37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>
            <a:spLocks noGrp="1"/>
          </p:cNvSpPr>
          <p:nvPr>
            <p:ph type="title"/>
          </p:nvPr>
        </p:nvSpPr>
        <p:spPr>
          <a:xfrm>
            <a:off x="844550" y="800100"/>
            <a:ext cx="10502900" cy="5762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 smtClean="0"/>
              <a:t>单击此处编辑母版标题样式</a:t>
            </a:r>
            <a:endParaRPr dirty="0"/>
          </a:p>
        </p:txBody>
      </p:sp>
      <p:sp>
        <p:nvSpPr>
          <p:cNvPr id="45" name="Shape 45"/>
          <p:cNvSpPr>
            <a:spLocks noGrp="1"/>
          </p:cNvSpPr>
          <p:nvPr>
            <p:ph type="body" idx="1"/>
          </p:nvPr>
        </p:nvSpPr>
        <p:spPr>
          <a:xfrm>
            <a:off x="844550" y="1592262"/>
            <a:ext cx="10502900" cy="4630737"/>
          </a:xfrm>
          <a:prstGeom prst="rect">
            <a:avLst/>
          </a:prstGeom>
        </p:spPr>
        <p:txBody>
          <a:bodyPr anchor="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dirty="0"/>
          </a:p>
        </p:txBody>
      </p:sp>
      <p:sp>
        <p:nvSpPr>
          <p:cNvPr id="46" name="Shape 4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8819" y="303007"/>
            <a:ext cx="3168222" cy="786205"/>
          </a:xfrm>
          <a:prstGeom prst="rect">
            <a:avLst/>
          </a:prstGeom>
        </p:spPr>
      </p:pic>
    </p:spTree>
  </p:cSld>
  <p:clrMapOvr>
    <a:masterClrMapping/>
  </p:clrMapOvr>
  <p:transition spd="med"/>
  <p:extLst mod="1"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53"/>
          <p:cNvSpPr>
            <a:spLocks noGrp="1"/>
          </p:cNvSpPr>
          <p:nvPr>
            <p:ph type="pic" sz="half" idx="13"/>
          </p:nvPr>
        </p:nvSpPr>
        <p:spPr>
          <a:xfrm>
            <a:off x="6584950" y="1592263"/>
            <a:ext cx="4762500" cy="463073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r>
              <a:rPr lang="zh-CN" altLang="en-US" smtClean="0"/>
              <a:t>将图片拖动到占位符，或单击添加图标</a:t>
            </a:r>
            <a:endParaRPr/>
          </a:p>
        </p:txBody>
      </p:sp>
      <p:sp>
        <p:nvSpPr>
          <p:cNvPr id="54" name="Shape 54"/>
          <p:cNvSpPr>
            <a:spLocks noGrp="1"/>
          </p:cNvSpPr>
          <p:nvPr>
            <p:ph type="title"/>
          </p:nvPr>
        </p:nvSpPr>
        <p:spPr>
          <a:xfrm>
            <a:off x="844550" y="800100"/>
            <a:ext cx="10502900" cy="5762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/>
          </a:p>
        </p:txBody>
      </p:sp>
      <p:sp>
        <p:nvSpPr>
          <p:cNvPr id="55" name="Shape 55"/>
          <p:cNvSpPr>
            <a:spLocks noGrp="1"/>
          </p:cNvSpPr>
          <p:nvPr>
            <p:ph type="body" sz="half" idx="1"/>
          </p:nvPr>
        </p:nvSpPr>
        <p:spPr>
          <a:xfrm>
            <a:off x="844550" y="1592263"/>
            <a:ext cx="5003800" cy="4630737"/>
          </a:xfrm>
          <a:prstGeom prst="rect">
            <a:avLst/>
          </a:prstGeom>
        </p:spPr>
        <p:txBody>
          <a:bodyPr>
            <a:normAutofit/>
          </a:bodyPr>
          <a:lstStyle>
            <a:lvl1pPr marL="279400" marR="0" indent="-279400" algn="l" defTabSz="412750" rtl="0" latinLnBrk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tabLst/>
              <a:defRPr sz="2400" b="0" i="0" u="none" strike="noStrike" cap="none" spc="0" baseline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558800" marR="0" indent="-279400" algn="l" defTabSz="412750" rtl="0" latinLnBrk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tabLst/>
              <a:defRPr sz="2000" b="0" i="0" u="none" strike="noStrike" cap="none" spc="0" baseline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838200" marR="0" indent="-279400" algn="l" defTabSz="412750" rtl="0" latinLnBrk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tabLst/>
              <a:defRPr sz="2000" b="0" i="0" u="none" strike="noStrike" cap="none" spc="0" baseline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1117600" marR="0" indent="-279400" algn="l" defTabSz="412750" rtl="0" latinLnBrk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tabLst/>
              <a:defRPr sz="2000" b="0" i="0" u="none" strike="noStrike" cap="none" spc="0" baseline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1397000" marR="0" indent="-279400" algn="l" defTabSz="412750" rtl="0" latinLnBrk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Tx/>
              <a:buSzPct val="75000"/>
              <a:buFontTx/>
              <a:tabLst/>
              <a:defRPr sz="2000" b="0" i="0" u="none" strike="noStrike" cap="none" spc="0" baseline="0" dirty="0">
                <a:ln>
                  <a:noFill/>
                </a:ln>
                <a:solidFill>
                  <a:schemeClr val="tx1">
                    <a:lumMod val="75000"/>
                  </a:schemeClr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dirty="0"/>
          </a:p>
        </p:txBody>
      </p:sp>
      <p:sp>
        <p:nvSpPr>
          <p:cNvPr id="56" name="Shape 5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8819" y="303007"/>
            <a:ext cx="3168222" cy="78620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>
            <a:spLocks noGrp="1"/>
          </p:cNvSpPr>
          <p:nvPr>
            <p:ph type="body" idx="1"/>
          </p:nvPr>
        </p:nvSpPr>
        <p:spPr>
          <a:xfrm>
            <a:off x="844550" y="1268413"/>
            <a:ext cx="10502900" cy="469423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/>
          </a:p>
        </p:txBody>
      </p:sp>
      <p:sp>
        <p:nvSpPr>
          <p:cNvPr id="64" name="Shape 6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8819" y="303007"/>
            <a:ext cx="3168222" cy="78620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>
            <a:spLocks noGrp="1"/>
          </p:cNvSpPr>
          <p:nvPr>
            <p:ph type="pic" sz="quarter" idx="13"/>
          </p:nvPr>
        </p:nvSpPr>
        <p:spPr>
          <a:xfrm>
            <a:off x="7880350" y="3851200"/>
            <a:ext cx="3702050" cy="2448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r>
              <a:rPr lang="zh-CN" altLang="en-US" smtClean="0"/>
              <a:t>将图片拖动到占位符，或单击添加图标</a:t>
            </a:r>
            <a:endParaRPr/>
          </a:p>
        </p:txBody>
      </p:sp>
      <p:sp>
        <p:nvSpPr>
          <p:cNvPr id="72" name="Shape 72"/>
          <p:cNvSpPr>
            <a:spLocks noGrp="1"/>
          </p:cNvSpPr>
          <p:nvPr>
            <p:ph type="pic" sz="quarter" idx="14"/>
          </p:nvPr>
        </p:nvSpPr>
        <p:spPr>
          <a:xfrm>
            <a:off x="7880350" y="1268414"/>
            <a:ext cx="3702050" cy="2448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r>
              <a:rPr lang="zh-CN" altLang="en-US" smtClean="0"/>
              <a:t>将图片拖动到占位符，或单击添加图标</a:t>
            </a:r>
            <a:endParaRPr/>
          </a:p>
        </p:txBody>
      </p:sp>
      <p:sp>
        <p:nvSpPr>
          <p:cNvPr id="73" name="Shape 73"/>
          <p:cNvSpPr>
            <a:spLocks noGrp="1"/>
          </p:cNvSpPr>
          <p:nvPr>
            <p:ph type="pic" idx="15"/>
          </p:nvPr>
        </p:nvSpPr>
        <p:spPr>
          <a:xfrm>
            <a:off x="603250" y="1268414"/>
            <a:ext cx="7086600" cy="5030786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r>
              <a:rPr lang="zh-CN" altLang="en-US" smtClean="0"/>
              <a:t>将图片拖动到占位符，或单击添加图标</a:t>
            </a:r>
            <a:endParaRPr/>
          </a:p>
        </p:txBody>
      </p:sp>
      <p:sp>
        <p:nvSpPr>
          <p:cNvPr id="74" name="Shape 7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8819" y="303007"/>
            <a:ext cx="3168222" cy="78620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>
            <a:spLocks noGrp="1"/>
          </p:cNvSpPr>
          <p:nvPr>
            <p:ph type="body" sz="quarter" idx="13"/>
          </p:nvPr>
        </p:nvSpPr>
        <p:spPr>
          <a:xfrm>
            <a:off x="1193800" y="4476750"/>
            <a:ext cx="9810750" cy="39498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1900"/>
            </a:lvl1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82" name="Shape 82"/>
          <p:cNvSpPr>
            <a:spLocks noGrp="1"/>
          </p:cNvSpPr>
          <p:nvPr>
            <p:ph type="body" sz="quarter" idx="14"/>
          </p:nvPr>
        </p:nvSpPr>
        <p:spPr>
          <a:xfrm>
            <a:off x="1193800" y="2312760"/>
            <a:ext cx="9810750" cy="841256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200"/>
            </a:lvl1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83" name="Shape 8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8819" y="303007"/>
            <a:ext cx="3168222" cy="786205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43809" y="5720492"/>
            <a:ext cx="4356100" cy="508000"/>
          </a:xfrm>
          <a:prstGeom prst="rect">
            <a:avLst/>
          </a:prstGeom>
        </p:spPr>
      </p:pic>
      <p:sp>
        <p:nvSpPr>
          <p:cNvPr id="98" name="Shape 9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2" name="矩形 1"/>
          <p:cNvSpPr/>
          <p:nvPr userDrawn="1"/>
        </p:nvSpPr>
        <p:spPr>
          <a:xfrm>
            <a:off x="5099573" y="5835992"/>
            <a:ext cx="199285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CN" sz="1200" b="1" dirty="0" smtClean="0">
                <a:solidFill>
                  <a:schemeClr val="bg1"/>
                </a:solidFill>
              </a:rPr>
              <a:t>https://tgo.geekbang.org</a:t>
            </a:r>
            <a:endParaRPr lang="zh-CN" altLang="en-US" sz="1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844550" y="800101"/>
            <a:ext cx="10502900" cy="5696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noAutofit/>
          </a:bodyPr>
          <a:lstStyle/>
          <a:p>
            <a:r>
              <a:rPr lang="zh-CN" altLang="en-US" dirty="0" smtClean="0"/>
              <a:t>在此输入标题</a:t>
            </a:r>
            <a:endParaRPr dirty="0"/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844550" y="1557338"/>
            <a:ext cx="10502900" cy="4665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t">
            <a:normAutofit/>
          </a:bodyPr>
          <a:lstStyle/>
          <a:p>
            <a:r>
              <a:rPr dirty="0" smtClean="0"/>
              <a:t>正</a:t>
            </a:r>
            <a:r>
              <a:rPr lang="zh-CN" altLang="en-US" dirty="0" smtClean="0"/>
              <a:t>文</a:t>
            </a:r>
            <a:r>
              <a:rPr dirty="0" err="1" smtClean="0"/>
              <a:t>级别</a:t>
            </a:r>
            <a:r>
              <a:rPr dirty="0" smtClean="0"/>
              <a:t> </a:t>
            </a:r>
            <a:r>
              <a:rPr dirty="0"/>
              <a:t>1</a:t>
            </a:r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5926113" y="6540500"/>
            <a:ext cx="333426" cy="28725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9" r:id="rId10"/>
  </p:sldLayoutIdLst>
  <p:transition spd="med"/>
  <p:txStyles>
    <p:titleStyle>
      <a:lvl1pPr marL="0" marR="0" indent="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1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1143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2286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3429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4572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5715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6858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8001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9144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0" marR="0" indent="0" algn="l" defTabSz="412750" rtl="0" eaLnBrk="1" latinLnBrk="0" hangingPunct="1">
        <a:lnSpc>
          <a:spcPct val="150000"/>
        </a:lnSpc>
        <a:spcBef>
          <a:spcPts val="600"/>
        </a:spcBef>
        <a:spcAft>
          <a:spcPts val="600"/>
        </a:spcAft>
        <a:buClrTx/>
        <a:buSzPct val="75000"/>
        <a:buFontTx/>
        <a:buNone/>
        <a:tabLst/>
        <a:defRPr sz="2400" b="0" i="0" u="none" strike="noStrike" cap="none" spc="0" baseline="0">
          <a:ln>
            <a:noFill/>
          </a:ln>
          <a:solidFill>
            <a:schemeClr val="tx1">
              <a:lumMod val="75000"/>
            </a:schemeClr>
          </a:solidFill>
          <a:uFillTx/>
          <a:latin typeface="+mn-lt"/>
          <a:ea typeface="+mn-ea"/>
          <a:cs typeface="+mn-cs"/>
          <a:sym typeface="Helvetica Light"/>
        </a:defRPr>
      </a:lvl1pPr>
      <a:lvl2pPr marL="635000" marR="0" indent="-317500" algn="l" defTabSz="412750" rtl="0" eaLnBrk="1" latinLnBrk="0" hangingPunct="1">
        <a:lnSpc>
          <a:spcPct val="150000"/>
        </a:lnSpc>
        <a:spcBef>
          <a:spcPts val="600"/>
        </a:spcBef>
        <a:spcAft>
          <a:spcPts val="600"/>
        </a:spcAft>
        <a:buClrTx/>
        <a:buSzPct val="75000"/>
        <a:buFontTx/>
        <a:buChar char="•"/>
        <a:tabLst/>
        <a:defRPr sz="2000" b="0" i="0" u="none" strike="noStrike" cap="none" spc="0" baseline="0">
          <a:ln>
            <a:noFill/>
          </a:ln>
          <a:solidFill>
            <a:schemeClr val="tx1">
              <a:lumMod val="75000"/>
            </a:schemeClr>
          </a:solidFill>
          <a:uFillTx/>
          <a:latin typeface="+mn-lt"/>
          <a:ea typeface="+mn-ea"/>
          <a:cs typeface="+mn-cs"/>
          <a:sym typeface="Helvetica Light"/>
        </a:defRPr>
      </a:lvl2pPr>
      <a:lvl3pPr marL="952500" marR="0" indent="-317500" algn="l" defTabSz="412750" rtl="0" eaLnBrk="1" latinLnBrk="0" hangingPunct="1">
        <a:lnSpc>
          <a:spcPct val="150000"/>
        </a:lnSpc>
        <a:spcBef>
          <a:spcPts val="600"/>
        </a:spcBef>
        <a:spcAft>
          <a:spcPts val="600"/>
        </a:spcAft>
        <a:buClrTx/>
        <a:buSzPct val="75000"/>
        <a:buFontTx/>
        <a:buChar char="•"/>
        <a:tabLst/>
        <a:defRPr sz="2000" b="0" i="0" u="none" strike="noStrike" cap="none" spc="0" baseline="0">
          <a:ln>
            <a:noFill/>
          </a:ln>
          <a:solidFill>
            <a:schemeClr val="tx1">
              <a:lumMod val="75000"/>
            </a:schemeClr>
          </a:solidFill>
          <a:uFillTx/>
          <a:latin typeface="+mn-lt"/>
          <a:ea typeface="+mn-ea"/>
          <a:cs typeface="+mn-cs"/>
          <a:sym typeface="Helvetica Light"/>
        </a:defRPr>
      </a:lvl3pPr>
      <a:lvl4pPr marL="1270000" marR="0" indent="-317500" algn="l" defTabSz="412750" rtl="0" eaLnBrk="1" latinLnBrk="0" hangingPunct="1">
        <a:lnSpc>
          <a:spcPct val="150000"/>
        </a:lnSpc>
        <a:spcBef>
          <a:spcPts val="600"/>
        </a:spcBef>
        <a:spcAft>
          <a:spcPts val="600"/>
        </a:spcAft>
        <a:buClrTx/>
        <a:buSzPct val="75000"/>
        <a:buFontTx/>
        <a:buChar char="•"/>
        <a:tabLst/>
        <a:defRPr sz="2000" b="0" i="0" u="none" strike="noStrike" cap="none" spc="0" baseline="0">
          <a:ln>
            <a:noFill/>
          </a:ln>
          <a:solidFill>
            <a:schemeClr val="tx1">
              <a:lumMod val="75000"/>
            </a:schemeClr>
          </a:solidFill>
          <a:uFillTx/>
          <a:latin typeface="+mn-lt"/>
          <a:ea typeface="+mn-ea"/>
          <a:cs typeface="+mn-cs"/>
          <a:sym typeface="Helvetica Light"/>
        </a:defRPr>
      </a:lvl4pPr>
      <a:lvl5pPr marL="1587500" marR="0" indent="-317500" algn="l" defTabSz="412750" rtl="0" eaLnBrk="1" latinLnBrk="0" hangingPunct="1">
        <a:lnSpc>
          <a:spcPct val="150000"/>
        </a:lnSpc>
        <a:spcBef>
          <a:spcPts val="600"/>
        </a:spcBef>
        <a:spcAft>
          <a:spcPts val="600"/>
        </a:spcAft>
        <a:buClrTx/>
        <a:buSzPct val="75000"/>
        <a:buFontTx/>
        <a:buChar char="•"/>
        <a:tabLst/>
        <a:defRPr sz="2000" b="0" i="0" u="none" strike="noStrike" cap="none" spc="0" baseline="0">
          <a:ln>
            <a:noFill/>
          </a:ln>
          <a:solidFill>
            <a:schemeClr val="tx1">
              <a:lumMod val="75000"/>
            </a:schemeClr>
          </a:solidFill>
          <a:uFillTx/>
          <a:latin typeface="+mn-lt"/>
          <a:ea typeface="+mn-ea"/>
          <a:cs typeface="+mn-cs"/>
          <a:sym typeface="Helvetica Light"/>
        </a:defRPr>
      </a:lvl5pPr>
      <a:lvl6pPr marL="19050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Tx/>
        <a:buChar char="•"/>
        <a:tabLst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22225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Tx/>
        <a:buChar char="•"/>
        <a:tabLst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25400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Tx/>
        <a:buChar char="•"/>
        <a:tabLst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2857500" marR="0" indent="-317500" algn="l" defTabSz="412750" rtl="0" eaLnBrk="1" latinLnBrk="0" hangingPunct="1">
        <a:lnSpc>
          <a:spcPct val="100000"/>
        </a:lnSpc>
        <a:spcBef>
          <a:spcPts val="2950"/>
        </a:spcBef>
        <a:spcAft>
          <a:spcPts val="0"/>
        </a:spcAft>
        <a:buClrTx/>
        <a:buSzPct val="75000"/>
        <a:buFontTx/>
        <a:buChar char="•"/>
        <a:tabLst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1143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2286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3429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4572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5715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6858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8001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914400" algn="ctr" defTabSz="41275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  <p:extLst mod="1"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  <p15:guide id="3" orient="horz" pos="79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/>
          <p:nvPr/>
        </p:nvSpPr>
        <p:spPr>
          <a:xfrm>
            <a:off x="687662" y="1950344"/>
            <a:ext cx="10943702" cy="1128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140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zh-CN" altLang="en-US" sz="7000">
                <a:latin typeface="DengXian" charset="-122"/>
                <a:ea typeface="DengXian" charset="-122"/>
                <a:cs typeface="DengXian" charset="-122"/>
              </a:rPr>
              <a:t>如</a:t>
            </a:r>
            <a:r>
              <a:rPr lang="zh-CN" altLang="en-US" sz="7000" smtClean="0">
                <a:latin typeface="DengXian" charset="-122"/>
                <a:ea typeface="DengXian" charset="-122"/>
                <a:cs typeface="DengXian" charset="-122"/>
              </a:rPr>
              <a:t>何打造精干型的技术团队</a:t>
            </a:r>
            <a:endParaRPr sz="7000" dirty="0">
              <a:latin typeface="DengXian" charset="-122"/>
              <a:ea typeface="DengXian" charset="-122"/>
              <a:cs typeface="DengXian" charset="-122"/>
            </a:endParaRPr>
          </a:p>
        </p:txBody>
      </p:sp>
      <p:sp>
        <p:nvSpPr>
          <p:cNvPr id="109" name="Shape 109"/>
          <p:cNvSpPr/>
          <p:nvPr/>
        </p:nvSpPr>
        <p:spPr>
          <a:xfrm>
            <a:off x="4827406" y="3251411"/>
            <a:ext cx="2664191" cy="482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zh-CN" altLang="en-US" sz="2800" smtClean="0"/>
              <a:t>吴万港</a:t>
            </a:r>
            <a:r>
              <a:rPr lang="en-US" altLang="zh-CN" sz="2800" smtClean="0"/>
              <a:t>/</a:t>
            </a:r>
            <a:r>
              <a:rPr lang="zh-CN" altLang="en-US" sz="2800" smtClean="0"/>
              <a:t>同盾科技</a:t>
            </a:r>
            <a:endParaRPr sz="2800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技术团队的定位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876800" y="2679700"/>
            <a:ext cx="6565900" cy="2520949"/>
          </a:xfrm>
        </p:spPr>
        <p:txBody>
          <a:bodyPr>
            <a:normAutofit/>
          </a:bodyPr>
          <a:lstStyle/>
          <a:p>
            <a:r>
              <a:rPr lang="zh-CN" altLang="en-US" sz="3200" smtClean="0"/>
              <a:t>出于产品投放市场，从而获取商业利益，实现商业目标和价值，技术作为实现手段而被需要和重视</a:t>
            </a:r>
            <a:endParaRPr lang="zh-CN" altLang="en-US" sz="3200"/>
          </a:p>
        </p:txBody>
      </p:sp>
      <p:pic>
        <p:nvPicPr>
          <p:cNvPr id="1026" name="Picture 2" descr="3D小人疑问ppt图片素材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571" y="1522413"/>
            <a:ext cx="3984230" cy="5134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技术</a:t>
            </a:r>
            <a:r>
              <a:rPr lang="en-US" altLang="zh-CN" smtClean="0"/>
              <a:t>leader</a:t>
            </a:r>
            <a:r>
              <a:rPr lang="zh-CN" altLang="en-US" smtClean="0"/>
              <a:t>具备的素质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44550" y="1592263"/>
            <a:ext cx="5238750" cy="4630737"/>
          </a:xfrm>
        </p:spPr>
        <p:txBody>
          <a:bodyPr>
            <a:normAutofit/>
          </a:bodyPr>
          <a:lstStyle/>
          <a:p>
            <a:r>
              <a:rPr lang="zh-CN" altLang="en-US" sz="2800" smtClean="0"/>
              <a:t>一支高效精干的技术团队需要具备关键技术能力、架构能力、工程能力和产品能力，或许管理者自己本身具备这些优秀的能力，但技术管理是一个综合性岗位，更加要求具备开阔的技术视野、高情商，等等。</a:t>
            </a:r>
            <a:endParaRPr lang="zh-CN" altLang="en-US" sz="28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740978">
            <a:off x="7000875" y="1654175"/>
            <a:ext cx="2419350" cy="21907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1112" y="3740150"/>
            <a:ext cx="2047875" cy="20193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团队阶段一</a:t>
            </a:r>
            <a:r>
              <a:rPr lang="en-US" altLang="zh-CN" smtClean="0"/>
              <a:t>:0</a:t>
            </a:r>
            <a:r>
              <a:rPr lang="zh-CN" altLang="en-US" smtClean="0"/>
              <a:t>到</a:t>
            </a:r>
            <a:r>
              <a:rPr lang="en-US" altLang="zh-CN" smtClean="0"/>
              <a:t>1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781550" y="1657350"/>
            <a:ext cx="6565900" cy="4152900"/>
          </a:xfrm>
        </p:spPr>
        <p:txBody>
          <a:bodyPr>
            <a:normAutofit/>
          </a:bodyPr>
          <a:lstStyle/>
          <a:p>
            <a:r>
              <a:rPr lang="zh-CN" altLang="en-US" sz="3200"/>
              <a:t>团</a:t>
            </a:r>
            <a:r>
              <a:rPr lang="zh-CN" altLang="en-US" sz="3200" smtClean="0"/>
              <a:t>队规模很小，</a:t>
            </a:r>
            <a:r>
              <a:rPr lang="en-US" altLang="zh-CN" sz="3200" smtClean="0"/>
              <a:t>leader</a:t>
            </a:r>
            <a:r>
              <a:rPr lang="zh-CN" altLang="en-US" sz="3200" smtClean="0"/>
              <a:t>就是小组组长，技术很牛，承担培训新人，管理较为简单，不需要太多的管理，核心能力体现在技术上</a:t>
            </a:r>
            <a:endParaRPr lang="zh-CN" altLang="en-US" sz="320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12" y="1958975"/>
            <a:ext cx="4181475" cy="299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43405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团队阶段二</a:t>
            </a:r>
            <a:r>
              <a:rPr lang="en-US" altLang="zh-CN" smtClean="0"/>
              <a:t>:1</a:t>
            </a:r>
            <a:r>
              <a:rPr lang="zh-CN" altLang="en-US" smtClean="0"/>
              <a:t>到</a:t>
            </a:r>
            <a:r>
              <a:rPr lang="en-US" altLang="zh-CN" smtClean="0"/>
              <a:t>10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781550" y="1657350"/>
            <a:ext cx="6565900" cy="4152900"/>
          </a:xfrm>
        </p:spPr>
        <p:txBody>
          <a:bodyPr>
            <a:normAutofit/>
          </a:bodyPr>
          <a:lstStyle/>
          <a:p>
            <a:r>
              <a:rPr lang="zh-CN" altLang="en-US" sz="3200" smtClean="0"/>
              <a:t>团队规模到几十人，需要分工、权责利更加明确，</a:t>
            </a:r>
            <a:r>
              <a:rPr lang="en-US" altLang="zh-CN" sz="3200" smtClean="0"/>
              <a:t>leader</a:t>
            </a:r>
            <a:r>
              <a:rPr lang="zh-CN" altLang="en-US" sz="3200"/>
              <a:t>负</a:t>
            </a:r>
            <a:r>
              <a:rPr lang="zh-CN" altLang="en-US" sz="3200" smtClean="0"/>
              <a:t>责团队方向、技术架构、任务分配、小组成长、团队效率，但此时仍然以业务开发为导向</a:t>
            </a:r>
            <a:endParaRPr lang="en-US" altLang="zh-CN" sz="320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" y="1917700"/>
            <a:ext cx="40386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19057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团队阶段三</a:t>
            </a:r>
            <a:r>
              <a:rPr lang="en-US" altLang="zh-CN" smtClean="0"/>
              <a:t>:10</a:t>
            </a:r>
            <a:r>
              <a:rPr lang="zh-CN" altLang="en-US" smtClean="0"/>
              <a:t>到</a:t>
            </a:r>
            <a:r>
              <a:rPr lang="en-US" altLang="zh-CN" smtClean="0"/>
              <a:t>100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781550" y="1657350"/>
            <a:ext cx="6565900" cy="4152900"/>
          </a:xfrm>
        </p:spPr>
        <p:txBody>
          <a:bodyPr>
            <a:normAutofit/>
          </a:bodyPr>
          <a:lstStyle/>
          <a:p>
            <a:r>
              <a:rPr lang="zh-CN" altLang="en-US" sz="3200"/>
              <a:t>团</a:t>
            </a:r>
            <a:r>
              <a:rPr lang="zh-CN" altLang="en-US" sz="3200" smtClean="0"/>
              <a:t>队分工更加明细、需要专业的架构运维团队、团队责任更加清晰，将演化出不同的业务线，需要你关注</a:t>
            </a:r>
            <a:r>
              <a:rPr lang="zh-CN" altLang="en-US" sz="3200"/>
              <a:t>团</a:t>
            </a:r>
            <a:r>
              <a:rPr lang="zh-CN" altLang="en-US" sz="3200" smtClean="0"/>
              <a:t>队建设、稳定和效率、成本和资源</a:t>
            </a:r>
            <a:endParaRPr lang="en-US" altLang="zh-CN" sz="320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1914525"/>
            <a:ext cx="3352800" cy="245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208403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团队阶段四</a:t>
            </a:r>
            <a:r>
              <a:rPr lang="en-US" altLang="zh-CN" smtClean="0"/>
              <a:t>:</a:t>
            </a:r>
            <a:r>
              <a:rPr lang="zh-CN" altLang="en-US"/>
              <a:t>事业部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781550" y="1657350"/>
            <a:ext cx="6565900" cy="4152900"/>
          </a:xfrm>
        </p:spPr>
        <p:txBody>
          <a:bodyPr>
            <a:normAutofit/>
          </a:bodyPr>
          <a:lstStyle/>
          <a:p>
            <a:r>
              <a:rPr lang="zh-CN" altLang="en-US" sz="3200" smtClean="0"/>
              <a:t>技术和管理融合在一起，成本控制，关注未来，关注战略和商业，以及规划，组织成长，组织文化</a:t>
            </a:r>
            <a:endParaRPr lang="en-US" altLang="zh-CN" sz="320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887" y="1827212"/>
            <a:ext cx="2867025" cy="216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03961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组队方式</a:t>
            </a:r>
            <a:r>
              <a:rPr lang="en-US" altLang="zh-CN" smtClean="0"/>
              <a:t>:</a:t>
            </a:r>
            <a:r>
              <a:rPr lang="zh-CN" altLang="en-US" smtClean="0"/>
              <a:t>从头开始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781550" y="1657350"/>
            <a:ext cx="6565900" cy="4152900"/>
          </a:xfrm>
        </p:spPr>
        <p:txBody>
          <a:bodyPr>
            <a:normAutofit/>
          </a:bodyPr>
          <a:lstStyle/>
          <a:p>
            <a:r>
              <a:rPr lang="zh-CN" altLang="en-US" sz="3200" smtClean="0"/>
              <a:t>正视团队阶段</a:t>
            </a:r>
            <a:endParaRPr lang="en-US" altLang="zh-CN" sz="3200" smtClean="0"/>
          </a:p>
          <a:p>
            <a:r>
              <a:rPr lang="zh-CN" altLang="en-US" sz="3200" smtClean="0"/>
              <a:t>正式需求，业务、技术</a:t>
            </a:r>
            <a:endParaRPr lang="en-US" altLang="zh-CN" sz="3200" smtClean="0"/>
          </a:p>
          <a:p>
            <a:r>
              <a:rPr lang="zh-CN" altLang="en-US" sz="3200" smtClean="0"/>
              <a:t>合胃口、对脾气</a:t>
            </a:r>
            <a:endParaRPr lang="en-US" altLang="zh-CN" sz="320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747837"/>
            <a:ext cx="3124200" cy="221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86891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组队方式</a:t>
            </a:r>
            <a:r>
              <a:rPr lang="en-US" altLang="zh-CN" smtClean="0"/>
              <a:t>:</a:t>
            </a:r>
            <a:r>
              <a:rPr lang="zh-CN" altLang="en-US"/>
              <a:t>空降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781550" y="1657350"/>
            <a:ext cx="6565900" cy="4152900"/>
          </a:xfrm>
        </p:spPr>
        <p:txBody>
          <a:bodyPr>
            <a:normAutofit/>
          </a:bodyPr>
          <a:lstStyle/>
          <a:p>
            <a:r>
              <a:rPr lang="zh-CN" altLang="en-US" sz="3200" smtClean="0"/>
              <a:t>找出</a:t>
            </a:r>
            <a:r>
              <a:rPr lang="en-US" altLang="zh-CN" sz="3200"/>
              <a:t> </a:t>
            </a:r>
            <a:r>
              <a:rPr lang="en-US" altLang="zh-CN" sz="3200" smtClean="0"/>
              <a:t>pain points</a:t>
            </a:r>
          </a:p>
          <a:p>
            <a:r>
              <a:rPr lang="zh-CN" altLang="en-US" sz="3200" smtClean="0"/>
              <a:t>建立信任</a:t>
            </a:r>
            <a:endParaRPr lang="en-US" altLang="zh-CN" sz="3200" smtClean="0"/>
          </a:p>
          <a:p>
            <a:r>
              <a:rPr lang="en-US" altLang="zh-CN" sz="3200" smtClean="0"/>
              <a:t>“</a:t>
            </a:r>
            <a:r>
              <a:rPr lang="zh-CN" altLang="en-US" sz="3200" smtClean="0"/>
              <a:t>急</a:t>
            </a:r>
            <a:r>
              <a:rPr lang="en-US" altLang="zh-CN" sz="3200" smtClean="0"/>
              <a:t>”</a:t>
            </a:r>
            <a:r>
              <a:rPr lang="zh-CN" altLang="en-US" sz="3200" smtClean="0"/>
              <a:t>事 </a:t>
            </a:r>
            <a:r>
              <a:rPr lang="en-US" altLang="zh-CN" sz="3200" smtClean="0"/>
              <a:t>“</a:t>
            </a:r>
            <a:r>
              <a:rPr lang="zh-CN" altLang="en-US" sz="3200" smtClean="0"/>
              <a:t>缓</a:t>
            </a:r>
            <a:r>
              <a:rPr lang="en-US" altLang="zh-CN" sz="3200" smtClean="0"/>
              <a:t>”</a:t>
            </a:r>
            <a:r>
              <a:rPr lang="zh-CN" altLang="en-US" sz="3200" smtClean="0"/>
              <a:t>人</a:t>
            </a:r>
            <a:endParaRPr lang="en-US" altLang="zh-CN" sz="3200" smtClean="0"/>
          </a:p>
          <a:p>
            <a:endParaRPr lang="en-US" altLang="zh-CN" sz="320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575" y="1797050"/>
            <a:ext cx="340995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34603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416050" y="2178050"/>
            <a:ext cx="9467850" cy="2514600"/>
          </a:xfrm>
        </p:spPr>
        <p:txBody>
          <a:bodyPr>
            <a:normAutofit/>
          </a:bodyPr>
          <a:lstStyle/>
          <a:p>
            <a:r>
              <a:rPr lang="en-US" altLang="zh-CN" sz="3200" smtClean="0">
                <a:latin typeface="Candara Light" panose="020E0502030303020204" pitchFamily="34" charset="0"/>
              </a:rPr>
              <a:t>Before you become a leader,all is to grow yourself, after you become a leader,all is to grow your team.</a:t>
            </a:r>
          </a:p>
        </p:txBody>
      </p:sp>
    </p:spTree>
    <p:extLst>
      <p:ext uri="{BB962C8B-B14F-4D97-AF65-F5344CB8AC3E}">
        <p14:creationId xmlns:p14="http://schemas.microsoft.com/office/powerpoint/2010/main" val="28999038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theme/theme1.xml><?xml version="1.0" encoding="utf-8"?>
<a:theme xmlns:a="http://schemas.openxmlformats.org/drawingml/2006/main" name="White">
  <a:themeElements>
    <a:clrScheme name="极客邦">
      <a:dk1>
        <a:srgbClr val="4D4D4D"/>
      </a:dk1>
      <a:lt1>
        <a:sysClr val="window" lastClr="FFFFFF"/>
      </a:lt1>
      <a:dk2>
        <a:srgbClr val="44546A"/>
      </a:dk2>
      <a:lt2>
        <a:srgbClr val="E7E6E6"/>
      </a:lt2>
      <a:accent1>
        <a:srgbClr val="1D5E9E"/>
      </a:accent1>
      <a:accent2>
        <a:srgbClr val="198743"/>
      </a:accent2>
      <a:accent3>
        <a:srgbClr val="EA5429"/>
      </a:accent3>
      <a:accent4>
        <a:srgbClr val="E60012"/>
      </a:accent4>
      <a:accent5>
        <a:srgbClr val="4472C4"/>
      </a:accent5>
      <a:accent6>
        <a:srgbClr val="70AD47"/>
      </a:accent6>
      <a:hlink>
        <a:srgbClr val="00B0F0"/>
      </a:hlink>
      <a:folHlink>
        <a:srgbClr val="FFFFFF"/>
      </a:folHlink>
    </a:clrScheme>
    <a:fontScheme name="极客邦常用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演示文稿1" id="{A46FBE2B-B011-4643-89D7-4E51E37BBDB2}" vid="{8EF7A4E8-5DDA-5242-A16E-CB225224F7D0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TGO新模板</Template>
  <TotalTime>180</TotalTime>
  <Words>502</Words>
  <Application>Microsoft Office PowerPoint</Application>
  <PresentationFormat>Widescreen</PresentationFormat>
  <Paragraphs>23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DengXian</vt:lpstr>
      <vt:lpstr>Helvetica Light</vt:lpstr>
      <vt:lpstr>Helvetica Neue</vt:lpstr>
      <vt:lpstr>微软雅黑</vt:lpstr>
      <vt:lpstr>宋体</vt:lpstr>
      <vt:lpstr>Arial</vt:lpstr>
      <vt:lpstr>Calibri</vt:lpstr>
      <vt:lpstr>Candara Light</vt:lpstr>
      <vt:lpstr>Helvetica</vt:lpstr>
      <vt:lpstr>White</vt:lpstr>
      <vt:lpstr>PowerPoint Presentation</vt:lpstr>
      <vt:lpstr>技术团队的定位</vt:lpstr>
      <vt:lpstr>技术leader具备的素质</vt:lpstr>
      <vt:lpstr>团队阶段一:0到1</vt:lpstr>
      <vt:lpstr>团队阶段二:1到10</vt:lpstr>
      <vt:lpstr>团队阶段三:10到100</vt:lpstr>
      <vt:lpstr>团队阶段四:事业部</vt:lpstr>
      <vt:lpstr>组队方式:从头开始</vt:lpstr>
      <vt:lpstr>组队方式:空降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用户</dc:creator>
  <cp:lastModifiedBy>Frank Ng</cp:lastModifiedBy>
  <cp:revision>30</cp:revision>
  <dcterms:created xsi:type="dcterms:W3CDTF">2019-06-10T12:16:29Z</dcterms:created>
  <dcterms:modified xsi:type="dcterms:W3CDTF">2019-12-31T09:07:49Z</dcterms:modified>
</cp:coreProperties>
</file>